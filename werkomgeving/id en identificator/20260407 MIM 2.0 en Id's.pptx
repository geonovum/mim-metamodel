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60" r:id="rId5"/>
    <p:sldId id="265" r:id="rId6"/>
    <p:sldId id="266" r:id="rId7"/>
    <p:sldId id="268" r:id="rId8"/>
    <p:sldId id="270" r:id="rId9"/>
    <p:sldId id="271" r:id="rId10"/>
    <p:sldId id="274" r:id="rId11"/>
    <p:sldId id="275" r:id="rId12"/>
    <p:sldId id="272" r:id="rId13"/>
    <p:sldId id="273" r:id="rId14"/>
    <p:sldId id="258" r:id="rId15"/>
    <p:sldId id="276" r:id="rId16"/>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3FF8A2-DADF-AC49-977C-7A35750C8EA2}"/>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AE246D7F-F7AB-3B81-56CB-D4BD9C1ADC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4188EEE7-A5FB-A3CC-07C7-D2C83F4E08E8}"/>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5" name="Tijdelijke aanduiding voor voettekst 4">
            <a:extLst>
              <a:ext uri="{FF2B5EF4-FFF2-40B4-BE49-F238E27FC236}">
                <a16:creationId xmlns:a16="http://schemas.microsoft.com/office/drawing/2014/main" id="{FC3C6384-B7F4-67C7-0FB7-EA01C37E76DC}"/>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5E2DD3EA-C5EB-315B-3EFC-D3F5AA700859}"/>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576723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72D45DE-FC46-F641-65B1-455F028CC456}"/>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AE3E2CD1-4E6F-5BA6-FA6C-2038E64D946F}"/>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4470C79-F8D8-3B80-DEF4-2E05CF65B346}"/>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5" name="Tijdelijke aanduiding voor voettekst 4">
            <a:extLst>
              <a:ext uri="{FF2B5EF4-FFF2-40B4-BE49-F238E27FC236}">
                <a16:creationId xmlns:a16="http://schemas.microsoft.com/office/drawing/2014/main" id="{FDC95897-060A-1283-D74C-E7ADD8A1C69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3D1197F-315B-CED6-FFD1-66CDB456A255}"/>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9411385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45E7BD-4B43-94DF-C942-CD650BC5A600}"/>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E23F3A50-9AFB-0726-EA71-BE130979125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428A0B90-B4AE-E6C4-7913-1A3F6A986C0A}"/>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5" name="Tijdelijke aanduiding voor voettekst 4">
            <a:extLst>
              <a:ext uri="{FF2B5EF4-FFF2-40B4-BE49-F238E27FC236}">
                <a16:creationId xmlns:a16="http://schemas.microsoft.com/office/drawing/2014/main" id="{439ECE7C-8AE1-DAEC-33BE-DE76AE1DF04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B99B8AB-B94C-2B9D-D358-821C1169F35B}"/>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299956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53091C9-773E-4907-F3EB-90DFFCE3BE7F}"/>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B32EF22C-4D78-AECC-AD42-75578B28778A}"/>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65A4177D-7214-D595-8A36-CCAC9DD93F92}"/>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CFA77E81-259F-D71C-D889-28A814319EA0}"/>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6" name="Tijdelijke aanduiding voor voettekst 5">
            <a:extLst>
              <a:ext uri="{FF2B5EF4-FFF2-40B4-BE49-F238E27FC236}">
                <a16:creationId xmlns:a16="http://schemas.microsoft.com/office/drawing/2014/main" id="{39B807C1-38F4-B8D3-5A19-13BE31CF77D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A8AB708-DC55-CE3E-6EC6-AD51F72154E1}"/>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24794454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263BEB-066F-A738-15CE-E6F3DB808F83}"/>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789425A5-7855-9019-7C0E-D4069D9E53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4B7F2180-42E1-A8A9-3548-9215AC4F7A19}"/>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BA4FD22A-C5C0-E8FA-DE2B-9AB86F3687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5AFC383-1776-F9EF-FAE2-3C8A5FB3F947}"/>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06A0F4F4-4C65-5A9D-E6FD-DFA7B9F22FBF}"/>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8" name="Tijdelijke aanduiding voor voettekst 7">
            <a:extLst>
              <a:ext uri="{FF2B5EF4-FFF2-40B4-BE49-F238E27FC236}">
                <a16:creationId xmlns:a16="http://schemas.microsoft.com/office/drawing/2014/main" id="{6E4EB398-3454-1AC4-4B32-3EDABDA38E64}"/>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74BEB350-1F8C-7383-408E-B054397CE8E4}"/>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172330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085F0E1-B2BE-18F7-56D9-057B2A08AC6A}"/>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8025B74A-F208-5982-0A02-5E379228E842}"/>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4" name="Tijdelijke aanduiding voor voettekst 3">
            <a:extLst>
              <a:ext uri="{FF2B5EF4-FFF2-40B4-BE49-F238E27FC236}">
                <a16:creationId xmlns:a16="http://schemas.microsoft.com/office/drawing/2014/main" id="{5A5675A5-1F4C-F1C8-912D-7FD11A5DA733}"/>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65605083-15EA-479C-5E61-1DDB0412312B}"/>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33234951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909DA090-847E-7114-91F0-6DF47EABB3B4}"/>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3" name="Tijdelijke aanduiding voor voettekst 2">
            <a:extLst>
              <a:ext uri="{FF2B5EF4-FFF2-40B4-BE49-F238E27FC236}">
                <a16:creationId xmlns:a16="http://schemas.microsoft.com/office/drawing/2014/main" id="{7E444AA6-BDF2-DE53-0EDD-A824CBC543D6}"/>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BB74291C-DBC0-C6E4-9C63-346E42889503}"/>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77596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3FF52B-DFBA-08BD-5203-CC979A48E5C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CB68D27B-339A-5AB0-8A20-98D55E0785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7794C250-C875-E864-1C60-128B15015D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D34FBE8-8760-A25E-16BC-2F362B5756FA}"/>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6" name="Tijdelijke aanduiding voor voettekst 5">
            <a:extLst>
              <a:ext uri="{FF2B5EF4-FFF2-40B4-BE49-F238E27FC236}">
                <a16:creationId xmlns:a16="http://schemas.microsoft.com/office/drawing/2014/main" id="{B7CF097F-04DE-A10F-21DD-353C39617A33}"/>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C6F44739-09B3-9A32-41A9-B43D166F8D7D}"/>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1042955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A431C2E-4182-5B43-F1CC-C2372C87A2C1}"/>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A2B0DBC0-C461-6901-D225-36CB7EBA68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DFC47FA2-8973-77A7-C282-631CE102C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E189F2FD-1836-BC60-2877-6079294A84BE}"/>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6" name="Tijdelijke aanduiding voor voettekst 5">
            <a:extLst>
              <a:ext uri="{FF2B5EF4-FFF2-40B4-BE49-F238E27FC236}">
                <a16:creationId xmlns:a16="http://schemas.microsoft.com/office/drawing/2014/main" id="{E3F1B676-D624-0FD4-E50D-320665EE6DD4}"/>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1F4FC0D4-2431-BDC9-3194-B8E3D29C051F}"/>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4165099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AD4657-0013-3D9C-2D4D-632E201D1441}"/>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AB5BC61C-565A-C0E6-DE4B-CF29C6CDB81E}"/>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EF4BF453-167D-8FE3-5E83-8C419EE749B0}"/>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5" name="Tijdelijke aanduiding voor voettekst 4">
            <a:extLst>
              <a:ext uri="{FF2B5EF4-FFF2-40B4-BE49-F238E27FC236}">
                <a16:creationId xmlns:a16="http://schemas.microsoft.com/office/drawing/2014/main" id="{852B17CD-B494-B132-6DBF-69A145B8DB8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49E5CC7E-CD29-81D8-1AE1-FB2D8D99C185}"/>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7770521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735B786A-8C9E-D26D-BDD5-3090E9C5AAFD}"/>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F1F0D030-C772-9748-F887-32F5208F780B}"/>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04F7EC0-3603-70EE-AA4E-D12D54EB3E4D}"/>
              </a:ext>
            </a:extLst>
          </p:cNvPr>
          <p:cNvSpPr>
            <a:spLocks noGrp="1"/>
          </p:cNvSpPr>
          <p:nvPr>
            <p:ph type="dt" sz="half" idx="10"/>
          </p:nvPr>
        </p:nvSpPr>
        <p:spPr/>
        <p:txBody>
          <a:bodyPr/>
          <a:lstStyle/>
          <a:p>
            <a:fld id="{29207095-D992-4568-93DE-B04C9EC12AEA}" type="datetimeFigureOut">
              <a:rPr lang="nl-NL" smtClean="0"/>
              <a:t>7-4-2026</a:t>
            </a:fld>
            <a:endParaRPr lang="nl-NL"/>
          </a:p>
        </p:txBody>
      </p:sp>
      <p:sp>
        <p:nvSpPr>
          <p:cNvPr id="5" name="Tijdelijke aanduiding voor voettekst 4">
            <a:extLst>
              <a:ext uri="{FF2B5EF4-FFF2-40B4-BE49-F238E27FC236}">
                <a16:creationId xmlns:a16="http://schemas.microsoft.com/office/drawing/2014/main" id="{1842FF8E-3BB0-09AB-D57E-FC38B2872F13}"/>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B024527-3B19-6856-981D-36C602C14DDA}"/>
              </a:ext>
            </a:extLst>
          </p:cNvPr>
          <p:cNvSpPr>
            <a:spLocks noGrp="1"/>
          </p:cNvSpPr>
          <p:nvPr>
            <p:ph type="sldNum" sz="quarter" idx="12"/>
          </p:nvPr>
        </p:nvSpPr>
        <p:spPr/>
        <p:txBody>
          <a:bodyPr/>
          <a:lstStyle/>
          <a:p>
            <a:fld id="{0AA6FBC4-FDDD-4DC1-881A-C7F544F46056}" type="slidenum">
              <a:rPr lang="nl-NL" smtClean="0"/>
              <a:t>‹nr.›</a:t>
            </a:fld>
            <a:endParaRPr lang="nl-NL"/>
          </a:p>
        </p:txBody>
      </p:sp>
    </p:spTree>
    <p:extLst>
      <p:ext uri="{BB962C8B-B14F-4D97-AF65-F5344CB8AC3E}">
        <p14:creationId xmlns:p14="http://schemas.microsoft.com/office/powerpoint/2010/main" val="72550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66597705-C732-1D8B-C7F8-CE3D07B3D0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60428938-99D2-CE42-6EB9-D82E31B7B2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C3EA53DE-11AA-985D-F3D9-67723DF59C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9207095-D992-4568-93DE-B04C9EC12AEA}" type="datetimeFigureOut">
              <a:rPr lang="nl-NL" smtClean="0"/>
              <a:t>7-4-2026</a:t>
            </a:fld>
            <a:endParaRPr lang="nl-NL"/>
          </a:p>
        </p:txBody>
      </p:sp>
      <p:sp>
        <p:nvSpPr>
          <p:cNvPr id="5" name="Tijdelijke aanduiding voor voettekst 4">
            <a:extLst>
              <a:ext uri="{FF2B5EF4-FFF2-40B4-BE49-F238E27FC236}">
                <a16:creationId xmlns:a16="http://schemas.microsoft.com/office/drawing/2014/main" id="{3D574240-CEA0-58C8-41A0-C82F2540CF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129DE2B5-94CE-2172-6ED6-B63CF42882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AA6FBC4-FDDD-4DC1-881A-C7F544F46056}" type="slidenum">
              <a:rPr lang="nl-NL" smtClean="0"/>
              <a:t>‹nr.›</a:t>
            </a:fld>
            <a:endParaRPr lang="nl-NL"/>
          </a:p>
        </p:txBody>
      </p:sp>
    </p:spTree>
    <p:extLst>
      <p:ext uri="{BB962C8B-B14F-4D97-AF65-F5344CB8AC3E}">
        <p14:creationId xmlns:p14="http://schemas.microsoft.com/office/powerpoint/2010/main" val="5283202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github.com/Geonovum/mim-metamodel/issues/93"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D79720A-2437-7573-105B-89E03CD7B131}"/>
              </a:ext>
            </a:extLst>
          </p:cNvPr>
          <p:cNvSpPr>
            <a:spLocks noGrp="1"/>
          </p:cNvSpPr>
          <p:nvPr>
            <p:ph type="ctrTitle"/>
          </p:nvPr>
        </p:nvSpPr>
        <p:spPr/>
        <p:txBody>
          <a:bodyPr>
            <a:normAutofit/>
          </a:bodyPr>
          <a:lstStyle/>
          <a:p>
            <a:r>
              <a:rPr lang="nl-NL" sz="4400" dirty="0"/>
              <a:t>MIM 2.0 bespreeknotitie:</a:t>
            </a:r>
            <a:br>
              <a:rPr lang="nl-NL" sz="4400" dirty="0"/>
            </a:br>
            <a:r>
              <a:rPr lang="nl-NL" sz="4400" dirty="0" err="1"/>
              <a:t>Id’s</a:t>
            </a:r>
            <a:r>
              <a:rPr lang="nl-NL" sz="4400" dirty="0"/>
              <a:t> op conceptueel en logisch niveau</a:t>
            </a:r>
          </a:p>
        </p:txBody>
      </p:sp>
      <p:sp>
        <p:nvSpPr>
          <p:cNvPr id="3" name="Ondertitel 2">
            <a:extLst>
              <a:ext uri="{FF2B5EF4-FFF2-40B4-BE49-F238E27FC236}">
                <a16:creationId xmlns:a16="http://schemas.microsoft.com/office/drawing/2014/main" id="{6B62D7FB-6194-7B38-656F-3D1C2B32A237}"/>
              </a:ext>
            </a:extLst>
          </p:cNvPr>
          <p:cNvSpPr>
            <a:spLocks noGrp="1"/>
          </p:cNvSpPr>
          <p:nvPr>
            <p:ph type="subTitle" idx="1"/>
          </p:nvPr>
        </p:nvSpPr>
        <p:spPr/>
        <p:txBody>
          <a:bodyPr>
            <a:normAutofit lnSpcReduction="10000"/>
          </a:bodyPr>
          <a:lstStyle/>
          <a:p>
            <a:r>
              <a:rPr lang="nl-NL" dirty="0"/>
              <a:t>en hun onderlinge relaties</a:t>
            </a:r>
          </a:p>
          <a:p>
            <a:endParaRPr lang="nl-NL" dirty="0"/>
          </a:p>
          <a:p>
            <a:r>
              <a:rPr lang="nl-NL" dirty="0"/>
              <a:t>door L. van Bergen, 7 april 2026, n.a.v. sessie van 3 april. </a:t>
            </a:r>
            <a:br>
              <a:rPr lang="nl-NL" dirty="0"/>
            </a:br>
            <a:r>
              <a:rPr lang="nl-NL" dirty="0"/>
              <a:t>zie ook: </a:t>
            </a:r>
            <a:r>
              <a:rPr lang="nl-NL" dirty="0">
                <a:hlinkClick r:id="rId2"/>
              </a:rPr>
              <a:t>https://github.com/Geonovum/mim-metamodel/issues/93</a:t>
            </a:r>
            <a:r>
              <a:rPr lang="nl-NL" dirty="0"/>
              <a:t> </a:t>
            </a:r>
          </a:p>
        </p:txBody>
      </p:sp>
    </p:spTree>
    <p:extLst>
      <p:ext uri="{BB962C8B-B14F-4D97-AF65-F5344CB8AC3E}">
        <p14:creationId xmlns:p14="http://schemas.microsoft.com/office/powerpoint/2010/main" val="34523664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53FAB2-33B6-927C-40F3-C2E0358765F1}"/>
              </a:ext>
            </a:extLst>
          </p:cNvPr>
          <p:cNvSpPr>
            <a:spLocks noGrp="1"/>
          </p:cNvSpPr>
          <p:nvPr>
            <p:ph type="title"/>
          </p:nvPr>
        </p:nvSpPr>
        <p:spPr>
          <a:xfrm>
            <a:off x="838200" y="872335"/>
            <a:ext cx="10515600" cy="1325563"/>
          </a:xfrm>
        </p:spPr>
        <p:txBody>
          <a:bodyPr>
            <a:normAutofit/>
          </a:bodyPr>
          <a:lstStyle/>
          <a:p>
            <a:r>
              <a:rPr lang="nl-NL" sz="3200" dirty="0"/>
              <a:t>Verbinden van de beschouwde werkelijkheid en de bijbehorende gegevensverwerking</a:t>
            </a:r>
          </a:p>
        </p:txBody>
      </p:sp>
      <p:sp>
        <p:nvSpPr>
          <p:cNvPr id="3" name="Tijdelijke aanduiding voor inhoud 2">
            <a:extLst>
              <a:ext uri="{FF2B5EF4-FFF2-40B4-BE49-F238E27FC236}">
                <a16:creationId xmlns:a16="http://schemas.microsoft.com/office/drawing/2014/main" id="{A69D5E73-6275-00DC-4765-03E099D1EA7B}"/>
              </a:ext>
            </a:extLst>
          </p:cNvPr>
          <p:cNvSpPr>
            <a:spLocks noGrp="1"/>
          </p:cNvSpPr>
          <p:nvPr>
            <p:ph idx="1"/>
          </p:nvPr>
        </p:nvSpPr>
        <p:spPr>
          <a:xfrm>
            <a:off x="838200" y="2078832"/>
            <a:ext cx="10515600" cy="4286250"/>
          </a:xfrm>
        </p:spPr>
        <p:txBody>
          <a:bodyPr>
            <a:noAutofit/>
          </a:bodyPr>
          <a:lstStyle/>
          <a:p>
            <a:pPr marL="0" indent="0">
              <a:buNone/>
            </a:pPr>
            <a:r>
              <a:rPr lang="nl-NL" sz="1800" dirty="0"/>
              <a:t>Gegevens gaan over eigenschappen van domeinobjecten. Wanneer het bij gegevens niet meer eenduidig helder is over welk domeinobject deze gaan, dan zijn we losgeslagen van de (beschouwde) werkelijkheid en dan zijn de gegevens niet meer betrouwbaar te verwerken.  </a:t>
            </a:r>
          </a:p>
          <a:p>
            <a:pPr marL="0" indent="0">
              <a:buNone/>
            </a:pPr>
            <a:r>
              <a:rPr lang="nl-NL" sz="1800" dirty="0"/>
              <a:t>In het verwerkingsdomein is het bij administraties vaak gebruikelijk om </a:t>
            </a:r>
            <a:r>
              <a:rPr lang="nl-NL" sz="1800" dirty="0" err="1"/>
              <a:t>by</a:t>
            </a:r>
            <a:r>
              <a:rPr lang="nl-NL" sz="1800" dirty="0"/>
              <a:t> designer precies 1 </a:t>
            </a:r>
            <a:r>
              <a:rPr lang="nl-NL" sz="1800" dirty="0" err="1"/>
              <a:t>gegevensobjecttype</a:t>
            </a:r>
            <a:r>
              <a:rPr lang="nl-NL" sz="1800" dirty="0"/>
              <a:t> te spiegelen aan 1 objecttype. Maar dit is niet perse altijd het geval. </a:t>
            </a:r>
          </a:p>
          <a:p>
            <a:pPr marL="0" indent="0">
              <a:buNone/>
            </a:pPr>
            <a:r>
              <a:rPr lang="nl-NL" sz="1800" dirty="0"/>
              <a:t>Hoe meer ook je naar gegevensproducten gaat die op maat gemaakt zijn voor gebruikers, en hoe meer we zien dat gegevens over verschillende domeinobjecten bij elkaar worden gezet in 1 </a:t>
            </a:r>
            <a:r>
              <a:rPr lang="nl-NL" sz="1800" dirty="0" err="1"/>
              <a:t>gegevensobjecttype</a:t>
            </a:r>
            <a:r>
              <a:rPr lang="nl-NL" sz="1800" dirty="0"/>
              <a:t>. </a:t>
            </a:r>
          </a:p>
          <a:p>
            <a:pPr marL="0" indent="0">
              <a:buNone/>
            </a:pPr>
            <a:r>
              <a:rPr lang="nl-NL" sz="1800" dirty="0"/>
              <a:t>Dit maakt het extra belangrijk om eenduidig aan te geven hoe de verhouding is tussen de gegevens-objecten en gegevens erin en de domeinobjecten en hun eigenschappen, waarover deze gegevens gaan. </a:t>
            </a:r>
          </a:p>
          <a:p>
            <a:pPr marL="0" indent="0">
              <a:buNone/>
            </a:pPr>
            <a:r>
              <a:rPr lang="nl-NL" sz="1800" b="1" dirty="0"/>
              <a:t>Conclusie</a:t>
            </a:r>
            <a:r>
              <a:rPr lang="nl-NL" sz="1800" dirty="0"/>
              <a:t>: het is zeer van belang dat dat </a:t>
            </a:r>
            <a:r>
              <a:rPr lang="nl-NL" sz="1800" dirty="0" err="1"/>
              <a:t>id’s</a:t>
            </a:r>
            <a:r>
              <a:rPr lang="nl-NL" sz="1800" dirty="0"/>
              <a:t> die gebruikt worden in gegevensobjecten betrouwbaar te koppelen zijn aan de </a:t>
            </a:r>
            <a:r>
              <a:rPr lang="nl-NL" sz="1800" dirty="0" err="1"/>
              <a:t>id’s</a:t>
            </a:r>
            <a:r>
              <a:rPr lang="nl-NL" sz="1800" dirty="0"/>
              <a:t> van de domeinobjecten waarover de gegevens gaan. </a:t>
            </a:r>
          </a:p>
          <a:p>
            <a:pPr marL="0" indent="0">
              <a:buNone/>
            </a:pPr>
            <a:r>
              <a:rPr lang="nl-NL" sz="1800" dirty="0"/>
              <a:t>Vanwege de zoektocht naar goede passende terminologie noemen we deze hier nog even </a:t>
            </a:r>
            <a:r>
              <a:rPr lang="nl-NL" sz="1800" dirty="0" err="1"/>
              <a:t>id’s</a:t>
            </a:r>
            <a:r>
              <a:rPr lang="nl-NL" sz="1800" dirty="0"/>
              <a:t>. </a:t>
            </a:r>
            <a:r>
              <a:rPr lang="nl-NL" sz="1800" dirty="0" err="1"/>
              <a:t>Id’s</a:t>
            </a:r>
            <a:r>
              <a:rPr lang="nl-NL" sz="1800" dirty="0"/>
              <a:t> zijn bedoeld om dingen te identificeren, of ten minste uniek aan te kunnen wijzen. </a:t>
            </a:r>
          </a:p>
        </p:txBody>
      </p:sp>
    </p:spTree>
    <p:extLst>
      <p:ext uri="{BB962C8B-B14F-4D97-AF65-F5344CB8AC3E}">
        <p14:creationId xmlns:p14="http://schemas.microsoft.com/office/powerpoint/2010/main" val="3921898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D43C40-4F19-23B9-2D17-C0B7DAE8EE54}"/>
              </a:ext>
            </a:extLst>
          </p:cNvPr>
          <p:cNvSpPr>
            <a:spLocks noGrp="1"/>
          </p:cNvSpPr>
          <p:nvPr>
            <p:ph type="title"/>
          </p:nvPr>
        </p:nvSpPr>
        <p:spPr/>
        <p:txBody>
          <a:bodyPr/>
          <a:lstStyle/>
          <a:p>
            <a:r>
              <a:rPr lang="nl-NL" dirty="0"/>
              <a:t>Waar hebben we het over</a:t>
            </a:r>
          </a:p>
        </p:txBody>
      </p:sp>
      <p:sp>
        <p:nvSpPr>
          <p:cNvPr id="6" name="Tijdelijke aanduiding voor inhoud 5">
            <a:extLst>
              <a:ext uri="{FF2B5EF4-FFF2-40B4-BE49-F238E27FC236}">
                <a16:creationId xmlns:a16="http://schemas.microsoft.com/office/drawing/2014/main" id="{BD2DD81E-4D24-EA41-417F-62CBF8C61D35}"/>
              </a:ext>
            </a:extLst>
          </p:cNvPr>
          <p:cNvSpPr>
            <a:spLocks noGrp="1"/>
          </p:cNvSpPr>
          <p:nvPr>
            <p:ph idx="1"/>
          </p:nvPr>
        </p:nvSpPr>
        <p:spPr>
          <a:xfrm>
            <a:off x="838200" y="1525588"/>
            <a:ext cx="10760242" cy="4351338"/>
          </a:xfrm>
        </p:spPr>
        <p:txBody>
          <a:bodyPr>
            <a:noAutofit/>
          </a:bodyPr>
          <a:lstStyle/>
          <a:p>
            <a:pPr marL="0" indent="0">
              <a:buNone/>
            </a:pPr>
            <a:r>
              <a:rPr lang="nl-NL" sz="1600" dirty="0"/>
              <a:t>Een domein object willen we graag kunnen identificeren, zodat we eenduidig weten welk domeinobject (exemplaar, instantie van een objecttype) we het hebben. Het is precies die ene. Wellicht kan dit niet altijd, en is dit niet altijd vereist, maar wanneer een beschouwingsdomein ook een verwerkingsdomein kent, dan is identificeren vrijwel altijd wel vereist. </a:t>
            </a:r>
          </a:p>
          <a:p>
            <a:r>
              <a:rPr lang="nl-NL" sz="1600" dirty="0"/>
              <a:t>Identificeren kan op basis van 1 of meer intrinsieke eigen kenmerken</a:t>
            </a:r>
          </a:p>
          <a:p>
            <a:r>
              <a:rPr lang="nl-NL" sz="1600" dirty="0"/>
              <a:t>Identificeren kan op basis van: 1 toegekend eigen kernmerk (of meerdere, maar dit is theoretisch)</a:t>
            </a:r>
          </a:p>
          <a:p>
            <a:r>
              <a:rPr lang="nl-NL" sz="1600" dirty="0"/>
              <a:t>Identificeren kan soms niet op basis van eigen kenmerken, dan is het nodig om te identificeren met behulp van een gerelateerd domeinobject, dat zelf wel geïdentificeerd kan worden</a:t>
            </a:r>
          </a:p>
          <a:p>
            <a:pPr marL="0" indent="0">
              <a:buNone/>
            </a:pPr>
            <a:endParaRPr lang="nl-NL" sz="1600" dirty="0"/>
          </a:p>
          <a:p>
            <a:pPr marL="0" indent="0">
              <a:buNone/>
            </a:pPr>
            <a:r>
              <a:rPr lang="nl-NL" sz="1600" dirty="0"/>
              <a:t>Een gegevensobject willen we graag uniek kunnen aanwijzen. Hiervoor worden vaak generieke constructies gebruikt, zoals een identificatie (bv. </a:t>
            </a:r>
            <a:r>
              <a:rPr lang="nl-NL" sz="1600" dirty="0" err="1"/>
              <a:t>cf</a:t>
            </a:r>
            <a:r>
              <a:rPr lang="nl-NL" sz="1600" dirty="0"/>
              <a:t> NEN3610) en een versie of tijdaanduiding, die op zich op zichzelf staan zonder relatie naar een CIM of SBM en aan de eisen voldoet die we stellen in een gegevensverwerkingsdomein. Deze constructie moet hierna uiteraard wel zorgvuldig en betrouwbaar gekoppeld zijn aan  de domeinobjecten (niet losraken van de werkelijkheid).  Dit ken een aantal vormen:</a:t>
            </a:r>
          </a:p>
          <a:p>
            <a:r>
              <a:rPr lang="nl-NL" sz="1600" dirty="0"/>
              <a:t>gegevensobject gaat over precies 1 domeinobject van een bepaald objecttype (het hoofdonderwerp)</a:t>
            </a:r>
          </a:p>
          <a:p>
            <a:r>
              <a:rPr lang="nl-NL" sz="1600" dirty="0"/>
              <a:t>gegevensobject gaat over 1..n domeinobjecten, waarvan er altijd precies 1 het hoofdonderwerp is</a:t>
            </a:r>
          </a:p>
          <a:p>
            <a:pPr marL="0" indent="0">
              <a:buNone/>
            </a:pPr>
            <a:endParaRPr lang="nl-NL" sz="1600" dirty="0"/>
          </a:p>
          <a:p>
            <a:pPr marL="0" indent="0">
              <a:buNone/>
            </a:pPr>
            <a:r>
              <a:rPr lang="nl-NL" sz="1600" dirty="0"/>
              <a:t>Tot slot zijn in de IT </a:t>
            </a:r>
            <a:r>
              <a:rPr lang="nl-NL" sz="1600" dirty="0" err="1"/>
              <a:t>uniqueness</a:t>
            </a:r>
            <a:r>
              <a:rPr lang="nl-NL" sz="1600" dirty="0"/>
              <a:t> </a:t>
            </a:r>
            <a:r>
              <a:rPr lang="nl-NL" sz="1600" dirty="0" err="1"/>
              <a:t>constraints</a:t>
            </a:r>
            <a:r>
              <a:rPr lang="nl-NL" sz="1600" dirty="0"/>
              <a:t> gebruikelijk t.b.v. data integriteit. Hier gaat deze notitie niet over!  </a:t>
            </a:r>
          </a:p>
        </p:txBody>
      </p:sp>
    </p:spTree>
    <p:extLst>
      <p:ext uri="{BB962C8B-B14F-4D97-AF65-F5344CB8AC3E}">
        <p14:creationId xmlns:p14="http://schemas.microsoft.com/office/powerpoint/2010/main" val="15953604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6C229E4-82B9-6FBD-0FA9-56EB9AA15D30}"/>
              </a:ext>
            </a:extLst>
          </p:cNvPr>
          <p:cNvSpPr>
            <a:spLocks noGrp="1"/>
          </p:cNvSpPr>
          <p:nvPr>
            <p:ph type="title"/>
          </p:nvPr>
        </p:nvSpPr>
        <p:spPr>
          <a:xfrm>
            <a:off x="838200" y="543721"/>
            <a:ext cx="10515600" cy="1325563"/>
          </a:xfrm>
        </p:spPr>
        <p:txBody>
          <a:bodyPr/>
          <a:lstStyle/>
          <a:p>
            <a:r>
              <a:rPr lang="nl-NL" dirty="0"/>
              <a:t>Gegevens over eigenschappen in de tijd</a:t>
            </a:r>
          </a:p>
        </p:txBody>
      </p:sp>
      <p:sp>
        <p:nvSpPr>
          <p:cNvPr id="3" name="Tijdelijke aanduiding voor inhoud 2">
            <a:extLst>
              <a:ext uri="{FF2B5EF4-FFF2-40B4-BE49-F238E27FC236}">
                <a16:creationId xmlns:a16="http://schemas.microsoft.com/office/drawing/2014/main" id="{FC341A14-A28B-E8D8-4D9A-56338EE604D9}"/>
              </a:ext>
            </a:extLst>
          </p:cNvPr>
          <p:cNvSpPr>
            <a:spLocks noGrp="1"/>
          </p:cNvSpPr>
          <p:nvPr>
            <p:ph idx="1"/>
          </p:nvPr>
        </p:nvSpPr>
        <p:spPr>
          <a:xfrm>
            <a:off x="838200" y="1746298"/>
            <a:ext cx="10515600" cy="4716379"/>
          </a:xfrm>
        </p:spPr>
        <p:txBody>
          <a:bodyPr>
            <a:normAutofit lnSpcReduction="10000"/>
          </a:bodyPr>
          <a:lstStyle/>
          <a:p>
            <a:pPr marL="0" indent="0">
              <a:buNone/>
            </a:pPr>
            <a:r>
              <a:rPr lang="nl-NL" sz="1800" dirty="0"/>
              <a:t>Wat verder meespeelt is dat veel administraties en gegevensuitwisselingen rekening houden dat gegevens over domeinobjecten kunnen veranderen in de tijd. Het blijft dan in het gegevensverwerkingsdomein gaan over hetzelfde domein object, maar de gegevens over het domeinobject zijn op het ene moment in tijd anders dan op het andere moment in tijd. </a:t>
            </a:r>
          </a:p>
          <a:p>
            <a:pPr marL="0" indent="0">
              <a:buNone/>
            </a:pPr>
            <a:r>
              <a:rPr lang="nl-NL" sz="1800" dirty="0"/>
              <a:t>Hiervoor worden termen gebruikt zoals: een versie/voorkomen/verschijningsvorm van een domeinobject. </a:t>
            </a:r>
          </a:p>
          <a:p>
            <a:pPr marL="0" indent="0">
              <a:buNone/>
            </a:pPr>
            <a:r>
              <a:rPr lang="nl-NL" sz="1800" dirty="0"/>
              <a:t>In administraties en gegevensuitwisselingen vanuit de administratie komen deze vaak voor, en vaak ook vergezeld met tijdslijn gegevens over de tijdslijn geldigheid, de tijdslijn registratie (diverse registratiemomenten) en aanduidingen rondom foutherstel.  </a:t>
            </a:r>
          </a:p>
          <a:p>
            <a:pPr marL="0" indent="0">
              <a:buNone/>
            </a:pPr>
            <a:r>
              <a:rPr lang="nl-NL" sz="1800" dirty="0"/>
              <a:t>Het is dan gebruikelijk om 1 unieke </a:t>
            </a:r>
            <a:r>
              <a:rPr lang="nl-NL" sz="1800" dirty="0" err="1"/>
              <a:t>id</a:t>
            </a:r>
            <a:r>
              <a:rPr lang="nl-NL" sz="1800" dirty="0"/>
              <a:t> te modelleren die gelijk blijft, en die wordt aangevuld wordt met extra gegevenstypen die per versie/voorkomen/verschijningsvorm anders zijn. </a:t>
            </a:r>
          </a:p>
          <a:p>
            <a:pPr marL="0" indent="0">
              <a:buNone/>
            </a:pPr>
            <a:r>
              <a:rPr lang="nl-NL" sz="1800" dirty="0"/>
              <a:t>Er ontstaat dan meerdere gegevensobjecten met eenzelfde </a:t>
            </a:r>
            <a:r>
              <a:rPr lang="nl-NL" sz="1800" dirty="0" err="1"/>
              <a:t>Id</a:t>
            </a:r>
            <a:r>
              <a:rPr lang="nl-NL" sz="1800" dirty="0"/>
              <a:t>, die allemaal over hetzelfde domeinobject gaan. De </a:t>
            </a:r>
            <a:r>
              <a:rPr lang="nl-NL" sz="1800" dirty="0" err="1"/>
              <a:t>Id</a:t>
            </a:r>
            <a:r>
              <a:rPr lang="nl-NL" sz="1800" dirty="0"/>
              <a:t> heeft als belangrijke eis dat deze nooit gemuteerd wordt. </a:t>
            </a:r>
          </a:p>
          <a:p>
            <a:pPr marL="0" indent="0">
              <a:buNone/>
            </a:pPr>
            <a:r>
              <a:rPr lang="nl-NL" sz="1800" dirty="0"/>
              <a:t>Soms is het mogelijk om een </a:t>
            </a:r>
            <a:r>
              <a:rPr lang="nl-NL" sz="1800" dirty="0" err="1"/>
              <a:t>Id</a:t>
            </a:r>
            <a:r>
              <a:rPr lang="nl-NL" sz="1800" dirty="0"/>
              <a:t> van een domeinobject hiervoor te gebruiken, maar meestal is dit niet zo. Dan wordt er op logisch niveau een extra </a:t>
            </a:r>
            <a:r>
              <a:rPr lang="nl-NL" sz="1800" dirty="0" err="1"/>
              <a:t>Id</a:t>
            </a:r>
            <a:r>
              <a:rPr lang="nl-NL" sz="1800" dirty="0"/>
              <a:t> hiervoor geïntroduceerd. En precies deze heeft een 1 op 1 koppeling met de </a:t>
            </a:r>
            <a:r>
              <a:rPr lang="nl-NL" sz="1800" dirty="0" err="1"/>
              <a:t>Id</a:t>
            </a:r>
            <a:r>
              <a:rPr lang="nl-NL" sz="1800" dirty="0"/>
              <a:t> van een domeinobject. </a:t>
            </a:r>
          </a:p>
          <a:p>
            <a:pPr marL="0" indent="0">
              <a:buNone/>
            </a:pPr>
            <a:r>
              <a:rPr lang="nl-NL" sz="1800" dirty="0"/>
              <a:t>Concern: hoe wordt geborgd dat het eenduidig helder is over welk domeinobject elk gegevensobject gaat. </a:t>
            </a:r>
          </a:p>
        </p:txBody>
      </p:sp>
    </p:spTree>
    <p:extLst>
      <p:ext uri="{BB962C8B-B14F-4D97-AF65-F5344CB8AC3E}">
        <p14:creationId xmlns:p14="http://schemas.microsoft.com/office/powerpoint/2010/main" val="96707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B2E37D-810A-09FE-37E6-FE88A6C3E1E7}"/>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34A2470-D2DB-4E25-97F2-BAA921C13A4F}"/>
              </a:ext>
            </a:extLst>
          </p:cNvPr>
          <p:cNvSpPr>
            <a:spLocks noGrp="1"/>
          </p:cNvSpPr>
          <p:nvPr>
            <p:ph type="title"/>
          </p:nvPr>
        </p:nvSpPr>
        <p:spPr/>
        <p:txBody>
          <a:bodyPr/>
          <a:lstStyle/>
          <a:p>
            <a:r>
              <a:rPr lang="nl-NL" dirty="0"/>
              <a:t>Voorbeeld en </a:t>
            </a:r>
            <a:r>
              <a:rPr lang="nl-NL"/>
              <a:t>kandidaat termen</a:t>
            </a:r>
            <a:endParaRPr lang="nl-NL" dirty="0"/>
          </a:p>
        </p:txBody>
      </p:sp>
      <p:sp>
        <p:nvSpPr>
          <p:cNvPr id="5" name="Tijdelijke aanduiding voor inhoud 4">
            <a:extLst>
              <a:ext uri="{FF2B5EF4-FFF2-40B4-BE49-F238E27FC236}">
                <a16:creationId xmlns:a16="http://schemas.microsoft.com/office/drawing/2014/main" id="{39672AED-95DE-463A-08AC-4DA43B0F355E}"/>
              </a:ext>
            </a:extLst>
          </p:cNvPr>
          <p:cNvSpPr>
            <a:spLocks noGrp="1"/>
          </p:cNvSpPr>
          <p:nvPr>
            <p:ph sz="half" idx="1"/>
          </p:nvPr>
        </p:nvSpPr>
        <p:spPr>
          <a:xfrm>
            <a:off x="838201" y="4228052"/>
            <a:ext cx="5181600" cy="2147581"/>
          </a:xfrm>
        </p:spPr>
        <p:txBody>
          <a:bodyPr tIns="36000" bIns="36000">
            <a:noAutofit/>
          </a:bodyPr>
          <a:lstStyle/>
          <a:p>
            <a:pPr marL="0" indent="0">
              <a:buNone/>
            </a:pPr>
            <a:r>
              <a:rPr lang="nl-NL" sz="1600" u="sng" dirty="0"/>
              <a:t>Werknemer</a:t>
            </a:r>
          </a:p>
          <a:p>
            <a:pPr marL="0" indent="0">
              <a:buNone/>
            </a:pPr>
            <a:r>
              <a:rPr lang="nl-NL" sz="1600" dirty="0" err="1"/>
              <a:t>bsn</a:t>
            </a:r>
            <a:r>
              <a:rPr lang="nl-NL" sz="1600" dirty="0"/>
              <a:t>: 123</a:t>
            </a:r>
            <a:br>
              <a:rPr lang="nl-NL" sz="1600" dirty="0"/>
            </a:br>
            <a:r>
              <a:rPr lang="nl-NL" sz="1600" dirty="0" err="1"/>
              <a:t>pid</a:t>
            </a:r>
            <a:r>
              <a:rPr lang="nl-NL" sz="1600" dirty="0"/>
              <a:t>: 123456789</a:t>
            </a:r>
            <a:br>
              <a:rPr lang="nl-NL" sz="1600" dirty="0"/>
            </a:br>
            <a:r>
              <a:rPr lang="nl-NL" sz="1600" dirty="0"/>
              <a:t>versie: v1</a:t>
            </a:r>
            <a:br>
              <a:rPr lang="nl-NL" sz="1600" dirty="0"/>
            </a:br>
            <a:r>
              <a:rPr lang="nl-NL" sz="1600" dirty="0"/>
              <a:t>naam: Jan</a:t>
            </a:r>
            <a:br>
              <a:rPr lang="nl-NL" sz="1600" dirty="0"/>
            </a:br>
            <a:r>
              <a:rPr lang="nl-NL" sz="1600" dirty="0"/>
              <a:t>woonplaats: Apeldoorn</a:t>
            </a:r>
            <a:br>
              <a:rPr lang="nl-NL" sz="1600" dirty="0"/>
            </a:br>
            <a:r>
              <a:rPr lang="nl-NL" sz="1600" dirty="0"/>
              <a:t>salaris: 100</a:t>
            </a:r>
            <a:br>
              <a:rPr lang="nl-NL" sz="1600" dirty="0"/>
            </a:br>
            <a:r>
              <a:rPr lang="nl-NL" sz="1600" dirty="0"/>
              <a:t>registratiemoment: 1-1-2026</a:t>
            </a:r>
          </a:p>
        </p:txBody>
      </p:sp>
      <p:sp>
        <p:nvSpPr>
          <p:cNvPr id="8" name="Tijdelijke aanduiding voor inhoud 7">
            <a:extLst>
              <a:ext uri="{FF2B5EF4-FFF2-40B4-BE49-F238E27FC236}">
                <a16:creationId xmlns:a16="http://schemas.microsoft.com/office/drawing/2014/main" id="{2C1894E3-C4DA-11B9-DA17-D64EC4EB170E}"/>
              </a:ext>
            </a:extLst>
          </p:cNvPr>
          <p:cNvSpPr>
            <a:spLocks noGrp="1"/>
          </p:cNvSpPr>
          <p:nvPr>
            <p:ph sz="half" idx="2"/>
          </p:nvPr>
        </p:nvSpPr>
        <p:spPr>
          <a:xfrm>
            <a:off x="6172201" y="4228051"/>
            <a:ext cx="5181600" cy="2147582"/>
          </a:xfrm>
        </p:spPr>
        <p:txBody>
          <a:bodyPr>
            <a:normAutofit/>
          </a:bodyPr>
          <a:lstStyle/>
          <a:p>
            <a:pPr marL="0" indent="0">
              <a:buNone/>
            </a:pPr>
            <a:r>
              <a:rPr lang="nl-NL" sz="1600" u="sng" dirty="0"/>
              <a:t>Werknemer</a:t>
            </a:r>
          </a:p>
          <a:p>
            <a:pPr marL="0" indent="0">
              <a:buNone/>
            </a:pPr>
            <a:r>
              <a:rPr lang="nl-NL" sz="1600" dirty="0" err="1"/>
              <a:t>bsn</a:t>
            </a:r>
            <a:r>
              <a:rPr lang="nl-NL" sz="1600" dirty="0"/>
              <a:t>: 123</a:t>
            </a:r>
            <a:br>
              <a:rPr lang="nl-NL" sz="1600" dirty="0"/>
            </a:br>
            <a:r>
              <a:rPr lang="nl-NL" sz="1600" dirty="0" err="1"/>
              <a:t>pid</a:t>
            </a:r>
            <a:r>
              <a:rPr lang="nl-NL" sz="1600" dirty="0"/>
              <a:t>: 123456789</a:t>
            </a:r>
            <a:br>
              <a:rPr lang="nl-NL" sz="1600" dirty="0"/>
            </a:br>
            <a:r>
              <a:rPr lang="nl-NL" sz="1600" dirty="0"/>
              <a:t>versie: v2</a:t>
            </a:r>
            <a:br>
              <a:rPr lang="nl-NL" sz="1600" dirty="0"/>
            </a:br>
            <a:r>
              <a:rPr lang="nl-NL" sz="1600" dirty="0"/>
              <a:t>naam: Jan</a:t>
            </a:r>
            <a:br>
              <a:rPr lang="nl-NL" sz="1600" dirty="0"/>
            </a:br>
            <a:r>
              <a:rPr lang="nl-NL" sz="1600" dirty="0"/>
              <a:t>woonplaats: Apeldoorn</a:t>
            </a:r>
            <a:br>
              <a:rPr lang="nl-NL" sz="1600" dirty="0"/>
            </a:br>
            <a:r>
              <a:rPr lang="nl-NL" sz="1600" dirty="0"/>
              <a:t>salaris: 120</a:t>
            </a:r>
            <a:br>
              <a:rPr lang="nl-NL" sz="1600" dirty="0"/>
            </a:br>
            <a:r>
              <a:rPr lang="nl-NL" sz="1600" dirty="0"/>
              <a:t>registratiemoment: 6-6-2026</a:t>
            </a:r>
          </a:p>
          <a:p>
            <a:pPr marL="0" indent="0">
              <a:buNone/>
            </a:pPr>
            <a:endParaRPr lang="nl-NL" sz="2500" dirty="0"/>
          </a:p>
          <a:p>
            <a:pPr marL="0" indent="0">
              <a:buNone/>
            </a:pPr>
            <a:endParaRPr lang="nl-NL" dirty="0"/>
          </a:p>
        </p:txBody>
      </p:sp>
      <p:graphicFrame>
        <p:nvGraphicFramePr>
          <p:cNvPr id="6" name="Tijdelijke aanduiding voor inhoud 3">
            <a:extLst>
              <a:ext uri="{FF2B5EF4-FFF2-40B4-BE49-F238E27FC236}">
                <a16:creationId xmlns:a16="http://schemas.microsoft.com/office/drawing/2014/main" id="{4C0F713D-932A-E8EA-C5D1-C03D53F7AD89}"/>
              </a:ext>
            </a:extLst>
          </p:cNvPr>
          <p:cNvGraphicFramePr>
            <a:graphicFrameLocks/>
          </p:cNvGraphicFramePr>
          <p:nvPr>
            <p:extLst>
              <p:ext uri="{D42A27DB-BD31-4B8C-83A1-F6EECF244321}">
                <p14:modId xmlns:p14="http://schemas.microsoft.com/office/powerpoint/2010/main" val="2019841009"/>
              </p:ext>
            </p:extLst>
          </p:nvPr>
        </p:nvGraphicFramePr>
        <p:xfrm>
          <a:off x="838200" y="1447896"/>
          <a:ext cx="10515599" cy="2667000"/>
        </p:xfrm>
        <a:graphic>
          <a:graphicData uri="http://schemas.openxmlformats.org/drawingml/2006/table">
            <a:tbl>
              <a:tblPr firstRow="1" bandRow="1">
                <a:tableStyleId>{5C22544A-7EE6-4342-B048-85BDC9FD1C3A}</a:tableStyleId>
              </a:tblPr>
              <a:tblGrid>
                <a:gridCol w="2069306">
                  <a:extLst>
                    <a:ext uri="{9D8B030D-6E8A-4147-A177-3AD203B41FA5}">
                      <a16:colId xmlns:a16="http://schemas.microsoft.com/office/drawing/2014/main" val="638331755"/>
                    </a:ext>
                  </a:extLst>
                </a:gridCol>
                <a:gridCol w="1422400">
                  <a:extLst>
                    <a:ext uri="{9D8B030D-6E8A-4147-A177-3AD203B41FA5}">
                      <a16:colId xmlns:a16="http://schemas.microsoft.com/office/drawing/2014/main" val="3814798704"/>
                    </a:ext>
                  </a:extLst>
                </a:gridCol>
                <a:gridCol w="3536950">
                  <a:extLst>
                    <a:ext uri="{9D8B030D-6E8A-4147-A177-3AD203B41FA5}">
                      <a16:colId xmlns:a16="http://schemas.microsoft.com/office/drawing/2014/main" val="704159321"/>
                    </a:ext>
                  </a:extLst>
                </a:gridCol>
                <a:gridCol w="3486943">
                  <a:extLst>
                    <a:ext uri="{9D8B030D-6E8A-4147-A177-3AD203B41FA5}">
                      <a16:colId xmlns:a16="http://schemas.microsoft.com/office/drawing/2014/main" val="4049535601"/>
                    </a:ext>
                  </a:extLst>
                </a:gridCol>
              </a:tblGrid>
              <a:tr h="370840">
                <a:tc>
                  <a:txBody>
                    <a:bodyPr/>
                    <a:lstStyle/>
                    <a:p>
                      <a:r>
                        <a:rPr lang="nl-NL" sz="1400" dirty="0"/>
                        <a:t>Gegevens m.b.t. </a:t>
                      </a:r>
                      <a:r>
                        <a:rPr lang="nl-NL" sz="1400" dirty="0" err="1"/>
                        <a:t>id’s</a:t>
                      </a:r>
                      <a:endParaRPr lang="nl-NL" sz="1400" dirty="0"/>
                    </a:p>
                  </a:txBody>
                  <a:tcPr/>
                </a:tc>
                <a:tc>
                  <a:txBody>
                    <a:bodyPr/>
                    <a:lstStyle/>
                    <a:p>
                      <a:r>
                        <a:rPr lang="nl-NL" sz="1400" dirty="0"/>
                        <a:t>Waarde</a:t>
                      </a:r>
                    </a:p>
                  </a:txBody>
                  <a:tcPr/>
                </a:tc>
                <a:tc>
                  <a:txBody>
                    <a:bodyPr/>
                    <a:lstStyle/>
                    <a:p>
                      <a:r>
                        <a:rPr lang="nl-NL" sz="1400" dirty="0"/>
                        <a:t>Gebruiksdoel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Kandidaat termen</a:t>
                      </a:r>
                    </a:p>
                  </a:txBody>
                  <a:tcPr/>
                </a:tc>
                <a:extLst>
                  <a:ext uri="{0D108BD9-81ED-4DB2-BD59-A6C34878D82A}">
                    <a16:rowId xmlns:a16="http://schemas.microsoft.com/office/drawing/2014/main" val="145390614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Gegevens: </a:t>
                      </a:r>
                      <a:r>
                        <a:rPr lang="nl-NL" sz="1400" dirty="0" err="1"/>
                        <a:t>bsn</a:t>
                      </a:r>
                      <a:endParaRPr lang="nl-NL" sz="1400" dirty="0"/>
                    </a:p>
                  </a:txBody>
                  <a:tcPr/>
                </a:tc>
                <a:tc>
                  <a:txBody>
                    <a:bodyPr/>
                    <a:lstStyle/>
                    <a:p>
                      <a:r>
                        <a:rPr lang="nl-NL" sz="1400" dirty="0"/>
                        <a:t>123</a:t>
                      </a:r>
                    </a:p>
                  </a:txBody>
                  <a:tcPr/>
                </a:tc>
                <a:tc>
                  <a:txBody>
                    <a:bodyPr/>
                    <a:lstStyle/>
                    <a:p>
                      <a:r>
                        <a:rPr lang="nl-NL" sz="1400" dirty="0" err="1"/>
                        <a:t>Id</a:t>
                      </a:r>
                      <a:r>
                        <a:rPr lang="nl-NL" sz="1400" dirty="0"/>
                        <a:t> voor domein object DO1</a:t>
                      </a:r>
                    </a:p>
                  </a:txBody>
                  <a:tcPr/>
                </a:tc>
                <a:tc>
                  <a:txBody>
                    <a:bodyPr/>
                    <a:lstStyle/>
                    <a:p>
                      <a:r>
                        <a:rPr lang="nl-NL" sz="1400" dirty="0"/>
                        <a:t>Domein object </a:t>
                      </a:r>
                      <a:r>
                        <a:rPr lang="nl-NL" sz="1400" dirty="0" err="1"/>
                        <a:t>identificator</a:t>
                      </a:r>
                      <a:r>
                        <a:rPr lang="nl-NL" sz="1400" dirty="0"/>
                        <a:t>, object </a:t>
                      </a:r>
                      <a:r>
                        <a:rPr lang="nl-NL" sz="1400" dirty="0" err="1"/>
                        <a:t>identificator</a:t>
                      </a:r>
                      <a:r>
                        <a:rPr lang="nl-NL" sz="1400" dirty="0"/>
                        <a:t>, conceptueel </a:t>
                      </a:r>
                      <a:r>
                        <a:rPr lang="nl-NL" sz="1400" dirty="0" err="1"/>
                        <a:t>id</a:t>
                      </a:r>
                      <a:r>
                        <a:rPr lang="nl-NL" sz="1400" dirty="0"/>
                        <a:t>, OID</a:t>
                      </a:r>
                    </a:p>
                  </a:txBody>
                  <a:tcPr/>
                </a:tc>
                <a:extLst>
                  <a:ext uri="{0D108BD9-81ED-4DB2-BD59-A6C34878D82A}">
                    <a16:rowId xmlns:a16="http://schemas.microsoft.com/office/drawing/2014/main" val="1925514009"/>
                  </a:ext>
                </a:extLst>
              </a:tr>
              <a:tr h="370840">
                <a:tc>
                  <a:txBody>
                    <a:bodyPr/>
                    <a:lstStyle/>
                    <a:p>
                      <a:r>
                        <a:rPr lang="nl-NL" sz="1400" dirty="0"/>
                        <a:t>Gegevens: </a:t>
                      </a:r>
                      <a:r>
                        <a:rPr lang="nl-NL" sz="1400" dirty="0" err="1"/>
                        <a:t>pid</a:t>
                      </a:r>
                      <a:endParaRPr lang="nl-NL" sz="1400" dirty="0"/>
                    </a:p>
                  </a:txBody>
                  <a:tcPr/>
                </a:tc>
                <a:tc>
                  <a:txBody>
                    <a:bodyPr/>
                    <a:lstStyle/>
                    <a:p>
                      <a:r>
                        <a:rPr lang="nl-NL" sz="1400" dirty="0"/>
                        <a:t>123456789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Id</a:t>
                      </a:r>
                      <a:r>
                        <a:rPr lang="nl-NL" sz="1400" dirty="0"/>
                        <a:t> die gelijk is voor alle gegevensobjecten over hetzelfde domein object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Representatie van OID op logisch gegevens niveau: Logisch OID, GOID, … </a:t>
                      </a:r>
                    </a:p>
                  </a:txBody>
                  <a:tcPr/>
                </a:tc>
                <a:extLst>
                  <a:ext uri="{0D108BD9-81ED-4DB2-BD59-A6C34878D82A}">
                    <a16:rowId xmlns:a16="http://schemas.microsoft.com/office/drawing/2014/main" val="11090814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Gegevens: </a:t>
                      </a:r>
                      <a:r>
                        <a:rPr lang="nl-NL" sz="1400" dirty="0" err="1"/>
                        <a:t>pid</a:t>
                      </a:r>
                      <a:r>
                        <a:rPr lang="nl-NL" sz="1400" dirty="0"/>
                        <a:t> + v1</a:t>
                      </a:r>
                    </a:p>
                  </a:txBody>
                  <a:tcPr/>
                </a:tc>
                <a:tc>
                  <a:txBody>
                    <a:bodyPr/>
                    <a:lstStyle/>
                    <a:p>
                      <a:r>
                        <a:rPr lang="nl-NL" sz="1400" dirty="0"/>
                        <a:t>123456789, v1</a:t>
                      </a:r>
                    </a:p>
                  </a:txBody>
                  <a:tcPr/>
                </a:tc>
                <a:tc>
                  <a:txBody>
                    <a:bodyPr/>
                    <a:lstStyle/>
                    <a:p>
                      <a:r>
                        <a:rPr lang="nl-NL" sz="1400" dirty="0" err="1"/>
                        <a:t>Id</a:t>
                      </a:r>
                      <a:r>
                        <a:rPr lang="nl-NL" sz="1400" dirty="0"/>
                        <a:t> voor gegevensobject GO1 over DO1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a:t>Gegevensobject identificator, voor v1</a:t>
                      </a:r>
                      <a:endParaRPr lang="nl-NL" sz="1400" dirty="0"/>
                    </a:p>
                  </a:txBody>
                  <a:tcPr/>
                </a:tc>
                <a:extLst>
                  <a:ext uri="{0D108BD9-81ED-4DB2-BD59-A6C34878D82A}">
                    <a16:rowId xmlns:a16="http://schemas.microsoft.com/office/drawing/2014/main" val="206785933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Gegevens: </a:t>
                      </a:r>
                      <a:r>
                        <a:rPr lang="nl-NL" sz="1400" dirty="0" err="1"/>
                        <a:t>pid</a:t>
                      </a:r>
                      <a:r>
                        <a:rPr lang="nl-NL" sz="1400" dirty="0"/>
                        <a:t> + v2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123456789, v2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Id</a:t>
                      </a:r>
                      <a:r>
                        <a:rPr lang="nl-NL" sz="1400" dirty="0"/>
                        <a:t> voor gegevensobject GO2 over DO1</a:t>
                      </a:r>
                    </a:p>
                  </a:txBody>
                  <a:tcPr/>
                </a:tc>
                <a:tc>
                  <a:txBody>
                    <a:bodyPr/>
                    <a:lstStyle/>
                    <a:p>
                      <a:r>
                        <a:rPr lang="nl-NL" sz="1400" dirty="0"/>
                        <a:t>Gegevensobject </a:t>
                      </a:r>
                      <a:r>
                        <a:rPr lang="nl-NL" sz="1400" dirty="0" err="1"/>
                        <a:t>identificator</a:t>
                      </a:r>
                      <a:r>
                        <a:rPr lang="nl-NL" sz="1400" dirty="0"/>
                        <a:t>, voor v2</a:t>
                      </a:r>
                    </a:p>
                  </a:txBody>
                  <a:tcPr/>
                </a:tc>
                <a:extLst>
                  <a:ext uri="{0D108BD9-81ED-4DB2-BD59-A6C34878D82A}">
                    <a16:rowId xmlns:a16="http://schemas.microsoft.com/office/drawing/2014/main" val="898418820"/>
                  </a:ext>
                </a:extLst>
              </a:tr>
              <a:tr h="370840">
                <a:tc>
                  <a:txBody>
                    <a:bodyPr/>
                    <a:lstStyle/>
                    <a:p>
                      <a:r>
                        <a:rPr lang="nl-NL" sz="1400" dirty="0"/>
                        <a:t>Gegevens: duo </a:t>
                      </a:r>
                      <a:r>
                        <a:rPr lang="nl-NL" sz="1400" dirty="0" err="1"/>
                        <a:t>pid</a:t>
                      </a:r>
                      <a:r>
                        <a:rPr lang="nl-NL" sz="1400" dirty="0"/>
                        <a:t> + </a:t>
                      </a:r>
                      <a:r>
                        <a:rPr lang="nl-NL" sz="1400" dirty="0" err="1"/>
                        <a:t>bsn</a:t>
                      </a:r>
                      <a:r>
                        <a:rPr lang="nl-NL" sz="1400" dirty="0"/>
                        <a:t> </a:t>
                      </a:r>
                    </a:p>
                  </a:txBody>
                  <a:tcPr/>
                </a:tc>
                <a:tc>
                  <a:txBody>
                    <a:bodyPr/>
                    <a:lstStyle/>
                    <a:p>
                      <a:r>
                        <a:rPr lang="nl-NL" sz="1400" dirty="0"/>
                        <a:t>123456789, 123</a:t>
                      </a:r>
                    </a:p>
                  </a:txBody>
                  <a:tcPr/>
                </a:tc>
                <a:tc>
                  <a:txBody>
                    <a:bodyPr/>
                    <a:lstStyle/>
                    <a:p>
                      <a:r>
                        <a:rPr lang="nl-NL" sz="1400" dirty="0"/>
                        <a:t>Koppeling van alle gegevensobjecten over hetzelfde domeinobject naar domeinobject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Is geen </a:t>
                      </a:r>
                      <a:r>
                        <a:rPr lang="nl-NL" sz="1400" dirty="0" err="1"/>
                        <a:t>id</a:t>
                      </a:r>
                      <a:r>
                        <a:rPr lang="nl-NL" sz="1400" dirty="0"/>
                        <a:t>, is een relatie tussen een logisch </a:t>
                      </a:r>
                      <a:r>
                        <a:rPr lang="nl-NL" sz="1400" dirty="0" err="1"/>
                        <a:t>id</a:t>
                      </a:r>
                      <a:r>
                        <a:rPr lang="nl-NL" sz="1400" dirty="0"/>
                        <a:t> en een conceptueel id. </a:t>
                      </a:r>
                    </a:p>
                  </a:txBody>
                  <a:tcPr/>
                </a:tc>
                <a:extLst>
                  <a:ext uri="{0D108BD9-81ED-4DB2-BD59-A6C34878D82A}">
                    <a16:rowId xmlns:a16="http://schemas.microsoft.com/office/drawing/2014/main" val="2336471639"/>
                  </a:ext>
                </a:extLst>
              </a:tr>
            </a:tbl>
          </a:graphicData>
        </a:graphic>
      </p:graphicFrame>
    </p:spTree>
    <p:extLst>
      <p:ext uri="{BB962C8B-B14F-4D97-AF65-F5344CB8AC3E}">
        <p14:creationId xmlns:p14="http://schemas.microsoft.com/office/powerpoint/2010/main" val="2951122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Rechthoek 54">
            <a:extLst>
              <a:ext uri="{FF2B5EF4-FFF2-40B4-BE49-F238E27FC236}">
                <a16:creationId xmlns:a16="http://schemas.microsoft.com/office/drawing/2014/main" id="{896131B0-D047-8896-23B9-545BA175706C}"/>
              </a:ext>
            </a:extLst>
          </p:cNvPr>
          <p:cNvSpPr/>
          <p:nvPr/>
        </p:nvSpPr>
        <p:spPr>
          <a:xfrm>
            <a:off x="6801759" y="3647136"/>
            <a:ext cx="4934185" cy="2913590"/>
          </a:xfrm>
          <a:custGeom>
            <a:avLst/>
            <a:gdLst>
              <a:gd name="csX0" fmla="*/ 0 w 4934185"/>
              <a:gd name="csY0" fmla="*/ 0 h 2913590"/>
              <a:gd name="csX1" fmla="*/ 715457 w 4934185"/>
              <a:gd name="csY1" fmla="*/ 0 h 2913590"/>
              <a:gd name="csX2" fmla="*/ 1381572 w 4934185"/>
              <a:gd name="csY2" fmla="*/ 0 h 2913590"/>
              <a:gd name="csX3" fmla="*/ 1850319 w 4934185"/>
              <a:gd name="csY3" fmla="*/ 0 h 2913590"/>
              <a:gd name="csX4" fmla="*/ 2565776 w 4934185"/>
              <a:gd name="csY4" fmla="*/ 0 h 2913590"/>
              <a:gd name="csX5" fmla="*/ 3182549 w 4934185"/>
              <a:gd name="csY5" fmla="*/ 0 h 2913590"/>
              <a:gd name="csX6" fmla="*/ 3749981 w 4934185"/>
              <a:gd name="csY6" fmla="*/ 0 h 2913590"/>
              <a:gd name="csX7" fmla="*/ 4934185 w 4934185"/>
              <a:gd name="csY7" fmla="*/ 0 h 2913590"/>
              <a:gd name="csX8" fmla="*/ 4934185 w 4934185"/>
              <a:gd name="csY8" fmla="*/ 495310 h 2913590"/>
              <a:gd name="csX9" fmla="*/ 4934185 w 4934185"/>
              <a:gd name="csY9" fmla="*/ 1136300 h 2913590"/>
              <a:gd name="csX10" fmla="*/ 4934185 w 4934185"/>
              <a:gd name="csY10" fmla="*/ 1748154 h 2913590"/>
              <a:gd name="csX11" fmla="*/ 4934185 w 4934185"/>
              <a:gd name="csY11" fmla="*/ 2360008 h 2913590"/>
              <a:gd name="csX12" fmla="*/ 4934185 w 4934185"/>
              <a:gd name="csY12" fmla="*/ 2913590 h 2913590"/>
              <a:gd name="csX13" fmla="*/ 4218728 w 4934185"/>
              <a:gd name="csY13" fmla="*/ 2913590 h 2913590"/>
              <a:gd name="csX14" fmla="*/ 3749981 w 4934185"/>
              <a:gd name="csY14" fmla="*/ 2913590 h 2913590"/>
              <a:gd name="csX15" fmla="*/ 3083866 w 4934185"/>
              <a:gd name="csY15" fmla="*/ 2913590 h 2913590"/>
              <a:gd name="csX16" fmla="*/ 2615118 w 4934185"/>
              <a:gd name="csY16" fmla="*/ 2913590 h 2913590"/>
              <a:gd name="csX17" fmla="*/ 2146370 w 4934185"/>
              <a:gd name="csY17" fmla="*/ 2913590 h 2913590"/>
              <a:gd name="csX18" fmla="*/ 1677623 w 4934185"/>
              <a:gd name="csY18" fmla="*/ 2913590 h 2913590"/>
              <a:gd name="csX19" fmla="*/ 1110192 w 4934185"/>
              <a:gd name="csY19" fmla="*/ 2913590 h 2913590"/>
              <a:gd name="csX20" fmla="*/ 0 w 4934185"/>
              <a:gd name="csY20" fmla="*/ 2913590 h 2913590"/>
              <a:gd name="csX21" fmla="*/ 0 w 4934185"/>
              <a:gd name="csY21" fmla="*/ 2330872 h 2913590"/>
              <a:gd name="csX22" fmla="*/ 0 w 4934185"/>
              <a:gd name="csY22" fmla="*/ 1806426 h 2913590"/>
              <a:gd name="csX23" fmla="*/ 0 w 4934185"/>
              <a:gd name="csY23" fmla="*/ 1252844 h 2913590"/>
              <a:gd name="csX24" fmla="*/ 0 w 4934185"/>
              <a:gd name="csY24" fmla="*/ 670126 h 2913590"/>
              <a:gd name="csX25" fmla="*/ 0 w 4934185"/>
              <a:gd name="csY25" fmla="*/ 0 h 2913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934185" h="2913590" fill="none" extrusionOk="0">
                <a:moveTo>
                  <a:pt x="0" y="0"/>
                </a:moveTo>
                <a:cubicBezTo>
                  <a:pt x="312846" y="-1384"/>
                  <a:pt x="545747" y="13980"/>
                  <a:pt x="715457" y="0"/>
                </a:cubicBezTo>
                <a:cubicBezTo>
                  <a:pt x="885167" y="-13980"/>
                  <a:pt x="1138184" y="24229"/>
                  <a:pt x="1381572" y="0"/>
                </a:cubicBezTo>
                <a:cubicBezTo>
                  <a:pt x="1624961" y="-24229"/>
                  <a:pt x="1676149" y="-1293"/>
                  <a:pt x="1850319" y="0"/>
                </a:cubicBezTo>
                <a:cubicBezTo>
                  <a:pt x="2024489" y="1293"/>
                  <a:pt x="2264804" y="-29756"/>
                  <a:pt x="2565776" y="0"/>
                </a:cubicBezTo>
                <a:cubicBezTo>
                  <a:pt x="2866748" y="29756"/>
                  <a:pt x="2917849" y="-26899"/>
                  <a:pt x="3182549" y="0"/>
                </a:cubicBezTo>
                <a:cubicBezTo>
                  <a:pt x="3447249" y="26899"/>
                  <a:pt x="3578707" y="2895"/>
                  <a:pt x="3749981" y="0"/>
                </a:cubicBezTo>
                <a:cubicBezTo>
                  <a:pt x="3921255" y="-2895"/>
                  <a:pt x="4507909" y="17966"/>
                  <a:pt x="4934185" y="0"/>
                </a:cubicBezTo>
                <a:cubicBezTo>
                  <a:pt x="4951241" y="193660"/>
                  <a:pt x="4949913" y="344898"/>
                  <a:pt x="4934185" y="495310"/>
                </a:cubicBezTo>
                <a:cubicBezTo>
                  <a:pt x="4918458" y="645722"/>
                  <a:pt x="4961756" y="870284"/>
                  <a:pt x="4934185" y="1136300"/>
                </a:cubicBezTo>
                <a:cubicBezTo>
                  <a:pt x="4906615" y="1402316"/>
                  <a:pt x="4939207" y="1525243"/>
                  <a:pt x="4934185" y="1748154"/>
                </a:cubicBezTo>
                <a:cubicBezTo>
                  <a:pt x="4929163" y="1971065"/>
                  <a:pt x="4921734" y="2058347"/>
                  <a:pt x="4934185" y="2360008"/>
                </a:cubicBezTo>
                <a:cubicBezTo>
                  <a:pt x="4946636" y="2661669"/>
                  <a:pt x="4961503" y="2658660"/>
                  <a:pt x="4934185" y="2913590"/>
                </a:cubicBezTo>
                <a:cubicBezTo>
                  <a:pt x="4623971" y="2887109"/>
                  <a:pt x="4413504" y="2930679"/>
                  <a:pt x="4218728" y="2913590"/>
                </a:cubicBezTo>
                <a:cubicBezTo>
                  <a:pt x="4023952" y="2896501"/>
                  <a:pt x="3963859" y="2895104"/>
                  <a:pt x="3749981" y="2913590"/>
                </a:cubicBezTo>
                <a:cubicBezTo>
                  <a:pt x="3536103" y="2932076"/>
                  <a:pt x="3253856" y="2900485"/>
                  <a:pt x="3083866" y="2913590"/>
                </a:cubicBezTo>
                <a:cubicBezTo>
                  <a:pt x="2913877" y="2926695"/>
                  <a:pt x="2801816" y="2929566"/>
                  <a:pt x="2615118" y="2913590"/>
                </a:cubicBezTo>
                <a:cubicBezTo>
                  <a:pt x="2428420" y="2897614"/>
                  <a:pt x="2365231" y="2934175"/>
                  <a:pt x="2146370" y="2913590"/>
                </a:cubicBezTo>
                <a:cubicBezTo>
                  <a:pt x="1927509" y="2893005"/>
                  <a:pt x="1822595" y="2924059"/>
                  <a:pt x="1677623" y="2913590"/>
                </a:cubicBezTo>
                <a:cubicBezTo>
                  <a:pt x="1532651" y="2903121"/>
                  <a:pt x="1393905" y="2886450"/>
                  <a:pt x="1110192" y="2913590"/>
                </a:cubicBezTo>
                <a:cubicBezTo>
                  <a:pt x="826479" y="2940730"/>
                  <a:pt x="388523" y="2873100"/>
                  <a:pt x="0" y="2913590"/>
                </a:cubicBezTo>
                <a:cubicBezTo>
                  <a:pt x="-6349" y="2708740"/>
                  <a:pt x="-25517" y="2521532"/>
                  <a:pt x="0" y="2330872"/>
                </a:cubicBezTo>
                <a:cubicBezTo>
                  <a:pt x="25517" y="2140212"/>
                  <a:pt x="4213" y="2013838"/>
                  <a:pt x="0" y="1806426"/>
                </a:cubicBezTo>
                <a:cubicBezTo>
                  <a:pt x="-4213" y="1599014"/>
                  <a:pt x="691" y="1433089"/>
                  <a:pt x="0" y="1252844"/>
                </a:cubicBezTo>
                <a:cubicBezTo>
                  <a:pt x="-691" y="1072599"/>
                  <a:pt x="-228" y="902514"/>
                  <a:pt x="0" y="670126"/>
                </a:cubicBezTo>
                <a:cubicBezTo>
                  <a:pt x="228" y="437738"/>
                  <a:pt x="61" y="263658"/>
                  <a:pt x="0" y="0"/>
                </a:cubicBezTo>
                <a:close/>
              </a:path>
              <a:path w="4934185" h="2913590" stroke="0" extrusionOk="0">
                <a:moveTo>
                  <a:pt x="0" y="0"/>
                </a:moveTo>
                <a:cubicBezTo>
                  <a:pt x="228985" y="-13948"/>
                  <a:pt x="371985" y="-3273"/>
                  <a:pt x="715457" y="0"/>
                </a:cubicBezTo>
                <a:cubicBezTo>
                  <a:pt x="1058929" y="3273"/>
                  <a:pt x="1127310" y="19233"/>
                  <a:pt x="1332230" y="0"/>
                </a:cubicBezTo>
                <a:cubicBezTo>
                  <a:pt x="1537150" y="-19233"/>
                  <a:pt x="1697406" y="21553"/>
                  <a:pt x="1850319" y="0"/>
                </a:cubicBezTo>
                <a:cubicBezTo>
                  <a:pt x="2003232" y="-21553"/>
                  <a:pt x="2311338" y="-13587"/>
                  <a:pt x="2467093" y="0"/>
                </a:cubicBezTo>
                <a:cubicBezTo>
                  <a:pt x="2622848" y="13587"/>
                  <a:pt x="2825911" y="17552"/>
                  <a:pt x="3182549" y="0"/>
                </a:cubicBezTo>
                <a:cubicBezTo>
                  <a:pt x="3539187" y="-17552"/>
                  <a:pt x="3454612" y="22649"/>
                  <a:pt x="3700639" y="0"/>
                </a:cubicBezTo>
                <a:cubicBezTo>
                  <a:pt x="3946666" y="-22649"/>
                  <a:pt x="3972611" y="23351"/>
                  <a:pt x="4169386" y="0"/>
                </a:cubicBezTo>
                <a:cubicBezTo>
                  <a:pt x="4366161" y="-23351"/>
                  <a:pt x="4638742" y="9557"/>
                  <a:pt x="4934185" y="0"/>
                </a:cubicBezTo>
                <a:cubicBezTo>
                  <a:pt x="4909405" y="245538"/>
                  <a:pt x="4940061" y="433565"/>
                  <a:pt x="4934185" y="582718"/>
                </a:cubicBezTo>
                <a:cubicBezTo>
                  <a:pt x="4928309" y="731871"/>
                  <a:pt x="4907813" y="901497"/>
                  <a:pt x="4934185" y="1194572"/>
                </a:cubicBezTo>
                <a:cubicBezTo>
                  <a:pt x="4960557" y="1487647"/>
                  <a:pt x="4952247" y="1632332"/>
                  <a:pt x="4934185" y="1748154"/>
                </a:cubicBezTo>
                <a:cubicBezTo>
                  <a:pt x="4916123" y="1863976"/>
                  <a:pt x="4920819" y="2046105"/>
                  <a:pt x="4934185" y="2301736"/>
                </a:cubicBezTo>
                <a:cubicBezTo>
                  <a:pt x="4947551" y="2557367"/>
                  <a:pt x="4951796" y="2657404"/>
                  <a:pt x="4934185" y="2913590"/>
                </a:cubicBezTo>
                <a:cubicBezTo>
                  <a:pt x="4767143" y="2936632"/>
                  <a:pt x="4571515" y="2914635"/>
                  <a:pt x="4366754" y="2913590"/>
                </a:cubicBezTo>
                <a:cubicBezTo>
                  <a:pt x="4161993" y="2912545"/>
                  <a:pt x="3898147" y="2889566"/>
                  <a:pt x="3700639" y="2913590"/>
                </a:cubicBezTo>
                <a:cubicBezTo>
                  <a:pt x="3503131" y="2937614"/>
                  <a:pt x="3152405" y="2902664"/>
                  <a:pt x="2985182" y="2913590"/>
                </a:cubicBezTo>
                <a:cubicBezTo>
                  <a:pt x="2817959" y="2924516"/>
                  <a:pt x="2555242" y="2938566"/>
                  <a:pt x="2319067" y="2913590"/>
                </a:cubicBezTo>
                <a:cubicBezTo>
                  <a:pt x="2082893" y="2888614"/>
                  <a:pt x="1855038" y="2884109"/>
                  <a:pt x="1702294" y="2913590"/>
                </a:cubicBezTo>
                <a:cubicBezTo>
                  <a:pt x="1549550" y="2943071"/>
                  <a:pt x="1369157" y="2936755"/>
                  <a:pt x="1233546" y="2913590"/>
                </a:cubicBezTo>
                <a:cubicBezTo>
                  <a:pt x="1097935" y="2890425"/>
                  <a:pt x="888665" y="2937720"/>
                  <a:pt x="616773" y="2913590"/>
                </a:cubicBezTo>
                <a:cubicBezTo>
                  <a:pt x="344881" y="2889460"/>
                  <a:pt x="133296" y="2894253"/>
                  <a:pt x="0" y="2913590"/>
                </a:cubicBezTo>
                <a:cubicBezTo>
                  <a:pt x="4582" y="2621082"/>
                  <a:pt x="-5375" y="2442894"/>
                  <a:pt x="0" y="2272600"/>
                </a:cubicBezTo>
                <a:cubicBezTo>
                  <a:pt x="5375" y="2102306"/>
                  <a:pt x="17709" y="1940314"/>
                  <a:pt x="0" y="1748154"/>
                </a:cubicBezTo>
                <a:cubicBezTo>
                  <a:pt x="-17709" y="1555994"/>
                  <a:pt x="-26467" y="1269585"/>
                  <a:pt x="0" y="1136300"/>
                </a:cubicBezTo>
                <a:cubicBezTo>
                  <a:pt x="26467" y="1003015"/>
                  <a:pt x="-15778" y="385163"/>
                  <a:pt x="0" y="0"/>
                </a:cubicBezTo>
                <a:close/>
              </a:path>
            </a:pathLst>
          </a:custGeom>
          <a:solidFill>
            <a:schemeClr val="bg1">
              <a:lumMod val="95000"/>
            </a:schemeClr>
          </a:solidFill>
          <a:ln>
            <a:solidFill>
              <a:schemeClr val="tx1">
                <a:lumMod val="50000"/>
                <a:lumOff val="50000"/>
              </a:schemeClr>
            </a:solidFill>
            <a:prstDash val="dash"/>
            <a:extLst>
              <a:ext uri="{C807C97D-BFC1-408E-A445-0C87EB9F89A2}">
                <ask:lineSketchStyleProps xmlns:ask="http://schemas.microsoft.com/office/drawing/2018/sketchyshapes" sd="981765707">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nl-NL" dirty="0">
                <a:solidFill>
                  <a:schemeClr val="accent2"/>
                </a:solidFill>
              </a:rPr>
              <a:t>LGM – logische laag – MIM-2</a:t>
            </a:r>
          </a:p>
        </p:txBody>
      </p:sp>
      <p:sp>
        <p:nvSpPr>
          <p:cNvPr id="53" name="Rechthoek 52">
            <a:extLst>
              <a:ext uri="{FF2B5EF4-FFF2-40B4-BE49-F238E27FC236}">
                <a16:creationId xmlns:a16="http://schemas.microsoft.com/office/drawing/2014/main" id="{3BE1B012-8683-390D-796A-A07FC373CAE0}"/>
              </a:ext>
            </a:extLst>
          </p:cNvPr>
          <p:cNvSpPr/>
          <p:nvPr/>
        </p:nvSpPr>
        <p:spPr>
          <a:xfrm>
            <a:off x="6801759" y="599285"/>
            <a:ext cx="4934186" cy="2913590"/>
          </a:xfrm>
          <a:custGeom>
            <a:avLst/>
            <a:gdLst>
              <a:gd name="csX0" fmla="*/ 0 w 4934186"/>
              <a:gd name="csY0" fmla="*/ 0 h 2913590"/>
              <a:gd name="csX1" fmla="*/ 666115 w 4934186"/>
              <a:gd name="csY1" fmla="*/ 0 h 2913590"/>
              <a:gd name="csX2" fmla="*/ 1134863 w 4934186"/>
              <a:gd name="csY2" fmla="*/ 0 h 2913590"/>
              <a:gd name="csX3" fmla="*/ 1702294 w 4934186"/>
              <a:gd name="csY3" fmla="*/ 0 h 2913590"/>
              <a:gd name="csX4" fmla="*/ 2417751 w 4934186"/>
              <a:gd name="csY4" fmla="*/ 0 h 2913590"/>
              <a:gd name="csX5" fmla="*/ 3034524 w 4934186"/>
              <a:gd name="csY5" fmla="*/ 0 h 2913590"/>
              <a:gd name="csX6" fmla="*/ 3700640 w 4934186"/>
              <a:gd name="csY6" fmla="*/ 0 h 2913590"/>
              <a:gd name="csX7" fmla="*/ 4268071 w 4934186"/>
              <a:gd name="csY7" fmla="*/ 0 h 2913590"/>
              <a:gd name="csX8" fmla="*/ 4934186 w 4934186"/>
              <a:gd name="csY8" fmla="*/ 0 h 2913590"/>
              <a:gd name="csX9" fmla="*/ 4934186 w 4934186"/>
              <a:gd name="csY9" fmla="*/ 640990 h 2913590"/>
              <a:gd name="csX10" fmla="*/ 4934186 w 4934186"/>
              <a:gd name="csY10" fmla="*/ 1165436 h 2913590"/>
              <a:gd name="csX11" fmla="*/ 4934186 w 4934186"/>
              <a:gd name="csY11" fmla="*/ 1660746 h 2913590"/>
              <a:gd name="csX12" fmla="*/ 4934186 w 4934186"/>
              <a:gd name="csY12" fmla="*/ 2185193 h 2913590"/>
              <a:gd name="csX13" fmla="*/ 4934186 w 4934186"/>
              <a:gd name="csY13" fmla="*/ 2913590 h 2913590"/>
              <a:gd name="csX14" fmla="*/ 4317413 w 4934186"/>
              <a:gd name="csY14" fmla="*/ 2913590 h 2913590"/>
              <a:gd name="csX15" fmla="*/ 3700640 w 4934186"/>
              <a:gd name="csY15" fmla="*/ 2913590 h 2913590"/>
              <a:gd name="csX16" fmla="*/ 3182550 w 4934186"/>
              <a:gd name="csY16" fmla="*/ 2913590 h 2913590"/>
              <a:gd name="csX17" fmla="*/ 2565777 w 4934186"/>
              <a:gd name="csY17" fmla="*/ 2913590 h 2913590"/>
              <a:gd name="csX18" fmla="*/ 1949003 w 4934186"/>
              <a:gd name="csY18" fmla="*/ 2913590 h 2913590"/>
              <a:gd name="csX19" fmla="*/ 1332230 w 4934186"/>
              <a:gd name="csY19" fmla="*/ 2913590 h 2913590"/>
              <a:gd name="csX20" fmla="*/ 715457 w 4934186"/>
              <a:gd name="csY20" fmla="*/ 2913590 h 2913590"/>
              <a:gd name="csX21" fmla="*/ 0 w 4934186"/>
              <a:gd name="csY21" fmla="*/ 2913590 h 2913590"/>
              <a:gd name="csX22" fmla="*/ 0 w 4934186"/>
              <a:gd name="csY22" fmla="*/ 2301736 h 2913590"/>
              <a:gd name="csX23" fmla="*/ 0 w 4934186"/>
              <a:gd name="csY23" fmla="*/ 1689882 h 2913590"/>
              <a:gd name="csX24" fmla="*/ 0 w 4934186"/>
              <a:gd name="csY24" fmla="*/ 1078028 h 2913590"/>
              <a:gd name="csX25" fmla="*/ 0 w 4934186"/>
              <a:gd name="csY25" fmla="*/ 0 h 2913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4934186" h="2913590" fill="none" extrusionOk="0">
                <a:moveTo>
                  <a:pt x="0" y="0"/>
                </a:moveTo>
                <a:cubicBezTo>
                  <a:pt x="232265" y="25376"/>
                  <a:pt x="486430" y="-19993"/>
                  <a:pt x="666115" y="0"/>
                </a:cubicBezTo>
                <a:cubicBezTo>
                  <a:pt x="845800" y="19993"/>
                  <a:pt x="914349" y="6700"/>
                  <a:pt x="1134863" y="0"/>
                </a:cubicBezTo>
                <a:cubicBezTo>
                  <a:pt x="1355377" y="-6700"/>
                  <a:pt x="1533477" y="285"/>
                  <a:pt x="1702294" y="0"/>
                </a:cubicBezTo>
                <a:cubicBezTo>
                  <a:pt x="1871111" y="-285"/>
                  <a:pt x="2126906" y="31181"/>
                  <a:pt x="2417751" y="0"/>
                </a:cubicBezTo>
                <a:cubicBezTo>
                  <a:pt x="2708596" y="-31181"/>
                  <a:pt x="2838612" y="7279"/>
                  <a:pt x="3034524" y="0"/>
                </a:cubicBezTo>
                <a:cubicBezTo>
                  <a:pt x="3230436" y="-7279"/>
                  <a:pt x="3431341" y="22174"/>
                  <a:pt x="3700640" y="0"/>
                </a:cubicBezTo>
                <a:cubicBezTo>
                  <a:pt x="3969939" y="-22174"/>
                  <a:pt x="4005236" y="17031"/>
                  <a:pt x="4268071" y="0"/>
                </a:cubicBezTo>
                <a:cubicBezTo>
                  <a:pt x="4530906" y="-17031"/>
                  <a:pt x="4676778" y="16425"/>
                  <a:pt x="4934186" y="0"/>
                </a:cubicBezTo>
                <a:cubicBezTo>
                  <a:pt x="4930738" y="283114"/>
                  <a:pt x="4919436" y="490050"/>
                  <a:pt x="4934186" y="640990"/>
                </a:cubicBezTo>
                <a:cubicBezTo>
                  <a:pt x="4948937" y="791930"/>
                  <a:pt x="4941590" y="963583"/>
                  <a:pt x="4934186" y="1165436"/>
                </a:cubicBezTo>
                <a:cubicBezTo>
                  <a:pt x="4926782" y="1367289"/>
                  <a:pt x="4954593" y="1492850"/>
                  <a:pt x="4934186" y="1660746"/>
                </a:cubicBezTo>
                <a:cubicBezTo>
                  <a:pt x="4913780" y="1828642"/>
                  <a:pt x="4936379" y="2066656"/>
                  <a:pt x="4934186" y="2185193"/>
                </a:cubicBezTo>
                <a:cubicBezTo>
                  <a:pt x="4931993" y="2303730"/>
                  <a:pt x="4955078" y="2702975"/>
                  <a:pt x="4934186" y="2913590"/>
                </a:cubicBezTo>
                <a:cubicBezTo>
                  <a:pt x="4678172" y="2912725"/>
                  <a:pt x="4609768" y="2943872"/>
                  <a:pt x="4317413" y="2913590"/>
                </a:cubicBezTo>
                <a:cubicBezTo>
                  <a:pt x="4025058" y="2883308"/>
                  <a:pt x="3900256" y="2903070"/>
                  <a:pt x="3700640" y="2913590"/>
                </a:cubicBezTo>
                <a:cubicBezTo>
                  <a:pt x="3501024" y="2924110"/>
                  <a:pt x="3406664" y="2888231"/>
                  <a:pt x="3182550" y="2913590"/>
                </a:cubicBezTo>
                <a:cubicBezTo>
                  <a:pt x="2958436" y="2938950"/>
                  <a:pt x="2812984" y="2932354"/>
                  <a:pt x="2565777" y="2913590"/>
                </a:cubicBezTo>
                <a:cubicBezTo>
                  <a:pt x="2318570" y="2894826"/>
                  <a:pt x="2095758" y="2901895"/>
                  <a:pt x="1949003" y="2913590"/>
                </a:cubicBezTo>
                <a:cubicBezTo>
                  <a:pt x="1802248" y="2925285"/>
                  <a:pt x="1588142" y="2886393"/>
                  <a:pt x="1332230" y="2913590"/>
                </a:cubicBezTo>
                <a:cubicBezTo>
                  <a:pt x="1076318" y="2940787"/>
                  <a:pt x="1006872" y="2890635"/>
                  <a:pt x="715457" y="2913590"/>
                </a:cubicBezTo>
                <a:cubicBezTo>
                  <a:pt x="424042" y="2936545"/>
                  <a:pt x="304778" y="2937663"/>
                  <a:pt x="0" y="2913590"/>
                </a:cubicBezTo>
                <a:cubicBezTo>
                  <a:pt x="9592" y="2654281"/>
                  <a:pt x="-16261" y="2579956"/>
                  <a:pt x="0" y="2301736"/>
                </a:cubicBezTo>
                <a:cubicBezTo>
                  <a:pt x="16261" y="2023516"/>
                  <a:pt x="24083" y="1829048"/>
                  <a:pt x="0" y="1689882"/>
                </a:cubicBezTo>
                <a:cubicBezTo>
                  <a:pt x="-24083" y="1550716"/>
                  <a:pt x="612" y="1325371"/>
                  <a:pt x="0" y="1078028"/>
                </a:cubicBezTo>
                <a:cubicBezTo>
                  <a:pt x="-612" y="830685"/>
                  <a:pt x="-16257" y="465591"/>
                  <a:pt x="0" y="0"/>
                </a:cubicBezTo>
                <a:close/>
              </a:path>
              <a:path w="4934186" h="2913590" stroke="0" extrusionOk="0">
                <a:moveTo>
                  <a:pt x="0" y="0"/>
                </a:moveTo>
                <a:cubicBezTo>
                  <a:pt x="244263" y="2143"/>
                  <a:pt x="420496" y="-23821"/>
                  <a:pt x="567431" y="0"/>
                </a:cubicBezTo>
                <a:cubicBezTo>
                  <a:pt x="714366" y="23821"/>
                  <a:pt x="890619" y="-8489"/>
                  <a:pt x="1036179" y="0"/>
                </a:cubicBezTo>
                <a:cubicBezTo>
                  <a:pt x="1181739" y="8489"/>
                  <a:pt x="1525016" y="9637"/>
                  <a:pt x="1751636" y="0"/>
                </a:cubicBezTo>
                <a:cubicBezTo>
                  <a:pt x="1978256" y="-9637"/>
                  <a:pt x="2166233" y="-6261"/>
                  <a:pt x="2319067" y="0"/>
                </a:cubicBezTo>
                <a:cubicBezTo>
                  <a:pt x="2471901" y="6261"/>
                  <a:pt x="2766934" y="-2535"/>
                  <a:pt x="2886499" y="0"/>
                </a:cubicBezTo>
                <a:cubicBezTo>
                  <a:pt x="3006064" y="2535"/>
                  <a:pt x="3291623" y="12466"/>
                  <a:pt x="3601956" y="0"/>
                </a:cubicBezTo>
                <a:cubicBezTo>
                  <a:pt x="3912289" y="-12466"/>
                  <a:pt x="4010557" y="16387"/>
                  <a:pt x="4120045" y="0"/>
                </a:cubicBezTo>
                <a:cubicBezTo>
                  <a:pt x="4229533" y="-16387"/>
                  <a:pt x="4703431" y="31280"/>
                  <a:pt x="4934186" y="0"/>
                </a:cubicBezTo>
                <a:cubicBezTo>
                  <a:pt x="4935579" y="163125"/>
                  <a:pt x="4953430" y="353840"/>
                  <a:pt x="4934186" y="640990"/>
                </a:cubicBezTo>
                <a:cubicBezTo>
                  <a:pt x="4914943" y="928140"/>
                  <a:pt x="4909557" y="1057103"/>
                  <a:pt x="4934186" y="1165436"/>
                </a:cubicBezTo>
                <a:cubicBezTo>
                  <a:pt x="4958815" y="1273769"/>
                  <a:pt x="4938716" y="1457430"/>
                  <a:pt x="4934186" y="1748154"/>
                </a:cubicBezTo>
                <a:cubicBezTo>
                  <a:pt x="4929656" y="2038878"/>
                  <a:pt x="4949750" y="2231226"/>
                  <a:pt x="4934186" y="2360008"/>
                </a:cubicBezTo>
                <a:cubicBezTo>
                  <a:pt x="4918622" y="2488790"/>
                  <a:pt x="4907859" y="2738389"/>
                  <a:pt x="4934186" y="2913590"/>
                </a:cubicBezTo>
                <a:cubicBezTo>
                  <a:pt x="4804714" y="2918669"/>
                  <a:pt x="4449057" y="2926928"/>
                  <a:pt x="4317413" y="2913590"/>
                </a:cubicBezTo>
                <a:cubicBezTo>
                  <a:pt x="4185769" y="2900252"/>
                  <a:pt x="4029971" y="2925977"/>
                  <a:pt x="3799323" y="2913590"/>
                </a:cubicBezTo>
                <a:cubicBezTo>
                  <a:pt x="3568675" y="2901204"/>
                  <a:pt x="3404533" y="2934475"/>
                  <a:pt x="3182550" y="2913590"/>
                </a:cubicBezTo>
                <a:cubicBezTo>
                  <a:pt x="2960567" y="2892705"/>
                  <a:pt x="2777096" y="2937122"/>
                  <a:pt x="2467093" y="2913590"/>
                </a:cubicBezTo>
                <a:cubicBezTo>
                  <a:pt x="2157090" y="2890058"/>
                  <a:pt x="2043543" y="2917069"/>
                  <a:pt x="1850320" y="2913590"/>
                </a:cubicBezTo>
                <a:cubicBezTo>
                  <a:pt x="1657097" y="2910111"/>
                  <a:pt x="1503916" y="2924201"/>
                  <a:pt x="1381572" y="2913590"/>
                </a:cubicBezTo>
                <a:cubicBezTo>
                  <a:pt x="1259228" y="2902979"/>
                  <a:pt x="1099628" y="2928760"/>
                  <a:pt x="863483" y="2913590"/>
                </a:cubicBezTo>
                <a:cubicBezTo>
                  <a:pt x="627338" y="2898420"/>
                  <a:pt x="352558" y="2893721"/>
                  <a:pt x="0" y="2913590"/>
                </a:cubicBezTo>
                <a:cubicBezTo>
                  <a:pt x="3546" y="2695865"/>
                  <a:pt x="2220" y="2539732"/>
                  <a:pt x="0" y="2330872"/>
                </a:cubicBezTo>
                <a:cubicBezTo>
                  <a:pt x="-2220" y="2122012"/>
                  <a:pt x="25105" y="1919059"/>
                  <a:pt x="0" y="1748154"/>
                </a:cubicBezTo>
                <a:cubicBezTo>
                  <a:pt x="-25105" y="1577249"/>
                  <a:pt x="19349" y="1450810"/>
                  <a:pt x="0" y="1194572"/>
                </a:cubicBezTo>
                <a:cubicBezTo>
                  <a:pt x="-19349" y="938334"/>
                  <a:pt x="19123" y="861571"/>
                  <a:pt x="0" y="699262"/>
                </a:cubicBezTo>
                <a:cubicBezTo>
                  <a:pt x="-19123" y="536953"/>
                  <a:pt x="4260" y="148300"/>
                  <a:pt x="0" y="0"/>
                </a:cubicBezTo>
                <a:close/>
              </a:path>
            </a:pathLst>
          </a:custGeom>
          <a:solidFill>
            <a:schemeClr val="bg1">
              <a:lumMod val="95000"/>
            </a:schemeClr>
          </a:solidFill>
          <a:ln>
            <a:solidFill>
              <a:schemeClr val="tx1">
                <a:lumMod val="50000"/>
                <a:lumOff val="50000"/>
              </a:schemeClr>
            </a:solidFill>
            <a:prstDash val="dash"/>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r>
              <a:rPr lang="nl-NL" dirty="0">
                <a:solidFill>
                  <a:srgbClr val="0070C0"/>
                </a:solidFill>
              </a:rPr>
              <a:t>CIM – conceptuele laag, MIM-2</a:t>
            </a:r>
          </a:p>
        </p:txBody>
      </p:sp>
      <p:sp>
        <p:nvSpPr>
          <p:cNvPr id="2" name="Titel 1">
            <a:extLst>
              <a:ext uri="{FF2B5EF4-FFF2-40B4-BE49-F238E27FC236}">
                <a16:creationId xmlns:a16="http://schemas.microsoft.com/office/drawing/2014/main" id="{BFE428CE-7F34-7A5B-76EA-0A49CAC1B643}"/>
              </a:ext>
            </a:extLst>
          </p:cNvPr>
          <p:cNvSpPr>
            <a:spLocks noGrp="1"/>
          </p:cNvSpPr>
          <p:nvPr>
            <p:ph type="title"/>
          </p:nvPr>
        </p:nvSpPr>
        <p:spPr>
          <a:xfrm>
            <a:off x="702957" y="366943"/>
            <a:ext cx="6159500" cy="1325563"/>
          </a:xfrm>
        </p:spPr>
        <p:txBody>
          <a:bodyPr>
            <a:normAutofit/>
          </a:bodyPr>
          <a:lstStyle/>
          <a:p>
            <a:r>
              <a:rPr lang="nl-NL" sz="4000" dirty="0"/>
              <a:t>Voorbeeld en modellering </a:t>
            </a:r>
          </a:p>
        </p:txBody>
      </p:sp>
      <p:sp>
        <p:nvSpPr>
          <p:cNvPr id="12" name="Tijdelijke aanduiding voor inhoud 11">
            <a:extLst>
              <a:ext uri="{FF2B5EF4-FFF2-40B4-BE49-F238E27FC236}">
                <a16:creationId xmlns:a16="http://schemas.microsoft.com/office/drawing/2014/main" id="{6F2BFD07-4C83-30E2-EB4A-F5F3DE075FE0}"/>
              </a:ext>
            </a:extLst>
          </p:cNvPr>
          <p:cNvSpPr>
            <a:spLocks noGrp="1"/>
          </p:cNvSpPr>
          <p:nvPr>
            <p:ph idx="1"/>
          </p:nvPr>
        </p:nvSpPr>
        <p:spPr>
          <a:xfrm>
            <a:off x="680071" y="1478166"/>
            <a:ext cx="5192320" cy="5178592"/>
          </a:xfrm>
        </p:spPr>
        <p:txBody>
          <a:bodyPr>
            <a:normAutofit lnSpcReduction="10000"/>
          </a:bodyPr>
          <a:lstStyle/>
          <a:p>
            <a:pPr marL="0" indent="0">
              <a:buNone/>
            </a:pPr>
            <a:r>
              <a:rPr lang="nl-NL" sz="1600" u="sng" dirty="0"/>
              <a:t>Conceptueel, MIM-2</a:t>
            </a:r>
          </a:p>
          <a:p>
            <a:pPr marL="0" indent="0">
              <a:buNone/>
            </a:pPr>
            <a:r>
              <a:rPr lang="nl-NL" sz="1600" dirty="0"/>
              <a:t>Een natuurlijk persoon met een unieke combinatie van eigenschappen: voornaam, achternaam, geboortedatum, geboorteplaats. Daarnaast het de natuurlijk persoon een unieke eigenschap: </a:t>
            </a:r>
            <a:r>
              <a:rPr lang="nl-NL" sz="1600" dirty="0" err="1"/>
              <a:t>bsn</a:t>
            </a:r>
            <a:r>
              <a:rPr lang="nl-NL" sz="1600" dirty="0"/>
              <a:t>. </a:t>
            </a:r>
          </a:p>
          <a:p>
            <a:pPr marL="0" indent="0">
              <a:buNone/>
            </a:pPr>
            <a:r>
              <a:rPr lang="nl-NL" sz="1600" u="sng" dirty="0"/>
              <a:t>Logische gegevens, MIM-3</a:t>
            </a:r>
            <a:r>
              <a:rPr lang="nl-NL" sz="1600" dirty="0"/>
              <a:t> </a:t>
            </a:r>
          </a:p>
          <a:p>
            <a:pPr marL="0" indent="0">
              <a:buNone/>
            </a:pPr>
            <a:r>
              <a:rPr lang="nl-NL" sz="1600" dirty="0"/>
              <a:t>Om een of andere reden is er gekozen om in de logische laag een eigen logische </a:t>
            </a:r>
            <a:r>
              <a:rPr lang="nl-NL" sz="1600" dirty="0" err="1"/>
              <a:t>id</a:t>
            </a:r>
            <a:r>
              <a:rPr lang="nl-NL" sz="1600" dirty="0"/>
              <a:t> te geven, een </a:t>
            </a:r>
            <a:r>
              <a:rPr lang="nl-NL" sz="1600" dirty="0" err="1"/>
              <a:t>pid</a:t>
            </a:r>
            <a:r>
              <a:rPr lang="nl-NL" sz="1600" dirty="0"/>
              <a:t>. Deze had ook ‘identificatie’ genoemd kunnen worden. Er had wellicht ook gekozen kunnen worden voor </a:t>
            </a:r>
            <a:r>
              <a:rPr lang="nl-NL" sz="1600" dirty="0" err="1"/>
              <a:t>bsn</a:t>
            </a:r>
            <a:r>
              <a:rPr lang="nl-NL" sz="1600" dirty="0"/>
              <a:t>, maar die voldoet niet aan een generiek patroon. </a:t>
            </a:r>
          </a:p>
          <a:p>
            <a:pPr marL="0" indent="0">
              <a:buNone/>
            </a:pPr>
            <a:r>
              <a:rPr lang="nl-NL" sz="1600" dirty="0"/>
              <a:t>Verder, om versies/voorkomens/verschijningsvormen in de tijd te ondersteunen, is er nog een versie nummer*. </a:t>
            </a:r>
          </a:p>
          <a:p>
            <a:pPr marL="0" indent="0">
              <a:buNone/>
            </a:pPr>
            <a:r>
              <a:rPr lang="nl-NL" sz="1600" dirty="0"/>
              <a:t>*: dit kan ook begin geldigheid, </a:t>
            </a:r>
            <a:r>
              <a:rPr lang="nl-NL" sz="1600" dirty="0" err="1"/>
              <a:t>registatiemoment</a:t>
            </a:r>
            <a:r>
              <a:rPr lang="nl-NL" sz="1600" dirty="0"/>
              <a:t>, </a:t>
            </a:r>
            <a:r>
              <a:rPr lang="nl-NL" sz="1600" dirty="0" err="1"/>
              <a:t>foutaanduidingsmoment</a:t>
            </a:r>
            <a:r>
              <a:rPr lang="nl-NL" sz="1600" dirty="0"/>
              <a:t> en andere extra gegevens zijn, maar dit is voor het voorbeeld te druk.</a:t>
            </a:r>
          </a:p>
          <a:p>
            <a:pPr marL="0" indent="0">
              <a:buNone/>
            </a:pPr>
            <a:r>
              <a:rPr lang="nl-NL" sz="1600" dirty="0"/>
              <a:t>Tot slot, geboortedatum is niet relevant in dit LGM. </a:t>
            </a:r>
          </a:p>
          <a:p>
            <a:pPr marL="0" indent="0">
              <a:buNone/>
            </a:pPr>
            <a:r>
              <a:rPr lang="nl-NL" sz="1600" dirty="0"/>
              <a:t>Merk op dat gegevenstypen ‘</a:t>
            </a:r>
            <a:r>
              <a:rPr lang="nl-NL" sz="1600" dirty="0" err="1"/>
              <a:t>pid</a:t>
            </a:r>
            <a:r>
              <a:rPr lang="nl-NL" sz="1600" dirty="0"/>
              <a:t>’/‘identificatie’ en ‘versienummer’ vaak gemodelleerd worden in hetzelfde </a:t>
            </a:r>
            <a:r>
              <a:rPr lang="nl-NL" sz="1600" dirty="0" err="1"/>
              <a:t>gegevensobjecttype</a:t>
            </a:r>
            <a:r>
              <a:rPr lang="nl-NL" sz="1600" dirty="0"/>
              <a:t>. Er zijn ook modelleurs die dit liever doen. </a:t>
            </a:r>
          </a:p>
        </p:txBody>
      </p:sp>
      <p:sp>
        <p:nvSpPr>
          <p:cNvPr id="6" name="Rechthoek 5">
            <a:extLst>
              <a:ext uri="{FF2B5EF4-FFF2-40B4-BE49-F238E27FC236}">
                <a16:creationId xmlns:a16="http://schemas.microsoft.com/office/drawing/2014/main" id="{3654F5E3-0FB3-D93A-4874-97F937232C7C}"/>
              </a:ext>
            </a:extLst>
          </p:cNvPr>
          <p:cNvSpPr/>
          <p:nvPr/>
        </p:nvSpPr>
        <p:spPr>
          <a:xfrm>
            <a:off x="7119259" y="1383800"/>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Natuurlijk persoon</a:t>
            </a:r>
          </a:p>
        </p:txBody>
      </p:sp>
      <p:sp>
        <p:nvSpPr>
          <p:cNvPr id="7" name="Rechthoek 6">
            <a:extLst>
              <a:ext uri="{FF2B5EF4-FFF2-40B4-BE49-F238E27FC236}">
                <a16:creationId xmlns:a16="http://schemas.microsoft.com/office/drawing/2014/main" id="{13F369E9-A2CE-7B5C-73F2-BE70EB513713}"/>
              </a:ext>
            </a:extLst>
          </p:cNvPr>
          <p:cNvSpPr/>
          <p:nvPr/>
        </p:nvSpPr>
        <p:spPr>
          <a:xfrm>
            <a:off x="7119259" y="1889330"/>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voornaam</a:t>
            </a:r>
          </a:p>
        </p:txBody>
      </p:sp>
      <p:sp>
        <p:nvSpPr>
          <p:cNvPr id="8" name="Rechthoek 7">
            <a:extLst>
              <a:ext uri="{FF2B5EF4-FFF2-40B4-BE49-F238E27FC236}">
                <a16:creationId xmlns:a16="http://schemas.microsoft.com/office/drawing/2014/main" id="{7322CE7B-17C2-B559-B50B-EB00B6A8115D}"/>
              </a:ext>
            </a:extLst>
          </p:cNvPr>
          <p:cNvSpPr/>
          <p:nvPr/>
        </p:nvSpPr>
        <p:spPr>
          <a:xfrm>
            <a:off x="7119259" y="2222000"/>
            <a:ext cx="2082800" cy="3302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achternaam</a:t>
            </a:r>
          </a:p>
        </p:txBody>
      </p:sp>
      <p:sp>
        <p:nvSpPr>
          <p:cNvPr id="9" name="Rechthoek 8">
            <a:extLst>
              <a:ext uri="{FF2B5EF4-FFF2-40B4-BE49-F238E27FC236}">
                <a16:creationId xmlns:a16="http://schemas.microsoft.com/office/drawing/2014/main" id="{48523D13-9507-B913-7CE4-47D0A2FEAE7F}"/>
              </a:ext>
            </a:extLst>
          </p:cNvPr>
          <p:cNvSpPr/>
          <p:nvPr/>
        </p:nvSpPr>
        <p:spPr>
          <a:xfrm>
            <a:off x="7119259" y="2590300"/>
            <a:ext cx="2082800" cy="27304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geboortedatum</a:t>
            </a:r>
          </a:p>
        </p:txBody>
      </p:sp>
      <p:sp>
        <p:nvSpPr>
          <p:cNvPr id="11" name="Rechthoek 10">
            <a:extLst>
              <a:ext uri="{FF2B5EF4-FFF2-40B4-BE49-F238E27FC236}">
                <a16:creationId xmlns:a16="http://schemas.microsoft.com/office/drawing/2014/main" id="{5BF706A2-B601-33AF-AB51-ED84FD272C7E}"/>
              </a:ext>
            </a:extLst>
          </p:cNvPr>
          <p:cNvSpPr/>
          <p:nvPr/>
        </p:nvSpPr>
        <p:spPr>
          <a:xfrm>
            <a:off x="10541909" y="2228350"/>
            <a:ext cx="965200" cy="282286"/>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naam</a:t>
            </a:r>
          </a:p>
        </p:txBody>
      </p:sp>
      <p:sp>
        <p:nvSpPr>
          <p:cNvPr id="13" name="Rechthoek 12">
            <a:extLst>
              <a:ext uri="{FF2B5EF4-FFF2-40B4-BE49-F238E27FC236}">
                <a16:creationId xmlns:a16="http://schemas.microsoft.com/office/drawing/2014/main" id="{1C8E7409-28EA-AF33-A60E-809638A46EE8}"/>
              </a:ext>
            </a:extLst>
          </p:cNvPr>
          <p:cNvSpPr/>
          <p:nvPr/>
        </p:nvSpPr>
        <p:spPr>
          <a:xfrm>
            <a:off x="7119259" y="2907800"/>
            <a:ext cx="2082800" cy="2730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bsn</a:t>
            </a:r>
            <a:endParaRPr lang="nl-NL" sz="1600" dirty="0"/>
          </a:p>
        </p:txBody>
      </p:sp>
      <p:sp>
        <p:nvSpPr>
          <p:cNvPr id="14" name="Rechthoek 13">
            <a:extLst>
              <a:ext uri="{FF2B5EF4-FFF2-40B4-BE49-F238E27FC236}">
                <a16:creationId xmlns:a16="http://schemas.microsoft.com/office/drawing/2014/main" id="{853B18A6-0E32-39B1-DC22-E49F17C2FABC}"/>
              </a:ext>
            </a:extLst>
          </p:cNvPr>
          <p:cNvSpPr/>
          <p:nvPr/>
        </p:nvSpPr>
        <p:spPr>
          <a:xfrm>
            <a:off x="10541909" y="1390150"/>
            <a:ext cx="965200" cy="457200"/>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Plaats</a:t>
            </a:r>
          </a:p>
        </p:txBody>
      </p:sp>
      <p:sp>
        <p:nvSpPr>
          <p:cNvPr id="15" name="Rechthoek 14">
            <a:extLst>
              <a:ext uri="{FF2B5EF4-FFF2-40B4-BE49-F238E27FC236}">
                <a16:creationId xmlns:a16="http://schemas.microsoft.com/office/drawing/2014/main" id="{81A82240-9AC4-4A9E-9CF4-091C1D7262F6}"/>
              </a:ext>
            </a:extLst>
          </p:cNvPr>
          <p:cNvSpPr/>
          <p:nvPr/>
        </p:nvSpPr>
        <p:spPr>
          <a:xfrm>
            <a:off x="10541909" y="1885450"/>
            <a:ext cx="965200" cy="294569"/>
          </a:xfrm>
          <a:prstGeom prst="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code</a:t>
            </a:r>
          </a:p>
        </p:txBody>
      </p:sp>
      <p:cxnSp>
        <p:nvCxnSpPr>
          <p:cNvPr id="18" name="Rechte verbindingslijn met pijl 17">
            <a:extLst>
              <a:ext uri="{FF2B5EF4-FFF2-40B4-BE49-F238E27FC236}">
                <a16:creationId xmlns:a16="http://schemas.microsoft.com/office/drawing/2014/main" id="{5E327BBE-5435-36A7-77E2-1BEA3876D2DA}"/>
              </a:ext>
            </a:extLst>
          </p:cNvPr>
          <p:cNvCxnSpPr>
            <a:cxnSpLocks/>
            <a:stCxn id="6" idx="3"/>
            <a:endCxn id="14" idx="1"/>
          </p:cNvCxnSpPr>
          <p:nvPr/>
        </p:nvCxnSpPr>
        <p:spPr>
          <a:xfrm>
            <a:off x="9202059" y="1612400"/>
            <a:ext cx="1339850"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Rechthoek 18">
            <a:extLst>
              <a:ext uri="{FF2B5EF4-FFF2-40B4-BE49-F238E27FC236}">
                <a16:creationId xmlns:a16="http://schemas.microsoft.com/office/drawing/2014/main" id="{0E073799-426D-629A-8231-8AC7FB7ABDE1}"/>
              </a:ext>
            </a:extLst>
          </p:cNvPr>
          <p:cNvSpPr/>
          <p:nvPr/>
        </p:nvSpPr>
        <p:spPr>
          <a:xfrm>
            <a:off x="10541909" y="869052"/>
            <a:ext cx="965200" cy="45720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solidFill>
                  <a:schemeClr val="accent1"/>
                </a:solidFill>
              </a:rPr>
              <a:t>geboorte</a:t>
            </a:r>
            <a:br>
              <a:rPr lang="nl-NL" sz="1400" dirty="0">
                <a:solidFill>
                  <a:schemeClr val="accent1"/>
                </a:solidFill>
              </a:rPr>
            </a:br>
            <a:r>
              <a:rPr lang="nl-NL" sz="1400" dirty="0">
                <a:solidFill>
                  <a:schemeClr val="accent1"/>
                </a:solidFill>
              </a:rPr>
              <a:t>plaats</a:t>
            </a:r>
          </a:p>
        </p:txBody>
      </p:sp>
      <p:sp>
        <p:nvSpPr>
          <p:cNvPr id="22" name="Rechthoek 21">
            <a:extLst>
              <a:ext uri="{FF2B5EF4-FFF2-40B4-BE49-F238E27FC236}">
                <a16:creationId xmlns:a16="http://schemas.microsoft.com/office/drawing/2014/main" id="{0F625990-2F1D-9F22-28F3-8183C2719564}"/>
              </a:ext>
            </a:extLst>
          </p:cNvPr>
          <p:cNvSpPr/>
          <p:nvPr/>
        </p:nvSpPr>
        <p:spPr>
          <a:xfrm>
            <a:off x="9294134" y="1266325"/>
            <a:ext cx="1174750" cy="304800"/>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400" dirty="0">
                <a:solidFill>
                  <a:schemeClr val="accent1"/>
                </a:solidFill>
              </a:rPr>
              <a:t>is geboren in</a:t>
            </a:r>
          </a:p>
        </p:txBody>
      </p:sp>
      <p:sp>
        <p:nvSpPr>
          <p:cNvPr id="23" name="Rechthoek 22">
            <a:extLst>
              <a:ext uri="{FF2B5EF4-FFF2-40B4-BE49-F238E27FC236}">
                <a16:creationId xmlns:a16="http://schemas.microsoft.com/office/drawing/2014/main" id="{011E755B-C23E-C0BB-BA78-9378FDE0FDCD}"/>
              </a:ext>
            </a:extLst>
          </p:cNvPr>
          <p:cNvSpPr/>
          <p:nvPr/>
        </p:nvSpPr>
        <p:spPr>
          <a:xfrm>
            <a:off x="7119259" y="4118765"/>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Persoon</a:t>
            </a:r>
          </a:p>
        </p:txBody>
      </p:sp>
      <p:sp>
        <p:nvSpPr>
          <p:cNvPr id="24" name="Rechthoek 23">
            <a:extLst>
              <a:ext uri="{FF2B5EF4-FFF2-40B4-BE49-F238E27FC236}">
                <a16:creationId xmlns:a16="http://schemas.microsoft.com/office/drawing/2014/main" id="{7248CA67-AB1D-E370-8564-53A6CE0EAE43}"/>
              </a:ext>
            </a:extLst>
          </p:cNvPr>
          <p:cNvSpPr/>
          <p:nvPr/>
        </p:nvSpPr>
        <p:spPr>
          <a:xfrm>
            <a:off x="7119259" y="5261765"/>
            <a:ext cx="2082800" cy="215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voornaam</a:t>
            </a:r>
          </a:p>
        </p:txBody>
      </p:sp>
      <p:sp>
        <p:nvSpPr>
          <p:cNvPr id="25" name="Rechthoek 24">
            <a:extLst>
              <a:ext uri="{FF2B5EF4-FFF2-40B4-BE49-F238E27FC236}">
                <a16:creationId xmlns:a16="http://schemas.microsoft.com/office/drawing/2014/main" id="{63D18B4A-2175-64AE-E184-5A6287D1196C}"/>
              </a:ext>
            </a:extLst>
          </p:cNvPr>
          <p:cNvSpPr/>
          <p:nvPr/>
        </p:nvSpPr>
        <p:spPr>
          <a:xfrm>
            <a:off x="7119259" y="5522115"/>
            <a:ext cx="2082800" cy="215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achternaam</a:t>
            </a:r>
          </a:p>
        </p:txBody>
      </p:sp>
      <p:sp>
        <p:nvSpPr>
          <p:cNvPr id="28" name="Rechthoek 27">
            <a:extLst>
              <a:ext uri="{FF2B5EF4-FFF2-40B4-BE49-F238E27FC236}">
                <a16:creationId xmlns:a16="http://schemas.microsoft.com/office/drawing/2014/main" id="{8999C7E0-DFDA-8FBB-225E-9464A73E5BBB}"/>
              </a:ext>
            </a:extLst>
          </p:cNvPr>
          <p:cNvSpPr/>
          <p:nvPr/>
        </p:nvSpPr>
        <p:spPr>
          <a:xfrm>
            <a:off x="7119259" y="6042815"/>
            <a:ext cx="2082800" cy="215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solidFill>
                  <a:schemeClr val="tx1"/>
                </a:solidFill>
              </a:rPr>
              <a:t>bsn</a:t>
            </a:r>
            <a:endParaRPr lang="nl-NL" sz="1600" dirty="0">
              <a:solidFill>
                <a:schemeClr val="tx1"/>
              </a:solidFill>
            </a:endParaRPr>
          </a:p>
        </p:txBody>
      </p:sp>
      <p:sp>
        <p:nvSpPr>
          <p:cNvPr id="34" name="Rechthoek 33">
            <a:extLst>
              <a:ext uri="{FF2B5EF4-FFF2-40B4-BE49-F238E27FC236}">
                <a16:creationId xmlns:a16="http://schemas.microsoft.com/office/drawing/2014/main" id="{F744B07B-4C9D-042C-D006-BAB0AD40AA18}"/>
              </a:ext>
            </a:extLst>
          </p:cNvPr>
          <p:cNvSpPr/>
          <p:nvPr/>
        </p:nvSpPr>
        <p:spPr>
          <a:xfrm>
            <a:off x="7119259" y="4620415"/>
            <a:ext cx="2082800" cy="215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solidFill>
                  <a:schemeClr val="tx1"/>
                </a:solidFill>
              </a:rPr>
              <a:t>pid</a:t>
            </a:r>
            <a:r>
              <a:rPr lang="nl-NL" sz="1600" dirty="0">
                <a:solidFill>
                  <a:schemeClr val="tx1"/>
                </a:solidFill>
              </a:rPr>
              <a:t> / identificatie</a:t>
            </a:r>
          </a:p>
        </p:txBody>
      </p:sp>
      <p:sp>
        <p:nvSpPr>
          <p:cNvPr id="35" name="Rechthoek 34">
            <a:extLst>
              <a:ext uri="{FF2B5EF4-FFF2-40B4-BE49-F238E27FC236}">
                <a16:creationId xmlns:a16="http://schemas.microsoft.com/office/drawing/2014/main" id="{4A3543D1-976D-A653-73D1-34E4CC0E5A6F}"/>
              </a:ext>
            </a:extLst>
          </p:cNvPr>
          <p:cNvSpPr/>
          <p:nvPr/>
        </p:nvSpPr>
        <p:spPr>
          <a:xfrm>
            <a:off x="7119259" y="5788815"/>
            <a:ext cx="2082800" cy="215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geboorteplaats </a:t>
            </a:r>
          </a:p>
        </p:txBody>
      </p:sp>
      <p:sp>
        <p:nvSpPr>
          <p:cNvPr id="37" name="Rechthoek 36">
            <a:extLst>
              <a:ext uri="{FF2B5EF4-FFF2-40B4-BE49-F238E27FC236}">
                <a16:creationId xmlns:a16="http://schemas.microsoft.com/office/drawing/2014/main" id="{52D65E3B-3ACD-5C4D-0BB7-29A21D2F0284}"/>
              </a:ext>
            </a:extLst>
          </p:cNvPr>
          <p:cNvSpPr/>
          <p:nvPr/>
        </p:nvSpPr>
        <p:spPr>
          <a:xfrm>
            <a:off x="7119259" y="4880765"/>
            <a:ext cx="2082800" cy="215900"/>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38" name="Rechteraccolade 37">
            <a:extLst>
              <a:ext uri="{FF2B5EF4-FFF2-40B4-BE49-F238E27FC236}">
                <a16:creationId xmlns:a16="http://schemas.microsoft.com/office/drawing/2014/main" id="{425193B4-80B9-CD51-897B-95567AA4B11B}"/>
              </a:ext>
            </a:extLst>
          </p:cNvPr>
          <p:cNvSpPr/>
          <p:nvPr/>
        </p:nvSpPr>
        <p:spPr>
          <a:xfrm rot="3551321">
            <a:off x="9842545" y="1863339"/>
            <a:ext cx="159175" cy="132376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sz="1600"/>
          </a:p>
        </p:txBody>
      </p:sp>
      <p:sp>
        <p:nvSpPr>
          <p:cNvPr id="39" name="Rechteraccolade 38">
            <a:extLst>
              <a:ext uri="{FF2B5EF4-FFF2-40B4-BE49-F238E27FC236}">
                <a16:creationId xmlns:a16="http://schemas.microsoft.com/office/drawing/2014/main" id="{D8CA94E0-37E7-E069-BF3F-2A6C90596805}"/>
              </a:ext>
            </a:extLst>
          </p:cNvPr>
          <p:cNvSpPr/>
          <p:nvPr/>
        </p:nvSpPr>
        <p:spPr>
          <a:xfrm>
            <a:off x="9331702" y="2921692"/>
            <a:ext cx="208742" cy="36933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sz="1600"/>
          </a:p>
        </p:txBody>
      </p:sp>
      <p:sp>
        <p:nvSpPr>
          <p:cNvPr id="40" name="Tekstvak 39">
            <a:extLst>
              <a:ext uri="{FF2B5EF4-FFF2-40B4-BE49-F238E27FC236}">
                <a16:creationId xmlns:a16="http://schemas.microsoft.com/office/drawing/2014/main" id="{45DC3F24-9FC0-102C-5F3E-42D6D57CC166}"/>
              </a:ext>
            </a:extLst>
          </p:cNvPr>
          <p:cNvSpPr txBox="1"/>
          <p:nvPr/>
        </p:nvSpPr>
        <p:spPr>
          <a:xfrm>
            <a:off x="9670088" y="2604726"/>
            <a:ext cx="1840568" cy="369332"/>
          </a:xfrm>
          <a:prstGeom prst="rect">
            <a:avLst/>
          </a:prstGeom>
          <a:noFill/>
        </p:spPr>
        <p:txBody>
          <a:bodyPr wrap="none" rtlCol="0">
            <a:spAutoFit/>
          </a:bodyPr>
          <a:lstStyle/>
          <a:p>
            <a:r>
              <a:rPr lang="nl-NL" dirty="0">
                <a:solidFill>
                  <a:srgbClr val="0070C0"/>
                </a:solidFill>
              </a:rPr>
              <a:t>conceptuele </a:t>
            </a:r>
            <a:r>
              <a:rPr lang="nl-NL" dirty="0" err="1">
                <a:solidFill>
                  <a:srgbClr val="0070C0"/>
                </a:solidFill>
              </a:rPr>
              <a:t>id</a:t>
            </a:r>
            <a:r>
              <a:rPr lang="nl-NL" dirty="0">
                <a:solidFill>
                  <a:srgbClr val="0070C0"/>
                </a:solidFill>
              </a:rPr>
              <a:t> 1</a:t>
            </a:r>
          </a:p>
        </p:txBody>
      </p:sp>
      <p:sp>
        <p:nvSpPr>
          <p:cNvPr id="41" name="Tekstvak 40">
            <a:extLst>
              <a:ext uri="{FF2B5EF4-FFF2-40B4-BE49-F238E27FC236}">
                <a16:creationId xmlns:a16="http://schemas.microsoft.com/office/drawing/2014/main" id="{7A11003B-3C9B-A24E-B342-3A6BA6D0DF98}"/>
              </a:ext>
            </a:extLst>
          </p:cNvPr>
          <p:cNvSpPr txBox="1"/>
          <p:nvPr/>
        </p:nvSpPr>
        <p:spPr>
          <a:xfrm>
            <a:off x="9443935" y="3040723"/>
            <a:ext cx="1840568" cy="369332"/>
          </a:xfrm>
          <a:prstGeom prst="rect">
            <a:avLst/>
          </a:prstGeom>
          <a:noFill/>
        </p:spPr>
        <p:txBody>
          <a:bodyPr wrap="none" rtlCol="0">
            <a:spAutoFit/>
          </a:bodyPr>
          <a:lstStyle/>
          <a:p>
            <a:r>
              <a:rPr lang="nl-NL" dirty="0">
                <a:solidFill>
                  <a:srgbClr val="0070C0"/>
                </a:solidFill>
              </a:rPr>
              <a:t>conceptuele </a:t>
            </a:r>
            <a:r>
              <a:rPr lang="nl-NL" dirty="0" err="1">
                <a:solidFill>
                  <a:srgbClr val="0070C0"/>
                </a:solidFill>
              </a:rPr>
              <a:t>id</a:t>
            </a:r>
            <a:r>
              <a:rPr lang="nl-NL" dirty="0">
                <a:solidFill>
                  <a:srgbClr val="0070C0"/>
                </a:solidFill>
              </a:rPr>
              <a:t> 2</a:t>
            </a:r>
          </a:p>
        </p:txBody>
      </p:sp>
      <p:sp>
        <p:nvSpPr>
          <p:cNvPr id="42" name="Tekstvak 41">
            <a:extLst>
              <a:ext uri="{FF2B5EF4-FFF2-40B4-BE49-F238E27FC236}">
                <a16:creationId xmlns:a16="http://schemas.microsoft.com/office/drawing/2014/main" id="{98E009EA-A0F6-3290-CF15-6AB8FE7E3B2D}"/>
              </a:ext>
            </a:extLst>
          </p:cNvPr>
          <p:cNvSpPr txBox="1"/>
          <p:nvPr/>
        </p:nvSpPr>
        <p:spPr>
          <a:xfrm>
            <a:off x="10041451" y="1877504"/>
            <a:ext cx="500458" cy="338554"/>
          </a:xfrm>
          <a:prstGeom prst="rect">
            <a:avLst/>
          </a:prstGeom>
          <a:noFill/>
        </p:spPr>
        <p:txBody>
          <a:bodyPr wrap="none" rtlCol="0">
            <a:spAutoFit/>
          </a:bodyPr>
          <a:lstStyle/>
          <a:p>
            <a:r>
              <a:rPr lang="nl-NL" sz="1600" dirty="0" err="1">
                <a:solidFill>
                  <a:schemeClr val="accent5"/>
                </a:solidFill>
              </a:rPr>
              <a:t>id</a:t>
            </a:r>
            <a:r>
              <a:rPr lang="nl-NL" sz="1600" dirty="0">
                <a:solidFill>
                  <a:schemeClr val="accent5"/>
                </a:solidFill>
              </a:rPr>
              <a:t> 0</a:t>
            </a:r>
          </a:p>
        </p:txBody>
      </p:sp>
      <p:sp>
        <p:nvSpPr>
          <p:cNvPr id="45" name="Rechteraccolade 44">
            <a:extLst>
              <a:ext uri="{FF2B5EF4-FFF2-40B4-BE49-F238E27FC236}">
                <a16:creationId xmlns:a16="http://schemas.microsoft.com/office/drawing/2014/main" id="{E87C75A4-8AFD-D8BD-2BFD-13B6B14F6533}"/>
              </a:ext>
            </a:extLst>
          </p:cNvPr>
          <p:cNvSpPr/>
          <p:nvPr/>
        </p:nvSpPr>
        <p:spPr>
          <a:xfrm>
            <a:off x="9394545" y="4586502"/>
            <a:ext cx="159175" cy="261909"/>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47" name="Rechteraccolade 46">
            <a:extLst>
              <a:ext uri="{FF2B5EF4-FFF2-40B4-BE49-F238E27FC236}">
                <a16:creationId xmlns:a16="http://schemas.microsoft.com/office/drawing/2014/main" id="{7615F7AB-9D41-7B06-BE57-E13A87C2D9E9}"/>
              </a:ext>
            </a:extLst>
          </p:cNvPr>
          <p:cNvSpPr/>
          <p:nvPr/>
        </p:nvSpPr>
        <p:spPr>
          <a:xfrm>
            <a:off x="10588151" y="4533362"/>
            <a:ext cx="159175" cy="563304"/>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48" name="Tekstvak 47">
            <a:extLst>
              <a:ext uri="{FF2B5EF4-FFF2-40B4-BE49-F238E27FC236}">
                <a16:creationId xmlns:a16="http://schemas.microsoft.com/office/drawing/2014/main" id="{8DC9B3DD-EEDA-D0DB-CFCE-38CCBF4295E3}"/>
              </a:ext>
            </a:extLst>
          </p:cNvPr>
          <p:cNvSpPr txBox="1"/>
          <p:nvPr/>
        </p:nvSpPr>
        <p:spPr>
          <a:xfrm>
            <a:off x="9484970" y="4323811"/>
            <a:ext cx="1061931" cy="646331"/>
          </a:xfrm>
          <a:prstGeom prst="rect">
            <a:avLst/>
          </a:prstGeom>
          <a:noFill/>
        </p:spPr>
        <p:txBody>
          <a:bodyPr wrap="square" rtlCol="0">
            <a:spAutoFit/>
          </a:bodyPr>
          <a:lstStyle/>
          <a:p>
            <a:pPr algn="ctr"/>
            <a:r>
              <a:rPr lang="nl-NL" dirty="0">
                <a:solidFill>
                  <a:schemeClr val="accent2"/>
                </a:solidFill>
              </a:rPr>
              <a:t>logische </a:t>
            </a:r>
            <a:br>
              <a:rPr lang="nl-NL" dirty="0">
                <a:solidFill>
                  <a:schemeClr val="accent2"/>
                </a:solidFill>
              </a:rPr>
            </a:br>
            <a:r>
              <a:rPr lang="nl-NL" dirty="0" err="1">
                <a:solidFill>
                  <a:schemeClr val="accent2"/>
                </a:solidFill>
              </a:rPr>
              <a:t>id</a:t>
            </a:r>
            <a:r>
              <a:rPr lang="nl-NL" dirty="0">
                <a:solidFill>
                  <a:schemeClr val="accent2"/>
                </a:solidFill>
              </a:rPr>
              <a:t> 3</a:t>
            </a:r>
          </a:p>
        </p:txBody>
      </p:sp>
      <p:sp>
        <p:nvSpPr>
          <p:cNvPr id="49" name="Tekstvak 48">
            <a:extLst>
              <a:ext uri="{FF2B5EF4-FFF2-40B4-BE49-F238E27FC236}">
                <a16:creationId xmlns:a16="http://schemas.microsoft.com/office/drawing/2014/main" id="{89A00138-EF94-F805-971D-1BCE42D09B24}"/>
              </a:ext>
            </a:extLst>
          </p:cNvPr>
          <p:cNvSpPr txBox="1"/>
          <p:nvPr/>
        </p:nvSpPr>
        <p:spPr>
          <a:xfrm>
            <a:off x="10671701" y="4464088"/>
            <a:ext cx="1066318" cy="646331"/>
          </a:xfrm>
          <a:prstGeom prst="rect">
            <a:avLst/>
          </a:prstGeom>
          <a:noFill/>
        </p:spPr>
        <p:txBody>
          <a:bodyPr wrap="none" rtlCol="0">
            <a:spAutoFit/>
          </a:bodyPr>
          <a:lstStyle/>
          <a:p>
            <a:pPr algn="ctr"/>
            <a:r>
              <a:rPr lang="nl-NL" dirty="0">
                <a:solidFill>
                  <a:schemeClr val="accent2"/>
                </a:solidFill>
              </a:rPr>
              <a:t>logische </a:t>
            </a:r>
            <a:br>
              <a:rPr lang="nl-NL" dirty="0">
                <a:solidFill>
                  <a:schemeClr val="accent2"/>
                </a:solidFill>
              </a:rPr>
            </a:br>
            <a:r>
              <a:rPr lang="nl-NL" dirty="0" err="1">
                <a:solidFill>
                  <a:schemeClr val="accent2"/>
                </a:solidFill>
              </a:rPr>
              <a:t>id</a:t>
            </a:r>
            <a:r>
              <a:rPr lang="nl-NL" dirty="0">
                <a:solidFill>
                  <a:schemeClr val="accent2"/>
                </a:solidFill>
              </a:rPr>
              <a:t> 4</a:t>
            </a:r>
          </a:p>
        </p:txBody>
      </p:sp>
      <p:sp>
        <p:nvSpPr>
          <p:cNvPr id="51" name="Rechteraccolade 50">
            <a:extLst>
              <a:ext uri="{FF2B5EF4-FFF2-40B4-BE49-F238E27FC236}">
                <a16:creationId xmlns:a16="http://schemas.microsoft.com/office/drawing/2014/main" id="{E6D8813C-FF1A-160C-6EF2-568CBD391504}"/>
              </a:ext>
            </a:extLst>
          </p:cNvPr>
          <p:cNvSpPr/>
          <p:nvPr/>
        </p:nvSpPr>
        <p:spPr>
          <a:xfrm>
            <a:off x="9363608" y="6029065"/>
            <a:ext cx="159175" cy="261909"/>
          </a:xfrm>
          <a:prstGeom prst="rightBrace">
            <a:avLst/>
          </a:prstGeom>
          <a:ln>
            <a:solidFill>
              <a:schemeClr val="accent2"/>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nl-NL"/>
          </a:p>
        </p:txBody>
      </p:sp>
      <p:sp>
        <p:nvSpPr>
          <p:cNvPr id="52" name="Tekstvak 51">
            <a:extLst>
              <a:ext uri="{FF2B5EF4-FFF2-40B4-BE49-F238E27FC236}">
                <a16:creationId xmlns:a16="http://schemas.microsoft.com/office/drawing/2014/main" id="{E2334F34-65FE-DB6C-000E-4F90A50B23B9}"/>
              </a:ext>
            </a:extLst>
          </p:cNvPr>
          <p:cNvSpPr txBox="1"/>
          <p:nvPr/>
        </p:nvSpPr>
        <p:spPr>
          <a:xfrm>
            <a:off x="9566963" y="5850603"/>
            <a:ext cx="2196946" cy="646331"/>
          </a:xfrm>
          <a:prstGeom prst="rect">
            <a:avLst/>
          </a:prstGeom>
          <a:noFill/>
        </p:spPr>
        <p:txBody>
          <a:bodyPr wrap="square" rtlCol="0">
            <a:spAutoFit/>
          </a:bodyPr>
          <a:lstStyle/>
          <a:p>
            <a:r>
              <a:rPr lang="nl-NL" dirty="0">
                <a:solidFill>
                  <a:schemeClr val="accent2"/>
                </a:solidFill>
              </a:rPr>
              <a:t>logische </a:t>
            </a:r>
            <a:r>
              <a:rPr lang="nl-NL" dirty="0" err="1">
                <a:solidFill>
                  <a:schemeClr val="accent2"/>
                </a:solidFill>
              </a:rPr>
              <a:t>id</a:t>
            </a:r>
            <a:r>
              <a:rPr lang="nl-NL" dirty="0">
                <a:solidFill>
                  <a:schemeClr val="accent2"/>
                </a:solidFill>
              </a:rPr>
              <a:t> 5, </a:t>
            </a:r>
            <a:br>
              <a:rPr lang="nl-NL" dirty="0">
                <a:solidFill>
                  <a:schemeClr val="accent2"/>
                </a:solidFill>
              </a:rPr>
            </a:br>
            <a:r>
              <a:rPr lang="nl-NL" dirty="0" err="1">
                <a:solidFill>
                  <a:schemeClr val="accent3">
                    <a:lumMod val="60000"/>
                    <a:lumOff val="40000"/>
                  </a:schemeClr>
                </a:solidFill>
              </a:rPr>
              <a:t>lineage</a:t>
            </a:r>
            <a:r>
              <a:rPr lang="nl-NL" dirty="0">
                <a:solidFill>
                  <a:schemeClr val="accent3">
                    <a:lumMod val="60000"/>
                    <a:lumOff val="40000"/>
                  </a:schemeClr>
                </a:solidFill>
              </a:rPr>
              <a:t>: zie CIM </a:t>
            </a:r>
            <a:r>
              <a:rPr lang="nl-NL" dirty="0" err="1">
                <a:solidFill>
                  <a:schemeClr val="accent3">
                    <a:lumMod val="60000"/>
                    <a:lumOff val="40000"/>
                  </a:schemeClr>
                </a:solidFill>
              </a:rPr>
              <a:t>bsn</a:t>
            </a:r>
            <a:endParaRPr lang="nl-NL" dirty="0">
              <a:solidFill>
                <a:schemeClr val="accent3">
                  <a:lumMod val="60000"/>
                  <a:lumOff val="40000"/>
                </a:schemeClr>
              </a:solidFill>
            </a:endParaRPr>
          </a:p>
        </p:txBody>
      </p:sp>
      <p:sp>
        <p:nvSpPr>
          <p:cNvPr id="57" name="Tekstvak 56">
            <a:extLst>
              <a:ext uri="{FF2B5EF4-FFF2-40B4-BE49-F238E27FC236}">
                <a16:creationId xmlns:a16="http://schemas.microsoft.com/office/drawing/2014/main" id="{99095E19-8B37-1AC7-5919-135BB3C4387C}"/>
              </a:ext>
            </a:extLst>
          </p:cNvPr>
          <p:cNvSpPr txBox="1"/>
          <p:nvPr/>
        </p:nvSpPr>
        <p:spPr>
          <a:xfrm>
            <a:off x="9394546" y="5118001"/>
            <a:ext cx="2082800" cy="369332"/>
          </a:xfrm>
          <a:prstGeom prst="rect">
            <a:avLst/>
          </a:prstGeom>
          <a:noFill/>
        </p:spPr>
        <p:txBody>
          <a:bodyPr wrap="square" rtlCol="0">
            <a:spAutoFit/>
          </a:bodyPr>
          <a:lstStyle/>
          <a:p>
            <a:r>
              <a:rPr lang="nl-NL" dirty="0">
                <a:solidFill>
                  <a:schemeClr val="accent3">
                    <a:lumMod val="60000"/>
                    <a:lumOff val="40000"/>
                  </a:schemeClr>
                </a:solidFill>
              </a:rPr>
              <a:t>NB geen </a:t>
            </a:r>
            <a:r>
              <a:rPr lang="nl-NL" dirty="0" err="1">
                <a:solidFill>
                  <a:schemeClr val="accent3">
                    <a:lumMod val="60000"/>
                    <a:lumOff val="40000"/>
                  </a:schemeClr>
                </a:solidFill>
              </a:rPr>
              <a:t>lineage</a:t>
            </a:r>
            <a:r>
              <a:rPr lang="nl-NL" dirty="0">
                <a:solidFill>
                  <a:schemeClr val="accent3">
                    <a:lumMod val="60000"/>
                    <a:lumOff val="40000"/>
                  </a:schemeClr>
                </a:solidFill>
              </a:rPr>
              <a:t>.</a:t>
            </a:r>
          </a:p>
        </p:txBody>
      </p:sp>
      <p:cxnSp>
        <p:nvCxnSpPr>
          <p:cNvPr id="60" name="Rechte verbindingslijn met pijl 59">
            <a:extLst>
              <a:ext uri="{FF2B5EF4-FFF2-40B4-BE49-F238E27FC236}">
                <a16:creationId xmlns:a16="http://schemas.microsoft.com/office/drawing/2014/main" id="{59A42F6A-DF67-6CF3-A3E2-B551B006AE6A}"/>
              </a:ext>
            </a:extLst>
          </p:cNvPr>
          <p:cNvCxnSpPr>
            <a:cxnSpLocks/>
            <a:endCxn id="6" idx="1"/>
          </p:cNvCxnSpPr>
          <p:nvPr/>
        </p:nvCxnSpPr>
        <p:spPr>
          <a:xfrm flipV="1">
            <a:off x="6622211" y="1612400"/>
            <a:ext cx="497048"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DBA83B79-751F-57CB-2CC1-017AD7385602}"/>
              </a:ext>
            </a:extLst>
          </p:cNvPr>
          <p:cNvCxnSpPr/>
          <p:nvPr/>
        </p:nvCxnSpPr>
        <p:spPr>
          <a:xfrm>
            <a:off x="6613933" y="1618750"/>
            <a:ext cx="0" cy="272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Rechte verbindingslijn 65">
            <a:extLst>
              <a:ext uri="{FF2B5EF4-FFF2-40B4-BE49-F238E27FC236}">
                <a16:creationId xmlns:a16="http://schemas.microsoft.com/office/drawing/2014/main" id="{67E0E06A-2F41-13B4-3A42-52C59BB44C2D}"/>
              </a:ext>
            </a:extLst>
          </p:cNvPr>
          <p:cNvCxnSpPr>
            <a:cxnSpLocks/>
            <a:endCxn id="23" idx="1"/>
          </p:cNvCxnSpPr>
          <p:nvPr/>
        </p:nvCxnSpPr>
        <p:spPr>
          <a:xfrm>
            <a:off x="6605656" y="4347365"/>
            <a:ext cx="513603" cy="0"/>
          </a:xfrm>
          <a:prstGeom prst="line">
            <a:avLst/>
          </a:prstGeom>
        </p:spPr>
        <p:style>
          <a:lnRef idx="2">
            <a:schemeClr val="accent1"/>
          </a:lnRef>
          <a:fillRef idx="0">
            <a:schemeClr val="accent1"/>
          </a:fillRef>
          <a:effectRef idx="1">
            <a:schemeClr val="accent1"/>
          </a:effectRef>
          <a:fontRef idx="minor">
            <a:schemeClr val="tx1"/>
          </a:fontRef>
        </p:style>
      </p:cxnSp>
      <p:sp>
        <p:nvSpPr>
          <p:cNvPr id="70" name="Tekstvak 69">
            <a:extLst>
              <a:ext uri="{FF2B5EF4-FFF2-40B4-BE49-F238E27FC236}">
                <a16:creationId xmlns:a16="http://schemas.microsoft.com/office/drawing/2014/main" id="{7AD7396A-EC9A-1D87-16A3-130A0DCBBA1A}"/>
              </a:ext>
            </a:extLst>
          </p:cNvPr>
          <p:cNvSpPr txBox="1"/>
          <p:nvPr/>
        </p:nvSpPr>
        <p:spPr>
          <a:xfrm rot="16200000">
            <a:off x="5529351" y="3973090"/>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Tree>
    <p:extLst>
      <p:ext uri="{BB962C8B-B14F-4D97-AF65-F5344CB8AC3E}">
        <p14:creationId xmlns:p14="http://schemas.microsoft.com/office/powerpoint/2010/main" val="1789249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B5552-E24D-542A-4419-63BF1B9B1D8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CD795F6-4D93-7E48-1CA4-2F7B1184FC72}"/>
              </a:ext>
            </a:extLst>
          </p:cNvPr>
          <p:cNvSpPr>
            <a:spLocks noGrp="1"/>
          </p:cNvSpPr>
          <p:nvPr>
            <p:ph type="title"/>
          </p:nvPr>
        </p:nvSpPr>
        <p:spPr/>
        <p:txBody>
          <a:bodyPr>
            <a:normAutofit/>
          </a:bodyPr>
          <a:lstStyle/>
          <a:p>
            <a:r>
              <a:rPr lang="nl-NL" sz="4000" dirty="0"/>
              <a:t>Voorbeeld in de </a:t>
            </a:r>
            <a:r>
              <a:rPr lang="nl-NL" sz="4000" dirty="0" err="1"/>
              <a:t>gegevenslaag</a:t>
            </a:r>
            <a:endParaRPr lang="nl-NL" sz="4000" dirty="0"/>
          </a:p>
        </p:txBody>
      </p:sp>
      <p:sp>
        <p:nvSpPr>
          <p:cNvPr id="3" name="Tijdelijke aanduiding voor inhoud 2">
            <a:extLst>
              <a:ext uri="{FF2B5EF4-FFF2-40B4-BE49-F238E27FC236}">
                <a16:creationId xmlns:a16="http://schemas.microsoft.com/office/drawing/2014/main" id="{A5643C45-B874-D2AA-69F7-B7517B0B8535}"/>
              </a:ext>
            </a:extLst>
          </p:cNvPr>
          <p:cNvSpPr>
            <a:spLocks noGrp="1"/>
          </p:cNvSpPr>
          <p:nvPr>
            <p:ph idx="1"/>
          </p:nvPr>
        </p:nvSpPr>
        <p:spPr>
          <a:xfrm>
            <a:off x="838200" y="1413114"/>
            <a:ext cx="10515600" cy="945076"/>
          </a:xfrm>
        </p:spPr>
        <p:txBody>
          <a:bodyPr>
            <a:normAutofit/>
          </a:bodyPr>
          <a:lstStyle/>
          <a:p>
            <a:pPr marL="0" indent="0">
              <a:buNone/>
            </a:pPr>
            <a:r>
              <a:rPr lang="nl-NL" sz="1600" dirty="0"/>
              <a:t>Merk vooraf op dat bij elk voorbeeld het altijd over een </a:t>
            </a:r>
            <a:r>
              <a:rPr lang="nl-NL" sz="1600" dirty="0" err="1"/>
              <a:t>id</a:t>
            </a:r>
            <a:r>
              <a:rPr lang="nl-NL" sz="1600" dirty="0"/>
              <a:t> van een </a:t>
            </a:r>
            <a:r>
              <a:rPr lang="nl-NL" sz="1600" dirty="0" err="1"/>
              <a:t>indivisueel</a:t>
            </a:r>
            <a:r>
              <a:rPr lang="nl-NL" sz="1600" dirty="0"/>
              <a:t> domein object en een </a:t>
            </a:r>
            <a:r>
              <a:rPr lang="nl-NL" sz="1600" dirty="0" err="1"/>
              <a:t>id</a:t>
            </a:r>
            <a:r>
              <a:rPr lang="nl-NL" sz="1600" dirty="0"/>
              <a:t> van een individueel gegevensobject gaat (een exemplaar, een instantie). In een model worden deze getypeerd weergegeven. </a:t>
            </a:r>
          </a:p>
        </p:txBody>
      </p:sp>
      <p:graphicFrame>
        <p:nvGraphicFramePr>
          <p:cNvPr id="6" name="Tijdelijke aanduiding voor inhoud 3">
            <a:extLst>
              <a:ext uri="{FF2B5EF4-FFF2-40B4-BE49-F238E27FC236}">
                <a16:creationId xmlns:a16="http://schemas.microsoft.com/office/drawing/2014/main" id="{2AFDF741-FDD9-5B5B-556D-5AC55CEC2975}"/>
              </a:ext>
            </a:extLst>
          </p:cNvPr>
          <p:cNvGraphicFramePr>
            <a:graphicFrameLocks/>
          </p:cNvGraphicFramePr>
          <p:nvPr>
            <p:extLst>
              <p:ext uri="{D42A27DB-BD31-4B8C-83A1-F6EECF244321}">
                <p14:modId xmlns:p14="http://schemas.microsoft.com/office/powerpoint/2010/main" val="55686935"/>
              </p:ext>
            </p:extLst>
          </p:nvPr>
        </p:nvGraphicFramePr>
        <p:xfrm>
          <a:off x="838200" y="2179538"/>
          <a:ext cx="10401778" cy="3962400"/>
        </p:xfrm>
        <a:graphic>
          <a:graphicData uri="http://schemas.openxmlformats.org/drawingml/2006/table">
            <a:tbl>
              <a:tblPr firstRow="1" bandRow="1">
                <a:tableStyleId>{5C22544A-7EE6-4342-B048-85BDC9FD1C3A}</a:tableStyleId>
              </a:tblPr>
              <a:tblGrid>
                <a:gridCol w="1116267">
                  <a:extLst>
                    <a:ext uri="{9D8B030D-6E8A-4147-A177-3AD203B41FA5}">
                      <a16:colId xmlns:a16="http://schemas.microsoft.com/office/drawing/2014/main" val="638331755"/>
                    </a:ext>
                  </a:extLst>
                </a:gridCol>
                <a:gridCol w="1309819">
                  <a:extLst>
                    <a:ext uri="{9D8B030D-6E8A-4147-A177-3AD203B41FA5}">
                      <a16:colId xmlns:a16="http://schemas.microsoft.com/office/drawing/2014/main" val="3814798704"/>
                    </a:ext>
                  </a:extLst>
                </a:gridCol>
                <a:gridCol w="2913595">
                  <a:extLst>
                    <a:ext uri="{9D8B030D-6E8A-4147-A177-3AD203B41FA5}">
                      <a16:colId xmlns:a16="http://schemas.microsoft.com/office/drawing/2014/main" val="704159321"/>
                    </a:ext>
                  </a:extLst>
                </a:gridCol>
                <a:gridCol w="5062097">
                  <a:extLst>
                    <a:ext uri="{9D8B030D-6E8A-4147-A177-3AD203B41FA5}">
                      <a16:colId xmlns:a16="http://schemas.microsoft.com/office/drawing/2014/main" val="4049535601"/>
                    </a:ext>
                  </a:extLst>
                </a:gridCol>
              </a:tblGrid>
              <a:tr h="488395">
                <a:tc>
                  <a:txBody>
                    <a:bodyPr/>
                    <a:lstStyle/>
                    <a:p>
                      <a:r>
                        <a:rPr lang="nl-NL" sz="1400" dirty="0" err="1"/>
                        <a:t>Id</a:t>
                      </a:r>
                      <a:r>
                        <a:rPr lang="nl-NL" sz="1400" dirty="0"/>
                        <a:t> gegevens</a:t>
                      </a:r>
                    </a:p>
                  </a:txBody>
                  <a:tcPr/>
                </a:tc>
                <a:tc>
                  <a:txBody>
                    <a:bodyPr/>
                    <a:lstStyle/>
                    <a:p>
                      <a:r>
                        <a:rPr lang="nl-NL" sz="1400" dirty="0"/>
                        <a:t>Waarde</a:t>
                      </a:r>
                    </a:p>
                  </a:txBody>
                  <a:tcPr/>
                </a:tc>
                <a:tc>
                  <a:txBody>
                    <a:bodyPr/>
                    <a:lstStyle/>
                    <a:p>
                      <a:r>
                        <a:rPr lang="nl-NL" sz="1400" dirty="0"/>
                        <a:t>Gebruiksdoel</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Wat is het</a:t>
                      </a:r>
                    </a:p>
                  </a:txBody>
                  <a:tcPr/>
                </a:tc>
                <a:extLst>
                  <a:ext uri="{0D108BD9-81ED-4DB2-BD59-A6C34878D82A}">
                    <a16:rowId xmlns:a16="http://schemas.microsoft.com/office/drawing/2014/main" val="1453906145"/>
                  </a:ext>
                </a:extLst>
              </a:tr>
              <a:tr h="682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bsn</a:t>
                      </a:r>
                      <a:endParaRPr lang="nl-NL" sz="1400" dirty="0"/>
                    </a:p>
                  </a:txBody>
                  <a:tcPr/>
                </a:tc>
                <a:tc>
                  <a:txBody>
                    <a:bodyPr/>
                    <a:lstStyle/>
                    <a:p>
                      <a:r>
                        <a:rPr lang="nl-NL" sz="1400" dirty="0"/>
                        <a:t>123</a:t>
                      </a:r>
                    </a:p>
                  </a:txBody>
                  <a:tcPr/>
                </a:tc>
                <a:tc>
                  <a:txBody>
                    <a:bodyPr/>
                    <a:lstStyle/>
                    <a:p>
                      <a:r>
                        <a:rPr lang="nl-NL" sz="1400" dirty="0"/>
                        <a:t>Een </a:t>
                      </a:r>
                      <a:r>
                        <a:rPr lang="nl-NL" sz="1400" dirty="0" err="1"/>
                        <a:t>id</a:t>
                      </a:r>
                      <a:r>
                        <a:rPr lang="nl-NL" sz="1400" dirty="0"/>
                        <a:t> voor een domein object, op de logische laag. Een representatie van de </a:t>
                      </a:r>
                      <a:r>
                        <a:rPr lang="nl-NL" sz="1400" dirty="0" err="1"/>
                        <a:t>id</a:t>
                      </a:r>
                      <a:r>
                        <a:rPr lang="nl-NL" sz="1400" dirty="0"/>
                        <a:t> van een domein object.  </a:t>
                      </a:r>
                    </a:p>
                  </a:txBody>
                  <a:tcPr/>
                </a:tc>
                <a:tc>
                  <a:txBody>
                    <a:bodyPr/>
                    <a:lstStyle/>
                    <a:p>
                      <a:r>
                        <a:rPr lang="nl-NL" sz="1400" dirty="0"/>
                        <a:t>Een </a:t>
                      </a:r>
                      <a:r>
                        <a:rPr lang="nl-NL" sz="1400" dirty="0" err="1"/>
                        <a:t>id</a:t>
                      </a:r>
                      <a:r>
                        <a:rPr lang="nl-NL" sz="1400" dirty="0"/>
                        <a:t> voor een domein object, op de logische laag.</a:t>
                      </a:r>
                    </a:p>
                    <a:p>
                      <a:r>
                        <a:rPr lang="nl-NL" sz="1400" dirty="0"/>
                        <a:t>Een representatie van de </a:t>
                      </a:r>
                      <a:r>
                        <a:rPr lang="nl-NL" sz="1400" dirty="0" err="1"/>
                        <a:t>id</a:t>
                      </a:r>
                      <a:r>
                        <a:rPr lang="nl-NL" sz="1400" dirty="0"/>
                        <a:t> van een domein object.  </a:t>
                      </a:r>
                    </a:p>
                  </a:txBody>
                  <a:tcPr/>
                </a:tc>
                <a:extLst>
                  <a:ext uri="{0D108BD9-81ED-4DB2-BD59-A6C34878D82A}">
                    <a16:rowId xmlns:a16="http://schemas.microsoft.com/office/drawing/2014/main" val="1925514009"/>
                  </a:ext>
                </a:extLst>
              </a:tr>
              <a:tr h="682414">
                <a:tc>
                  <a:txBody>
                    <a:bodyPr/>
                    <a:lstStyle/>
                    <a:p>
                      <a:r>
                        <a:rPr lang="nl-NL" sz="1400" dirty="0" err="1"/>
                        <a:t>pid</a:t>
                      </a:r>
                      <a:endParaRPr lang="nl-NL" sz="1400" dirty="0"/>
                    </a:p>
                  </a:txBody>
                  <a:tcPr/>
                </a:tc>
                <a:tc>
                  <a:txBody>
                    <a:bodyPr/>
                    <a:lstStyle/>
                    <a:p>
                      <a:r>
                        <a:rPr lang="nl-NL" sz="1400" dirty="0"/>
                        <a:t>123456789</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Alternatieve </a:t>
                      </a:r>
                      <a:r>
                        <a:rPr lang="nl-NL" sz="1400" dirty="0" err="1"/>
                        <a:t>id</a:t>
                      </a:r>
                      <a:r>
                        <a:rPr lang="nl-NL" sz="1400" dirty="0"/>
                        <a:t> voor een domein object, op logisch gegevens niveau, in 1 bepaald verwerkingsdomein.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Alternatieve </a:t>
                      </a:r>
                      <a:r>
                        <a:rPr lang="nl-NL" sz="1400" dirty="0" err="1"/>
                        <a:t>id</a:t>
                      </a:r>
                      <a:r>
                        <a:rPr lang="nl-NL" sz="1400" dirty="0"/>
                        <a:t> voor een domein object, op logisch gegevens niveau, in 1 bepaald verwerkingsdomein, vaak rondom 1 administratie. Deze </a:t>
                      </a:r>
                      <a:r>
                        <a:rPr lang="nl-NL" sz="1400" dirty="0" err="1"/>
                        <a:t>id</a:t>
                      </a:r>
                      <a:r>
                        <a:rPr lang="nl-NL" sz="1400" dirty="0"/>
                        <a:t> is o.a. voor alle versies gelijk is voldoet aan standaarden.  </a:t>
                      </a:r>
                    </a:p>
                  </a:txBody>
                  <a:tcPr/>
                </a:tc>
                <a:extLst>
                  <a:ext uri="{0D108BD9-81ED-4DB2-BD59-A6C34878D82A}">
                    <a16:rowId xmlns:a16="http://schemas.microsoft.com/office/drawing/2014/main" val="110908149"/>
                  </a:ext>
                </a:extLst>
              </a:tr>
              <a:tr h="4883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pid</a:t>
                      </a:r>
                      <a:r>
                        <a:rPr lang="nl-NL" sz="1400" dirty="0"/>
                        <a:t> + v1</a:t>
                      </a:r>
                    </a:p>
                  </a:txBody>
                  <a:tcPr/>
                </a:tc>
                <a:tc>
                  <a:txBody>
                    <a:bodyPr/>
                    <a:lstStyle/>
                    <a:p>
                      <a:r>
                        <a:rPr lang="nl-NL" sz="1400" dirty="0"/>
                        <a:t>123456789, v1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Gegevensobject </a:t>
                      </a:r>
                      <a:r>
                        <a:rPr lang="nl-NL" sz="1400" dirty="0" err="1"/>
                        <a:t>identificator</a:t>
                      </a:r>
                      <a:r>
                        <a:rPr lang="nl-NL" sz="1400" dirty="0"/>
                        <a:t>, voor v1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Gegevensobject </a:t>
                      </a:r>
                      <a:r>
                        <a:rPr lang="nl-NL" sz="1400" dirty="0" err="1"/>
                        <a:t>identificator</a:t>
                      </a:r>
                      <a:r>
                        <a:rPr lang="nl-NL" sz="1400" dirty="0"/>
                        <a:t>, voor v1</a:t>
                      </a:r>
                    </a:p>
                  </a:txBody>
                  <a:tcPr/>
                </a:tc>
                <a:extLst>
                  <a:ext uri="{0D108BD9-81ED-4DB2-BD59-A6C34878D82A}">
                    <a16:rowId xmlns:a16="http://schemas.microsoft.com/office/drawing/2014/main" val="2067859339"/>
                  </a:ext>
                </a:extLst>
              </a:tr>
              <a:tr h="4883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pid</a:t>
                      </a:r>
                      <a:r>
                        <a:rPr lang="nl-NL" sz="1400" dirty="0"/>
                        <a:t> + v2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123456789, v2</a:t>
                      </a:r>
                    </a:p>
                  </a:txBody>
                  <a:tcPr/>
                </a:tc>
                <a:tc>
                  <a:txBody>
                    <a:bodyPr/>
                    <a:lstStyle/>
                    <a:p>
                      <a:r>
                        <a:rPr lang="nl-NL" sz="1400" dirty="0"/>
                        <a:t>Gegevensobject </a:t>
                      </a:r>
                      <a:r>
                        <a:rPr lang="nl-NL" sz="1400" dirty="0" err="1"/>
                        <a:t>identificator</a:t>
                      </a:r>
                      <a:r>
                        <a:rPr lang="nl-NL" sz="1400" dirty="0"/>
                        <a:t>, voor v2</a:t>
                      </a:r>
                    </a:p>
                  </a:txBody>
                  <a:tcPr/>
                </a:tc>
                <a:tc>
                  <a:txBody>
                    <a:bodyPr/>
                    <a:lstStyle/>
                    <a:p>
                      <a:r>
                        <a:rPr lang="nl-NL" sz="1400" dirty="0"/>
                        <a:t>Gegevensobject </a:t>
                      </a:r>
                      <a:r>
                        <a:rPr lang="nl-NL" sz="1400" dirty="0" err="1"/>
                        <a:t>identificator</a:t>
                      </a:r>
                      <a:r>
                        <a:rPr lang="nl-NL" sz="1400" dirty="0"/>
                        <a:t>, voor v2</a:t>
                      </a:r>
                    </a:p>
                  </a:txBody>
                  <a:tcPr/>
                </a:tc>
                <a:extLst>
                  <a:ext uri="{0D108BD9-81ED-4DB2-BD59-A6C34878D82A}">
                    <a16:rowId xmlns:a16="http://schemas.microsoft.com/office/drawing/2014/main" val="898418820"/>
                  </a:ext>
                </a:extLst>
              </a:tr>
              <a:tr h="682414">
                <a:tc>
                  <a:txBody>
                    <a:bodyPr/>
                    <a:lstStyle/>
                    <a:p>
                      <a:r>
                        <a:rPr lang="nl-NL" sz="1400" dirty="0"/>
                        <a:t>duo </a:t>
                      </a:r>
                      <a:r>
                        <a:rPr lang="nl-NL" sz="1400" dirty="0" err="1"/>
                        <a:t>pid</a:t>
                      </a:r>
                      <a:r>
                        <a:rPr lang="nl-NL" sz="1400" dirty="0"/>
                        <a:t> + </a:t>
                      </a:r>
                      <a:r>
                        <a:rPr lang="nl-NL" sz="1400" dirty="0" err="1"/>
                        <a:t>bsn</a:t>
                      </a:r>
                      <a:r>
                        <a:rPr lang="nl-NL" sz="1400" dirty="0"/>
                        <a:t> </a:t>
                      </a:r>
                    </a:p>
                  </a:txBody>
                  <a:tcPr/>
                </a:tc>
                <a:tc>
                  <a:txBody>
                    <a:bodyPr/>
                    <a:lstStyle/>
                    <a:p>
                      <a:r>
                        <a:rPr lang="nl-NL" sz="1400" dirty="0"/>
                        <a:t>123456789, 123</a:t>
                      </a:r>
                    </a:p>
                  </a:txBody>
                  <a:tcPr/>
                </a:tc>
                <a:tc>
                  <a:txBody>
                    <a:bodyPr/>
                    <a:lstStyle/>
                    <a:p>
                      <a:r>
                        <a:rPr lang="nl-NL" sz="1400" dirty="0"/>
                        <a:t>Koppeling van alle gegevensobjecten over hetzelfde domeinobject naar domeinobject.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Dit is geen </a:t>
                      </a:r>
                      <a:r>
                        <a:rPr lang="nl-NL" sz="1400" dirty="0" err="1"/>
                        <a:t>id.Dit</a:t>
                      </a:r>
                      <a:r>
                        <a:rPr lang="nl-NL" sz="1400" dirty="0"/>
                        <a:t> is een relatie tussen een logisch </a:t>
                      </a:r>
                      <a:r>
                        <a:rPr lang="nl-NL" sz="1400" dirty="0" err="1"/>
                        <a:t>id</a:t>
                      </a:r>
                      <a:r>
                        <a:rPr lang="nl-NL" sz="1400" dirty="0"/>
                        <a:t> en een conceptueel id. Deze combinatie is uniek in een specifiek verwerkingsdomein.</a:t>
                      </a:r>
                    </a:p>
                  </a:txBody>
                  <a:tcPr/>
                </a:tc>
                <a:extLst>
                  <a:ext uri="{0D108BD9-81ED-4DB2-BD59-A6C34878D82A}">
                    <a16:rowId xmlns:a16="http://schemas.microsoft.com/office/drawing/2014/main" val="2336471639"/>
                  </a:ext>
                </a:extLst>
              </a:tr>
            </a:tbl>
          </a:graphicData>
        </a:graphic>
      </p:graphicFrame>
    </p:spTree>
    <p:extLst>
      <p:ext uri="{BB962C8B-B14F-4D97-AF65-F5344CB8AC3E}">
        <p14:creationId xmlns:p14="http://schemas.microsoft.com/office/powerpoint/2010/main" val="1623324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4A20-119B-62F4-8B87-0BB598201A1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3A1897A-38C6-A43D-85F2-A7F0FE468F5D}"/>
              </a:ext>
            </a:extLst>
          </p:cNvPr>
          <p:cNvSpPr>
            <a:spLocks noGrp="1"/>
          </p:cNvSpPr>
          <p:nvPr>
            <p:ph type="title"/>
          </p:nvPr>
        </p:nvSpPr>
        <p:spPr>
          <a:xfrm>
            <a:off x="645697" y="365125"/>
            <a:ext cx="10515600" cy="1325563"/>
          </a:xfrm>
        </p:spPr>
        <p:txBody>
          <a:bodyPr>
            <a:normAutofit/>
          </a:bodyPr>
          <a:lstStyle/>
          <a:p>
            <a:r>
              <a:rPr lang="nl-NL" sz="4000" dirty="0"/>
              <a:t>Terminologie op logisch gegevensniveau</a:t>
            </a:r>
          </a:p>
        </p:txBody>
      </p:sp>
      <p:sp>
        <p:nvSpPr>
          <p:cNvPr id="3" name="Tijdelijke aanduiding voor inhoud 2">
            <a:extLst>
              <a:ext uri="{FF2B5EF4-FFF2-40B4-BE49-F238E27FC236}">
                <a16:creationId xmlns:a16="http://schemas.microsoft.com/office/drawing/2014/main" id="{6A377593-81CB-026E-29E3-EDF7BEDA1C9D}"/>
              </a:ext>
            </a:extLst>
          </p:cNvPr>
          <p:cNvSpPr>
            <a:spLocks noGrp="1"/>
          </p:cNvSpPr>
          <p:nvPr>
            <p:ph idx="1"/>
          </p:nvPr>
        </p:nvSpPr>
        <p:spPr>
          <a:xfrm>
            <a:off x="645697" y="1413113"/>
            <a:ext cx="10863370" cy="1044337"/>
          </a:xfrm>
        </p:spPr>
        <p:txBody>
          <a:bodyPr>
            <a:normAutofit/>
          </a:bodyPr>
          <a:lstStyle/>
          <a:p>
            <a:pPr marL="0" indent="0">
              <a:buNone/>
            </a:pPr>
            <a:r>
              <a:rPr lang="nl-NL" sz="1600" dirty="0"/>
              <a:t>Er zijn gegevensobjecten in vele vormen en maten. Er is een eis dat elk gegevensobject te identificeren is, als </a:t>
            </a:r>
            <a:r>
              <a:rPr lang="nl-NL" sz="1600" dirty="0" err="1"/>
              <a:t>requirement</a:t>
            </a:r>
            <a:r>
              <a:rPr lang="nl-NL" sz="1600" dirty="0"/>
              <a:t>. Er zijn ook verschillende soorten </a:t>
            </a:r>
            <a:r>
              <a:rPr lang="nl-NL" sz="1600" dirty="0" err="1"/>
              <a:t>id’s</a:t>
            </a:r>
            <a:r>
              <a:rPr lang="nl-NL" sz="1600" dirty="0"/>
              <a:t> op logisch gegevens niveau. Deze horen we te onderscheiden</a:t>
            </a:r>
            <a:r>
              <a:rPr lang="nl-NL" sz="1600" i="1" dirty="0"/>
              <a:t>,</a:t>
            </a:r>
            <a:r>
              <a:rPr lang="nl-NL" sz="1600" dirty="0"/>
              <a:t> met elk een eigen term. Het lastig is om over meerdere soorten tegelijk, in generieke zin, te spreken. Dit komt omdat de generieke gegevensobject </a:t>
            </a:r>
            <a:r>
              <a:rPr lang="nl-NL" sz="1600" dirty="0" err="1"/>
              <a:t>id</a:t>
            </a:r>
            <a:r>
              <a:rPr lang="nl-NL" sz="1600" dirty="0"/>
              <a:t> niet bestaat. De overkoepelende term voor de </a:t>
            </a:r>
            <a:r>
              <a:rPr lang="nl-NL" sz="1600" i="1" dirty="0"/>
              <a:t>verschillende soorten </a:t>
            </a:r>
            <a:r>
              <a:rPr lang="nl-NL" sz="1600" i="1" dirty="0" err="1"/>
              <a:t>id’s</a:t>
            </a:r>
            <a:r>
              <a:rPr lang="nl-NL" sz="1600" dirty="0"/>
              <a:t> kan wel gegevensobject </a:t>
            </a:r>
            <a:r>
              <a:rPr lang="nl-NL" sz="1600" dirty="0" err="1"/>
              <a:t>identificator</a:t>
            </a:r>
            <a:r>
              <a:rPr lang="nl-NL" sz="1600" dirty="0"/>
              <a:t> zijn.</a:t>
            </a:r>
          </a:p>
          <a:p>
            <a:pPr marL="0" indent="0">
              <a:buNone/>
            </a:pPr>
            <a:endParaRPr lang="nl-NL" sz="1600" dirty="0"/>
          </a:p>
        </p:txBody>
      </p:sp>
      <p:graphicFrame>
        <p:nvGraphicFramePr>
          <p:cNvPr id="6" name="Tijdelijke aanduiding voor inhoud 3">
            <a:extLst>
              <a:ext uri="{FF2B5EF4-FFF2-40B4-BE49-F238E27FC236}">
                <a16:creationId xmlns:a16="http://schemas.microsoft.com/office/drawing/2014/main" id="{BF2001BC-6423-2108-5840-CB3EF96B6349}"/>
              </a:ext>
            </a:extLst>
          </p:cNvPr>
          <p:cNvGraphicFramePr>
            <a:graphicFrameLocks/>
          </p:cNvGraphicFramePr>
          <p:nvPr>
            <p:extLst>
              <p:ext uri="{D42A27DB-BD31-4B8C-83A1-F6EECF244321}">
                <p14:modId xmlns:p14="http://schemas.microsoft.com/office/powerpoint/2010/main" val="1153527253"/>
              </p:ext>
            </p:extLst>
          </p:nvPr>
        </p:nvGraphicFramePr>
        <p:xfrm>
          <a:off x="720169" y="2457450"/>
          <a:ext cx="10844752" cy="4054555"/>
        </p:xfrm>
        <a:graphic>
          <a:graphicData uri="http://schemas.openxmlformats.org/drawingml/2006/table">
            <a:tbl>
              <a:tblPr firstRow="1" bandRow="1">
                <a:tableStyleId>{5C22544A-7EE6-4342-B048-85BDC9FD1C3A}</a:tableStyleId>
              </a:tblPr>
              <a:tblGrid>
                <a:gridCol w="1782110">
                  <a:extLst>
                    <a:ext uri="{9D8B030D-6E8A-4147-A177-3AD203B41FA5}">
                      <a16:colId xmlns:a16="http://schemas.microsoft.com/office/drawing/2014/main" val="638331755"/>
                    </a:ext>
                  </a:extLst>
                </a:gridCol>
                <a:gridCol w="4227425">
                  <a:extLst>
                    <a:ext uri="{9D8B030D-6E8A-4147-A177-3AD203B41FA5}">
                      <a16:colId xmlns:a16="http://schemas.microsoft.com/office/drawing/2014/main" val="4049535601"/>
                    </a:ext>
                  </a:extLst>
                </a:gridCol>
                <a:gridCol w="4835217">
                  <a:extLst>
                    <a:ext uri="{9D8B030D-6E8A-4147-A177-3AD203B41FA5}">
                      <a16:colId xmlns:a16="http://schemas.microsoft.com/office/drawing/2014/main" val="2885252479"/>
                    </a:ext>
                  </a:extLst>
                </a:gridCol>
              </a:tblGrid>
              <a:tr h="488395">
                <a:tc>
                  <a:txBody>
                    <a:bodyPr/>
                    <a:lstStyle/>
                    <a:p>
                      <a:r>
                        <a:rPr lang="nl-NL" sz="1400" dirty="0" err="1"/>
                        <a:t>Id</a:t>
                      </a:r>
                      <a:r>
                        <a:rPr lang="nl-NL" sz="1400" dirty="0"/>
                        <a:t> gegevens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Wat is het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Kandidaat termen</a:t>
                      </a:r>
                    </a:p>
                  </a:txBody>
                  <a:tcPr/>
                </a:tc>
                <a:extLst>
                  <a:ext uri="{0D108BD9-81ED-4DB2-BD59-A6C34878D82A}">
                    <a16:rowId xmlns:a16="http://schemas.microsoft.com/office/drawing/2014/main" val="1453906145"/>
                  </a:ext>
                </a:extLst>
              </a:tr>
              <a:tr h="6824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bsn</a:t>
                      </a:r>
                      <a:br>
                        <a:rPr lang="nl-NL" sz="1400" dirty="0"/>
                      </a:br>
                      <a:r>
                        <a:rPr lang="nl-NL" sz="1400" dirty="0"/>
                        <a:t>(enkelvoudig of samengesteld)</a:t>
                      </a:r>
                    </a:p>
                  </a:txBody>
                  <a:tcPr/>
                </a:tc>
                <a:tc>
                  <a:txBody>
                    <a:bodyPr/>
                    <a:lstStyle/>
                    <a:p>
                      <a:r>
                        <a:rPr lang="nl-NL" sz="1400" dirty="0"/>
                        <a:t>Een </a:t>
                      </a:r>
                      <a:r>
                        <a:rPr lang="nl-NL" sz="1400" dirty="0" err="1"/>
                        <a:t>id</a:t>
                      </a:r>
                      <a:r>
                        <a:rPr lang="nl-NL" sz="1400" dirty="0"/>
                        <a:t> voor een domein object, op de logische laag.</a:t>
                      </a:r>
                    </a:p>
                    <a:p>
                      <a:r>
                        <a:rPr lang="nl-NL" sz="1400" dirty="0"/>
                        <a:t>Een representatie van de </a:t>
                      </a:r>
                      <a:r>
                        <a:rPr lang="nl-NL" sz="1400" dirty="0" err="1"/>
                        <a:t>id</a:t>
                      </a:r>
                      <a:r>
                        <a:rPr lang="nl-NL" sz="1400" dirty="0"/>
                        <a:t> van een domein object.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L: bij gegevensmodellen gebruiken we graag dezelfde termen als in CIM (voornaam, </a:t>
                      </a:r>
                      <a:r>
                        <a:rPr lang="nl-NL" sz="1400" dirty="0" err="1"/>
                        <a:t>bsn</a:t>
                      </a:r>
                      <a:r>
                        <a:rPr lang="nl-NL" sz="1400" dirty="0"/>
                        <a:t>), mits beide 1 op 1 met elkaar zijn: - zie CIM terminologie</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txBody>
                  <a:tcPr/>
                </a:tc>
                <a:extLst>
                  <a:ext uri="{0D108BD9-81ED-4DB2-BD59-A6C34878D82A}">
                    <a16:rowId xmlns:a16="http://schemas.microsoft.com/office/drawing/2014/main" val="1925514009"/>
                  </a:ext>
                </a:extLst>
              </a:tr>
              <a:tr h="702733">
                <a:tc>
                  <a:txBody>
                    <a:bodyPr/>
                    <a:lstStyle/>
                    <a:p>
                      <a:r>
                        <a:rPr lang="nl-NL" sz="1400" dirty="0" err="1"/>
                        <a:t>pid</a:t>
                      </a:r>
                      <a:br>
                        <a:rPr lang="nl-NL" sz="1400" dirty="0"/>
                      </a:br>
                      <a:r>
                        <a:rPr lang="nl-NL" sz="1400" dirty="0"/>
                        <a:t>(vrijwel altijd enkelvoudig)</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Alternatieve </a:t>
                      </a:r>
                      <a:r>
                        <a:rPr lang="nl-NL" sz="1400" dirty="0" err="1"/>
                        <a:t>id</a:t>
                      </a:r>
                      <a:r>
                        <a:rPr lang="nl-NL" sz="1400" dirty="0"/>
                        <a:t> voor een domein object, op logisch gegevens niveau, in 1 bepaald verwerkingsdomein.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Niet: gegevensobject </a:t>
                      </a:r>
                      <a:r>
                        <a:rPr lang="nl-NL" sz="1400" dirty="0" err="1"/>
                        <a:t>id</a:t>
                      </a:r>
                      <a:r>
                        <a:rPr lang="nl-NL" sz="1400" dirty="0"/>
                        <a:t>, niet technisch id. </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L: logische </a:t>
                      </a:r>
                      <a:r>
                        <a:rPr lang="nl-NL" sz="1400" dirty="0" err="1"/>
                        <a:t>id</a:t>
                      </a:r>
                      <a:r>
                        <a:rPr lang="nl-NL" sz="1400" dirty="0"/>
                        <a:t> van hoofdonderwerp</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txBody>
                  <a:tcPr/>
                </a:tc>
                <a:extLst>
                  <a:ext uri="{0D108BD9-81ED-4DB2-BD59-A6C34878D82A}">
                    <a16:rowId xmlns:a16="http://schemas.microsoft.com/office/drawing/2014/main" val="110908149"/>
                  </a:ext>
                </a:extLst>
              </a:tr>
              <a:tr h="48839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err="1"/>
                        <a:t>pid</a:t>
                      </a:r>
                      <a:r>
                        <a:rPr lang="nl-NL" sz="1400" dirty="0"/>
                        <a:t> + v1</a:t>
                      </a:r>
                      <a:br>
                        <a:rPr lang="nl-NL" sz="1400" dirty="0"/>
                      </a:br>
                      <a:r>
                        <a:rPr lang="nl-NL" sz="1400" dirty="0"/>
                        <a:t>(vaak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Gegevensobject </a:t>
                      </a:r>
                      <a:r>
                        <a:rPr lang="nl-NL" sz="1400" dirty="0" err="1"/>
                        <a:t>identificator</a:t>
                      </a:r>
                      <a:r>
                        <a:rPr lang="nl-NL" sz="1400" dirty="0"/>
                        <a:t>, voor v1</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Niet: gegevensobject </a:t>
                      </a:r>
                      <a:r>
                        <a:rPr lang="nl-NL" sz="1400" dirty="0" err="1"/>
                        <a:t>id</a:t>
                      </a:r>
                      <a:r>
                        <a:rPr lang="nl-NL" sz="1400" dirty="0"/>
                        <a:t>, niet technisch id. </a:t>
                      </a:r>
                      <a:br>
                        <a:rPr lang="nl-NL" sz="1400" dirty="0"/>
                      </a:br>
                      <a:r>
                        <a:rPr lang="nl-NL" sz="1400" dirty="0"/>
                        <a:t>L: versie identificatie (VID)</a:t>
                      </a:r>
                    </a:p>
                    <a:p>
                      <a:pPr marL="0" marR="0" lvl="0" indent="0" algn="l" defTabSz="914400" rtl="0" eaLnBrk="1" fontAlgn="auto" latinLnBrk="0" hangingPunct="1">
                        <a:lnSpc>
                          <a:spcPct val="100000"/>
                        </a:lnSpc>
                        <a:spcBef>
                          <a:spcPts val="0"/>
                        </a:spcBef>
                        <a:spcAft>
                          <a:spcPts val="0"/>
                        </a:spcAft>
                        <a:buClrTx/>
                        <a:buSzTx/>
                        <a:buFontTx/>
                        <a:buNone/>
                        <a:tabLst/>
                        <a:defRPr/>
                      </a:pPr>
                      <a:br>
                        <a:rPr lang="nl-NL" sz="1400" dirty="0"/>
                      </a:br>
                      <a:endParaRPr lang="nl-NL" sz="1400" dirty="0"/>
                    </a:p>
                  </a:txBody>
                  <a:tcPr/>
                </a:tc>
                <a:extLst>
                  <a:ext uri="{0D108BD9-81ED-4DB2-BD59-A6C34878D82A}">
                    <a16:rowId xmlns:a16="http://schemas.microsoft.com/office/drawing/2014/main" val="2067859339"/>
                  </a:ext>
                </a:extLst>
              </a:tr>
              <a:tr h="682414">
                <a:tc>
                  <a:txBody>
                    <a:bodyPr/>
                    <a:lstStyle/>
                    <a:p>
                      <a:r>
                        <a:rPr lang="nl-NL" sz="1400" dirty="0"/>
                        <a:t>duo </a:t>
                      </a:r>
                      <a:r>
                        <a:rPr lang="nl-NL" sz="1400" dirty="0" err="1"/>
                        <a:t>pid</a:t>
                      </a:r>
                      <a:r>
                        <a:rPr lang="nl-NL" sz="1400" dirty="0"/>
                        <a:t> + </a:t>
                      </a:r>
                      <a:r>
                        <a:rPr lang="nl-NL" sz="1400" dirty="0" err="1"/>
                        <a:t>bsn</a:t>
                      </a:r>
                      <a:r>
                        <a:rPr lang="nl-NL" sz="1400" dirty="0"/>
                        <a:t> </a:t>
                      </a:r>
                      <a:br>
                        <a:rPr lang="nl-NL" sz="1400" dirty="0"/>
                      </a:br>
                      <a:r>
                        <a:rPr lang="nl-NL" sz="1400" dirty="0"/>
                        <a:t>(altijd 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Dit is geen id. Dit is een relatie tussen een logisch </a:t>
                      </a:r>
                      <a:r>
                        <a:rPr lang="nl-NL" sz="1400" dirty="0" err="1"/>
                        <a:t>id</a:t>
                      </a:r>
                      <a:r>
                        <a:rPr lang="nl-NL" sz="1400" dirty="0"/>
                        <a:t> en conceptueel </a:t>
                      </a:r>
                      <a:r>
                        <a:rPr lang="nl-NL" sz="1400" dirty="0" err="1"/>
                        <a:t>id</a:t>
                      </a:r>
                      <a:r>
                        <a:rPr lang="nl-NL" sz="1400" dirty="0"/>
                        <a:t>, uniek in 1 verwerkingsdomein.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Niet: gegevensobject id.</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400" dirty="0"/>
                        <a:t>L: heeft geen naam</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400" dirty="0"/>
                    </a:p>
                  </a:txBody>
                  <a:tcPr/>
                </a:tc>
                <a:extLst>
                  <a:ext uri="{0D108BD9-81ED-4DB2-BD59-A6C34878D82A}">
                    <a16:rowId xmlns:a16="http://schemas.microsoft.com/office/drawing/2014/main" val="2336471639"/>
                  </a:ext>
                </a:extLst>
              </a:tr>
            </a:tbl>
          </a:graphicData>
        </a:graphic>
      </p:graphicFrame>
    </p:spTree>
    <p:extLst>
      <p:ext uri="{BB962C8B-B14F-4D97-AF65-F5344CB8AC3E}">
        <p14:creationId xmlns:p14="http://schemas.microsoft.com/office/powerpoint/2010/main" val="35958040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8319F71-E8AF-3099-0E24-EF0AAD96DB57}"/>
              </a:ext>
            </a:extLst>
          </p:cNvPr>
          <p:cNvSpPr>
            <a:spLocks noGrp="1"/>
          </p:cNvSpPr>
          <p:nvPr>
            <p:ph type="title"/>
          </p:nvPr>
        </p:nvSpPr>
        <p:spPr>
          <a:xfrm>
            <a:off x="633804" y="365125"/>
            <a:ext cx="10515600" cy="1325563"/>
          </a:xfrm>
        </p:spPr>
        <p:txBody>
          <a:bodyPr/>
          <a:lstStyle/>
          <a:p>
            <a:r>
              <a:rPr lang="nl-NL" dirty="0" err="1"/>
              <a:t>Requirements</a:t>
            </a:r>
            <a:r>
              <a:rPr lang="nl-NL" dirty="0"/>
              <a:t> aan de logische </a:t>
            </a:r>
            <a:r>
              <a:rPr lang="nl-NL" dirty="0" err="1"/>
              <a:t>Id</a:t>
            </a:r>
            <a:endParaRPr lang="nl-NL" dirty="0"/>
          </a:p>
        </p:txBody>
      </p:sp>
      <p:sp>
        <p:nvSpPr>
          <p:cNvPr id="3" name="Tijdelijke aanduiding voor inhoud 2">
            <a:extLst>
              <a:ext uri="{FF2B5EF4-FFF2-40B4-BE49-F238E27FC236}">
                <a16:creationId xmlns:a16="http://schemas.microsoft.com/office/drawing/2014/main" id="{43C62A75-BF09-3F97-8DDA-06C732AF78EF}"/>
              </a:ext>
            </a:extLst>
          </p:cNvPr>
          <p:cNvSpPr>
            <a:spLocks noGrp="1"/>
          </p:cNvSpPr>
          <p:nvPr>
            <p:ph idx="1"/>
          </p:nvPr>
        </p:nvSpPr>
        <p:spPr>
          <a:xfrm>
            <a:off x="636217" y="1455174"/>
            <a:ext cx="7976841" cy="5160778"/>
          </a:xfrm>
        </p:spPr>
        <p:txBody>
          <a:bodyPr>
            <a:normAutofit fontScale="70000" lnSpcReduction="20000"/>
          </a:bodyPr>
          <a:lstStyle/>
          <a:p>
            <a:pPr marL="0" indent="0">
              <a:buNone/>
            </a:pPr>
            <a:r>
              <a:rPr lang="nl-NL" sz="2900" dirty="0"/>
              <a:t>Een </a:t>
            </a:r>
            <a:r>
              <a:rPr lang="nl-NL" sz="2900" dirty="0" err="1"/>
              <a:t>Id</a:t>
            </a:r>
            <a:r>
              <a:rPr lang="nl-NL" sz="2900" dirty="0"/>
              <a:t> op logisch niveau:</a:t>
            </a:r>
          </a:p>
          <a:p>
            <a:r>
              <a:rPr lang="nl-NL" sz="2900" dirty="0"/>
              <a:t>moet persistent en onveranderlijk zijn, </a:t>
            </a:r>
            <a:r>
              <a:rPr lang="nl-NL" sz="2900" dirty="0" err="1"/>
              <a:t>dwz</a:t>
            </a:r>
            <a:r>
              <a:rPr lang="nl-NL" sz="2900" dirty="0"/>
              <a:t>: door de tijd heen nooit veranderen </a:t>
            </a:r>
          </a:p>
          <a:p>
            <a:r>
              <a:rPr lang="nl-NL" sz="2900" dirty="0"/>
              <a:t>altijd het hoofdonderwerp blijven representeren. </a:t>
            </a:r>
          </a:p>
          <a:p>
            <a:r>
              <a:rPr lang="nl-NL" sz="2900" dirty="0"/>
              <a:t>vaak wordt er een aparte ID op logisch niveau gemaakt. Deze heeft een 1 op 1 koppeling met de </a:t>
            </a:r>
            <a:r>
              <a:rPr lang="nl-NL" sz="2900" dirty="0" err="1"/>
              <a:t>identificator</a:t>
            </a:r>
            <a:r>
              <a:rPr lang="nl-NL" sz="2900" dirty="0"/>
              <a:t> van een object (of een van de </a:t>
            </a:r>
            <a:r>
              <a:rPr lang="nl-NL" sz="2900" dirty="0" err="1"/>
              <a:t>identificators</a:t>
            </a:r>
            <a:r>
              <a:rPr lang="nl-NL" sz="2900" dirty="0"/>
              <a:t> als er meerdere zijn), om de eis van voorgaande </a:t>
            </a:r>
            <a:r>
              <a:rPr lang="nl-NL" sz="2900" dirty="0" err="1"/>
              <a:t>bullit</a:t>
            </a:r>
            <a:r>
              <a:rPr lang="nl-NL" sz="2900" dirty="0"/>
              <a:t> in te vullen</a:t>
            </a:r>
          </a:p>
          <a:p>
            <a:r>
              <a:rPr lang="nl-NL" sz="2900" dirty="0"/>
              <a:t>is gerelateerd aan een (gegevens) verwerking domein. Het </a:t>
            </a:r>
            <a:r>
              <a:rPr lang="nl-NL" sz="2900" i="1" dirty="0"/>
              <a:t>kan</a:t>
            </a:r>
            <a:r>
              <a:rPr lang="nl-NL" sz="2900" dirty="0"/>
              <a:t> hierbij zijn dat elke afzonderlijke gegevensverwerking (administraties, gegevensdelingen, </a:t>
            </a:r>
            <a:r>
              <a:rPr lang="nl-NL" sz="2900" dirty="0" err="1"/>
              <a:t>etc</a:t>
            </a:r>
            <a:r>
              <a:rPr lang="nl-NL" sz="2900" dirty="0"/>
              <a:t>) een eigen </a:t>
            </a:r>
            <a:r>
              <a:rPr lang="nl-NL" sz="2900" dirty="0" err="1"/>
              <a:t>Id</a:t>
            </a:r>
            <a:r>
              <a:rPr lang="nl-NL" sz="2900" dirty="0"/>
              <a:t> heeft. Maar er is per </a:t>
            </a:r>
            <a:r>
              <a:rPr lang="nl-NL" sz="2900" dirty="0" err="1"/>
              <a:t>gegevensobjecttype</a:t>
            </a:r>
            <a:r>
              <a:rPr lang="nl-NL" sz="2900" dirty="0"/>
              <a:t> van 1 gegevensverwerking altijd maar 1 </a:t>
            </a:r>
            <a:r>
              <a:rPr lang="nl-NL" sz="2900" dirty="0" err="1"/>
              <a:t>Id</a:t>
            </a:r>
            <a:r>
              <a:rPr lang="nl-NL" sz="2900" dirty="0"/>
              <a:t> op logisch niveau, dit noemen we </a:t>
            </a:r>
            <a:r>
              <a:rPr lang="nl-NL" sz="2900" dirty="0" err="1"/>
              <a:t>Id</a:t>
            </a:r>
            <a:r>
              <a:rPr lang="nl-NL" sz="2900" dirty="0"/>
              <a:t> die de voorkeur heeft in het gebruikt, en deze wordt expliciet aangemerkt als Id.</a:t>
            </a:r>
          </a:p>
          <a:p>
            <a:r>
              <a:rPr lang="nl-NL" sz="2900" dirty="0"/>
              <a:t>is gelijk voor alle versies/voorkomens/verschijningsvormen van alle gegevensobjecten die over hetzelfde domeinobject gaan, in het specifieke (gegevens) verwerkingsdomein, zoals bedoeld in de voorgaande punten. </a:t>
            </a:r>
          </a:p>
          <a:p>
            <a:pPr marL="0" indent="0">
              <a:buNone/>
            </a:pPr>
            <a:endParaRPr lang="nl-NL" dirty="0"/>
          </a:p>
          <a:p>
            <a:pPr marL="0" indent="0">
              <a:buNone/>
            </a:pPr>
            <a:endParaRPr lang="nl-NL" dirty="0"/>
          </a:p>
        </p:txBody>
      </p:sp>
      <p:sp>
        <p:nvSpPr>
          <p:cNvPr id="4" name="Rechthoek 3">
            <a:extLst>
              <a:ext uri="{FF2B5EF4-FFF2-40B4-BE49-F238E27FC236}">
                <a16:creationId xmlns:a16="http://schemas.microsoft.com/office/drawing/2014/main" id="{8020B7B7-BC35-BEE2-147B-5E9E5F28D051}"/>
              </a:ext>
            </a:extLst>
          </p:cNvPr>
          <p:cNvSpPr/>
          <p:nvPr/>
        </p:nvSpPr>
        <p:spPr>
          <a:xfrm>
            <a:off x="9472983" y="3276108"/>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p:txBody>
      </p:sp>
      <p:sp>
        <p:nvSpPr>
          <p:cNvPr id="5" name="Rechthoek 4">
            <a:extLst>
              <a:ext uri="{FF2B5EF4-FFF2-40B4-BE49-F238E27FC236}">
                <a16:creationId xmlns:a16="http://schemas.microsoft.com/office/drawing/2014/main" id="{813A9C6B-B8B5-5ABF-921A-EEEA1B750913}"/>
              </a:ext>
            </a:extLst>
          </p:cNvPr>
          <p:cNvSpPr/>
          <p:nvPr/>
        </p:nvSpPr>
        <p:spPr>
          <a:xfrm>
            <a:off x="9472983" y="3777757"/>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1</a:t>
            </a:r>
          </a:p>
        </p:txBody>
      </p:sp>
      <p:sp>
        <p:nvSpPr>
          <p:cNvPr id="6" name="Rechthoek 5">
            <a:extLst>
              <a:ext uri="{FF2B5EF4-FFF2-40B4-BE49-F238E27FC236}">
                <a16:creationId xmlns:a16="http://schemas.microsoft.com/office/drawing/2014/main" id="{0FE24995-5C26-94BD-7701-0155C36D6C28}"/>
              </a:ext>
            </a:extLst>
          </p:cNvPr>
          <p:cNvSpPr/>
          <p:nvPr/>
        </p:nvSpPr>
        <p:spPr>
          <a:xfrm>
            <a:off x="9472983" y="4843860"/>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8" name="Rechthoek 7">
            <a:extLst>
              <a:ext uri="{FF2B5EF4-FFF2-40B4-BE49-F238E27FC236}">
                <a16:creationId xmlns:a16="http://schemas.microsoft.com/office/drawing/2014/main" id="{293A0E4A-4634-0EB0-9692-9229E999554E}"/>
              </a:ext>
            </a:extLst>
          </p:cNvPr>
          <p:cNvSpPr/>
          <p:nvPr/>
        </p:nvSpPr>
        <p:spPr>
          <a:xfrm>
            <a:off x="9472983" y="498896"/>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Objecttype</a:t>
            </a:r>
          </a:p>
        </p:txBody>
      </p:sp>
      <p:sp>
        <p:nvSpPr>
          <p:cNvPr id="9" name="Rechthoek 8">
            <a:extLst>
              <a:ext uri="{FF2B5EF4-FFF2-40B4-BE49-F238E27FC236}">
                <a16:creationId xmlns:a16="http://schemas.microsoft.com/office/drawing/2014/main" id="{27E030DC-D5BF-8888-50C1-A8BA4C83551D}"/>
              </a:ext>
            </a:extLst>
          </p:cNvPr>
          <p:cNvSpPr/>
          <p:nvPr/>
        </p:nvSpPr>
        <p:spPr>
          <a:xfrm>
            <a:off x="9472983" y="1738249"/>
            <a:ext cx="2082800" cy="57218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Identificator</a:t>
            </a:r>
            <a:r>
              <a:rPr lang="nl-NL" sz="1600" dirty="0"/>
              <a:t> domeinobject</a:t>
            </a:r>
          </a:p>
        </p:txBody>
      </p:sp>
      <p:sp>
        <p:nvSpPr>
          <p:cNvPr id="10" name="Rechthoek 9">
            <a:extLst>
              <a:ext uri="{FF2B5EF4-FFF2-40B4-BE49-F238E27FC236}">
                <a16:creationId xmlns:a16="http://schemas.microsoft.com/office/drawing/2014/main" id="{92667DF5-7737-5780-052C-ECEB903BDBE7}"/>
              </a:ext>
            </a:extLst>
          </p:cNvPr>
          <p:cNvSpPr/>
          <p:nvPr/>
        </p:nvSpPr>
        <p:spPr>
          <a:xfrm>
            <a:off x="9472983" y="1032939"/>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Attribuuttype 1</a:t>
            </a:r>
          </a:p>
        </p:txBody>
      </p:sp>
      <p:sp>
        <p:nvSpPr>
          <p:cNvPr id="11" name="Rechthoek 10">
            <a:extLst>
              <a:ext uri="{FF2B5EF4-FFF2-40B4-BE49-F238E27FC236}">
                <a16:creationId xmlns:a16="http://schemas.microsoft.com/office/drawing/2014/main" id="{9194D6DA-F371-5E33-AB8A-AE6D2BABEC89}"/>
              </a:ext>
            </a:extLst>
          </p:cNvPr>
          <p:cNvSpPr/>
          <p:nvPr/>
        </p:nvSpPr>
        <p:spPr>
          <a:xfrm>
            <a:off x="9487734" y="1381983"/>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Attribuuttype 2</a:t>
            </a:r>
          </a:p>
        </p:txBody>
      </p:sp>
      <p:cxnSp>
        <p:nvCxnSpPr>
          <p:cNvPr id="13" name="Rechte verbindingslijn 12">
            <a:extLst>
              <a:ext uri="{FF2B5EF4-FFF2-40B4-BE49-F238E27FC236}">
                <a16:creationId xmlns:a16="http://schemas.microsoft.com/office/drawing/2014/main" id="{F38885B7-40AE-1975-6D51-6CA6CE9C2D8F}"/>
              </a:ext>
            </a:extLst>
          </p:cNvPr>
          <p:cNvCxnSpPr>
            <a:cxnSpLocks/>
          </p:cNvCxnSpPr>
          <p:nvPr/>
        </p:nvCxnSpPr>
        <p:spPr>
          <a:xfrm flipV="1">
            <a:off x="11922032" y="1180224"/>
            <a:ext cx="3" cy="8441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Rechte verbindingslijn 13">
            <a:extLst>
              <a:ext uri="{FF2B5EF4-FFF2-40B4-BE49-F238E27FC236}">
                <a16:creationId xmlns:a16="http://schemas.microsoft.com/office/drawing/2014/main" id="{D63398BB-B6E0-6E35-FD52-21C26BDF9960}"/>
              </a:ext>
            </a:extLst>
          </p:cNvPr>
          <p:cNvCxnSpPr>
            <a:cxnSpLocks/>
            <a:stCxn id="9" idx="3"/>
          </p:cNvCxnSpPr>
          <p:nvPr/>
        </p:nvCxnSpPr>
        <p:spPr>
          <a:xfrm>
            <a:off x="11555783" y="2024339"/>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Rechte verbindingslijn met pijl 19">
            <a:extLst>
              <a:ext uri="{FF2B5EF4-FFF2-40B4-BE49-F238E27FC236}">
                <a16:creationId xmlns:a16="http://schemas.microsoft.com/office/drawing/2014/main" id="{099359C1-C9D6-C0A0-F695-D75C49707184}"/>
              </a:ext>
            </a:extLst>
          </p:cNvPr>
          <p:cNvCxnSpPr>
            <a:cxnSpLocks/>
            <a:endCxn id="10" idx="3"/>
          </p:cNvCxnSpPr>
          <p:nvPr/>
        </p:nvCxnSpPr>
        <p:spPr>
          <a:xfrm flipH="1">
            <a:off x="11555783" y="1180224"/>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D7426D22-2F2C-777A-A230-8931F98EBDFE}"/>
              </a:ext>
            </a:extLst>
          </p:cNvPr>
          <p:cNvCxnSpPr>
            <a:cxnSpLocks/>
          </p:cNvCxnSpPr>
          <p:nvPr/>
        </p:nvCxnSpPr>
        <p:spPr>
          <a:xfrm flipH="1">
            <a:off x="11555783" y="152160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Rechte verbindingslijn met pijl 41">
            <a:extLst>
              <a:ext uri="{FF2B5EF4-FFF2-40B4-BE49-F238E27FC236}">
                <a16:creationId xmlns:a16="http://schemas.microsoft.com/office/drawing/2014/main" id="{2D705A7F-E694-A76E-5E0E-C1481793DCBE}"/>
              </a:ext>
            </a:extLst>
          </p:cNvPr>
          <p:cNvCxnSpPr>
            <a:cxnSpLocks/>
          </p:cNvCxnSpPr>
          <p:nvPr/>
        </p:nvCxnSpPr>
        <p:spPr>
          <a:xfrm flipV="1">
            <a:off x="8990683" y="784983"/>
            <a:ext cx="497048"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echte verbindingslijn 42">
            <a:extLst>
              <a:ext uri="{FF2B5EF4-FFF2-40B4-BE49-F238E27FC236}">
                <a16:creationId xmlns:a16="http://schemas.microsoft.com/office/drawing/2014/main" id="{DF3EB271-2DEB-4D5B-343F-4E46FE51304A}"/>
              </a:ext>
            </a:extLst>
          </p:cNvPr>
          <p:cNvCxnSpPr/>
          <p:nvPr/>
        </p:nvCxnSpPr>
        <p:spPr>
          <a:xfrm>
            <a:off x="8982405" y="791333"/>
            <a:ext cx="0" cy="272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Rechte verbindingslijn 43">
            <a:extLst>
              <a:ext uri="{FF2B5EF4-FFF2-40B4-BE49-F238E27FC236}">
                <a16:creationId xmlns:a16="http://schemas.microsoft.com/office/drawing/2014/main" id="{9DD26E37-08ED-91C0-41D5-7713C325B858}"/>
              </a:ext>
            </a:extLst>
          </p:cNvPr>
          <p:cNvCxnSpPr>
            <a:cxnSpLocks/>
          </p:cNvCxnSpPr>
          <p:nvPr/>
        </p:nvCxnSpPr>
        <p:spPr>
          <a:xfrm>
            <a:off x="8974128" y="3519948"/>
            <a:ext cx="513603"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kstvak 44">
            <a:extLst>
              <a:ext uri="{FF2B5EF4-FFF2-40B4-BE49-F238E27FC236}">
                <a16:creationId xmlns:a16="http://schemas.microsoft.com/office/drawing/2014/main" id="{1E2A42CE-69B2-E319-AB2E-6F2577C38D70}"/>
              </a:ext>
            </a:extLst>
          </p:cNvPr>
          <p:cNvSpPr txBox="1"/>
          <p:nvPr/>
        </p:nvSpPr>
        <p:spPr>
          <a:xfrm rot="16200000">
            <a:off x="7891347" y="2468253"/>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
        <p:nvSpPr>
          <p:cNvPr id="50" name="Rechthoek 49">
            <a:extLst>
              <a:ext uri="{FF2B5EF4-FFF2-40B4-BE49-F238E27FC236}">
                <a16:creationId xmlns:a16="http://schemas.microsoft.com/office/drawing/2014/main" id="{541A970C-5024-9ED5-D75C-5F9FD438B9C5}"/>
              </a:ext>
            </a:extLst>
          </p:cNvPr>
          <p:cNvSpPr/>
          <p:nvPr/>
        </p:nvSpPr>
        <p:spPr>
          <a:xfrm>
            <a:off x="9472983" y="4128912"/>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2</a:t>
            </a:r>
          </a:p>
        </p:txBody>
      </p:sp>
      <p:sp>
        <p:nvSpPr>
          <p:cNvPr id="51" name="Rechthoek 50">
            <a:extLst>
              <a:ext uri="{FF2B5EF4-FFF2-40B4-BE49-F238E27FC236}">
                <a16:creationId xmlns:a16="http://schemas.microsoft.com/office/drawing/2014/main" id="{81472121-98D2-1184-79FE-2A0C3B0F5312}"/>
              </a:ext>
            </a:extLst>
          </p:cNvPr>
          <p:cNvSpPr/>
          <p:nvPr/>
        </p:nvSpPr>
        <p:spPr>
          <a:xfrm>
            <a:off x="9472983" y="4480067"/>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3</a:t>
            </a:r>
          </a:p>
        </p:txBody>
      </p:sp>
      <p:sp>
        <p:nvSpPr>
          <p:cNvPr id="53" name="Rechthoek 52">
            <a:extLst>
              <a:ext uri="{FF2B5EF4-FFF2-40B4-BE49-F238E27FC236}">
                <a16:creationId xmlns:a16="http://schemas.microsoft.com/office/drawing/2014/main" id="{2FCF11DE-2D0A-573B-C22F-78C292FF1498}"/>
              </a:ext>
            </a:extLst>
          </p:cNvPr>
          <p:cNvSpPr/>
          <p:nvPr/>
        </p:nvSpPr>
        <p:spPr>
          <a:xfrm>
            <a:off x="9472983" y="5206641"/>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cxnSp>
        <p:nvCxnSpPr>
          <p:cNvPr id="54" name="Rechte verbindingslijn 53">
            <a:extLst>
              <a:ext uri="{FF2B5EF4-FFF2-40B4-BE49-F238E27FC236}">
                <a16:creationId xmlns:a16="http://schemas.microsoft.com/office/drawing/2014/main" id="{525EECC8-0EBC-A06B-1A75-80063FB0F227}"/>
              </a:ext>
            </a:extLst>
          </p:cNvPr>
          <p:cNvCxnSpPr>
            <a:cxnSpLocks/>
          </p:cNvCxnSpPr>
          <p:nvPr/>
        </p:nvCxnSpPr>
        <p:spPr>
          <a:xfrm>
            <a:off x="11555783" y="3916929"/>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56" name="Rechte verbindingslijn 55">
            <a:extLst>
              <a:ext uri="{FF2B5EF4-FFF2-40B4-BE49-F238E27FC236}">
                <a16:creationId xmlns:a16="http://schemas.microsoft.com/office/drawing/2014/main" id="{39A53912-219C-9064-2EEA-5A554E677DB6}"/>
              </a:ext>
            </a:extLst>
          </p:cNvPr>
          <p:cNvCxnSpPr>
            <a:cxnSpLocks/>
            <a:endCxn id="10" idx="2"/>
          </p:cNvCxnSpPr>
          <p:nvPr/>
        </p:nvCxnSpPr>
        <p:spPr>
          <a:xfrm flipH="1" flipV="1">
            <a:off x="10514383" y="1327508"/>
            <a:ext cx="1293520" cy="2584264"/>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1" name="Rechte verbindingslijn 60">
            <a:extLst>
              <a:ext uri="{FF2B5EF4-FFF2-40B4-BE49-F238E27FC236}">
                <a16:creationId xmlns:a16="http://schemas.microsoft.com/office/drawing/2014/main" id="{743A062B-FB52-B6F2-0C45-429E8476B585}"/>
              </a:ext>
            </a:extLst>
          </p:cNvPr>
          <p:cNvCxnSpPr>
            <a:cxnSpLocks/>
            <a:endCxn id="11" idx="2"/>
          </p:cNvCxnSpPr>
          <p:nvPr/>
        </p:nvCxnSpPr>
        <p:spPr>
          <a:xfrm flipH="1" flipV="1">
            <a:off x="10529134" y="1676552"/>
            <a:ext cx="1278769" cy="2586374"/>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E8C9A406-04A2-CCA1-99C4-40C476B55C7A}"/>
              </a:ext>
            </a:extLst>
          </p:cNvPr>
          <p:cNvCxnSpPr>
            <a:cxnSpLocks/>
          </p:cNvCxnSpPr>
          <p:nvPr/>
        </p:nvCxnSpPr>
        <p:spPr>
          <a:xfrm>
            <a:off x="11555783" y="4262926"/>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8" name="Rechte verbindingslijn 67">
            <a:extLst>
              <a:ext uri="{FF2B5EF4-FFF2-40B4-BE49-F238E27FC236}">
                <a16:creationId xmlns:a16="http://schemas.microsoft.com/office/drawing/2014/main" id="{77F9C404-5FAA-32CC-E66E-84E8847CF6E7}"/>
              </a:ext>
            </a:extLst>
          </p:cNvPr>
          <p:cNvCxnSpPr>
            <a:cxnSpLocks/>
          </p:cNvCxnSpPr>
          <p:nvPr/>
        </p:nvCxnSpPr>
        <p:spPr>
          <a:xfrm flipV="1">
            <a:off x="9117490" y="4621593"/>
            <a:ext cx="0" cy="871793"/>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Rechte verbindingslijn 68">
            <a:extLst>
              <a:ext uri="{FF2B5EF4-FFF2-40B4-BE49-F238E27FC236}">
                <a16:creationId xmlns:a16="http://schemas.microsoft.com/office/drawing/2014/main" id="{8E1111F0-57FB-0B3E-7F68-EE96F534BB78}"/>
              </a:ext>
            </a:extLst>
          </p:cNvPr>
          <p:cNvCxnSpPr>
            <a:cxnSpLocks/>
          </p:cNvCxnSpPr>
          <p:nvPr/>
        </p:nvCxnSpPr>
        <p:spPr>
          <a:xfrm>
            <a:off x="9117490" y="5493386"/>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Rechte verbindingslijn met pijl 69">
            <a:extLst>
              <a:ext uri="{FF2B5EF4-FFF2-40B4-BE49-F238E27FC236}">
                <a16:creationId xmlns:a16="http://schemas.microsoft.com/office/drawing/2014/main" id="{B7EC989D-EB85-BC9D-DE39-736E811D215E}"/>
              </a:ext>
            </a:extLst>
          </p:cNvPr>
          <p:cNvCxnSpPr>
            <a:cxnSpLocks/>
            <a:endCxn id="51" idx="1"/>
          </p:cNvCxnSpPr>
          <p:nvPr/>
        </p:nvCxnSpPr>
        <p:spPr>
          <a:xfrm>
            <a:off x="9106732" y="4608269"/>
            <a:ext cx="366251" cy="109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Rechthoek 71">
            <a:extLst>
              <a:ext uri="{FF2B5EF4-FFF2-40B4-BE49-F238E27FC236}">
                <a16:creationId xmlns:a16="http://schemas.microsoft.com/office/drawing/2014/main" id="{CF885A2C-043C-7140-3902-B7D029FDF73E}"/>
              </a:ext>
            </a:extLst>
          </p:cNvPr>
          <p:cNvSpPr/>
          <p:nvPr/>
        </p:nvSpPr>
        <p:spPr>
          <a:xfrm>
            <a:off x="9472982" y="5864568"/>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cxnSp>
        <p:nvCxnSpPr>
          <p:cNvPr id="79" name="Rechte verbindingslijn 78">
            <a:extLst>
              <a:ext uri="{FF2B5EF4-FFF2-40B4-BE49-F238E27FC236}">
                <a16:creationId xmlns:a16="http://schemas.microsoft.com/office/drawing/2014/main" id="{07A1B80E-5851-36A0-ECFE-69B7569649BC}"/>
              </a:ext>
            </a:extLst>
          </p:cNvPr>
          <p:cNvCxnSpPr>
            <a:cxnSpLocks/>
          </p:cNvCxnSpPr>
          <p:nvPr/>
        </p:nvCxnSpPr>
        <p:spPr>
          <a:xfrm flipV="1">
            <a:off x="11922035" y="4608269"/>
            <a:ext cx="0" cy="1538618"/>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Rechte verbindingslijn 79">
            <a:extLst>
              <a:ext uri="{FF2B5EF4-FFF2-40B4-BE49-F238E27FC236}">
                <a16:creationId xmlns:a16="http://schemas.microsoft.com/office/drawing/2014/main" id="{74AC5534-83E0-6246-3A3E-E4A99B582E7B}"/>
              </a:ext>
            </a:extLst>
          </p:cNvPr>
          <p:cNvCxnSpPr>
            <a:cxnSpLocks/>
          </p:cNvCxnSpPr>
          <p:nvPr/>
        </p:nvCxnSpPr>
        <p:spPr>
          <a:xfrm>
            <a:off x="11555782" y="6146887"/>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Rechte verbindingslijn met pijl 80">
            <a:extLst>
              <a:ext uri="{FF2B5EF4-FFF2-40B4-BE49-F238E27FC236}">
                <a16:creationId xmlns:a16="http://schemas.microsoft.com/office/drawing/2014/main" id="{0792CDD4-E4CB-5108-44FB-621027AFF007}"/>
              </a:ext>
            </a:extLst>
          </p:cNvPr>
          <p:cNvCxnSpPr>
            <a:cxnSpLocks/>
          </p:cNvCxnSpPr>
          <p:nvPr/>
        </p:nvCxnSpPr>
        <p:spPr>
          <a:xfrm flipH="1">
            <a:off x="11555783" y="4608269"/>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echte verbindingslijn met pijl 81">
            <a:extLst>
              <a:ext uri="{FF2B5EF4-FFF2-40B4-BE49-F238E27FC236}">
                <a16:creationId xmlns:a16="http://schemas.microsoft.com/office/drawing/2014/main" id="{9582878B-6F7D-D484-865D-DFAC3C7511DE}"/>
              </a:ext>
            </a:extLst>
          </p:cNvPr>
          <p:cNvCxnSpPr>
            <a:cxnSpLocks/>
          </p:cNvCxnSpPr>
          <p:nvPr/>
        </p:nvCxnSpPr>
        <p:spPr>
          <a:xfrm flipH="1">
            <a:off x="11555783" y="4949645"/>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4677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039446-ABC6-FE3F-89AC-7EFB6286FD7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A09C3022-F741-8F4F-D941-880DD9A37D8E}"/>
              </a:ext>
            </a:extLst>
          </p:cNvPr>
          <p:cNvSpPr>
            <a:spLocks noGrp="1"/>
          </p:cNvSpPr>
          <p:nvPr>
            <p:ph type="title"/>
          </p:nvPr>
        </p:nvSpPr>
        <p:spPr>
          <a:xfrm>
            <a:off x="633804" y="365125"/>
            <a:ext cx="10515600" cy="1325563"/>
          </a:xfrm>
        </p:spPr>
        <p:txBody>
          <a:bodyPr/>
          <a:lstStyle/>
          <a:p>
            <a:r>
              <a:rPr lang="nl-NL" dirty="0" err="1"/>
              <a:t>Requirements</a:t>
            </a:r>
            <a:r>
              <a:rPr lang="nl-NL" dirty="0"/>
              <a:t> aan de logische </a:t>
            </a:r>
            <a:r>
              <a:rPr lang="nl-NL" dirty="0" err="1"/>
              <a:t>Id</a:t>
            </a:r>
            <a:endParaRPr lang="nl-NL" dirty="0"/>
          </a:p>
        </p:txBody>
      </p:sp>
      <p:sp>
        <p:nvSpPr>
          <p:cNvPr id="3" name="Tijdelijke aanduiding voor inhoud 2">
            <a:extLst>
              <a:ext uri="{FF2B5EF4-FFF2-40B4-BE49-F238E27FC236}">
                <a16:creationId xmlns:a16="http://schemas.microsoft.com/office/drawing/2014/main" id="{A5D903F7-691C-CDD2-DE52-439775D37AE7}"/>
              </a:ext>
            </a:extLst>
          </p:cNvPr>
          <p:cNvSpPr>
            <a:spLocks noGrp="1"/>
          </p:cNvSpPr>
          <p:nvPr>
            <p:ph idx="1"/>
          </p:nvPr>
        </p:nvSpPr>
        <p:spPr>
          <a:xfrm>
            <a:off x="636217" y="1455174"/>
            <a:ext cx="7976841" cy="5160778"/>
          </a:xfrm>
        </p:spPr>
        <p:txBody>
          <a:bodyPr>
            <a:normAutofit fontScale="70000" lnSpcReduction="20000"/>
          </a:bodyPr>
          <a:lstStyle/>
          <a:p>
            <a:pPr marL="0" indent="0">
              <a:buNone/>
            </a:pPr>
            <a:r>
              <a:rPr lang="nl-NL" sz="2900" dirty="0"/>
              <a:t>Een </a:t>
            </a:r>
            <a:r>
              <a:rPr lang="nl-NL" sz="2900" dirty="0" err="1"/>
              <a:t>Id</a:t>
            </a:r>
            <a:r>
              <a:rPr lang="nl-NL" sz="2900" dirty="0"/>
              <a:t> op logisch niveau:</a:t>
            </a:r>
          </a:p>
          <a:p>
            <a:r>
              <a:rPr lang="nl-NL" sz="2900" dirty="0"/>
              <a:t>moet persistent en onveranderlijk zijn, </a:t>
            </a:r>
            <a:r>
              <a:rPr lang="nl-NL" sz="2900" dirty="0" err="1"/>
              <a:t>dwz</a:t>
            </a:r>
            <a:r>
              <a:rPr lang="nl-NL" sz="2900" dirty="0"/>
              <a:t>: door de tijd heen nooit veranderen </a:t>
            </a:r>
          </a:p>
          <a:p>
            <a:r>
              <a:rPr lang="nl-NL" sz="2900" dirty="0"/>
              <a:t>altijd het hoofdonderwerp blijven representeren. </a:t>
            </a:r>
          </a:p>
          <a:p>
            <a:r>
              <a:rPr lang="nl-NL" sz="2900" dirty="0"/>
              <a:t>vaak wordt er een aparte ID op logisch niveau gemaakt. Deze heeft een 1 op 1 koppeling met de </a:t>
            </a:r>
            <a:r>
              <a:rPr lang="nl-NL" sz="2900" dirty="0" err="1"/>
              <a:t>identificator</a:t>
            </a:r>
            <a:r>
              <a:rPr lang="nl-NL" sz="2900" dirty="0"/>
              <a:t> van een object (of een van de </a:t>
            </a:r>
            <a:r>
              <a:rPr lang="nl-NL" sz="2900" dirty="0" err="1"/>
              <a:t>identificators</a:t>
            </a:r>
            <a:r>
              <a:rPr lang="nl-NL" sz="2900" dirty="0"/>
              <a:t> als er meerdere zijn), om de eis van voorgaande </a:t>
            </a:r>
            <a:r>
              <a:rPr lang="nl-NL" sz="2900" dirty="0" err="1"/>
              <a:t>bullit</a:t>
            </a:r>
            <a:r>
              <a:rPr lang="nl-NL" sz="2900" dirty="0"/>
              <a:t> in te vullen</a:t>
            </a:r>
          </a:p>
          <a:p>
            <a:r>
              <a:rPr lang="nl-NL" sz="2900" dirty="0"/>
              <a:t>is gerelateerd aan een (gegevens) verwerking domein. Het </a:t>
            </a:r>
            <a:r>
              <a:rPr lang="nl-NL" sz="2900" i="1" dirty="0"/>
              <a:t>kan</a:t>
            </a:r>
            <a:r>
              <a:rPr lang="nl-NL" sz="2900" dirty="0"/>
              <a:t> hierbij zijn dat elke afzonderlijke gegevensverwerking (administraties, gegevensdelingen, </a:t>
            </a:r>
            <a:r>
              <a:rPr lang="nl-NL" sz="2900" dirty="0" err="1"/>
              <a:t>etc</a:t>
            </a:r>
            <a:r>
              <a:rPr lang="nl-NL" sz="2900" dirty="0"/>
              <a:t>) een eigen </a:t>
            </a:r>
            <a:r>
              <a:rPr lang="nl-NL" sz="2900" dirty="0" err="1"/>
              <a:t>Id</a:t>
            </a:r>
            <a:r>
              <a:rPr lang="nl-NL" sz="2900" dirty="0"/>
              <a:t> heeft. Maar er is per </a:t>
            </a:r>
            <a:r>
              <a:rPr lang="nl-NL" sz="2900" dirty="0" err="1"/>
              <a:t>gegevensobjecttype</a:t>
            </a:r>
            <a:r>
              <a:rPr lang="nl-NL" sz="2900" dirty="0"/>
              <a:t> van 1 gegevensverwerking altijd maar 1 </a:t>
            </a:r>
            <a:r>
              <a:rPr lang="nl-NL" sz="2900" dirty="0" err="1"/>
              <a:t>Id</a:t>
            </a:r>
            <a:r>
              <a:rPr lang="nl-NL" sz="2900" dirty="0"/>
              <a:t> op logisch niveau, dit noemen we </a:t>
            </a:r>
            <a:r>
              <a:rPr lang="nl-NL" sz="2900" dirty="0" err="1"/>
              <a:t>Id</a:t>
            </a:r>
            <a:r>
              <a:rPr lang="nl-NL" sz="2900" dirty="0"/>
              <a:t> die de voorkeur heeft in het gebruikt, en deze wordt expliciet aangemerkt als Id.</a:t>
            </a:r>
          </a:p>
          <a:p>
            <a:r>
              <a:rPr lang="nl-NL" sz="2900" dirty="0"/>
              <a:t>is gelijk voor alle versies/voorkomens/verschijningsvormen van alle gegevensobjecten die over hetzelfde domeinobject gaan, in het specifieke (gegevens) verwerkingsdomein, zoals bedoeld in de voorgaande punten. </a:t>
            </a:r>
          </a:p>
          <a:p>
            <a:pPr marL="0" indent="0">
              <a:buNone/>
            </a:pPr>
            <a:endParaRPr lang="nl-NL" dirty="0"/>
          </a:p>
          <a:p>
            <a:pPr marL="0" indent="0">
              <a:buNone/>
            </a:pPr>
            <a:endParaRPr lang="nl-NL" dirty="0"/>
          </a:p>
        </p:txBody>
      </p:sp>
      <p:sp>
        <p:nvSpPr>
          <p:cNvPr id="4" name="Rechthoek 3">
            <a:extLst>
              <a:ext uri="{FF2B5EF4-FFF2-40B4-BE49-F238E27FC236}">
                <a16:creationId xmlns:a16="http://schemas.microsoft.com/office/drawing/2014/main" id="{29002145-79EF-4670-6B00-835EC5B7475D}"/>
              </a:ext>
            </a:extLst>
          </p:cNvPr>
          <p:cNvSpPr/>
          <p:nvPr/>
        </p:nvSpPr>
        <p:spPr>
          <a:xfrm>
            <a:off x="9472983" y="3276108"/>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p:txBody>
      </p:sp>
      <p:sp>
        <p:nvSpPr>
          <p:cNvPr id="5" name="Rechthoek 4">
            <a:extLst>
              <a:ext uri="{FF2B5EF4-FFF2-40B4-BE49-F238E27FC236}">
                <a16:creationId xmlns:a16="http://schemas.microsoft.com/office/drawing/2014/main" id="{E4B63B49-A9F6-53DD-D047-C63DA675E88C}"/>
              </a:ext>
            </a:extLst>
          </p:cNvPr>
          <p:cNvSpPr/>
          <p:nvPr/>
        </p:nvSpPr>
        <p:spPr>
          <a:xfrm>
            <a:off x="9472983" y="3777757"/>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1</a:t>
            </a:r>
          </a:p>
        </p:txBody>
      </p:sp>
      <p:sp>
        <p:nvSpPr>
          <p:cNvPr id="6" name="Rechthoek 5">
            <a:extLst>
              <a:ext uri="{FF2B5EF4-FFF2-40B4-BE49-F238E27FC236}">
                <a16:creationId xmlns:a16="http://schemas.microsoft.com/office/drawing/2014/main" id="{FC7E350B-F54C-6921-84D8-2F5EC4B6F99B}"/>
              </a:ext>
            </a:extLst>
          </p:cNvPr>
          <p:cNvSpPr/>
          <p:nvPr/>
        </p:nvSpPr>
        <p:spPr>
          <a:xfrm>
            <a:off x="9472983" y="4843860"/>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8" name="Rechthoek 7">
            <a:extLst>
              <a:ext uri="{FF2B5EF4-FFF2-40B4-BE49-F238E27FC236}">
                <a16:creationId xmlns:a16="http://schemas.microsoft.com/office/drawing/2014/main" id="{3A4CD90F-AF16-D496-D6C8-4D4AFD5751F3}"/>
              </a:ext>
            </a:extLst>
          </p:cNvPr>
          <p:cNvSpPr/>
          <p:nvPr/>
        </p:nvSpPr>
        <p:spPr>
          <a:xfrm>
            <a:off x="9472983" y="498896"/>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Objecttype</a:t>
            </a:r>
          </a:p>
        </p:txBody>
      </p:sp>
      <p:sp>
        <p:nvSpPr>
          <p:cNvPr id="9" name="Rechthoek 8">
            <a:extLst>
              <a:ext uri="{FF2B5EF4-FFF2-40B4-BE49-F238E27FC236}">
                <a16:creationId xmlns:a16="http://schemas.microsoft.com/office/drawing/2014/main" id="{5F2047BA-E75A-503D-FBF4-438BC1A93C8F}"/>
              </a:ext>
            </a:extLst>
          </p:cNvPr>
          <p:cNvSpPr/>
          <p:nvPr/>
        </p:nvSpPr>
        <p:spPr>
          <a:xfrm>
            <a:off x="9472983" y="1738249"/>
            <a:ext cx="2082800" cy="57218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Identificator</a:t>
            </a:r>
            <a:r>
              <a:rPr lang="nl-NL" sz="1600" dirty="0"/>
              <a:t> domeinobject</a:t>
            </a:r>
          </a:p>
        </p:txBody>
      </p:sp>
      <p:sp>
        <p:nvSpPr>
          <p:cNvPr id="10" name="Rechthoek 9">
            <a:extLst>
              <a:ext uri="{FF2B5EF4-FFF2-40B4-BE49-F238E27FC236}">
                <a16:creationId xmlns:a16="http://schemas.microsoft.com/office/drawing/2014/main" id="{FD255DF0-6554-6F57-1CB0-CEE966D8B08A}"/>
              </a:ext>
            </a:extLst>
          </p:cNvPr>
          <p:cNvSpPr/>
          <p:nvPr/>
        </p:nvSpPr>
        <p:spPr>
          <a:xfrm>
            <a:off x="9472983" y="1032939"/>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Attribuuttype 1</a:t>
            </a:r>
          </a:p>
        </p:txBody>
      </p:sp>
      <p:sp>
        <p:nvSpPr>
          <p:cNvPr id="11" name="Rechthoek 10">
            <a:extLst>
              <a:ext uri="{FF2B5EF4-FFF2-40B4-BE49-F238E27FC236}">
                <a16:creationId xmlns:a16="http://schemas.microsoft.com/office/drawing/2014/main" id="{F660741C-D2EA-B1FD-9E48-5F8EA6358303}"/>
              </a:ext>
            </a:extLst>
          </p:cNvPr>
          <p:cNvSpPr/>
          <p:nvPr/>
        </p:nvSpPr>
        <p:spPr>
          <a:xfrm>
            <a:off x="9487734" y="1381983"/>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Attribuuttype 2</a:t>
            </a:r>
          </a:p>
        </p:txBody>
      </p:sp>
      <p:cxnSp>
        <p:nvCxnSpPr>
          <p:cNvPr id="13" name="Rechte verbindingslijn 12">
            <a:extLst>
              <a:ext uri="{FF2B5EF4-FFF2-40B4-BE49-F238E27FC236}">
                <a16:creationId xmlns:a16="http://schemas.microsoft.com/office/drawing/2014/main" id="{C4D93238-E421-B493-9177-ADF242C16C5C}"/>
              </a:ext>
            </a:extLst>
          </p:cNvPr>
          <p:cNvCxnSpPr>
            <a:cxnSpLocks/>
          </p:cNvCxnSpPr>
          <p:nvPr/>
        </p:nvCxnSpPr>
        <p:spPr>
          <a:xfrm flipV="1">
            <a:off x="11922032" y="1180224"/>
            <a:ext cx="3" cy="8441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Rechte verbindingslijn 13">
            <a:extLst>
              <a:ext uri="{FF2B5EF4-FFF2-40B4-BE49-F238E27FC236}">
                <a16:creationId xmlns:a16="http://schemas.microsoft.com/office/drawing/2014/main" id="{58DA1247-D3E4-80B4-E8B0-C02EC89B7580}"/>
              </a:ext>
            </a:extLst>
          </p:cNvPr>
          <p:cNvCxnSpPr>
            <a:cxnSpLocks/>
            <a:stCxn id="9" idx="3"/>
          </p:cNvCxnSpPr>
          <p:nvPr/>
        </p:nvCxnSpPr>
        <p:spPr>
          <a:xfrm>
            <a:off x="11555783" y="2024339"/>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Rechte verbindingslijn met pijl 19">
            <a:extLst>
              <a:ext uri="{FF2B5EF4-FFF2-40B4-BE49-F238E27FC236}">
                <a16:creationId xmlns:a16="http://schemas.microsoft.com/office/drawing/2014/main" id="{F1A47052-A2EC-6B63-DBB9-7614EE150F98}"/>
              </a:ext>
            </a:extLst>
          </p:cNvPr>
          <p:cNvCxnSpPr>
            <a:cxnSpLocks/>
            <a:endCxn id="10" idx="3"/>
          </p:cNvCxnSpPr>
          <p:nvPr/>
        </p:nvCxnSpPr>
        <p:spPr>
          <a:xfrm flipH="1">
            <a:off x="11555783" y="1180224"/>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2" name="Rechte verbindingslijn met pijl 21">
            <a:extLst>
              <a:ext uri="{FF2B5EF4-FFF2-40B4-BE49-F238E27FC236}">
                <a16:creationId xmlns:a16="http://schemas.microsoft.com/office/drawing/2014/main" id="{BAA939CD-8640-242A-6044-EB6015A516FC}"/>
              </a:ext>
            </a:extLst>
          </p:cNvPr>
          <p:cNvCxnSpPr>
            <a:cxnSpLocks/>
          </p:cNvCxnSpPr>
          <p:nvPr/>
        </p:nvCxnSpPr>
        <p:spPr>
          <a:xfrm flipH="1">
            <a:off x="11555783" y="152160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2" name="Rechte verbindingslijn met pijl 41">
            <a:extLst>
              <a:ext uri="{FF2B5EF4-FFF2-40B4-BE49-F238E27FC236}">
                <a16:creationId xmlns:a16="http://schemas.microsoft.com/office/drawing/2014/main" id="{CBF5B3A8-8287-4DA2-9370-545AC85BA870}"/>
              </a:ext>
            </a:extLst>
          </p:cNvPr>
          <p:cNvCxnSpPr>
            <a:cxnSpLocks/>
          </p:cNvCxnSpPr>
          <p:nvPr/>
        </p:nvCxnSpPr>
        <p:spPr>
          <a:xfrm flipV="1">
            <a:off x="8990683" y="784983"/>
            <a:ext cx="497048"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3" name="Rechte verbindingslijn 42">
            <a:extLst>
              <a:ext uri="{FF2B5EF4-FFF2-40B4-BE49-F238E27FC236}">
                <a16:creationId xmlns:a16="http://schemas.microsoft.com/office/drawing/2014/main" id="{65C9D5AE-9539-A5EF-4287-CC68BC269016}"/>
              </a:ext>
            </a:extLst>
          </p:cNvPr>
          <p:cNvCxnSpPr/>
          <p:nvPr/>
        </p:nvCxnSpPr>
        <p:spPr>
          <a:xfrm>
            <a:off x="8982405" y="791333"/>
            <a:ext cx="0" cy="272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Rechte verbindingslijn 43">
            <a:extLst>
              <a:ext uri="{FF2B5EF4-FFF2-40B4-BE49-F238E27FC236}">
                <a16:creationId xmlns:a16="http://schemas.microsoft.com/office/drawing/2014/main" id="{A02DB687-07B2-A1B7-A65A-05B129EE8FD6}"/>
              </a:ext>
            </a:extLst>
          </p:cNvPr>
          <p:cNvCxnSpPr>
            <a:cxnSpLocks/>
          </p:cNvCxnSpPr>
          <p:nvPr/>
        </p:nvCxnSpPr>
        <p:spPr>
          <a:xfrm>
            <a:off x="8974128" y="3519948"/>
            <a:ext cx="513603" cy="0"/>
          </a:xfrm>
          <a:prstGeom prst="line">
            <a:avLst/>
          </a:prstGeom>
        </p:spPr>
        <p:style>
          <a:lnRef idx="2">
            <a:schemeClr val="accent1"/>
          </a:lnRef>
          <a:fillRef idx="0">
            <a:schemeClr val="accent1"/>
          </a:fillRef>
          <a:effectRef idx="1">
            <a:schemeClr val="accent1"/>
          </a:effectRef>
          <a:fontRef idx="minor">
            <a:schemeClr val="tx1"/>
          </a:fontRef>
        </p:style>
      </p:cxnSp>
      <p:sp>
        <p:nvSpPr>
          <p:cNvPr id="45" name="Tekstvak 44">
            <a:extLst>
              <a:ext uri="{FF2B5EF4-FFF2-40B4-BE49-F238E27FC236}">
                <a16:creationId xmlns:a16="http://schemas.microsoft.com/office/drawing/2014/main" id="{E76C52FE-1EF5-C08C-D6FD-B88E29AC6C3A}"/>
              </a:ext>
            </a:extLst>
          </p:cNvPr>
          <p:cNvSpPr txBox="1"/>
          <p:nvPr/>
        </p:nvSpPr>
        <p:spPr>
          <a:xfrm rot="16200000">
            <a:off x="7891347" y="2468253"/>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
        <p:nvSpPr>
          <p:cNvPr id="50" name="Rechthoek 49">
            <a:extLst>
              <a:ext uri="{FF2B5EF4-FFF2-40B4-BE49-F238E27FC236}">
                <a16:creationId xmlns:a16="http://schemas.microsoft.com/office/drawing/2014/main" id="{A3268193-39FA-8E1C-1E25-A3F087781267}"/>
              </a:ext>
            </a:extLst>
          </p:cNvPr>
          <p:cNvSpPr/>
          <p:nvPr/>
        </p:nvSpPr>
        <p:spPr>
          <a:xfrm>
            <a:off x="9472983" y="4128912"/>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2</a:t>
            </a:r>
          </a:p>
        </p:txBody>
      </p:sp>
      <p:sp>
        <p:nvSpPr>
          <p:cNvPr id="51" name="Rechthoek 50">
            <a:extLst>
              <a:ext uri="{FF2B5EF4-FFF2-40B4-BE49-F238E27FC236}">
                <a16:creationId xmlns:a16="http://schemas.microsoft.com/office/drawing/2014/main" id="{4B519F23-1E4B-E773-5A16-7C0222367A54}"/>
              </a:ext>
            </a:extLst>
          </p:cNvPr>
          <p:cNvSpPr/>
          <p:nvPr/>
        </p:nvSpPr>
        <p:spPr>
          <a:xfrm>
            <a:off x="9472983" y="4480067"/>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3</a:t>
            </a:r>
          </a:p>
        </p:txBody>
      </p:sp>
      <p:sp>
        <p:nvSpPr>
          <p:cNvPr id="53" name="Rechthoek 52">
            <a:extLst>
              <a:ext uri="{FF2B5EF4-FFF2-40B4-BE49-F238E27FC236}">
                <a16:creationId xmlns:a16="http://schemas.microsoft.com/office/drawing/2014/main" id="{8BD135E8-2048-E7D3-1FE8-4BE04B8CA9E9}"/>
              </a:ext>
            </a:extLst>
          </p:cNvPr>
          <p:cNvSpPr/>
          <p:nvPr/>
        </p:nvSpPr>
        <p:spPr>
          <a:xfrm>
            <a:off x="9472983" y="5206641"/>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cxnSp>
        <p:nvCxnSpPr>
          <p:cNvPr id="54" name="Rechte verbindingslijn 53">
            <a:extLst>
              <a:ext uri="{FF2B5EF4-FFF2-40B4-BE49-F238E27FC236}">
                <a16:creationId xmlns:a16="http://schemas.microsoft.com/office/drawing/2014/main" id="{1E33945F-D4C9-7C1E-D1BF-054E142AA7CF}"/>
              </a:ext>
            </a:extLst>
          </p:cNvPr>
          <p:cNvCxnSpPr>
            <a:cxnSpLocks/>
          </p:cNvCxnSpPr>
          <p:nvPr/>
        </p:nvCxnSpPr>
        <p:spPr>
          <a:xfrm>
            <a:off x="11555783" y="3916929"/>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56" name="Rechte verbindingslijn 55">
            <a:extLst>
              <a:ext uri="{FF2B5EF4-FFF2-40B4-BE49-F238E27FC236}">
                <a16:creationId xmlns:a16="http://schemas.microsoft.com/office/drawing/2014/main" id="{D56F2603-5036-BD67-3316-40B9857D625A}"/>
              </a:ext>
            </a:extLst>
          </p:cNvPr>
          <p:cNvCxnSpPr>
            <a:cxnSpLocks/>
            <a:endCxn id="10" idx="2"/>
          </p:cNvCxnSpPr>
          <p:nvPr/>
        </p:nvCxnSpPr>
        <p:spPr>
          <a:xfrm flipH="1" flipV="1">
            <a:off x="10514383" y="1327508"/>
            <a:ext cx="1293520" cy="2584264"/>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1" name="Rechte verbindingslijn 60">
            <a:extLst>
              <a:ext uri="{FF2B5EF4-FFF2-40B4-BE49-F238E27FC236}">
                <a16:creationId xmlns:a16="http://schemas.microsoft.com/office/drawing/2014/main" id="{18B3FF16-4131-B065-8C0E-A352725E6EBC}"/>
              </a:ext>
            </a:extLst>
          </p:cNvPr>
          <p:cNvCxnSpPr>
            <a:cxnSpLocks/>
            <a:endCxn id="11" idx="2"/>
          </p:cNvCxnSpPr>
          <p:nvPr/>
        </p:nvCxnSpPr>
        <p:spPr>
          <a:xfrm flipH="1" flipV="1">
            <a:off x="10529134" y="1676552"/>
            <a:ext cx="1278769" cy="2586374"/>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4913F80B-CC7D-729A-A1F7-A1E76593729F}"/>
              </a:ext>
            </a:extLst>
          </p:cNvPr>
          <p:cNvCxnSpPr>
            <a:cxnSpLocks/>
          </p:cNvCxnSpPr>
          <p:nvPr/>
        </p:nvCxnSpPr>
        <p:spPr>
          <a:xfrm>
            <a:off x="11555783" y="4262926"/>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68" name="Rechte verbindingslijn 67">
            <a:extLst>
              <a:ext uri="{FF2B5EF4-FFF2-40B4-BE49-F238E27FC236}">
                <a16:creationId xmlns:a16="http://schemas.microsoft.com/office/drawing/2014/main" id="{8E8EE838-B9CE-27D7-5D51-739C07B1A369}"/>
              </a:ext>
            </a:extLst>
          </p:cNvPr>
          <p:cNvCxnSpPr>
            <a:cxnSpLocks/>
          </p:cNvCxnSpPr>
          <p:nvPr/>
        </p:nvCxnSpPr>
        <p:spPr>
          <a:xfrm flipV="1">
            <a:off x="9117490" y="4621593"/>
            <a:ext cx="0" cy="871793"/>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Rechte verbindingslijn 68">
            <a:extLst>
              <a:ext uri="{FF2B5EF4-FFF2-40B4-BE49-F238E27FC236}">
                <a16:creationId xmlns:a16="http://schemas.microsoft.com/office/drawing/2014/main" id="{F5A20767-4793-E7BC-DFDE-A294D06CA325}"/>
              </a:ext>
            </a:extLst>
          </p:cNvPr>
          <p:cNvCxnSpPr>
            <a:cxnSpLocks/>
          </p:cNvCxnSpPr>
          <p:nvPr/>
        </p:nvCxnSpPr>
        <p:spPr>
          <a:xfrm>
            <a:off x="9117490" y="5493386"/>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Rechte verbindingslijn met pijl 69">
            <a:extLst>
              <a:ext uri="{FF2B5EF4-FFF2-40B4-BE49-F238E27FC236}">
                <a16:creationId xmlns:a16="http://schemas.microsoft.com/office/drawing/2014/main" id="{F5BFB485-259E-6163-999A-F7DACB7B75C6}"/>
              </a:ext>
            </a:extLst>
          </p:cNvPr>
          <p:cNvCxnSpPr>
            <a:cxnSpLocks/>
            <a:endCxn id="51" idx="1"/>
          </p:cNvCxnSpPr>
          <p:nvPr/>
        </p:nvCxnSpPr>
        <p:spPr>
          <a:xfrm>
            <a:off x="9106732" y="4608269"/>
            <a:ext cx="366251" cy="109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72" name="Rechthoek 71">
            <a:extLst>
              <a:ext uri="{FF2B5EF4-FFF2-40B4-BE49-F238E27FC236}">
                <a16:creationId xmlns:a16="http://schemas.microsoft.com/office/drawing/2014/main" id="{A69E60CE-67AD-393E-D411-10F931D2B38F}"/>
              </a:ext>
            </a:extLst>
          </p:cNvPr>
          <p:cNvSpPr/>
          <p:nvPr/>
        </p:nvSpPr>
        <p:spPr>
          <a:xfrm>
            <a:off x="9472982" y="5864568"/>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cxnSp>
        <p:nvCxnSpPr>
          <p:cNvPr id="79" name="Rechte verbindingslijn 78">
            <a:extLst>
              <a:ext uri="{FF2B5EF4-FFF2-40B4-BE49-F238E27FC236}">
                <a16:creationId xmlns:a16="http://schemas.microsoft.com/office/drawing/2014/main" id="{EA11767A-E7FE-2E84-67A7-0D4486EE1C2F}"/>
              </a:ext>
            </a:extLst>
          </p:cNvPr>
          <p:cNvCxnSpPr>
            <a:cxnSpLocks/>
          </p:cNvCxnSpPr>
          <p:nvPr/>
        </p:nvCxnSpPr>
        <p:spPr>
          <a:xfrm flipV="1">
            <a:off x="11922035" y="4608269"/>
            <a:ext cx="0" cy="1538618"/>
          </a:xfrm>
          <a:prstGeom prst="line">
            <a:avLst/>
          </a:prstGeom>
        </p:spPr>
        <p:style>
          <a:lnRef idx="2">
            <a:schemeClr val="accent1"/>
          </a:lnRef>
          <a:fillRef idx="0">
            <a:schemeClr val="accent1"/>
          </a:fillRef>
          <a:effectRef idx="1">
            <a:schemeClr val="accent1"/>
          </a:effectRef>
          <a:fontRef idx="minor">
            <a:schemeClr val="tx1"/>
          </a:fontRef>
        </p:style>
      </p:cxnSp>
      <p:cxnSp>
        <p:nvCxnSpPr>
          <p:cNvPr id="80" name="Rechte verbindingslijn 79">
            <a:extLst>
              <a:ext uri="{FF2B5EF4-FFF2-40B4-BE49-F238E27FC236}">
                <a16:creationId xmlns:a16="http://schemas.microsoft.com/office/drawing/2014/main" id="{1A75E965-48AC-7F30-08CD-FF3C837B173B}"/>
              </a:ext>
            </a:extLst>
          </p:cNvPr>
          <p:cNvCxnSpPr>
            <a:cxnSpLocks/>
          </p:cNvCxnSpPr>
          <p:nvPr/>
        </p:nvCxnSpPr>
        <p:spPr>
          <a:xfrm>
            <a:off x="11555782" y="6146887"/>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81" name="Rechte verbindingslijn met pijl 80">
            <a:extLst>
              <a:ext uri="{FF2B5EF4-FFF2-40B4-BE49-F238E27FC236}">
                <a16:creationId xmlns:a16="http://schemas.microsoft.com/office/drawing/2014/main" id="{4F066839-6357-17BD-AB41-1C57F278246C}"/>
              </a:ext>
            </a:extLst>
          </p:cNvPr>
          <p:cNvCxnSpPr>
            <a:cxnSpLocks/>
          </p:cNvCxnSpPr>
          <p:nvPr/>
        </p:nvCxnSpPr>
        <p:spPr>
          <a:xfrm flipH="1">
            <a:off x="11555783" y="4608269"/>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82" name="Rechte verbindingslijn met pijl 81">
            <a:extLst>
              <a:ext uri="{FF2B5EF4-FFF2-40B4-BE49-F238E27FC236}">
                <a16:creationId xmlns:a16="http://schemas.microsoft.com/office/drawing/2014/main" id="{838135C3-94B2-395E-EF24-3DD49253CE13}"/>
              </a:ext>
            </a:extLst>
          </p:cNvPr>
          <p:cNvCxnSpPr>
            <a:cxnSpLocks/>
          </p:cNvCxnSpPr>
          <p:nvPr/>
        </p:nvCxnSpPr>
        <p:spPr>
          <a:xfrm flipH="1">
            <a:off x="11555783" y="4949645"/>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44900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FDFBC35-CCAF-717B-14D7-7709C8812002}"/>
              </a:ext>
            </a:extLst>
          </p:cNvPr>
          <p:cNvSpPr>
            <a:spLocks noGrp="1"/>
          </p:cNvSpPr>
          <p:nvPr>
            <p:ph type="title"/>
          </p:nvPr>
        </p:nvSpPr>
        <p:spPr>
          <a:xfrm>
            <a:off x="838200" y="770965"/>
            <a:ext cx="10515600" cy="1325563"/>
          </a:xfrm>
        </p:spPr>
        <p:txBody>
          <a:bodyPr/>
          <a:lstStyle/>
          <a:p>
            <a:pPr algn="ctr"/>
            <a:r>
              <a:rPr lang="nl-NL" dirty="0"/>
              <a:t>Onderling relateren van gegevensobjecten</a:t>
            </a:r>
            <a:br>
              <a:rPr lang="nl-NL" dirty="0"/>
            </a:br>
            <a:r>
              <a:rPr lang="nl-NL" dirty="0"/>
              <a:t>ID en versie patroon</a:t>
            </a:r>
          </a:p>
        </p:txBody>
      </p:sp>
      <p:sp>
        <p:nvSpPr>
          <p:cNvPr id="33" name="Rechthoek 32">
            <a:extLst>
              <a:ext uri="{FF2B5EF4-FFF2-40B4-BE49-F238E27FC236}">
                <a16:creationId xmlns:a16="http://schemas.microsoft.com/office/drawing/2014/main" id="{D36D620D-1C32-5768-BF66-6B23DCF10DDE}"/>
              </a:ext>
            </a:extLst>
          </p:cNvPr>
          <p:cNvSpPr/>
          <p:nvPr/>
        </p:nvSpPr>
        <p:spPr>
          <a:xfrm>
            <a:off x="838200" y="2279420"/>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ID </a:t>
            </a:r>
          </a:p>
        </p:txBody>
      </p:sp>
      <p:sp>
        <p:nvSpPr>
          <p:cNvPr id="35" name="Rechthoek 34">
            <a:extLst>
              <a:ext uri="{FF2B5EF4-FFF2-40B4-BE49-F238E27FC236}">
                <a16:creationId xmlns:a16="http://schemas.microsoft.com/office/drawing/2014/main" id="{94383A70-41C4-8AED-D987-4C812774484E}"/>
              </a:ext>
            </a:extLst>
          </p:cNvPr>
          <p:cNvSpPr/>
          <p:nvPr/>
        </p:nvSpPr>
        <p:spPr>
          <a:xfrm>
            <a:off x="838200" y="2925944"/>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sp>
        <p:nvSpPr>
          <p:cNvPr id="36" name="Rechthoek 35">
            <a:extLst>
              <a:ext uri="{FF2B5EF4-FFF2-40B4-BE49-F238E27FC236}">
                <a16:creationId xmlns:a16="http://schemas.microsoft.com/office/drawing/2014/main" id="{5DAA3CF7-0670-545E-FE7A-B984B4E2F2B2}"/>
              </a:ext>
            </a:extLst>
          </p:cNvPr>
          <p:cNvSpPr/>
          <p:nvPr/>
        </p:nvSpPr>
        <p:spPr>
          <a:xfrm>
            <a:off x="838200" y="5034309"/>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sp>
        <p:nvSpPr>
          <p:cNvPr id="40" name="Rechthoek 39">
            <a:extLst>
              <a:ext uri="{FF2B5EF4-FFF2-40B4-BE49-F238E27FC236}">
                <a16:creationId xmlns:a16="http://schemas.microsoft.com/office/drawing/2014/main" id="{0ADD1318-1E52-0782-7F22-C8C983EC7300}"/>
              </a:ext>
            </a:extLst>
          </p:cNvPr>
          <p:cNvSpPr/>
          <p:nvPr/>
        </p:nvSpPr>
        <p:spPr>
          <a:xfrm>
            <a:off x="838200" y="4321959"/>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Versie </a:t>
            </a:r>
          </a:p>
        </p:txBody>
      </p:sp>
      <p:sp>
        <p:nvSpPr>
          <p:cNvPr id="41" name="Rechthoek 40">
            <a:extLst>
              <a:ext uri="{FF2B5EF4-FFF2-40B4-BE49-F238E27FC236}">
                <a16:creationId xmlns:a16="http://schemas.microsoft.com/office/drawing/2014/main" id="{B787E908-4E2E-CAEA-EA7A-BB3B6F455818}"/>
              </a:ext>
            </a:extLst>
          </p:cNvPr>
          <p:cNvSpPr/>
          <p:nvPr/>
        </p:nvSpPr>
        <p:spPr>
          <a:xfrm>
            <a:off x="9298864" y="2279420"/>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ID </a:t>
            </a:r>
          </a:p>
        </p:txBody>
      </p:sp>
      <p:sp>
        <p:nvSpPr>
          <p:cNvPr id="42" name="Rechthoek 41">
            <a:extLst>
              <a:ext uri="{FF2B5EF4-FFF2-40B4-BE49-F238E27FC236}">
                <a16:creationId xmlns:a16="http://schemas.microsoft.com/office/drawing/2014/main" id="{8870E150-EAB1-310C-46A1-8BB3DA31672D}"/>
              </a:ext>
            </a:extLst>
          </p:cNvPr>
          <p:cNvSpPr/>
          <p:nvPr/>
        </p:nvSpPr>
        <p:spPr>
          <a:xfrm>
            <a:off x="9298864" y="2925944"/>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sp>
        <p:nvSpPr>
          <p:cNvPr id="43" name="Rechthoek 42">
            <a:extLst>
              <a:ext uri="{FF2B5EF4-FFF2-40B4-BE49-F238E27FC236}">
                <a16:creationId xmlns:a16="http://schemas.microsoft.com/office/drawing/2014/main" id="{23A6E310-3E20-DFD1-7215-3DB56603C323}"/>
              </a:ext>
            </a:extLst>
          </p:cNvPr>
          <p:cNvSpPr/>
          <p:nvPr/>
        </p:nvSpPr>
        <p:spPr>
          <a:xfrm>
            <a:off x="9298864" y="5034309"/>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sp>
        <p:nvSpPr>
          <p:cNvPr id="44" name="Rechthoek 43">
            <a:extLst>
              <a:ext uri="{FF2B5EF4-FFF2-40B4-BE49-F238E27FC236}">
                <a16:creationId xmlns:a16="http://schemas.microsoft.com/office/drawing/2014/main" id="{AF2CB964-2865-BF10-2182-DA64580BF066}"/>
              </a:ext>
            </a:extLst>
          </p:cNvPr>
          <p:cNvSpPr/>
          <p:nvPr/>
        </p:nvSpPr>
        <p:spPr>
          <a:xfrm>
            <a:off x="9298864" y="4321959"/>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a:p>
            <a:pPr algn="ctr"/>
            <a:r>
              <a:rPr lang="nl-NL" sz="1600" dirty="0"/>
              <a:t>Versie </a:t>
            </a:r>
          </a:p>
        </p:txBody>
      </p:sp>
      <p:cxnSp>
        <p:nvCxnSpPr>
          <p:cNvPr id="46" name="Rechte verbindingslijn met pijl 45">
            <a:extLst>
              <a:ext uri="{FF2B5EF4-FFF2-40B4-BE49-F238E27FC236}">
                <a16:creationId xmlns:a16="http://schemas.microsoft.com/office/drawing/2014/main" id="{2BEECA0B-7BF5-A7E2-56D6-7E2219F919AD}"/>
              </a:ext>
            </a:extLst>
          </p:cNvPr>
          <p:cNvCxnSpPr>
            <a:stCxn id="40" idx="0"/>
            <a:endCxn id="35" idx="2"/>
          </p:cNvCxnSpPr>
          <p:nvPr/>
        </p:nvCxnSpPr>
        <p:spPr>
          <a:xfrm flipV="1">
            <a:off x="1879600" y="3499435"/>
            <a:ext cx="0" cy="822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7" name="Rechte verbindingslijn met pijl 46">
            <a:extLst>
              <a:ext uri="{FF2B5EF4-FFF2-40B4-BE49-F238E27FC236}">
                <a16:creationId xmlns:a16="http://schemas.microsoft.com/office/drawing/2014/main" id="{31C11528-4938-F469-085F-0E0F503970DC}"/>
              </a:ext>
            </a:extLst>
          </p:cNvPr>
          <p:cNvCxnSpPr>
            <a:cxnSpLocks/>
            <a:endCxn id="41" idx="1"/>
          </p:cNvCxnSpPr>
          <p:nvPr/>
        </p:nvCxnSpPr>
        <p:spPr>
          <a:xfrm flipV="1">
            <a:off x="8347594" y="2566166"/>
            <a:ext cx="951270" cy="42560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49" name="Rechthoek 48">
            <a:extLst>
              <a:ext uri="{FF2B5EF4-FFF2-40B4-BE49-F238E27FC236}">
                <a16:creationId xmlns:a16="http://schemas.microsoft.com/office/drawing/2014/main" id="{413B6FF6-876F-E630-8BA5-47D946509C0E}"/>
              </a:ext>
            </a:extLst>
          </p:cNvPr>
          <p:cNvSpPr/>
          <p:nvPr/>
        </p:nvSpPr>
        <p:spPr>
          <a:xfrm>
            <a:off x="838200" y="5717974"/>
            <a:ext cx="2082800" cy="573491"/>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relatie naar ander gegevensobject</a:t>
            </a:r>
          </a:p>
        </p:txBody>
      </p:sp>
      <p:cxnSp>
        <p:nvCxnSpPr>
          <p:cNvPr id="53" name="Rechte verbindingslijn met pijl 52">
            <a:extLst>
              <a:ext uri="{FF2B5EF4-FFF2-40B4-BE49-F238E27FC236}">
                <a16:creationId xmlns:a16="http://schemas.microsoft.com/office/drawing/2014/main" id="{530807E3-9D9A-10BE-3A40-B6E5B4D80EAB}"/>
              </a:ext>
            </a:extLst>
          </p:cNvPr>
          <p:cNvCxnSpPr>
            <a:cxnSpLocks/>
            <a:endCxn id="42" idx="1"/>
          </p:cNvCxnSpPr>
          <p:nvPr/>
        </p:nvCxnSpPr>
        <p:spPr>
          <a:xfrm>
            <a:off x="8347594" y="2991770"/>
            <a:ext cx="951270" cy="22092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6" name="Rechte verbindingslijn met pijl 55">
            <a:extLst>
              <a:ext uri="{FF2B5EF4-FFF2-40B4-BE49-F238E27FC236}">
                <a16:creationId xmlns:a16="http://schemas.microsoft.com/office/drawing/2014/main" id="{1B2AADBA-0640-6325-1388-8B9AE6C586EB}"/>
              </a:ext>
            </a:extLst>
          </p:cNvPr>
          <p:cNvCxnSpPr>
            <a:cxnSpLocks/>
            <a:stCxn id="44" idx="0"/>
            <a:endCxn id="42" idx="2"/>
          </p:cNvCxnSpPr>
          <p:nvPr/>
        </p:nvCxnSpPr>
        <p:spPr>
          <a:xfrm flipV="1">
            <a:off x="10340264" y="3499435"/>
            <a:ext cx="0" cy="82252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59" name="Rechte verbindingslijn 58">
            <a:extLst>
              <a:ext uri="{FF2B5EF4-FFF2-40B4-BE49-F238E27FC236}">
                <a16:creationId xmlns:a16="http://schemas.microsoft.com/office/drawing/2014/main" id="{7739266B-D6CE-DDB4-6BA8-60B65039711E}"/>
              </a:ext>
            </a:extLst>
          </p:cNvPr>
          <p:cNvCxnSpPr>
            <a:cxnSpLocks/>
          </p:cNvCxnSpPr>
          <p:nvPr/>
        </p:nvCxnSpPr>
        <p:spPr>
          <a:xfrm flipH="1">
            <a:off x="3460952" y="2991770"/>
            <a:ext cx="488663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3" name="Rechte verbindingslijn 62">
            <a:extLst>
              <a:ext uri="{FF2B5EF4-FFF2-40B4-BE49-F238E27FC236}">
                <a16:creationId xmlns:a16="http://schemas.microsoft.com/office/drawing/2014/main" id="{1F4CA31F-FEB7-AEF4-B10E-1A16D73806A7}"/>
              </a:ext>
            </a:extLst>
          </p:cNvPr>
          <p:cNvCxnSpPr>
            <a:cxnSpLocks/>
          </p:cNvCxnSpPr>
          <p:nvPr/>
        </p:nvCxnSpPr>
        <p:spPr>
          <a:xfrm flipV="1">
            <a:off x="3460955" y="2991770"/>
            <a:ext cx="0" cy="3025572"/>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Rechte verbindingslijn 65">
            <a:extLst>
              <a:ext uri="{FF2B5EF4-FFF2-40B4-BE49-F238E27FC236}">
                <a16:creationId xmlns:a16="http://schemas.microsoft.com/office/drawing/2014/main" id="{3AC9AE08-3143-9861-7515-2CE1EE7EB587}"/>
              </a:ext>
            </a:extLst>
          </p:cNvPr>
          <p:cNvCxnSpPr>
            <a:cxnSpLocks/>
            <a:endCxn id="49" idx="3"/>
          </p:cNvCxnSpPr>
          <p:nvPr/>
        </p:nvCxnSpPr>
        <p:spPr>
          <a:xfrm flipH="1">
            <a:off x="2921000" y="6004720"/>
            <a:ext cx="539955" cy="0"/>
          </a:xfrm>
          <a:prstGeom prst="line">
            <a:avLst/>
          </a:prstGeom>
        </p:spPr>
        <p:style>
          <a:lnRef idx="2">
            <a:schemeClr val="accent1"/>
          </a:lnRef>
          <a:fillRef idx="0">
            <a:schemeClr val="accent1"/>
          </a:fillRef>
          <a:effectRef idx="1">
            <a:schemeClr val="accent1"/>
          </a:effectRef>
          <a:fontRef idx="minor">
            <a:schemeClr val="tx1"/>
          </a:fontRef>
        </p:style>
      </p:cxnSp>
      <p:sp>
        <p:nvSpPr>
          <p:cNvPr id="69" name="Tekstvak 68">
            <a:extLst>
              <a:ext uri="{FF2B5EF4-FFF2-40B4-BE49-F238E27FC236}">
                <a16:creationId xmlns:a16="http://schemas.microsoft.com/office/drawing/2014/main" id="{918AACF1-3B24-DA86-F12D-78605396F127}"/>
              </a:ext>
            </a:extLst>
          </p:cNvPr>
          <p:cNvSpPr txBox="1"/>
          <p:nvPr/>
        </p:nvSpPr>
        <p:spPr>
          <a:xfrm>
            <a:off x="3640388" y="3178792"/>
            <a:ext cx="5434779" cy="3139321"/>
          </a:xfrm>
          <a:prstGeom prst="rect">
            <a:avLst/>
          </a:prstGeom>
          <a:noFill/>
        </p:spPr>
        <p:txBody>
          <a:bodyPr wrap="square" rtlCol="0">
            <a:spAutoFit/>
          </a:bodyPr>
          <a:lstStyle/>
          <a:p>
            <a:r>
              <a:rPr lang="nl-NL" dirty="0"/>
              <a:t>Er wordt bij een relatie naar een gerelateerd object meestal niet rechtstreeks naar een Versie verwezen, maar meestal naar het algemene ID (versie-onafhankelijk, voor alle versies gelijk) van het gegevensobject. </a:t>
            </a:r>
          </a:p>
          <a:p>
            <a:endParaRPr lang="nl-NL" dirty="0"/>
          </a:p>
          <a:p>
            <a:r>
              <a:rPr lang="nl-NL" dirty="0"/>
              <a:t>Dit is een gangbaar patroon bij administraties en gegevensuitwisselingen die tijdslijnen en versies ondersteunen. Hiervoor wordt meestal een generieke aanpak gehanteerd, die los staat van de gegevens over de </a:t>
            </a:r>
            <a:r>
              <a:rPr lang="nl-NL" dirty="0" err="1"/>
              <a:t>Íd’s</a:t>
            </a:r>
            <a:r>
              <a:rPr lang="nl-NL" dirty="0"/>
              <a:t> van domeinobjecten. </a:t>
            </a:r>
          </a:p>
        </p:txBody>
      </p:sp>
    </p:spTree>
    <p:extLst>
      <p:ext uri="{BB962C8B-B14F-4D97-AF65-F5344CB8AC3E}">
        <p14:creationId xmlns:p14="http://schemas.microsoft.com/office/powerpoint/2010/main" val="1917778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73D39B-D160-318C-9407-D9BD88E6A16E}"/>
              </a:ext>
            </a:extLst>
          </p:cNvPr>
          <p:cNvSpPr>
            <a:spLocks noGrp="1"/>
          </p:cNvSpPr>
          <p:nvPr>
            <p:ph type="title"/>
          </p:nvPr>
        </p:nvSpPr>
        <p:spPr/>
        <p:txBody>
          <a:bodyPr/>
          <a:lstStyle/>
          <a:p>
            <a:r>
              <a:rPr lang="nl-NL" dirty="0"/>
              <a:t>Relaties tussen </a:t>
            </a:r>
            <a:r>
              <a:rPr lang="nl-NL" dirty="0" err="1"/>
              <a:t>Id’s</a:t>
            </a:r>
            <a:endParaRPr lang="nl-NL" dirty="0"/>
          </a:p>
        </p:txBody>
      </p:sp>
      <p:sp>
        <p:nvSpPr>
          <p:cNvPr id="5" name="Tijdelijke aanduiding voor inhoud 4">
            <a:extLst>
              <a:ext uri="{FF2B5EF4-FFF2-40B4-BE49-F238E27FC236}">
                <a16:creationId xmlns:a16="http://schemas.microsoft.com/office/drawing/2014/main" id="{8CF15E09-8E3B-4D5F-C8CB-535DB37D0630}"/>
              </a:ext>
            </a:extLst>
          </p:cNvPr>
          <p:cNvSpPr>
            <a:spLocks noGrp="1"/>
          </p:cNvSpPr>
          <p:nvPr>
            <p:ph idx="1"/>
          </p:nvPr>
        </p:nvSpPr>
        <p:spPr>
          <a:xfrm>
            <a:off x="838200" y="1504335"/>
            <a:ext cx="7411065" cy="4672628"/>
          </a:xfrm>
        </p:spPr>
        <p:txBody>
          <a:bodyPr>
            <a:normAutofit/>
          </a:bodyPr>
          <a:lstStyle/>
          <a:p>
            <a:pPr marL="0" indent="0">
              <a:buNone/>
            </a:pPr>
            <a:r>
              <a:rPr lang="nl-NL" sz="1800" dirty="0"/>
              <a:t>De </a:t>
            </a:r>
            <a:r>
              <a:rPr lang="nl-NL" sz="1800" dirty="0" err="1"/>
              <a:t>Id</a:t>
            </a:r>
            <a:r>
              <a:rPr lang="nl-NL" sz="1800" dirty="0"/>
              <a:t> in een gegevensobject die over versies gaat, heeft een sterke relatie met de </a:t>
            </a:r>
            <a:r>
              <a:rPr lang="nl-NL" sz="1800" dirty="0" err="1"/>
              <a:t>Id</a:t>
            </a:r>
            <a:r>
              <a:rPr lang="nl-NL" sz="1800" dirty="0"/>
              <a:t> in een gegevensobject die voor alle versies gelijk is. </a:t>
            </a:r>
          </a:p>
          <a:p>
            <a:pPr marL="0" indent="0">
              <a:buNone/>
            </a:pPr>
            <a:r>
              <a:rPr lang="nl-NL" sz="1800" dirty="0"/>
              <a:t>De </a:t>
            </a:r>
            <a:r>
              <a:rPr lang="nl-NL" sz="1800" dirty="0" err="1"/>
              <a:t>Id</a:t>
            </a:r>
            <a:r>
              <a:rPr lang="nl-NL" sz="1800" dirty="0"/>
              <a:t> in een gegevensobject die voor alle versies gelijk is, is altijd gerelateerd aan 1 </a:t>
            </a:r>
            <a:r>
              <a:rPr lang="nl-NL" sz="1800" dirty="0" err="1"/>
              <a:t>Id</a:t>
            </a:r>
            <a:r>
              <a:rPr lang="nl-NL" sz="1800" dirty="0"/>
              <a:t> van een domeinobject. Deze laatste </a:t>
            </a:r>
            <a:r>
              <a:rPr lang="nl-NL" sz="1800" dirty="0" err="1"/>
              <a:t>Id</a:t>
            </a:r>
            <a:r>
              <a:rPr lang="nl-NL" sz="1800" dirty="0"/>
              <a:t> is een </a:t>
            </a:r>
            <a:r>
              <a:rPr lang="nl-NL" sz="1800" dirty="0" err="1"/>
              <a:t>Id</a:t>
            </a:r>
            <a:r>
              <a:rPr lang="nl-NL" sz="1800" dirty="0"/>
              <a:t> van het (domein) objecttype die het hoofdonderwerp is van het </a:t>
            </a:r>
            <a:r>
              <a:rPr lang="nl-NL" sz="1800" dirty="0" err="1"/>
              <a:t>gegevensobjectype</a:t>
            </a:r>
            <a:r>
              <a:rPr lang="nl-NL" sz="1800" dirty="0"/>
              <a:t>. </a:t>
            </a:r>
          </a:p>
          <a:p>
            <a:pPr marL="0" indent="0">
              <a:buNone/>
            </a:pPr>
            <a:r>
              <a:rPr lang="nl-NL" sz="1800" dirty="0"/>
              <a:t>Er zijn gegevenstypen in een </a:t>
            </a:r>
            <a:r>
              <a:rPr lang="nl-NL" sz="1800" dirty="0" err="1"/>
              <a:t>gegevensobjecttype</a:t>
            </a:r>
            <a:r>
              <a:rPr lang="nl-NL" sz="1800" dirty="0"/>
              <a:t> die iets te maken hebben met een (domein) objecttype die niet het hoofdonderwerp is van het </a:t>
            </a:r>
            <a:r>
              <a:rPr lang="nl-NL" sz="1800" dirty="0" err="1"/>
              <a:t>gegevensobjecttype</a:t>
            </a:r>
            <a:r>
              <a:rPr lang="nl-NL" sz="1800" dirty="0"/>
              <a:t>, bv. de woonplaatscode van de woonplaats van een werknemer. </a:t>
            </a:r>
          </a:p>
          <a:p>
            <a:pPr marL="0" indent="0">
              <a:buNone/>
            </a:pPr>
            <a:r>
              <a:rPr lang="nl-NL" sz="1800" dirty="0"/>
              <a:t>Merk op: deze relaties tussen </a:t>
            </a:r>
            <a:r>
              <a:rPr lang="nl-NL" sz="1800" dirty="0" err="1"/>
              <a:t>Id’s</a:t>
            </a:r>
            <a:r>
              <a:rPr lang="nl-NL" sz="1800" dirty="0"/>
              <a:t> gaan niet over relaties tussen gegevenstypen, maar over relaties tussen </a:t>
            </a:r>
            <a:r>
              <a:rPr lang="nl-NL" sz="1800" dirty="0" err="1"/>
              <a:t>Id’s</a:t>
            </a:r>
            <a:r>
              <a:rPr lang="nl-NL" sz="1800" dirty="0"/>
              <a:t>! Een </a:t>
            </a:r>
            <a:r>
              <a:rPr lang="nl-NL" sz="1800" dirty="0" err="1"/>
              <a:t>Id</a:t>
            </a:r>
            <a:r>
              <a:rPr lang="nl-NL" sz="1800" dirty="0"/>
              <a:t> is een metagegeven van een domein object die we modelleren bij een (domein) objecttype of een metagegeven van een gegevensobject die we modelleren bij een </a:t>
            </a:r>
            <a:r>
              <a:rPr lang="nl-NL" sz="1800" dirty="0" err="1"/>
              <a:t>gegevensobjecttype</a:t>
            </a:r>
            <a:r>
              <a:rPr lang="nl-NL" sz="1800" dirty="0"/>
              <a:t>. </a:t>
            </a:r>
          </a:p>
          <a:p>
            <a:pPr marL="0" indent="0">
              <a:buNone/>
            </a:pPr>
            <a:endParaRPr lang="nl-NL" sz="1800" dirty="0"/>
          </a:p>
        </p:txBody>
      </p:sp>
      <p:sp>
        <p:nvSpPr>
          <p:cNvPr id="6" name="Rechthoek 5">
            <a:extLst>
              <a:ext uri="{FF2B5EF4-FFF2-40B4-BE49-F238E27FC236}">
                <a16:creationId xmlns:a16="http://schemas.microsoft.com/office/drawing/2014/main" id="{CD470C4A-278F-F427-4B0E-44957A7362A9}"/>
              </a:ext>
            </a:extLst>
          </p:cNvPr>
          <p:cNvSpPr/>
          <p:nvPr/>
        </p:nvSpPr>
        <p:spPr>
          <a:xfrm>
            <a:off x="9472983" y="2774663"/>
            <a:ext cx="2082800" cy="457200"/>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Gegevensobjecttype</a:t>
            </a:r>
            <a:endParaRPr lang="nl-NL" sz="1600" dirty="0"/>
          </a:p>
        </p:txBody>
      </p:sp>
      <p:sp>
        <p:nvSpPr>
          <p:cNvPr id="7" name="Rechthoek 6">
            <a:extLst>
              <a:ext uri="{FF2B5EF4-FFF2-40B4-BE49-F238E27FC236}">
                <a16:creationId xmlns:a16="http://schemas.microsoft.com/office/drawing/2014/main" id="{2C4EFFA4-D928-442B-2008-4963321A895B}"/>
              </a:ext>
            </a:extLst>
          </p:cNvPr>
          <p:cNvSpPr/>
          <p:nvPr/>
        </p:nvSpPr>
        <p:spPr>
          <a:xfrm>
            <a:off x="9472983" y="3276312"/>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1</a:t>
            </a:r>
          </a:p>
        </p:txBody>
      </p:sp>
      <p:sp>
        <p:nvSpPr>
          <p:cNvPr id="8" name="Rechthoek 7">
            <a:extLst>
              <a:ext uri="{FF2B5EF4-FFF2-40B4-BE49-F238E27FC236}">
                <a16:creationId xmlns:a16="http://schemas.microsoft.com/office/drawing/2014/main" id="{A2B6D22A-52AA-7A1F-CB6F-6FD00627D320}"/>
              </a:ext>
            </a:extLst>
          </p:cNvPr>
          <p:cNvSpPr/>
          <p:nvPr/>
        </p:nvSpPr>
        <p:spPr>
          <a:xfrm>
            <a:off x="9472983" y="4342415"/>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versienummer </a:t>
            </a:r>
          </a:p>
        </p:txBody>
      </p:sp>
      <p:sp>
        <p:nvSpPr>
          <p:cNvPr id="9" name="Rechthoek 8">
            <a:extLst>
              <a:ext uri="{FF2B5EF4-FFF2-40B4-BE49-F238E27FC236}">
                <a16:creationId xmlns:a16="http://schemas.microsoft.com/office/drawing/2014/main" id="{9309A18E-A7DD-173A-EDF2-571E9AD20F31}"/>
              </a:ext>
            </a:extLst>
          </p:cNvPr>
          <p:cNvSpPr/>
          <p:nvPr/>
        </p:nvSpPr>
        <p:spPr>
          <a:xfrm>
            <a:off x="9472983" y="498896"/>
            <a:ext cx="2082800" cy="457200"/>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Objecttype</a:t>
            </a:r>
          </a:p>
        </p:txBody>
      </p:sp>
      <p:sp>
        <p:nvSpPr>
          <p:cNvPr id="10" name="Rechthoek 9">
            <a:extLst>
              <a:ext uri="{FF2B5EF4-FFF2-40B4-BE49-F238E27FC236}">
                <a16:creationId xmlns:a16="http://schemas.microsoft.com/office/drawing/2014/main" id="{5B2A2E1D-DC55-AD38-4E9F-080605F70D4F}"/>
              </a:ext>
            </a:extLst>
          </p:cNvPr>
          <p:cNvSpPr/>
          <p:nvPr/>
        </p:nvSpPr>
        <p:spPr>
          <a:xfrm>
            <a:off x="9472983" y="1738249"/>
            <a:ext cx="2082800" cy="572180"/>
          </a:xfrm>
          <a:prstGeom prst="rect">
            <a:avLst/>
          </a:prstGeom>
          <a:solidFill>
            <a:srgbClr val="00B0F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Identificator</a:t>
            </a:r>
            <a:r>
              <a:rPr lang="nl-NL" sz="1600" dirty="0"/>
              <a:t> domeinobject</a:t>
            </a:r>
          </a:p>
        </p:txBody>
      </p:sp>
      <p:sp>
        <p:nvSpPr>
          <p:cNvPr id="11" name="Rechthoek 10">
            <a:extLst>
              <a:ext uri="{FF2B5EF4-FFF2-40B4-BE49-F238E27FC236}">
                <a16:creationId xmlns:a16="http://schemas.microsoft.com/office/drawing/2014/main" id="{79BD73A7-33D8-402D-4EFC-59F56D6D1C31}"/>
              </a:ext>
            </a:extLst>
          </p:cNvPr>
          <p:cNvSpPr/>
          <p:nvPr/>
        </p:nvSpPr>
        <p:spPr>
          <a:xfrm>
            <a:off x="9472983" y="1032939"/>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Attribuuttype 1</a:t>
            </a:r>
          </a:p>
        </p:txBody>
      </p:sp>
      <p:sp>
        <p:nvSpPr>
          <p:cNvPr id="12" name="Rechthoek 11">
            <a:extLst>
              <a:ext uri="{FF2B5EF4-FFF2-40B4-BE49-F238E27FC236}">
                <a16:creationId xmlns:a16="http://schemas.microsoft.com/office/drawing/2014/main" id="{A72E93A9-2E02-91D7-43E1-02F510F44CC7}"/>
              </a:ext>
            </a:extLst>
          </p:cNvPr>
          <p:cNvSpPr/>
          <p:nvPr/>
        </p:nvSpPr>
        <p:spPr>
          <a:xfrm>
            <a:off x="9487734" y="1381983"/>
            <a:ext cx="2082800" cy="2945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Attribuuttype 2</a:t>
            </a:r>
          </a:p>
        </p:txBody>
      </p:sp>
      <p:cxnSp>
        <p:nvCxnSpPr>
          <p:cNvPr id="13" name="Rechte verbindingslijn 12">
            <a:extLst>
              <a:ext uri="{FF2B5EF4-FFF2-40B4-BE49-F238E27FC236}">
                <a16:creationId xmlns:a16="http://schemas.microsoft.com/office/drawing/2014/main" id="{93F4152F-1FC4-996A-FD7F-9B0DFFBC0AB2}"/>
              </a:ext>
            </a:extLst>
          </p:cNvPr>
          <p:cNvCxnSpPr>
            <a:cxnSpLocks/>
          </p:cNvCxnSpPr>
          <p:nvPr/>
        </p:nvCxnSpPr>
        <p:spPr>
          <a:xfrm flipV="1">
            <a:off x="11922032" y="1180224"/>
            <a:ext cx="3" cy="8441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Rechte verbindingslijn 13">
            <a:extLst>
              <a:ext uri="{FF2B5EF4-FFF2-40B4-BE49-F238E27FC236}">
                <a16:creationId xmlns:a16="http://schemas.microsoft.com/office/drawing/2014/main" id="{5FFE4A63-E3D0-3504-65C2-586FF1AA89AD}"/>
              </a:ext>
            </a:extLst>
          </p:cNvPr>
          <p:cNvCxnSpPr>
            <a:cxnSpLocks/>
            <a:stCxn id="10" idx="3"/>
          </p:cNvCxnSpPr>
          <p:nvPr/>
        </p:nvCxnSpPr>
        <p:spPr>
          <a:xfrm>
            <a:off x="11555783" y="2024339"/>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Rechte verbindingslijn met pijl 14">
            <a:extLst>
              <a:ext uri="{FF2B5EF4-FFF2-40B4-BE49-F238E27FC236}">
                <a16:creationId xmlns:a16="http://schemas.microsoft.com/office/drawing/2014/main" id="{F456FE0F-61AB-994C-1684-4151D6E2088D}"/>
              </a:ext>
            </a:extLst>
          </p:cNvPr>
          <p:cNvCxnSpPr>
            <a:cxnSpLocks/>
            <a:endCxn id="11" idx="3"/>
          </p:cNvCxnSpPr>
          <p:nvPr/>
        </p:nvCxnSpPr>
        <p:spPr>
          <a:xfrm flipH="1">
            <a:off x="11555783" y="1180224"/>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6" name="Rechte verbindingslijn met pijl 15">
            <a:extLst>
              <a:ext uri="{FF2B5EF4-FFF2-40B4-BE49-F238E27FC236}">
                <a16:creationId xmlns:a16="http://schemas.microsoft.com/office/drawing/2014/main" id="{CEFB9FF6-18D0-2AD9-FB7E-05C5A05BB0C2}"/>
              </a:ext>
            </a:extLst>
          </p:cNvPr>
          <p:cNvCxnSpPr>
            <a:cxnSpLocks/>
          </p:cNvCxnSpPr>
          <p:nvPr/>
        </p:nvCxnSpPr>
        <p:spPr>
          <a:xfrm flipH="1">
            <a:off x="11555783" y="152160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Rechte verbindingslijn met pijl 16">
            <a:extLst>
              <a:ext uri="{FF2B5EF4-FFF2-40B4-BE49-F238E27FC236}">
                <a16:creationId xmlns:a16="http://schemas.microsoft.com/office/drawing/2014/main" id="{1D36F8A8-F553-AF34-CD74-E43E1179BEA8}"/>
              </a:ext>
            </a:extLst>
          </p:cNvPr>
          <p:cNvCxnSpPr>
            <a:cxnSpLocks/>
          </p:cNvCxnSpPr>
          <p:nvPr/>
        </p:nvCxnSpPr>
        <p:spPr>
          <a:xfrm flipV="1">
            <a:off x="9117490" y="784983"/>
            <a:ext cx="370241" cy="6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Rechte verbindingslijn 17">
            <a:extLst>
              <a:ext uri="{FF2B5EF4-FFF2-40B4-BE49-F238E27FC236}">
                <a16:creationId xmlns:a16="http://schemas.microsoft.com/office/drawing/2014/main" id="{7447FD69-AEE5-1E1B-5CC6-0BB4D1117A77}"/>
              </a:ext>
            </a:extLst>
          </p:cNvPr>
          <p:cNvCxnSpPr/>
          <p:nvPr/>
        </p:nvCxnSpPr>
        <p:spPr>
          <a:xfrm>
            <a:off x="9102453" y="791333"/>
            <a:ext cx="0" cy="2728615"/>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Rechte verbindingslijn 18">
            <a:extLst>
              <a:ext uri="{FF2B5EF4-FFF2-40B4-BE49-F238E27FC236}">
                <a16:creationId xmlns:a16="http://schemas.microsoft.com/office/drawing/2014/main" id="{11C6D30D-64D1-A349-350A-A5E3422FE6D8}"/>
              </a:ext>
            </a:extLst>
          </p:cNvPr>
          <p:cNvCxnSpPr>
            <a:cxnSpLocks/>
          </p:cNvCxnSpPr>
          <p:nvPr/>
        </p:nvCxnSpPr>
        <p:spPr>
          <a:xfrm>
            <a:off x="9117490" y="3018503"/>
            <a:ext cx="370241"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Tekstvak 19">
            <a:extLst>
              <a:ext uri="{FF2B5EF4-FFF2-40B4-BE49-F238E27FC236}">
                <a16:creationId xmlns:a16="http://schemas.microsoft.com/office/drawing/2014/main" id="{3B46EBEF-50B2-36D2-77F7-12D33CE4FC5E}"/>
              </a:ext>
            </a:extLst>
          </p:cNvPr>
          <p:cNvSpPr txBox="1"/>
          <p:nvPr/>
        </p:nvSpPr>
        <p:spPr>
          <a:xfrm rot="16200000">
            <a:off x="7961090" y="925002"/>
            <a:ext cx="1829340" cy="369332"/>
          </a:xfrm>
          <a:prstGeom prst="rect">
            <a:avLst/>
          </a:prstGeom>
          <a:noFill/>
        </p:spPr>
        <p:txBody>
          <a:bodyPr wrap="square" rtlCol="0">
            <a:spAutoFit/>
          </a:bodyPr>
          <a:lstStyle/>
          <a:p>
            <a:r>
              <a:rPr lang="nl-NL" dirty="0">
                <a:solidFill>
                  <a:schemeClr val="accent3">
                    <a:lumMod val="60000"/>
                    <a:lumOff val="40000"/>
                  </a:schemeClr>
                </a:solidFill>
              </a:rPr>
              <a:t>hoofdonderwerp</a:t>
            </a:r>
          </a:p>
        </p:txBody>
      </p:sp>
      <p:sp>
        <p:nvSpPr>
          <p:cNvPr id="21" name="Rechthoek 20">
            <a:extLst>
              <a:ext uri="{FF2B5EF4-FFF2-40B4-BE49-F238E27FC236}">
                <a16:creationId xmlns:a16="http://schemas.microsoft.com/office/drawing/2014/main" id="{F203406D-8C1D-B76F-F12B-8995BB03E0B0}"/>
              </a:ext>
            </a:extLst>
          </p:cNvPr>
          <p:cNvSpPr/>
          <p:nvPr/>
        </p:nvSpPr>
        <p:spPr>
          <a:xfrm>
            <a:off x="9472983" y="3627467"/>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2</a:t>
            </a:r>
          </a:p>
        </p:txBody>
      </p:sp>
      <p:sp>
        <p:nvSpPr>
          <p:cNvPr id="22" name="Rechthoek 21">
            <a:extLst>
              <a:ext uri="{FF2B5EF4-FFF2-40B4-BE49-F238E27FC236}">
                <a16:creationId xmlns:a16="http://schemas.microsoft.com/office/drawing/2014/main" id="{69A43A0A-C7B5-0C18-2624-A19C5B552976}"/>
              </a:ext>
            </a:extLst>
          </p:cNvPr>
          <p:cNvSpPr/>
          <p:nvPr/>
        </p:nvSpPr>
        <p:spPr>
          <a:xfrm>
            <a:off x="9472983" y="3978622"/>
            <a:ext cx="2082800" cy="278345"/>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gegevenstype 3</a:t>
            </a:r>
          </a:p>
        </p:txBody>
      </p:sp>
      <p:sp>
        <p:nvSpPr>
          <p:cNvPr id="23" name="Rechthoek 22">
            <a:extLst>
              <a:ext uri="{FF2B5EF4-FFF2-40B4-BE49-F238E27FC236}">
                <a16:creationId xmlns:a16="http://schemas.microsoft.com/office/drawing/2014/main" id="{540C700A-6158-398F-7C6C-9097F0EF5CA2}"/>
              </a:ext>
            </a:extLst>
          </p:cNvPr>
          <p:cNvSpPr/>
          <p:nvPr/>
        </p:nvSpPr>
        <p:spPr>
          <a:xfrm>
            <a:off x="9472983" y="4705196"/>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cxnSp>
        <p:nvCxnSpPr>
          <p:cNvPr id="24" name="Rechte verbindingslijn 23">
            <a:extLst>
              <a:ext uri="{FF2B5EF4-FFF2-40B4-BE49-F238E27FC236}">
                <a16:creationId xmlns:a16="http://schemas.microsoft.com/office/drawing/2014/main" id="{9D792A82-590F-4FCB-2036-D938FA33BE26}"/>
              </a:ext>
            </a:extLst>
          </p:cNvPr>
          <p:cNvCxnSpPr>
            <a:cxnSpLocks/>
          </p:cNvCxnSpPr>
          <p:nvPr/>
        </p:nvCxnSpPr>
        <p:spPr>
          <a:xfrm>
            <a:off x="11555783" y="3415484"/>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5" name="Rechte verbindingslijn 24">
            <a:extLst>
              <a:ext uri="{FF2B5EF4-FFF2-40B4-BE49-F238E27FC236}">
                <a16:creationId xmlns:a16="http://schemas.microsoft.com/office/drawing/2014/main" id="{B49CA883-4A2F-470D-FE15-D2D1C403CAA6}"/>
              </a:ext>
            </a:extLst>
          </p:cNvPr>
          <p:cNvCxnSpPr>
            <a:cxnSpLocks/>
            <a:endCxn id="11" idx="2"/>
          </p:cNvCxnSpPr>
          <p:nvPr/>
        </p:nvCxnSpPr>
        <p:spPr>
          <a:xfrm flipH="1" flipV="1">
            <a:off x="10514383" y="1327508"/>
            <a:ext cx="1293520" cy="2584264"/>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6" name="Rechte verbindingslijn 25">
            <a:extLst>
              <a:ext uri="{FF2B5EF4-FFF2-40B4-BE49-F238E27FC236}">
                <a16:creationId xmlns:a16="http://schemas.microsoft.com/office/drawing/2014/main" id="{F3333473-C7F5-7214-B020-75A945066522}"/>
              </a:ext>
            </a:extLst>
          </p:cNvPr>
          <p:cNvCxnSpPr>
            <a:cxnSpLocks/>
            <a:endCxn id="12" idx="2"/>
          </p:cNvCxnSpPr>
          <p:nvPr/>
        </p:nvCxnSpPr>
        <p:spPr>
          <a:xfrm flipH="1" flipV="1">
            <a:off x="10529134" y="1676552"/>
            <a:ext cx="1278769" cy="2586374"/>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7" name="Rechte verbindingslijn 26">
            <a:extLst>
              <a:ext uri="{FF2B5EF4-FFF2-40B4-BE49-F238E27FC236}">
                <a16:creationId xmlns:a16="http://schemas.microsoft.com/office/drawing/2014/main" id="{C97C48C0-E36D-D7ED-D1B3-F153AB50DE21}"/>
              </a:ext>
            </a:extLst>
          </p:cNvPr>
          <p:cNvCxnSpPr>
            <a:cxnSpLocks/>
          </p:cNvCxnSpPr>
          <p:nvPr/>
        </p:nvCxnSpPr>
        <p:spPr>
          <a:xfrm>
            <a:off x="11555783" y="3761481"/>
            <a:ext cx="252120" cy="0"/>
          </a:xfrm>
          <a:prstGeom prst="line">
            <a:avLst/>
          </a:prstGeom>
          <a:ln>
            <a:solidFill>
              <a:schemeClr val="accent5"/>
            </a:solidFill>
          </a:ln>
        </p:spPr>
        <p:style>
          <a:lnRef idx="2">
            <a:schemeClr val="accent1"/>
          </a:lnRef>
          <a:fillRef idx="0">
            <a:schemeClr val="accent1"/>
          </a:fillRef>
          <a:effectRef idx="1">
            <a:schemeClr val="accent1"/>
          </a:effectRef>
          <a:fontRef idx="minor">
            <a:schemeClr val="tx1"/>
          </a:fontRef>
        </p:style>
      </p:cxnSp>
      <p:cxnSp>
        <p:nvCxnSpPr>
          <p:cNvPr id="28" name="Rechte verbindingslijn 27">
            <a:extLst>
              <a:ext uri="{FF2B5EF4-FFF2-40B4-BE49-F238E27FC236}">
                <a16:creationId xmlns:a16="http://schemas.microsoft.com/office/drawing/2014/main" id="{BF964582-FABA-2BB3-FEE9-2827C33CEFD3}"/>
              </a:ext>
            </a:extLst>
          </p:cNvPr>
          <p:cNvCxnSpPr>
            <a:cxnSpLocks/>
          </p:cNvCxnSpPr>
          <p:nvPr/>
        </p:nvCxnSpPr>
        <p:spPr>
          <a:xfrm flipV="1">
            <a:off x="9117490" y="4120148"/>
            <a:ext cx="0" cy="871793"/>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Rechte verbindingslijn 28">
            <a:extLst>
              <a:ext uri="{FF2B5EF4-FFF2-40B4-BE49-F238E27FC236}">
                <a16:creationId xmlns:a16="http://schemas.microsoft.com/office/drawing/2014/main" id="{28916690-C75A-0F85-8C79-F8098465EE05}"/>
              </a:ext>
            </a:extLst>
          </p:cNvPr>
          <p:cNvCxnSpPr>
            <a:cxnSpLocks/>
          </p:cNvCxnSpPr>
          <p:nvPr/>
        </p:nvCxnSpPr>
        <p:spPr>
          <a:xfrm>
            <a:off x="9117490" y="4991941"/>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Rechte verbindingslijn met pijl 29">
            <a:extLst>
              <a:ext uri="{FF2B5EF4-FFF2-40B4-BE49-F238E27FC236}">
                <a16:creationId xmlns:a16="http://schemas.microsoft.com/office/drawing/2014/main" id="{15754FD8-E91E-274F-410A-2C927742437E}"/>
              </a:ext>
            </a:extLst>
          </p:cNvPr>
          <p:cNvCxnSpPr>
            <a:cxnSpLocks/>
            <a:endCxn id="22" idx="1"/>
          </p:cNvCxnSpPr>
          <p:nvPr/>
        </p:nvCxnSpPr>
        <p:spPr>
          <a:xfrm>
            <a:off x="9106732" y="4106824"/>
            <a:ext cx="366251" cy="1097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1" name="Rechthoek 30">
            <a:extLst>
              <a:ext uri="{FF2B5EF4-FFF2-40B4-BE49-F238E27FC236}">
                <a16:creationId xmlns:a16="http://schemas.microsoft.com/office/drawing/2014/main" id="{AB8AB234-11BA-754F-5504-5578ECA68CE0}"/>
              </a:ext>
            </a:extLst>
          </p:cNvPr>
          <p:cNvSpPr/>
          <p:nvPr/>
        </p:nvSpPr>
        <p:spPr>
          <a:xfrm>
            <a:off x="9472982" y="5363123"/>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van gegevensobject</a:t>
            </a:r>
          </a:p>
        </p:txBody>
      </p:sp>
      <p:cxnSp>
        <p:nvCxnSpPr>
          <p:cNvPr id="32" name="Rechte verbindingslijn 31">
            <a:extLst>
              <a:ext uri="{FF2B5EF4-FFF2-40B4-BE49-F238E27FC236}">
                <a16:creationId xmlns:a16="http://schemas.microsoft.com/office/drawing/2014/main" id="{BCB37AB6-5ECF-ACF8-DCDF-CC01343F3D60}"/>
              </a:ext>
            </a:extLst>
          </p:cNvPr>
          <p:cNvCxnSpPr>
            <a:cxnSpLocks/>
          </p:cNvCxnSpPr>
          <p:nvPr/>
        </p:nvCxnSpPr>
        <p:spPr>
          <a:xfrm flipV="1">
            <a:off x="11922035" y="4106824"/>
            <a:ext cx="0" cy="153861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Rechte verbindingslijn 32">
            <a:extLst>
              <a:ext uri="{FF2B5EF4-FFF2-40B4-BE49-F238E27FC236}">
                <a16:creationId xmlns:a16="http://schemas.microsoft.com/office/drawing/2014/main" id="{C90E280F-8C48-6F2B-F9D9-567CECB662A6}"/>
              </a:ext>
            </a:extLst>
          </p:cNvPr>
          <p:cNvCxnSpPr>
            <a:cxnSpLocks/>
          </p:cNvCxnSpPr>
          <p:nvPr/>
        </p:nvCxnSpPr>
        <p:spPr>
          <a:xfrm>
            <a:off x="11555782" y="5645442"/>
            <a:ext cx="36625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Rechte verbindingslijn met pijl 33">
            <a:extLst>
              <a:ext uri="{FF2B5EF4-FFF2-40B4-BE49-F238E27FC236}">
                <a16:creationId xmlns:a16="http://schemas.microsoft.com/office/drawing/2014/main" id="{CE68F000-3C89-45B9-0F2E-9760D2E1B8F1}"/>
              </a:ext>
            </a:extLst>
          </p:cNvPr>
          <p:cNvCxnSpPr>
            <a:cxnSpLocks/>
          </p:cNvCxnSpPr>
          <p:nvPr/>
        </p:nvCxnSpPr>
        <p:spPr>
          <a:xfrm flipH="1">
            <a:off x="11555783" y="4106824"/>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5" name="Rechte verbindingslijn met pijl 34">
            <a:extLst>
              <a:ext uri="{FF2B5EF4-FFF2-40B4-BE49-F238E27FC236}">
                <a16:creationId xmlns:a16="http://schemas.microsoft.com/office/drawing/2014/main" id="{2F8A2807-E7CD-5E5A-5442-F6F157A598D8}"/>
              </a:ext>
            </a:extLst>
          </p:cNvPr>
          <p:cNvCxnSpPr>
            <a:cxnSpLocks/>
          </p:cNvCxnSpPr>
          <p:nvPr/>
        </p:nvCxnSpPr>
        <p:spPr>
          <a:xfrm flipH="1">
            <a:off x="11555783" y="4448200"/>
            <a:ext cx="36624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36" name="Rechte verbindingslijn 35">
            <a:extLst>
              <a:ext uri="{FF2B5EF4-FFF2-40B4-BE49-F238E27FC236}">
                <a16:creationId xmlns:a16="http://schemas.microsoft.com/office/drawing/2014/main" id="{89ED4D1F-8453-8AD1-44F9-EE0727416F36}"/>
              </a:ext>
            </a:extLst>
          </p:cNvPr>
          <p:cNvCxnSpPr>
            <a:cxnSpLocks/>
          </p:cNvCxnSpPr>
          <p:nvPr/>
        </p:nvCxnSpPr>
        <p:spPr>
          <a:xfrm flipV="1">
            <a:off x="8676058" y="2024338"/>
            <a:ext cx="0" cy="3154255"/>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5" name="Rechte verbindingslijn 44">
            <a:extLst>
              <a:ext uri="{FF2B5EF4-FFF2-40B4-BE49-F238E27FC236}">
                <a16:creationId xmlns:a16="http://schemas.microsoft.com/office/drawing/2014/main" id="{4CA3C83A-F4A7-A777-58CA-B184DF2E8A2B}"/>
              </a:ext>
            </a:extLst>
          </p:cNvPr>
          <p:cNvCxnSpPr>
            <a:cxnSpLocks/>
            <a:stCxn id="10" idx="1"/>
          </p:cNvCxnSpPr>
          <p:nvPr/>
        </p:nvCxnSpPr>
        <p:spPr>
          <a:xfrm flipH="1" flipV="1">
            <a:off x="8676058" y="2024338"/>
            <a:ext cx="796925" cy="1"/>
          </a:xfrm>
          <a:prstGeom prst="line">
            <a:avLst/>
          </a:prstGeom>
          <a:ln w="34925">
            <a:solidFill>
              <a:srgbClr val="FF0000"/>
            </a:solidFill>
            <a:headEnd type="stealth"/>
          </a:ln>
        </p:spPr>
        <p:style>
          <a:lnRef idx="2">
            <a:schemeClr val="accent1"/>
          </a:lnRef>
          <a:fillRef idx="0">
            <a:schemeClr val="accent1"/>
          </a:fillRef>
          <a:effectRef idx="1">
            <a:schemeClr val="accent1"/>
          </a:effectRef>
          <a:fontRef idx="minor">
            <a:schemeClr val="tx1"/>
          </a:fontRef>
        </p:style>
      </p:cxnSp>
      <p:cxnSp>
        <p:nvCxnSpPr>
          <p:cNvPr id="46" name="Rechte verbindingslijn 45">
            <a:extLst>
              <a:ext uri="{FF2B5EF4-FFF2-40B4-BE49-F238E27FC236}">
                <a16:creationId xmlns:a16="http://schemas.microsoft.com/office/drawing/2014/main" id="{148183B5-4B31-3EB2-8389-AA8957F577C5}"/>
              </a:ext>
            </a:extLst>
          </p:cNvPr>
          <p:cNvCxnSpPr>
            <a:cxnSpLocks/>
          </p:cNvCxnSpPr>
          <p:nvPr/>
        </p:nvCxnSpPr>
        <p:spPr>
          <a:xfrm flipH="1">
            <a:off x="8676058" y="5178593"/>
            <a:ext cx="796924" cy="0"/>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48" name="Rechte verbindingslijn 47">
            <a:extLst>
              <a:ext uri="{FF2B5EF4-FFF2-40B4-BE49-F238E27FC236}">
                <a16:creationId xmlns:a16="http://schemas.microsoft.com/office/drawing/2014/main" id="{A479BD89-6CD8-C1AF-AC92-3C8DFF63D183}"/>
              </a:ext>
            </a:extLst>
          </p:cNvPr>
          <p:cNvCxnSpPr>
            <a:cxnSpLocks/>
          </p:cNvCxnSpPr>
          <p:nvPr/>
        </p:nvCxnSpPr>
        <p:spPr>
          <a:xfrm flipV="1">
            <a:off x="11788702" y="4998342"/>
            <a:ext cx="0" cy="524495"/>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65" name="Rechte verbindingslijn 64">
            <a:extLst>
              <a:ext uri="{FF2B5EF4-FFF2-40B4-BE49-F238E27FC236}">
                <a16:creationId xmlns:a16="http://schemas.microsoft.com/office/drawing/2014/main" id="{BE36128C-DFE7-F6DD-2CDC-7E5DCD862480}"/>
              </a:ext>
            </a:extLst>
          </p:cNvPr>
          <p:cNvCxnSpPr>
            <a:cxnSpLocks/>
            <a:endCxn id="23" idx="3"/>
          </p:cNvCxnSpPr>
          <p:nvPr/>
        </p:nvCxnSpPr>
        <p:spPr>
          <a:xfrm flipH="1" flipV="1">
            <a:off x="11555783" y="4991942"/>
            <a:ext cx="252120" cy="6400"/>
          </a:xfrm>
          <a:prstGeom prst="line">
            <a:avLst/>
          </a:prstGeom>
          <a:ln w="34925">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cxnSp>
        <p:nvCxnSpPr>
          <p:cNvPr id="69" name="Rechte verbindingslijn 68">
            <a:extLst>
              <a:ext uri="{FF2B5EF4-FFF2-40B4-BE49-F238E27FC236}">
                <a16:creationId xmlns:a16="http://schemas.microsoft.com/office/drawing/2014/main" id="{55DB8636-062F-6284-4352-CA0EF0FF93CF}"/>
              </a:ext>
            </a:extLst>
          </p:cNvPr>
          <p:cNvCxnSpPr>
            <a:cxnSpLocks/>
          </p:cNvCxnSpPr>
          <p:nvPr/>
        </p:nvCxnSpPr>
        <p:spPr>
          <a:xfrm flipH="1" flipV="1">
            <a:off x="11548666" y="5499346"/>
            <a:ext cx="252120" cy="6400"/>
          </a:xfrm>
          <a:prstGeom prst="line">
            <a:avLst/>
          </a:prstGeom>
          <a:ln w="34925">
            <a:solidFill>
              <a:srgbClr val="FF0000"/>
            </a:solidFill>
          </a:ln>
        </p:spPr>
        <p:style>
          <a:lnRef idx="2">
            <a:schemeClr val="accent1"/>
          </a:lnRef>
          <a:fillRef idx="0">
            <a:schemeClr val="accent1"/>
          </a:fillRef>
          <a:effectRef idx="1">
            <a:schemeClr val="accent1"/>
          </a:effectRef>
          <a:fontRef idx="minor">
            <a:schemeClr val="tx1"/>
          </a:fontRef>
        </p:style>
      </p:cxnSp>
      <p:sp>
        <p:nvSpPr>
          <p:cNvPr id="3" name="Rechthoek 2">
            <a:extLst>
              <a:ext uri="{FF2B5EF4-FFF2-40B4-BE49-F238E27FC236}">
                <a16:creationId xmlns:a16="http://schemas.microsoft.com/office/drawing/2014/main" id="{C9C37391-961E-A514-CA70-DE8F937B6DD3}"/>
              </a:ext>
            </a:extLst>
          </p:cNvPr>
          <p:cNvSpPr/>
          <p:nvPr/>
        </p:nvSpPr>
        <p:spPr>
          <a:xfrm>
            <a:off x="3471806" y="6007283"/>
            <a:ext cx="2082800" cy="573491"/>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t>Ander </a:t>
            </a:r>
            <a:r>
              <a:rPr lang="nl-NL" sz="1600" dirty="0" err="1"/>
              <a:t>Gegevensobjecttype</a:t>
            </a:r>
            <a:endParaRPr lang="nl-NL" sz="1600" dirty="0"/>
          </a:p>
        </p:txBody>
      </p:sp>
      <p:sp>
        <p:nvSpPr>
          <p:cNvPr id="4" name="Rechthoek 3">
            <a:extLst>
              <a:ext uri="{FF2B5EF4-FFF2-40B4-BE49-F238E27FC236}">
                <a16:creationId xmlns:a16="http://schemas.microsoft.com/office/drawing/2014/main" id="{D5961497-2F2D-AAA4-C4B1-42C7189E53F8}"/>
              </a:ext>
            </a:extLst>
          </p:cNvPr>
          <p:cNvSpPr/>
          <p:nvPr/>
        </p:nvSpPr>
        <p:spPr>
          <a:xfrm>
            <a:off x="5736924" y="6008058"/>
            <a:ext cx="2082800" cy="573491"/>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err="1"/>
              <a:t>Id</a:t>
            </a:r>
            <a:r>
              <a:rPr lang="nl-NL" sz="1600" dirty="0"/>
              <a:t> op logisch niveau bij domeinobject</a:t>
            </a:r>
          </a:p>
        </p:txBody>
      </p:sp>
      <p:cxnSp>
        <p:nvCxnSpPr>
          <p:cNvPr id="37" name="Rechte verbindingslijn 36">
            <a:extLst>
              <a:ext uri="{FF2B5EF4-FFF2-40B4-BE49-F238E27FC236}">
                <a16:creationId xmlns:a16="http://schemas.microsoft.com/office/drawing/2014/main" id="{24AF7C49-7B97-14D6-1196-B5708B34BDA5}"/>
              </a:ext>
            </a:extLst>
          </p:cNvPr>
          <p:cNvCxnSpPr>
            <a:cxnSpLocks/>
            <a:stCxn id="40" idx="1"/>
            <a:endCxn id="4" idx="3"/>
          </p:cNvCxnSpPr>
          <p:nvPr/>
        </p:nvCxnSpPr>
        <p:spPr>
          <a:xfrm flipH="1">
            <a:off x="7819724" y="6294804"/>
            <a:ext cx="1653258" cy="0"/>
          </a:xfrm>
          <a:prstGeom prst="line">
            <a:avLst/>
          </a:prstGeom>
          <a:ln w="34925">
            <a:solidFill>
              <a:srgbClr val="FF0000"/>
            </a:solidFill>
            <a:headEnd type="none"/>
            <a:tailEnd type="triangle"/>
          </a:ln>
        </p:spPr>
        <p:style>
          <a:lnRef idx="2">
            <a:schemeClr val="accent1"/>
          </a:lnRef>
          <a:fillRef idx="0">
            <a:schemeClr val="accent1"/>
          </a:fillRef>
          <a:effectRef idx="1">
            <a:schemeClr val="accent1"/>
          </a:effectRef>
          <a:fontRef idx="minor">
            <a:schemeClr val="tx1"/>
          </a:fontRef>
        </p:style>
      </p:cxnSp>
      <p:sp>
        <p:nvSpPr>
          <p:cNvPr id="40" name="Rechthoek 39">
            <a:extLst>
              <a:ext uri="{FF2B5EF4-FFF2-40B4-BE49-F238E27FC236}">
                <a16:creationId xmlns:a16="http://schemas.microsoft.com/office/drawing/2014/main" id="{C2CBA96E-E305-1C14-D36C-4E910EF6BC25}"/>
              </a:ext>
            </a:extLst>
          </p:cNvPr>
          <p:cNvSpPr/>
          <p:nvPr/>
        </p:nvSpPr>
        <p:spPr>
          <a:xfrm>
            <a:off x="9472982" y="6008058"/>
            <a:ext cx="2082800" cy="57349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nl-NL" sz="1600" dirty="0">
                <a:solidFill>
                  <a:schemeClr val="tx1"/>
                </a:solidFill>
              </a:rPr>
              <a:t>relatie naar ander gegevensobject</a:t>
            </a:r>
          </a:p>
        </p:txBody>
      </p:sp>
    </p:spTree>
    <p:extLst>
      <p:ext uri="{BB962C8B-B14F-4D97-AF65-F5344CB8AC3E}">
        <p14:creationId xmlns:p14="http://schemas.microsoft.com/office/powerpoint/2010/main" val="1199617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DC4B79E-F6B2-D835-CB9B-843D4E58384E}"/>
              </a:ext>
            </a:extLst>
          </p:cNvPr>
          <p:cNvSpPr>
            <a:spLocks noGrp="1"/>
          </p:cNvSpPr>
          <p:nvPr>
            <p:ph type="title"/>
          </p:nvPr>
        </p:nvSpPr>
        <p:spPr/>
        <p:txBody>
          <a:bodyPr/>
          <a:lstStyle/>
          <a:p>
            <a:r>
              <a:rPr lang="nl-NL" dirty="0"/>
              <a:t>Overige punten</a:t>
            </a:r>
          </a:p>
        </p:txBody>
      </p:sp>
      <p:sp>
        <p:nvSpPr>
          <p:cNvPr id="3" name="Tijdelijke aanduiding voor inhoud 2">
            <a:extLst>
              <a:ext uri="{FF2B5EF4-FFF2-40B4-BE49-F238E27FC236}">
                <a16:creationId xmlns:a16="http://schemas.microsoft.com/office/drawing/2014/main" id="{5D5B523F-4F25-462C-A6C0-8673F6898D08}"/>
              </a:ext>
            </a:extLst>
          </p:cNvPr>
          <p:cNvSpPr>
            <a:spLocks noGrp="1"/>
          </p:cNvSpPr>
          <p:nvPr>
            <p:ph idx="1"/>
          </p:nvPr>
        </p:nvSpPr>
        <p:spPr>
          <a:xfrm>
            <a:off x="838199" y="1543665"/>
            <a:ext cx="10780059" cy="4949210"/>
          </a:xfrm>
        </p:spPr>
        <p:txBody>
          <a:bodyPr>
            <a:normAutofit fontScale="85000" lnSpcReduction="20000"/>
          </a:bodyPr>
          <a:lstStyle/>
          <a:p>
            <a:r>
              <a:rPr lang="nl-NL" sz="2400" dirty="0"/>
              <a:t>Er zijn soms ook nog gegevenstypen die te maken hebben met  andere domeinobjecten, zoals woonplaatcode (naar code van </a:t>
            </a:r>
            <a:r>
              <a:rPr lang="nl-NL" sz="2400" dirty="0" err="1"/>
              <a:t>domeinobjecttype</a:t>
            </a:r>
            <a:r>
              <a:rPr lang="nl-NL" sz="2400" dirty="0"/>
              <a:t> Woonplaats), maar deze zijn van secundair belang en in veel gegevensmodellen lopen deze relaties via de </a:t>
            </a:r>
            <a:r>
              <a:rPr lang="nl-NL" sz="2400" dirty="0" err="1"/>
              <a:t>Id’s</a:t>
            </a:r>
            <a:r>
              <a:rPr lang="nl-NL" sz="2400" dirty="0"/>
              <a:t> van gegevensobjecten waarvan het domein objecttype zelf het hoofdonderwerp is. Hoewel dit niet altijd zo is. De vraag is of we ook deze expliciet moeten maken. </a:t>
            </a:r>
          </a:p>
          <a:p>
            <a:r>
              <a:rPr lang="nl-NL" sz="2400" dirty="0"/>
              <a:t>Een versie ID kan op zichzelf een gegevensobject uniek identificeren (bv een </a:t>
            </a:r>
            <a:r>
              <a:rPr lang="nl-NL" sz="2400" dirty="0" err="1"/>
              <a:t>hash</a:t>
            </a:r>
            <a:r>
              <a:rPr lang="nl-NL" sz="2400" dirty="0"/>
              <a:t> van het gegevensobject), maar vaak moet het logische ID gecombineerd worden met het versie ID om uniek het gegevensobject te identificeren. Maar als er een </a:t>
            </a:r>
            <a:r>
              <a:rPr lang="nl-NL" sz="2400" dirty="0" err="1"/>
              <a:t>hash</a:t>
            </a:r>
            <a:r>
              <a:rPr lang="nl-NL" sz="2400" dirty="0"/>
              <a:t> gebruikt is … </a:t>
            </a:r>
          </a:p>
          <a:p>
            <a:r>
              <a:rPr lang="nl-NL" sz="2400" dirty="0"/>
              <a:t>Het is zinvol om van een gegevenstype te weten of dat gegevenstype over het hoofdonderwerp gaat, of juist over het gegevensobject zelf (“metagegeven”). Voorstel is om dit stereotype ‘metagegeven’ toe te voegen, dan is ook duidelijk dat hier geen semantische herleidbaarheid voor hoeft te worden aangebracht (althans, wellicht naar een metagegeven metamodel, maar niet naar een gewoon CIM of SBM).</a:t>
            </a:r>
          </a:p>
          <a:p>
            <a:r>
              <a:rPr lang="nl-NL" sz="2400" dirty="0"/>
              <a:t>Technische concerns modelleren in een logisch model. Er worden soms op logisch niveau ook </a:t>
            </a:r>
            <a:r>
              <a:rPr lang="nl-NL" sz="2400" dirty="0" err="1"/>
              <a:t>uniqueness</a:t>
            </a:r>
            <a:r>
              <a:rPr lang="nl-NL" sz="2400" dirty="0"/>
              <a:t> </a:t>
            </a:r>
            <a:r>
              <a:rPr lang="nl-NL" sz="2400" dirty="0" err="1"/>
              <a:t>constraints</a:t>
            </a:r>
            <a:r>
              <a:rPr lang="nl-NL" sz="2400" dirty="0"/>
              <a:t> gemodelleerd om data integriteit te borgen, die verder uitgewerkt worden naar records in een database en </a:t>
            </a:r>
            <a:r>
              <a:rPr lang="nl-NL" sz="2400" dirty="0" err="1"/>
              <a:t>constraints</a:t>
            </a:r>
            <a:r>
              <a:rPr lang="nl-NL" sz="2400" dirty="0"/>
              <a:t> daar. Of om technische </a:t>
            </a:r>
            <a:r>
              <a:rPr lang="nl-NL" sz="2400" dirty="0" err="1"/>
              <a:t>id’s</a:t>
            </a:r>
            <a:r>
              <a:rPr lang="nl-NL" sz="2400" dirty="0"/>
              <a:t> uit te geven die in de black box van een applicatie of database spelen of om in een bericht bepaalde correlatie gegevens te gebruiken om gegevensobjecten aan elkaar te koppelen. Over deze technische </a:t>
            </a:r>
            <a:r>
              <a:rPr lang="nl-NL" sz="2400" dirty="0" err="1"/>
              <a:t>id’s</a:t>
            </a:r>
            <a:r>
              <a:rPr lang="nl-NL" sz="2400" dirty="0"/>
              <a:t> daar hebben we het nu niet over. We hebben het over conceptueel en logisch.</a:t>
            </a:r>
          </a:p>
          <a:p>
            <a:endParaRPr lang="nl-NL" sz="2400" dirty="0"/>
          </a:p>
          <a:p>
            <a:pPr marL="0" indent="0">
              <a:buNone/>
            </a:pPr>
            <a:endParaRPr lang="nl-NL" sz="2400" dirty="0"/>
          </a:p>
          <a:p>
            <a:pPr marL="0" indent="0">
              <a:buNone/>
            </a:pPr>
            <a:endParaRPr lang="nl-NL" sz="2400" dirty="0"/>
          </a:p>
          <a:p>
            <a:pPr marL="0" indent="0">
              <a:buNone/>
            </a:pPr>
            <a:endParaRPr lang="nl-NL" sz="2400" dirty="0"/>
          </a:p>
        </p:txBody>
      </p:sp>
    </p:spTree>
    <p:extLst>
      <p:ext uri="{BB962C8B-B14F-4D97-AF65-F5344CB8AC3E}">
        <p14:creationId xmlns:p14="http://schemas.microsoft.com/office/powerpoint/2010/main" val="3905322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B2D72-255E-E411-09B2-97F8D674B0AB}"/>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6CC7520-8185-B102-7E81-C36EEA5CF4AA}"/>
              </a:ext>
            </a:extLst>
          </p:cNvPr>
          <p:cNvSpPr>
            <a:spLocks noGrp="1"/>
          </p:cNvSpPr>
          <p:nvPr>
            <p:ph type="title"/>
          </p:nvPr>
        </p:nvSpPr>
        <p:spPr/>
        <p:txBody>
          <a:bodyPr/>
          <a:lstStyle/>
          <a:p>
            <a:r>
              <a:rPr lang="nl-NL" dirty="0"/>
              <a:t>Voorbeelden – om nader uit te werken</a:t>
            </a:r>
          </a:p>
        </p:txBody>
      </p:sp>
      <p:sp>
        <p:nvSpPr>
          <p:cNvPr id="5" name="Tijdelijke aanduiding voor inhoud 4">
            <a:extLst>
              <a:ext uri="{FF2B5EF4-FFF2-40B4-BE49-F238E27FC236}">
                <a16:creationId xmlns:a16="http://schemas.microsoft.com/office/drawing/2014/main" id="{FED87F20-7A1A-7C79-09D2-A560236227B2}"/>
              </a:ext>
            </a:extLst>
          </p:cNvPr>
          <p:cNvSpPr>
            <a:spLocks noGrp="1"/>
          </p:cNvSpPr>
          <p:nvPr>
            <p:ph idx="1"/>
          </p:nvPr>
        </p:nvSpPr>
        <p:spPr>
          <a:xfrm>
            <a:off x="838200" y="1504157"/>
            <a:ext cx="10634663" cy="4351338"/>
          </a:xfrm>
        </p:spPr>
        <p:txBody>
          <a:bodyPr>
            <a:noAutofit/>
          </a:bodyPr>
          <a:lstStyle/>
          <a:p>
            <a:pPr marL="0" indent="0">
              <a:buNone/>
            </a:pPr>
            <a:r>
              <a:rPr lang="nl-NL" sz="1800" i="1" dirty="0" err="1"/>
              <a:t>Id</a:t>
            </a:r>
            <a:r>
              <a:rPr lang="nl-NL" sz="1800" i="1" dirty="0"/>
              <a:t> in de conceptuele laag (MIM-2) die gespiegeld uitgewerkt is in de logische laag (MIM-3):</a:t>
            </a:r>
            <a:r>
              <a:rPr lang="nl-NL" sz="1800" dirty="0"/>
              <a:t> </a:t>
            </a:r>
          </a:p>
          <a:p>
            <a:r>
              <a:rPr lang="nl-NL" sz="1800" dirty="0"/>
              <a:t>een domeinobject </a:t>
            </a:r>
            <a:r>
              <a:rPr lang="nl-NL" sz="1800" dirty="0" err="1"/>
              <a:t>id</a:t>
            </a:r>
            <a:r>
              <a:rPr lang="nl-NL" sz="1800" dirty="0"/>
              <a:t> die gebaseerd is op intrinsieke kenmerken</a:t>
            </a:r>
          </a:p>
          <a:p>
            <a:r>
              <a:rPr lang="nl-NL" sz="1800" dirty="0"/>
              <a:t>een domeinobject </a:t>
            </a:r>
            <a:r>
              <a:rPr lang="nl-NL" sz="1800" dirty="0" err="1"/>
              <a:t>id</a:t>
            </a:r>
            <a:r>
              <a:rPr lang="nl-NL" sz="1800" dirty="0"/>
              <a:t> die gebaseerd is op een toegekend kenmerk</a:t>
            </a:r>
          </a:p>
          <a:p>
            <a:r>
              <a:rPr lang="nl-NL" sz="1800" dirty="0"/>
              <a:t>een domeinobject </a:t>
            </a:r>
            <a:r>
              <a:rPr lang="nl-NL" sz="1800" dirty="0" err="1"/>
              <a:t>id</a:t>
            </a:r>
            <a:r>
              <a:rPr lang="nl-NL" sz="1800" dirty="0"/>
              <a:t> die gebaseerd is de </a:t>
            </a:r>
            <a:r>
              <a:rPr lang="nl-NL" sz="1800" dirty="0" err="1"/>
              <a:t>id</a:t>
            </a:r>
            <a:r>
              <a:rPr lang="nl-NL" sz="1800" dirty="0"/>
              <a:t> van een ander domeinobject </a:t>
            </a:r>
          </a:p>
          <a:p>
            <a:pPr marL="0" indent="0">
              <a:buNone/>
            </a:pPr>
            <a:r>
              <a:rPr lang="nl-NL" sz="1800" dirty="0"/>
              <a:t>N.B. in de logische laag wordt vaak maar 1 van bovenstaande conceptuele </a:t>
            </a:r>
            <a:r>
              <a:rPr lang="nl-NL" sz="1800" dirty="0" err="1"/>
              <a:t>id’s</a:t>
            </a:r>
            <a:r>
              <a:rPr lang="nl-NL" sz="1800" dirty="0"/>
              <a:t> gebruikt (niet allemaal)</a:t>
            </a:r>
          </a:p>
          <a:p>
            <a:pPr marL="0" indent="0">
              <a:buNone/>
            </a:pPr>
            <a:endParaRPr lang="nl-NL" sz="1800" i="1" dirty="0"/>
          </a:p>
          <a:p>
            <a:pPr marL="0" indent="0">
              <a:buNone/>
            </a:pPr>
            <a:r>
              <a:rPr lang="nl-NL" sz="1800" i="1" dirty="0" err="1"/>
              <a:t>Id’s</a:t>
            </a:r>
            <a:r>
              <a:rPr lang="nl-NL" sz="1800" i="1" dirty="0"/>
              <a:t> in de logische laag (MIM-3) </a:t>
            </a:r>
            <a:r>
              <a:rPr lang="nl-NL" sz="1800" dirty="0"/>
              <a:t>die niet gebaseerd zijn op een </a:t>
            </a:r>
            <a:r>
              <a:rPr lang="nl-NL" sz="1800" dirty="0" err="1"/>
              <a:t>id</a:t>
            </a:r>
            <a:r>
              <a:rPr lang="nl-NL" sz="1800" dirty="0"/>
              <a:t> uit de conceptuele laag: </a:t>
            </a:r>
            <a:r>
              <a:rPr lang="nl-NL" sz="1800" i="1" dirty="0"/>
              <a:t> </a:t>
            </a:r>
          </a:p>
          <a:p>
            <a:r>
              <a:rPr lang="nl-NL" sz="1800" dirty="0"/>
              <a:t>enkelvoudig, gegenereerd en vooral ook gestandaardiseerd, met een 1 op 1 relatie met 1 conceptuele id. Een voorbeeld hiervan: een ‘identificatie’ die voldoet aan de NEN3610ID eisen, zodat </a:t>
            </a:r>
            <a:r>
              <a:rPr lang="nl-NL" sz="1800" dirty="0" err="1"/>
              <a:t>id’s</a:t>
            </a:r>
            <a:r>
              <a:rPr lang="nl-NL" sz="1800" dirty="0"/>
              <a:t> in de logische laag ook in bredere context uniek worden (inclusief een domein aanduiding waarbinnen de </a:t>
            </a:r>
            <a:r>
              <a:rPr lang="nl-NL" sz="1800" dirty="0" err="1"/>
              <a:t>id</a:t>
            </a:r>
            <a:r>
              <a:rPr lang="nl-NL" sz="1800" dirty="0"/>
              <a:t> uniek is).  </a:t>
            </a:r>
          </a:p>
          <a:p>
            <a:r>
              <a:rPr lang="nl-NL" sz="1800" dirty="0"/>
              <a:t>extra </a:t>
            </a:r>
            <a:r>
              <a:rPr lang="nl-NL" sz="1800" dirty="0" err="1"/>
              <a:t>id’s</a:t>
            </a:r>
            <a:r>
              <a:rPr lang="nl-NL" sz="1800" dirty="0"/>
              <a:t> in de logische laag, met een 1 op 1 relatie met een andere </a:t>
            </a:r>
            <a:r>
              <a:rPr lang="nl-NL" sz="1800" dirty="0" err="1"/>
              <a:t>id</a:t>
            </a:r>
            <a:r>
              <a:rPr lang="nl-NL" sz="1800" dirty="0"/>
              <a:t> in de logische laag</a:t>
            </a:r>
          </a:p>
          <a:p>
            <a:pPr marL="0" indent="0">
              <a:buNone/>
            </a:pPr>
            <a:endParaRPr lang="nl-NL" sz="1800" i="1" dirty="0"/>
          </a:p>
          <a:p>
            <a:pPr marL="0" indent="0">
              <a:buNone/>
            </a:pPr>
            <a:r>
              <a:rPr lang="nl-NL" sz="1800" i="1" dirty="0" err="1"/>
              <a:t>Id’s</a:t>
            </a:r>
            <a:r>
              <a:rPr lang="nl-NL" sz="1800" i="1" dirty="0"/>
              <a:t> in de technische laag (MIM-4), </a:t>
            </a:r>
            <a:r>
              <a:rPr lang="nl-NL" sz="1800" dirty="0"/>
              <a:t>die niet gebaseerd zijn op een </a:t>
            </a:r>
            <a:r>
              <a:rPr lang="nl-NL" sz="1800" dirty="0" err="1"/>
              <a:t>id</a:t>
            </a:r>
            <a:r>
              <a:rPr lang="nl-NL" sz="1800" dirty="0"/>
              <a:t> uit de logische of conceptuele laag</a:t>
            </a:r>
            <a:r>
              <a:rPr lang="nl-NL" sz="1800" i="1" dirty="0"/>
              <a:t>: </a:t>
            </a:r>
          </a:p>
          <a:p>
            <a:r>
              <a:rPr lang="nl-NL" sz="1800" dirty="0"/>
              <a:t>vaak van tijdelijke of interne aard zijn, en niet bedoeld zijn om als officiële </a:t>
            </a:r>
            <a:r>
              <a:rPr lang="nl-NL" sz="1800" dirty="0" err="1"/>
              <a:t>id</a:t>
            </a:r>
            <a:r>
              <a:rPr lang="nl-NL" sz="1800" dirty="0"/>
              <a:t> te gebruiken.  </a:t>
            </a:r>
          </a:p>
          <a:p>
            <a:pPr marL="0" indent="0">
              <a:buNone/>
            </a:pPr>
            <a:endParaRPr lang="nl-NL" sz="1800" dirty="0"/>
          </a:p>
          <a:p>
            <a:pPr marL="0" indent="0">
              <a:buNone/>
            </a:pPr>
            <a:endParaRPr lang="nl-NL" sz="1800" dirty="0"/>
          </a:p>
        </p:txBody>
      </p:sp>
    </p:spTree>
    <p:extLst>
      <p:ext uri="{BB962C8B-B14F-4D97-AF65-F5344CB8AC3E}">
        <p14:creationId xmlns:p14="http://schemas.microsoft.com/office/powerpoint/2010/main" val="39322824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67944C1-8D15-6232-F9BB-30B06973ABE1}"/>
              </a:ext>
            </a:extLst>
          </p:cNvPr>
          <p:cNvSpPr>
            <a:spLocks noGrp="1"/>
          </p:cNvSpPr>
          <p:nvPr>
            <p:ph type="title"/>
          </p:nvPr>
        </p:nvSpPr>
        <p:spPr>
          <a:xfrm>
            <a:off x="543233" y="166712"/>
            <a:ext cx="10515600" cy="1325563"/>
          </a:xfrm>
        </p:spPr>
        <p:txBody>
          <a:bodyPr/>
          <a:lstStyle/>
          <a:p>
            <a:r>
              <a:rPr lang="nl-NL" dirty="0"/>
              <a:t>Definities (aanzet)</a:t>
            </a:r>
          </a:p>
        </p:txBody>
      </p:sp>
      <p:graphicFrame>
        <p:nvGraphicFramePr>
          <p:cNvPr id="4" name="Tabel 3">
            <a:extLst>
              <a:ext uri="{FF2B5EF4-FFF2-40B4-BE49-F238E27FC236}">
                <a16:creationId xmlns:a16="http://schemas.microsoft.com/office/drawing/2014/main" id="{04C2150E-9E62-E5E7-1C18-F473FFFD1A40}"/>
              </a:ext>
            </a:extLst>
          </p:cNvPr>
          <p:cNvGraphicFramePr>
            <a:graphicFrameLocks noGrp="1"/>
          </p:cNvGraphicFramePr>
          <p:nvPr>
            <p:extLst>
              <p:ext uri="{D42A27DB-BD31-4B8C-83A1-F6EECF244321}">
                <p14:modId xmlns:p14="http://schemas.microsoft.com/office/powerpoint/2010/main" val="2352400029"/>
              </p:ext>
            </p:extLst>
          </p:nvPr>
        </p:nvGraphicFramePr>
        <p:xfrm>
          <a:off x="648929" y="1388260"/>
          <a:ext cx="11139949" cy="5135880"/>
        </p:xfrm>
        <a:graphic>
          <a:graphicData uri="http://schemas.openxmlformats.org/drawingml/2006/table">
            <a:tbl>
              <a:tblPr firstRow="1" bandRow="1">
                <a:tableStyleId>{5C22544A-7EE6-4342-B048-85BDC9FD1C3A}</a:tableStyleId>
              </a:tblPr>
              <a:tblGrid>
                <a:gridCol w="8982096">
                  <a:extLst>
                    <a:ext uri="{9D8B030D-6E8A-4147-A177-3AD203B41FA5}">
                      <a16:colId xmlns:a16="http://schemas.microsoft.com/office/drawing/2014/main" val="3945013391"/>
                    </a:ext>
                  </a:extLst>
                </a:gridCol>
                <a:gridCol w="2157853">
                  <a:extLst>
                    <a:ext uri="{9D8B030D-6E8A-4147-A177-3AD203B41FA5}">
                      <a16:colId xmlns:a16="http://schemas.microsoft.com/office/drawing/2014/main" val="3590454583"/>
                    </a:ext>
                  </a:extLst>
                </a:gridCol>
              </a:tblGrid>
              <a:tr h="370840">
                <a:tc>
                  <a:txBody>
                    <a:bodyPr/>
                    <a:lstStyle/>
                    <a:p>
                      <a:r>
                        <a:rPr lang="nl-NL" dirty="0"/>
                        <a:t>Definitie</a:t>
                      </a:r>
                    </a:p>
                  </a:txBody>
                  <a:tcPr/>
                </a:tc>
                <a:tc>
                  <a:txBody>
                    <a:bodyPr/>
                    <a:lstStyle/>
                    <a:p>
                      <a:r>
                        <a:rPr lang="nl-NL" dirty="0"/>
                        <a:t>Werkterm</a:t>
                      </a:r>
                    </a:p>
                  </a:txBody>
                  <a:tcPr/>
                </a:tc>
                <a:extLst>
                  <a:ext uri="{0D108BD9-81ED-4DB2-BD59-A6C34878D82A}">
                    <a16:rowId xmlns:a16="http://schemas.microsoft.com/office/drawing/2014/main" val="2529945190"/>
                  </a:ext>
                </a:extLst>
              </a:tr>
              <a:tr h="370840">
                <a:tc>
                  <a:txBody>
                    <a:bodyPr/>
                    <a:lstStyle/>
                    <a:p>
                      <a:r>
                        <a:rPr lang="nl-NL" dirty="0"/>
                        <a:t>Een </a:t>
                      </a:r>
                      <a:r>
                        <a:rPr lang="nl-NL" dirty="0" err="1"/>
                        <a:t>Id</a:t>
                      </a:r>
                      <a:r>
                        <a:rPr lang="nl-NL" dirty="0"/>
                        <a:t> van een domeinobject is een specificatie van de set van attributen waarmee 1 domeinobject uniek bepaald kan worden. </a:t>
                      </a:r>
                    </a:p>
                  </a:txBody>
                  <a:tcPr/>
                </a:tc>
                <a:tc>
                  <a:txBody>
                    <a:bodyPr/>
                    <a:lstStyle/>
                    <a:p>
                      <a:r>
                        <a:rPr lang="nl-NL" dirty="0"/>
                        <a:t>Conceptuele domein object </a:t>
                      </a:r>
                      <a:r>
                        <a:rPr lang="nl-NL" dirty="0" err="1"/>
                        <a:t>Id</a:t>
                      </a:r>
                      <a:endParaRPr lang="nl-NL" dirty="0"/>
                    </a:p>
                  </a:txBody>
                  <a:tcPr/>
                </a:tc>
                <a:extLst>
                  <a:ext uri="{0D108BD9-81ED-4DB2-BD59-A6C34878D82A}">
                    <a16:rowId xmlns:a16="http://schemas.microsoft.com/office/drawing/2014/main" val="245267435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Een </a:t>
                      </a:r>
                      <a:r>
                        <a:rPr lang="nl-NL" dirty="0" err="1"/>
                        <a:t>Id</a:t>
                      </a:r>
                      <a:r>
                        <a:rPr lang="nl-NL" dirty="0"/>
                        <a:t> op conceptueel niveau met set lengte 1</a:t>
                      </a:r>
                    </a:p>
                  </a:txBody>
                  <a:tcPr/>
                </a:tc>
                <a:tc>
                  <a:txBody>
                    <a:bodyPr/>
                    <a:lstStyle/>
                    <a:p>
                      <a:r>
                        <a:rPr lang="nl-NL" dirty="0"/>
                        <a:t>Enkelvoudige </a:t>
                      </a:r>
                      <a:r>
                        <a:rPr lang="nl-NL" dirty="0" err="1"/>
                        <a:t>Id</a:t>
                      </a:r>
                      <a:endParaRPr lang="nl-NL" dirty="0"/>
                    </a:p>
                  </a:txBody>
                  <a:tcPr/>
                </a:tc>
                <a:extLst>
                  <a:ext uri="{0D108BD9-81ED-4DB2-BD59-A6C34878D82A}">
                    <a16:rowId xmlns:a16="http://schemas.microsoft.com/office/drawing/2014/main" val="377048668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Een </a:t>
                      </a:r>
                      <a:r>
                        <a:rPr lang="nl-NL" dirty="0" err="1"/>
                        <a:t>Id</a:t>
                      </a:r>
                      <a:r>
                        <a:rPr lang="nl-NL" dirty="0"/>
                        <a:t> op conceptueel niveau met set lengte 2 of meer. </a:t>
                      </a:r>
                    </a:p>
                  </a:txBody>
                  <a:tcPr/>
                </a:tc>
                <a:tc>
                  <a:txBody>
                    <a:bodyPr/>
                    <a:lstStyle/>
                    <a:p>
                      <a:r>
                        <a:rPr lang="nl-NL" dirty="0"/>
                        <a:t>Samengestelde </a:t>
                      </a:r>
                      <a:r>
                        <a:rPr lang="nl-NL" dirty="0" err="1"/>
                        <a:t>Id</a:t>
                      </a:r>
                      <a:endParaRPr lang="nl-NL" dirty="0"/>
                    </a:p>
                  </a:txBody>
                  <a:tcPr/>
                </a:tc>
                <a:extLst>
                  <a:ext uri="{0D108BD9-81ED-4DB2-BD59-A6C34878D82A}">
                    <a16:rowId xmlns:a16="http://schemas.microsoft.com/office/drawing/2014/main" val="38271327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Een </a:t>
                      </a:r>
                      <a:r>
                        <a:rPr lang="nl-NL" dirty="0" err="1"/>
                        <a:t>Id</a:t>
                      </a:r>
                      <a:r>
                        <a:rPr lang="nl-NL" dirty="0"/>
                        <a:t> van een domeinobject, waarbij elk attribuut in de set intrinsiek is, en waarmee het domeinobject geïdentificeerd kan worden. Deze kan enkelvoudig of samengesteld zijn.</a:t>
                      </a:r>
                    </a:p>
                  </a:txBody>
                  <a:tcPr/>
                </a:tc>
                <a:tc>
                  <a:txBody>
                    <a:bodyPr/>
                    <a:lstStyle/>
                    <a:p>
                      <a:r>
                        <a:rPr lang="nl-NL" dirty="0"/>
                        <a:t>Identificerende domein </a:t>
                      </a:r>
                      <a:r>
                        <a:rPr lang="nl-NL" dirty="0" err="1"/>
                        <a:t>objectId</a:t>
                      </a:r>
                      <a:endParaRPr lang="nl-NL" dirty="0"/>
                    </a:p>
                  </a:txBody>
                  <a:tcPr/>
                </a:tc>
                <a:extLst>
                  <a:ext uri="{0D108BD9-81ED-4DB2-BD59-A6C34878D82A}">
                    <a16:rowId xmlns:a16="http://schemas.microsoft.com/office/drawing/2014/main" val="166705897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Een enkelvoudige </a:t>
                      </a:r>
                      <a:r>
                        <a:rPr lang="nl-NL" dirty="0" err="1"/>
                        <a:t>Id</a:t>
                      </a:r>
                      <a:r>
                        <a:rPr lang="nl-NL" dirty="0"/>
                        <a:t> van een domeinobject, </a:t>
                      </a:r>
                      <a:r>
                        <a:rPr lang="nl-NL" dirty="0" err="1"/>
                        <a:t>obv</a:t>
                      </a:r>
                      <a:r>
                        <a:rPr lang="nl-NL" dirty="0"/>
                        <a:t> een toegekend attribuut. Het </a:t>
                      </a:r>
                      <a:r>
                        <a:rPr lang="nl-NL" dirty="0" err="1"/>
                        <a:t>Id</a:t>
                      </a:r>
                      <a:r>
                        <a:rPr lang="nl-NL" dirty="0"/>
                        <a:t> is administratief van aard en de </a:t>
                      </a:r>
                      <a:r>
                        <a:rPr lang="nl-NL" dirty="0" err="1"/>
                        <a:t>Id</a:t>
                      </a:r>
                      <a:r>
                        <a:rPr lang="nl-NL" dirty="0"/>
                        <a:t> is officieel uitgegeven, vaak gegenereerd, door een hiertoe officieel aangewezen bevoegde instantie. Vaak is deze instantie ook de bronhouder van de bijbehorende officiële (basis)registratie. </a:t>
                      </a:r>
                    </a:p>
                  </a:txBody>
                  <a:tcPr/>
                </a:tc>
                <a:tc>
                  <a:txBody>
                    <a:bodyPr/>
                    <a:lstStyle/>
                    <a:p>
                      <a:r>
                        <a:rPr lang="nl-NL" dirty="0"/>
                        <a:t>Administratieve domein object </a:t>
                      </a:r>
                      <a:r>
                        <a:rPr lang="nl-NL" dirty="0" err="1"/>
                        <a:t>Id</a:t>
                      </a:r>
                      <a:endParaRPr lang="nl-NL" dirty="0"/>
                    </a:p>
                  </a:txBody>
                  <a:tcPr/>
                </a:tc>
                <a:extLst>
                  <a:ext uri="{0D108BD9-81ED-4DB2-BD59-A6C34878D82A}">
                    <a16:rowId xmlns:a16="http://schemas.microsoft.com/office/drawing/2014/main" val="27655683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Een </a:t>
                      </a:r>
                      <a:r>
                        <a:rPr lang="nl-NL" dirty="0" err="1"/>
                        <a:t>Id</a:t>
                      </a:r>
                      <a:r>
                        <a:rPr lang="nl-NL" dirty="0"/>
                        <a:t> in de logische laag die een 1 op 1 relatie heeft met de </a:t>
                      </a:r>
                      <a:r>
                        <a:rPr lang="nl-NL" dirty="0" err="1"/>
                        <a:t>Id</a:t>
                      </a:r>
                      <a:r>
                        <a:rPr lang="nl-NL" dirty="0"/>
                        <a:t> van een domeinobject en daarmee de </a:t>
                      </a:r>
                      <a:r>
                        <a:rPr lang="nl-NL" dirty="0" err="1"/>
                        <a:t>Id</a:t>
                      </a:r>
                      <a:r>
                        <a:rPr lang="nl-NL" dirty="0"/>
                        <a:t> is in het gegevensverwerkingsdomein van een domein object.</a:t>
                      </a:r>
                    </a:p>
                  </a:txBody>
                  <a:tcPr/>
                </a:tc>
                <a:tc>
                  <a:txBody>
                    <a:bodyPr/>
                    <a:lstStyle/>
                    <a:p>
                      <a:r>
                        <a:rPr lang="nl-NL" dirty="0"/>
                        <a:t>Logische domein object </a:t>
                      </a:r>
                      <a:r>
                        <a:rPr lang="nl-NL" dirty="0" err="1"/>
                        <a:t>Id</a:t>
                      </a:r>
                      <a:endParaRPr lang="nl-NL" dirty="0"/>
                    </a:p>
                  </a:txBody>
                  <a:tcPr/>
                </a:tc>
                <a:extLst>
                  <a:ext uri="{0D108BD9-81ED-4DB2-BD59-A6C34878D82A}">
                    <a16:rowId xmlns:a16="http://schemas.microsoft.com/office/drawing/2014/main" val="25057936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Een </a:t>
                      </a:r>
                      <a:r>
                        <a:rPr lang="nl-NL" dirty="0" err="1"/>
                        <a:t>Id</a:t>
                      </a:r>
                      <a:r>
                        <a:rPr lang="nl-NL" dirty="0"/>
                        <a:t> van een gegevensobject is een specificatie van de set van gegevenstypen, waarmee 1 gegevensobject uniek bepaald kan worden. Deze is vaak een samenstelling van de versieonafhankelijke </a:t>
                      </a:r>
                      <a:r>
                        <a:rPr lang="nl-NL" dirty="0" err="1"/>
                        <a:t>Id</a:t>
                      </a:r>
                      <a:r>
                        <a:rPr lang="nl-NL" dirty="0"/>
                        <a:t> en versieafhankelijke gegevenstypen. </a:t>
                      </a:r>
                    </a:p>
                  </a:txBody>
                  <a:tcPr/>
                </a:tc>
                <a:tc>
                  <a:txBody>
                    <a:bodyPr/>
                    <a:lstStyle/>
                    <a:p>
                      <a:r>
                        <a:rPr lang="nl-NL" dirty="0" err="1"/>
                        <a:t>Id</a:t>
                      </a:r>
                      <a:r>
                        <a:rPr lang="nl-NL" dirty="0"/>
                        <a:t> van een gegevensobject</a:t>
                      </a:r>
                    </a:p>
                  </a:txBody>
                  <a:tcPr/>
                </a:tc>
                <a:extLst>
                  <a:ext uri="{0D108BD9-81ED-4DB2-BD59-A6C34878D82A}">
                    <a16:rowId xmlns:a16="http://schemas.microsoft.com/office/drawing/2014/main" val="1173295806"/>
                  </a:ext>
                </a:extLst>
              </a:tr>
            </a:tbl>
          </a:graphicData>
        </a:graphic>
      </p:graphicFrame>
    </p:spTree>
    <p:extLst>
      <p:ext uri="{BB962C8B-B14F-4D97-AF65-F5344CB8AC3E}">
        <p14:creationId xmlns:p14="http://schemas.microsoft.com/office/powerpoint/2010/main" val="209943722"/>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3134</Words>
  <Application>Microsoft Office PowerPoint</Application>
  <PresentationFormat>Breedbeeld</PresentationFormat>
  <Paragraphs>255</Paragraphs>
  <Slides>15</Slides>
  <Notes>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15</vt:i4>
      </vt:variant>
    </vt:vector>
  </HeadingPairs>
  <TitlesOfParts>
    <vt:vector size="19" baseType="lpstr">
      <vt:lpstr>Aptos</vt:lpstr>
      <vt:lpstr>Aptos Display</vt:lpstr>
      <vt:lpstr>Arial</vt:lpstr>
      <vt:lpstr>Kantoorthema</vt:lpstr>
      <vt:lpstr>MIM 2.0 bespreeknotitie: Id’s op conceptueel en logisch niveau</vt:lpstr>
      <vt:lpstr>Verbinden van de beschouwde werkelijkheid en de bijbehorende gegevensverwerking</vt:lpstr>
      <vt:lpstr>Waar hebben we het over</vt:lpstr>
      <vt:lpstr>Gegevens over eigenschappen in de tijd</vt:lpstr>
      <vt:lpstr>Voorbeeld en kandidaat termen</vt:lpstr>
      <vt:lpstr>Voorbeeld en modellering </vt:lpstr>
      <vt:lpstr>Voorbeeld in de gegevenslaag</vt:lpstr>
      <vt:lpstr>Terminologie op logisch gegevensniveau</vt:lpstr>
      <vt:lpstr>Requirements aan de logische Id</vt:lpstr>
      <vt:lpstr>Requirements aan de logische Id</vt:lpstr>
      <vt:lpstr>Onderling relateren van gegevensobjecten ID en versie patroon</vt:lpstr>
      <vt:lpstr>Relaties tussen Id’s</vt:lpstr>
      <vt:lpstr>Overige punten</vt:lpstr>
      <vt:lpstr>Voorbeelden – om nader uit te werken</vt:lpstr>
      <vt:lpstr>Definities (aanzet)</vt:lpstr>
    </vt:vector>
  </TitlesOfParts>
  <Company>Ministerie van Financien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Lennart L. van Bergen</dc:creator>
  <cp:lastModifiedBy>Lennart L. van Bergen</cp:lastModifiedBy>
  <cp:revision>412</cp:revision>
  <dcterms:created xsi:type="dcterms:W3CDTF">2026-04-04T08:17:24Z</dcterms:created>
  <dcterms:modified xsi:type="dcterms:W3CDTF">2026-04-07T09:52:50Z</dcterms:modified>
</cp:coreProperties>
</file>