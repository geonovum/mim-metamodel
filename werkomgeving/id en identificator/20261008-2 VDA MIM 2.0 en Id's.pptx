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0" r:id="rId3"/>
    <p:sldId id="279" r:id="rId4"/>
    <p:sldId id="291" r:id="rId5"/>
    <p:sldId id="277" r:id="rId6"/>
    <p:sldId id="259" r:id="rId7"/>
    <p:sldId id="257" r:id="rId8"/>
    <p:sldId id="293" r:id="rId9"/>
    <p:sldId id="260" r:id="rId10"/>
    <p:sldId id="280" r:id="rId11"/>
    <p:sldId id="283" r:id="rId12"/>
    <p:sldId id="289" r:id="rId13"/>
    <p:sldId id="286" r:id="rId14"/>
    <p:sldId id="281" r:id="rId15"/>
    <p:sldId id="274" r:id="rId16"/>
    <p:sldId id="275" r:id="rId17"/>
    <p:sldId id="272" r:id="rId18"/>
    <p:sldId id="282" r:id="rId19"/>
    <p:sldId id="306" r:id="rId20"/>
    <p:sldId id="300" r:id="rId21"/>
    <p:sldId id="301" r:id="rId22"/>
    <p:sldId id="276" r:id="rId23"/>
    <p:sldId id="304" r:id="rId24"/>
    <p:sldId id="302" r:id="rId25"/>
    <p:sldId id="296" r:id="rId26"/>
    <p:sldId id="303" r:id="rId27"/>
    <p:sldId id="305" r:id="rId28"/>
    <p:sldId id="258" r:id="rId29"/>
    <p:sldId id="298" r:id="rId30"/>
    <p:sldId id="297" r:id="rId31"/>
    <p:sldId id="295" r:id="rId32"/>
    <p:sldId id="294" r:id="rId33"/>
    <p:sldId id="273" r:id="rId34"/>
    <p:sldId id="288" r:id="rId35"/>
    <p:sldId id="292" r:id="rId3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964F21-7B58-4666-9815-908449BC01AE}" v="7" dt="2026-05-22T11:19:04.688"/>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3FF8A2-DADF-AC49-977C-7A35750C8EA2}"/>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AE246D7F-F7AB-3B81-56CB-D4BD9C1ADC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4188EEE7-A5FB-A3CC-07C7-D2C83F4E08E8}"/>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5" name="Tijdelijke aanduiding voor voettekst 4">
            <a:extLst>
              <a:ext uri="{FF2B5EF4-FFF2-40B4-BE49-F238E27FC236}">
                <a16:creationId xmlns:a16="http://schemas.microsoft.com/office/drawing/2014/main" id="{FC3C6384-B7F4-67C7-0FB7-EA01C37E76DC}"/>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E2DD3EA-C5EB-315B-3EFC-D3F5AA700859}"/>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1576723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2D45DE-FC46-F641-65B1-455F028CC456}"/>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AE3E2CD1-4E6F-5BA6-FA6C-2038E64D946F}"/>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4470C79-F8D8-3B80-DEF4-2E05CF65B346}"/>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5" name="Tijdelijke aanduiding voor voettekst 4">
            <a:extLst>
              <a:ext uri="{FF2B5EF4-FFF2-40B4-BE49-F238E27FC236}">
                <a16:creationId xmlns:a16="http://schemas.microsoft.com/office/drawing/2014/main" id="{FDC95897-060A-1283-D74C-E7ADD8A1C696}"/>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3D1197F-315B-CED6-FFD1-66CDB456A255}"/>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941138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45E7BD-4B43-94DF-C942-CD650BC5A600}"/>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E23F3A50-9AFB-0726-EA71-BE13097912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428A0B90-B4AE-E6C4-7913-1A3F6A986C0A}"/>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5" name="Tijdelijke aanduiding voor voettekst 4">
            <a:extLst>
              <a:ext uri="{FF2B5EF4-FFF2-40B4-BE49-F238E27FC236}">
                <a16:creationId xmlns:a16="http://schemas.microsoft.com/office/drawing/2014/main" id="{439ECE7C-8AE1-DAEC-33BE-DE76AE1DF04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B99B8AB-B94C-2B9D-D358-821C1169F35B}"/>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299956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3091C9-773E-4907-F3EB-90DFFCE3BE7F}"/>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B32EF22C-4D78-AECC-AD42-75578B28778A}"/>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65A4177D-7214-D595-8A36-CCAC9DD93F92}"/>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CFA77E81-259F-D71C-D889-28A814319EA0}"/>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6" name="Tijdelijke aanduiding voor voettekst 5">
            <a:extLst>
              <a:ext uri="{FF2B5EF4-FFF2-40B4-BE49-F238E27FC236}">
                <a16:creationId xmlns:a16="http://schemas.microsoft.com/office/drawing/2014/main" id="{39B807C1-38F4-B8D3-5A19-13BE31CF77D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A8AB708-DC55-CE3E-6EC6-AD51F72154E1}"/>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2479445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263BEB-066F-A738-15CE-E6F3DB808F83}"/>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789425A5-7855-9019-7C0E-D4069D9E53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4B7F2180-42E1-A8A9-3548-9215AC4F7A19}"/>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BA4FD22A-C5C0-E8FA-DE2B-9AB86F3687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45AFC383-1776-F9EF-FAE2-3C8A5FB3F947}"/>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06A0F4F4-4C65-5A9D-E6FD-DFA7B9F22FBF}"/>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8" name="Tijdelijke aanduiding voor voettekst 7">
            <a:extLst>
              <a:ext uri="{FF2B5EF4-FFF2-40B4-BE49-F238E27FC236}">
                <a16:creationId xmlns:a16="http://schemas.microsoft.com/office/drawing/2014/main" id="{6E4EB398-3454-1AC4-4B32-3EDABDA38E64}"/>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74BEB350-1F8C-7383-408E-B054397CE8E4}"/>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1172330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85F0E1-B2BE-18F7-56D9-057B2A08AC6A}"/>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8025B74A-F208-5982-0A02-5E379228E842}"/>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4" name="Tijdelijke aanduiding voor voettekst 3">
            <a:extLst>
              <a:ext uri="{FF2B5EF4-FFF2-40B4-BE49-F238E27FC236}">
                <a16:creationId xmlns:a16="http://schemas.microsoft.com/office/drawing/2014/main" id="{5A5675A5-1F4C-F1C8-912D-7FD11A5DA733}"/>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65605083-15EA-479C-5E61-1DDB0412312B}"/>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3323495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909DA090-847E-7114-91F0-6DF47EABB3B4}"/>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3" name="Tijdelijke aanduiding voor voettekst 2">
            <a:extLst>
              <a:ext uri="{FF2B5EF4-FFF2-40B4-BE49-F238E27FC236}">
                <a16:creationId xmlns:a16="http://schemas.microsoft.com/office/drawing/2014/main" id="{7E444AA6-BDF2-DE53-0EDD-A824CBC543D6}"/>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BB74291C-DBC0-C6E4-9C63-346E42889503}"/>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1775967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3FF52B-DFBA-08BD-5203-CC979A48E5C4}"/>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CB68D27B-339A-5AB0-8A20-98D55E0785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7794C250-C875-E864-1C60-128B15015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DD34FBE8-8760-A25E-16BC-2F362B5756FA}"/>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6" name="Tijdelijke aanduiding voor voettekst 5">
            <a:extLst>
              <a:ext uri="{FF2B5EF4-FFF2-40B4-BE49-F238E27FC236}">
                <a16:creationId xmlns:a16="http://schemas.microsoft.com/office/drawing/2014/main" id="{B7CF097F-04DE-A10F-21DD-353C39617A33}"/>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6F44739-09B3-9A32-41A9-B43D166F8D7D}"/>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1042955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431C2E-4182-5B43-F1CC-C2372C87A2C1}"/>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A2B0DBC0-C461-6901-D225-36CB7EBA68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DFC47FA2-8973-77A7-C282-631CE102C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E189F2FD-1836-BC60-2877-6079294A84BE}"/>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6" name="Tijdelijke aanduiding voor voettekst 5">
            <a:extLst>
              <a:ext uri="{FF2B5EF4-FFF2-40B4-BE49-F238E27FC236}">
                <a16:creationId xmlns:a16="http://schemas.microsoft.com/office/drawing/2014/main" id="{E3F1B676-D624-0FD4-E50D-320665EE6DD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1F4FC0D4-2431-BDC9-3194-B8E3D29C051F}"/>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4165099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AD4657-0013-3D9C-2D4D-632E201D1441}"/>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AB5BC61C-565A-C0E6-DE4B-CF29C6CDB81E}"/>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EF4BF453-167D-8FE3-5E83-8C419EE749B0}"/>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5" name="Tijdelijke aanduiding voor voettekst 4">
            <a:extLst>
              <a:ext uri="{FF2B5EF4-FFF2-40B4-BE49-F238E27FC236}">
                <a16:creationId xmlns:a16="http://schemas.microsoft.com/office/drawing/2014/main" id="{852B17CD-B494-B132-6DBF-69A145B8DB8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9E5CC7E-CD29-81D8-1AE1-FB2D8D99C185}"/>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777052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735B786A-8C9E-D26D-BDD5-3090E9C5AAFD}"/>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F1F0D030-C772-9748-F887-32F5208F780B}"/>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04F7EC0-3603-70EE-AA4E-D12D54EB3E4D}"/>
              </a:ext>
            </a:extLst>
          </p:cNvPr>
          <p:cNvSpPr>
            <a:spLocks noGrp="1"/>
          </p:cNvSpPr>
          <p:nvPr>
            <p:ph type="dt" sz="half" idx="10"/>
          </p:nvPr>
        </p:nvSpPr>
        <p:spPr/>
        <p:txBody>
          <a:bodyPr/>
          <a:lstStyle/>
          <a:p>
            <a:fld id="{29207095-D992-4568-93DE-B04C9EC12AEA}" type="datetimeFigureOut">
              <a:rPr lang="nl-NL" smtClean="0"/>
              <a:t>9-10-2026</a:t>
            </a:fld>
            <a:endParaRPr lang="nl-NL"/>
          </a:p>
        </p:txBody>
      </p:sp>
      <p:sp>
        <p:nvSpPr>
          <p:cNvPr id="5" name="Tijdelijke aanduiding voor voettekst 4">
            <a:extLst>
              <a:ext uri="{FF2B5EF4-FFF2-40B4-BE49-F238E27FC236}">
                <a16:creationId xmlns:a16="http://schemas.microsoft.com/office/drawing/2014/main" id="{1842FF8E-3BB0-09AB-D57E-FC38B2872F1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FB024527-3B19-6856-981D-36C602C14DDA}"/>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72550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66597705-C732-1D8B-C7F8-CE3D07B3D0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60428938-99D2-CE42-6EB9-D82E31B7B2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C3EA53DE-11AA-985D-F3D9-67723DF59C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207095-D992-4568-93DE-B04C9EC12AEA}" type="datetimeFigureOut">
              <a:rPr lang="nl-NL" smtClean="0"/>
              <a:t>9-10-2026</a:t>
            </a:fld>
            <a:endParaRPr lang="nl-NL"/>
          </a:p>
        </p:txBody>
      </p:sp>
      <p:sp>
        <p:nvSpPr>
          <p:cNvPr id="5" name="Tijdelijke aanduiding voor voettekst 4">
            <a:extLst>
              <a:ext uri="{FF2B5EF4-FFF2-40B4-BE49-F238E27FC236}">
                <a16:creationId xmlns:a16="http://schemas.microsoft.com/office/drawing/2014/main" id="{3D574240-CEA0-58C8-41A0-C82F2540CF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129DE2B5-94CE-2172-6ED6-B63CF42882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A6FBC4-FDDD-4DC1-881A-C7F544F46056}" type="slidenum">
              <a:rPr lang="nl-NL" smtClean="0"/>
              <a:t>‹nr.›</a:t>
            </a:fld>
            <a:endParaRPr lang="nl-NL"/>
          </a:p>
        </p:txBody>
      </p:sp>
    </p:spTree>
    <p:extLst>
      <p:ext uri="{BB962C8B-B14F-4D97-AF65-F5344CB8AC3E}">
        <p14:creationId xmlns:p14="http://schemas.microsoft.com/office/powerpoint/2010/main" val="528320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Geonovum/mim-metamodel/issues/93"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79720A-2437-7573-105B-89E03CD7B131}"/>
              </a:ext>
            </a:extLst>
          </p:cNvPr>
          <p:cNvSpPr>
            <a:spLocks noGrp="1"/>
          </p:cNvSpPr>
          <p:nvPr>
            <p:ph type="ctrTitle"/>
          </p:nvPr>
        </p:nvSpPr>
        <p:spPr/>
        <p:txBody>
          <a:bodyPr>
            <a:normAutofit/>
          </a:bodyPr>
          <a:lstStyle/>
          <a:p>
            <a:r>
              <a:rPr lang="nl-NL" sz="4400" dirty="0"/>
              <a:t>MIM 2.0 bespreeknotitie:</a:t>
            </a:r>
            <a:br>
              <a:rPr lang="nl-NL" sz="4400" dirty="0"/>
            </a:br>
            <a:r>
              <a:rPr lang="nl-NL" sz="4400" dirty="0" err="1"/>
              <a:t>Id’s</a:t>
            </a:r>
            <a:r>
              <a:rPr lang="nl-NL" sz="4400" dirty="0"/>
              <a:t> op conceptueel en logisch niveau</a:t>
            </a:r>
          </a:p>
        </p:txBody>
      </p:sp>
      <p:sp>
        <p:nvSpPr>
          <p:cNvPr id="3" name="Ondertitel 2">
            <a:extLst>
              <a:ext uri="{FF2B5EF4-FFF2-40B4-BE49-F238E27FC236}">
                <a16:creationId xmlns:a16="http://schemas.microsoft.com/office/drawing/2014/main" id="{6B62D7FB-6194-7B38-656F-3D1C2B32A237}"/>
              </a:ext>
            </a:extLst>
          </p:cNvPr>
          <p:cNvSpPr>
            <a:spLocks noGrp="1"/>
          </p:cNvSpPr>
          <p:nvPr>
            <p:ph type="subTitle" idx="1"/>
          </p:nvPr>
        </p:nvSpPr>
        <p:spPr>
          <a:xfrm>
            <a:off x="1524000" y="3602037"/>
            <a:ext cx="9144000" cy="2387599"/>
          </a:xfrm>
        </p:spPr>
        <p:txBody>
          <a:bodyPr>
            <a:normAutofit/>
          </a:bodyPr>
          <a:lstStyle/>
          <a:p>
            <a:r>
              <a:rPr lang="nl-NL" dirty="0" err="1"/>
              <a:t>Id’s</a:t>
            </a:r>
            <a:r>
              <a:rPr lang="nl-NL" dirty="0"/>
              <a:t> die je kan aantreffen bij domeinobjecten en gegevensobjecten</a:t>
            </a:r>
            <a:br>
              <a:rPr lang="nl-NL" dirty="0"/>
            </a:br>
            <a:r>
              <a:rPr lang="nl-NL" dirty="0"/>
              <a:t>en de onderlinge samenhang tussen deze </a:t>
            </a:r>
            <a:r>
              <a:rPr lang="nl-NL" dirty="0" err="1"/>
              <a:t>Id’s</a:t>
            </a:r>
            <a:endParaRPr lang="nl-NL" dirty="0"/>
          </a:p>
          <a:p>
            <a:endParaRPr lang="nl-NL" dirty="0"/>
          </a:p>
          <a:p>
            <a:r>
              <a:rPr lang="nl-NL" dirty="0"/>
              <a:t>door L. van Bergen, 9 oktober, n.a.v. sessie van 30 april 2026 </a:t>
            </a:r>
            <a:br>
              <a:rPr lang="nl-NL" dirty="0"/>
            </a:br>
            <a:r>
              <a:rPr lang="nl-NL" dirty="0"/>
              <a:t>en Paul Jansen n.a.v. sessie op 7 oktober 2026 </a:t>
            </a:r>
            <a:br>
              <a:rPr lang="nl-NL" dirty="0"/>
            </a:br>
            <a:r>
              <a:rPr lang="nl-NL" dirty="0"/>
              <a:t>zie ook: </a:t>
            </a:r>
            <a:r>
              <a:rPr lang="nl-NL" dirty="0">
                <a:hlinkClick r:id="rId2"/>
              </a:rPr>
              <a:t>https://github.com/Geonovum/mim-metamodel/issues/93</a:t>
            </a:r>
            <a:r>
              <a:rPr lang="nl-NL" dirty="0"/>
              <a:t> </a:t>
            </a:r>
          </a:p>
        </p:txBody>
      </p:sp>
    </p:spTree>
    <p:extLst>
      <p:ext uri="{BB962C8B-B14F-4D97-AF65-F5344CB8AC3E}">
        <p14:creationId xmlns:p14="http://schemas.microsoft.com/office/powerpoint/2010/main" val="3452366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0104F6-1383-3FA5-C7BD-CA87CAC95C24}"/>
              </a:ext>
            </a:extLst>
          </p:cNvPr>
          <p:cNvSpPr>
            <a:spLocks noGrp="1"/>
          </p:cNvSpPr>
          <p:nvPr>
            <p:ph type="title"/>
          </p:nvPr>
        </p:nvSpPr>
        <p:spPr>
          <a:xfrm>
            <a:off x="838200" y="262966"/>
            <a:ext cx="10515600" cy="1325563"/>
          </a:xfrm>
        </p:spPr>
        <p:txBody>
          <a:bodyPr/>
          <a:lstStyle/>
          <a:p>
            <a:r>
              <a:rPr lang="nl-NL" dirty="0"/>
              <a:t>Leeswijzer</a:t>
            </a:r>
          </a:p>
        </p:txBody>
      </p:sp>
      <p:sp>
        <p:nvSpPr>
          <p:cNvPr id="3" name="Tijdelijke aanduiding voor inhoud 2">
            <a:extLst>
              <a:ext uri="{FF2B5EF4-FFF2-40B4-BE49-F238E27FC236}">
                <a16:creationId xmlns:a16="http://schemas.microsoft.com/office/drawing/2014/main" id="{FEF6A446-550D-CF63-5390-83969CF6D19A}"/>
              </a:ext>
            </a:extLst>
          </p:cNvPr>
          <p:cNvSpPr>
            <a:spLocks noGrp="1"/>
          </p:cNvSpPr>
          <p:nvPr>
            <p:ph idx="1"/>
          </p:nvPr>
        </p:nvSpPr>
        <p:spPr>
          <a:xfrm>
            <a:off x="838200" y="1435100"/>
            <a:ext cx="10693400" cy="4775199"/>
          </a:xfrm>
        </p:spPr>
        <p:txBody>
          <a:bodyPr>
            <a:noAutofit/>
          </a:bodyPr>
          <a:lstStyle/>
          <a:p>
            <a:pPr marL="0" indent="0">
              <a:buNone/>
            </a:pPr>
            <a:r>
              <a:rPr lang="nl-NL" sz="1600" dirty="0"/>
              <a:t>De opbouw van deze </a:t>
            </a:r>
            <a:r>
              <a:rPr lang="nl-NL" sz="1600" dirty="0" err="1"/>
              <a:t>ppt</a:t>
            </a:r>
            <a:r>
              <a:rPr lang="nl-NL" sz="1600" dirty="0"/>
              <a:t> is niet om te beginnen met begrippen en definities, maar om te komen tot gezamenlijk begrip en een gedeeld beeld zodat we daarna kunnen toewerken naar begrippen en definities en voorkeurstermen. </a:t>
            </a:r>
          </a:p>
          <a:p>
            <a:pPr marL="0" indent="0">
              <a:buNone/>
            </a:pPr>
            <a:r>
              <a:rPr lang="nl-NL" sz="1600" dirty="0" err="1"/>
              <a:t>Id’s</a:t>
            </a:r>
            <a:r>
              <a:rPr lang="nl-NL" sz="1600" dirty="0"/>
              <a:t> worden eerst gezien als woord die een bepaalde notie uitdrukt, te weten iets wat te maken heeft met setjes van kenmerken en/of gegevenstypen die gebruikt kunnen worden voor het identificeren of uniek aanwijzen van dingen, domein objecten of gegevensobjecten, zonder de terminologie al vast te pinnen. </a:t>
            </a:r>
          </a:p>
          <a:p>
            <a:pPr marL="0" indent="0">
              <a:buNone/>
            </a:pPr>
            <a:r>
              <a:rPr lang="nl-NL" sz="1600" dirty="0"/>
              <a:t>Het 1e deel gaat over kennismaken met het onderwerp en het stapsgewijs ontwikkelen van hetzelfde beeld over </a:t>
            </a:r>
            <a:r>
              <a:rPr lang="nl-NL" sz="1600" dirty="0" err="1"/>
              <a:t>Id’s</a:t>
            </a:r>
            <a:r>
              <a:rPr lang="nl-NL" sz="1600" dirty="0"/>
              <a:t>.</a:t>
            </a:r>
          </a:p>
          <a:p>
            <a:pPr marL="0" indent="0">
              <a:buNone/>
            </a:pPr>
            <a:r>
              <a:rPr lang="nl-NL" sz="1600" dirty="0"/>
              <a:t>Het 2e deel gaat over veel geziene </a:t>
            </a:r>
            <a:r>
              <a:rPr lang="nl-NL" sz="1600" b="1" dirty="0"/>
              <a:t>modellering</a:t>
            </a:r>
            <a:r>
              <a:rPr lang="nl-NL" sz="1600" dirty="0"/>
              <a:t> van </a:t>
            </a:r>
            <a:r>
              <a:rPr lang="nl-NL" sz="1600" dirty="0" err="1"/>
              <a:t>Id’s</a:t>
            </a:r>
            <a:r>
              <a:rPr lang="nl-NL" sz="1600" dirty="0"/>
              <a:t>. Dat wat we vaak zien in informatie- en gegevensmodellen, maar iets uitgebreider omdat het aanbrengen van onderlinge samenhang tussen </a:t>
            </a:r>
            <a:r>
              <a:rPr lang="nl-NL" sz="1600" dirty="0" err="1"/>
              <a:t>Id’s</a:t>
            </a:r>
            <a:r>
              <a:rPr lang="nl-NL" sz="1600" dirty="0"/>
              <a:t> nog niet vaak gedaan wordt. </a:t>
            </a:r>
          </a:p>
          <a:p>
            <a:pPr marL="0" indent="0">
              <a:buNone/>
            </a:pPr>
            <a:r>
              <a:rPr lang="nl-NL" sz="1600" dirty="0"/>
              <a:t>Het 3e deel gaat over een voorstel voor het metamodel met definities. Status: aanzet gemaakt door Paul en Lennart, als te bespreken item (nog niet goed doorgesproken). </a:t>
            </a:r>
          </a:p>
          <a:p>
            <a:r>
              <a:rPr lang="nl-NL" sz="1600" dirty="0"/>
              <a:t>Deze wordt binnenkort besproken. bespreek item. </a:t>
            </a:r>
          </a:p>
          <a:p>
            <a:r>
              <a:rPr lang="nl-NL" sz="1600" dirty="0"/>
              <a:t>Nadat we goed begrip en goede definities hebben kunnen we ook komen tot goede voorkeurstermen, die de lading dekken en ook verschillen qua terminologie wanneer het onderscheid tussen conceptueel en logisch hier sterk van belang is. Doel van deze </a:t>
            </a:r>
            <a:r>
              <a:rPr lang="nl-NL" sz="1600" dirty="0" err="1"/>
              <a:t>ppt</a:t>
            </a:r>
            <a:r>
              <a:rPr lang="nl-NL" sz="1600" dirty="0"/>
              <a:t> is om te komen tot ook deze laatste. </a:t>
            </a:r>
          </a:p>
          <a:p>
            <a:pPr marL="0" indent="0">
              <a:buNone/>
            </a:pPr>
            <a:r>
              <a:rPr lang="nl-NL" sz="1600" dirty="0"/>
              <a:t>Hierna is het een kwestie van bedenken hoe we deze </a:t>
            </a:r>
            <a:r>
              <a:rPr lang="nl-NL" sz="1600" dirty="0" err="1"/>
              <a:t>ppt</a:t>
            </a:r>
            <a:r>
              <a:rPr lang="nl-NL" sz="1600" dirty="0"/>
              <a:t> een plek kunnen geven in MIM. Denk aan: </a:t>
            </a:r>
          </a:p>
          <a:p>
            <a:r>
              <a:rPr lang="nl-NL" sz="1600" dirty="0"/>
              <a:t>verwerken in de begripsvormingspagina’s </a:t>
            </a:r>
          </a:p>
          <a:p>
            <a:r>
              <a:rPr lang="nl-NL" sz="1600" dirty="0"/>
              <a:t>bepalen wat bij semantische herleidbaarheid hoort en wat bij MIM-</a:t>
            </a:r>
            <a:r>
              <a:rPr lang="nl-NL" sz="1600" dirty="0" err="1"/>
              <a:t>core</a:t>
            </a:r>
            <a:r>
              <a:rPr lang="nl-NL" sz="1600" dirty="0"/>
              <a:t>.</a:t>
            </a:r>
          </a:p>
        </p:txBody>
      </p:sp>
    </p:spTree>
    <p:extLst>
      <p:ext uri="{BB962C8B-B14F-4D97-AF65-F5344CB8AC3E}">
        <p14:creationId xmlns:p14="http://schemas.microsoft.com/office/powerpoint/2010/main" val="3549519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8C00D8-5DAC-90F3-94BD-6838FDE9146E}"/>
              </a:ext>
            </a:extLst>
          </p:cNvPr>
          <p:cNvSpPr>
            <a:spLocks noGrp="1"/>
          </p:cNvSpPr>
          <p:nvPr>
            <p:ph type="title"/>
          </p:nvPr>
        </p:nvSpPr>
        <p:spPr/>
        <p:txBody>
          <a:bodyPr/>
          <a:lstStyle/>
          <a:p>
            <a:r>
              <a:rPr lang="nl-NL" dirty="0"/>
              <a:t>Inleiding</a:t>
            </a:r>
          </a:p>
        </p:txBody>
      </p:sp>
      <p:sp>
        <p:nvSpPr>
          <p:cNvPr id="3" name="Tijdelijke aanduiding voor inhoud 2">
            <a:extLst>
              <a:ext uri="{FF2B5EF4-FFF2-40B4-BE49-F238E27FC236}">
                <a16:creationId xmlns:a16="http://schemas.microsoft.com/office/drawing/2014/main" id="{E38399BF-C043-564C-6CFA-8CA3CCFD832B}"/>
              </a:ext>
            </a:extLst>
          </p:cNvPr>
          <p:cNvSpPr>
            <a:spLocks noGrp="1"/>
          </p:cNvSpPr>
          <p:nvPr>
            <p:ph idx="1"/>
          </p:nvPr>
        </p:nvSpPr>
        <p:spPr>
          <a:xfrm>
            <a:off x="838199" y="1503875"/>
            <a:ext cx="10645878" cy="4989000"/>
          </a:xfrm>
        </p:spPr>
        <p:txBody>
          <a:bodyPr>
            <a:noAutofit/>
          </a:bodyPr>
          <a:lstStyle/>
          <a:p>
            <a:pPr marL="0" indent="0">
              <a:buNone/>
            </a:pPr>
            <a:r>
              <a:rPr lang="nl-NL" sz="1800" dirty="0"/>
              <a:t>Dit stuk gaat over </a:t>
            </a:r>
            <a:r>
              <a:rPr lang="nl-NL" sz="1800" dirty="0" err="1"/>
              <a:t>Id’s</a:t>
            </a:r>
            <a:r>
              <a:rPr lang="nl-NL" sz="1800" dirty="0"/>
              <a:t> van domein objecten en gegevensobjecten. Een </a:t>
            </a:r>
            <a:r>
              <a:rPr lang="nl-NL" sz="1800" dirty="0" err="1"/>
              <a:t>Id</a:t>
            </a:r>
            <a:r>
              <a:rPr lang="nl-NL" sz="1800" dirty="0"/>
              <a:t> </a:t>
            </a:r>
            <a:r>
              <a:rPr lang="nl-NL" sz="1800" i="1" dirty="0"/>
              <a:t>kan</a:t>
            </a:r>
            <a:r>
              <a:rPr lang="nl-NL" sz="1800" dirty="0"/>
              <a:t> hierbij een identificatie zijn. Het bijzondere van een identificatie is dat je goed moet weten wat hetgeen precies is wat je aan het identificeren bent (het is precies die ene). Dit laatste is bij domein objecten vrij intuïtief, maar bij gegevensobjecten lastig. Dit komt omdat je allerlei soorten en maten gegevensobjecten kan aantreffen, met allerlei gegevens erin, volgens allerlei doorsnedes en groeperingen. </a:t>
            </a:r>
          </a:p>
          <a:p>
            <a:pPr marL="0" indent="0">
              <a:buNone/>
            </a:pPr>
            <a:r>
              <a:rPr lang="nl-NL" sz="1800" dirty="0"/>
              <a:t>Daarom zeggen we: een gegevensobject bevat een bepaalde verzameling van gegevens, die voor een bepaald doel bij elkaar zijn gebracht. Dit is bewust abstract, zodat de inhoud vrij te kiezen is. Doelen zijn bv. een gegevensproduct, gegevens over een domein object, gegevens die gelijke tijdslijn geldigheid hebben, een setje gegevens om naar te kunnen verwijzen, enz. Wat je aantreft is dus: een of ander setje gegevens. </a:t>
            </a:r>
          </a:p>
          <a:p>
            <a:pPr marL="0" indent="0">
              <a:buNone/>
            </a:pPr>
            <a:r>
              <a:rPr lang="nl-NL" sz="1800" dirty="0"/>
              <a:t>Een gegevensobject laat zich niet goed typeren op basis van zijn aard, zoals we dit kennen bij domein objecten. De typering volgt simpelweg de structuur van de gegevens die bij elkaar geplaatst zijn. Je kan dus niet zomaar de vraag stellen: wat IS een gegevensobject, of wat is DE identificatie van een gegevensobject. Dit werkt op logisch niveau anders dan op conceptueel niveau bij domein objecten. </a:t>
            </a:r>
          </a:p>
          <a:p>
            <a:pPr marL="0" indent="0">
              <a:buNone/>
            </a:pPr>
            <a:r>
              <a:rPr lang="nl-NL" sz="1800" dirty="0"/>
              <a:t>Afhankelijk van de inhoud van een gegevensobject is er vrijwel altijd behoefte aan bepaalde </a:t>
            </a:r>
            <a:r>
              <a:rPr lang="nl-NL" sz="1800" dirty="0" err="1"/>
              <a:t>Id’s</a:t>
            </a:r>
            <a:r>
              <a:rPr lang="nl-NL" sz="1800" dirty="0"/>
              <a:t>. Hierbij is het vaak nuttig of nodig om meer dan 1 </a:t>
            </a:r>
            <a:r>
              <a:rPr lang="nl-NL" sz="1800" dirty="0" err="1"/>
              <a:t>Id</a:t>
            </a:r>
            <a:r>
              <a:rPr lang="nl-NL" sz="1800" dirty="0"/>
              <a:t> te modelleren. Dezelfde </a:t>
            </a:r>
            <a:r>
              <a:rPr lang="nl-NL" sz="1800" dirty="0" err="1"/>
              <a:t>Id</a:t>
            </a:r>
            <a:r>
              <a:rPr lang="nl-NL" sz="1800" dirty="0"/>
              <a:t> komt ook regelmatig terug in meerdere setjes gegevens. Hier gaat deze </a:t>
            </a:r>
            <a:r>
              <a:rPr lang="nl-NL" sz="1800" dirty="0" err="1"/>
              <a:t>ppt</a:t>
            </a:r>
            <a:r>
              <a:rPr lang="nl-NL" sz="1800" dirty="0"/>
              <a:t> over, over de verschillende soorten </a:t>
            </a:r>
            <a:r>
              <a:rPr lang="nl-NL" sz="1800" dirty="0" err="1"/>
              <a:t>Id’s</a:t>
            </a:r>
            <a:r>
              <a:rPr lang="nl-NL" sz="1800" dirty="0"/>
              <a:t> die je kan aantreffen, bij het bekijken en modelleren van domeinobjecten en gegevensobjecten. </a:t>
            </a:r>
          </a:p>
        </p:txBody>
      </p:sp>
    </p:spTree>
    <p:extLst>
      <p:ext uri="{BB962C8B-B14F-4D97-AF65-F5344CB8AC3E}">
        <p14:creationId xmlns:p14="http://schemas.microsoft.com/office/powerpoint/2010/main" val="3995734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4F6EC-7B6F-1DFD-6FFC-32B9C9A4FAE3}"/>
            </a:ext>
          </a:extLst>
        </p:cNvPr>
        <p:cNvGrpSpPr/>
        <p:nvPr/>
      </p:nvGrpSpPr>
      <p:grpSpPr>
        <a:xfrm>
          <a:off x="0" y="0"/>
          <a:ext cx="0" cy="0"/>
          <a:chOff x="0" y="0"/>
          <a:chExt cx="0" cy="0"/>
        </a:xfrm>
      </p:grpSpPr>
      <p:sp>
        <p:nvSpPr>
          <p:cNvPr id="4" name="Ovaal 3">
            <a:extLst>
              <a:ext uri="{FF2B5EF4-FFF2-40B4-BE49-F238E27FC236}">
                <a16:creationId xmlns:a16="http://schemas.microsoft.com/office/drawing/2014/main" id="{18AD12F7-B4D4-144B-17D7-5FA7B70C494F}"/>
              </a:ext>
            </a:extLst>
          </p:cNvPr>
          <p:cNvSpPr/>
          <p:nvPr/>
        </p:nvSpPr>
        <p:spPr>
          <a:xfrm>
            <a:off x="420942" y="2483740"/>
            <a:ext cx="2271252" cy="914400"/>
          </a:xfrm>
          <a:prstGeom prst="ellipse">
            <a:avLst/>
          </a:prstGeom>
          <a:solidFill>
            <a:srgbClr val="0070C0"/>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Woonplaats</a:t>
            </a:r>
          </a:p>
          <a:p>
            <a:pPr algn="ctr"/>
            <a:r>
              <a:rPr lang="nl-NL" dirty="0"/>
              <a:t>Beekbergen</a:t>
            </a:r>
          </a:p>
        </p:txBody>
      </p:sp>
      <p:sp>
        <p:nvSpPr>
          <p:cNvPr id="5" name="Tekstvak 4">
            <a:extLst>
              <a:ext uri="{FF2B5EF4-FFF2-40B4-BE49-F238E27FC236}">
                <a16:creationId xmlns:a16="http://schemas.microsoft.com/office/drawing/2014/main" id="{FC65B052-9DF0-0896-E8D2-200A2781FB42}"/>
              </a:ext>
            </a:extLst>
          </p:cNvPr>
          <p:cNvSpPr txBox="1"/>
          <p:nvPr/>
        </p:nvSpPr>
        <p:spPr>
          <a:xfrm>
            <a:off x="3057357" y="5328481"/>
            <a:ext cx="4208112" cy="646331"/>
          </a:xfrm>
          <a:prstGeom prst="rect">
            <a:avLst/>
          </a:prstGeom>
          <a:noFill/>
        </p:spPr>
        <p:txBody>
          <a:bodyPr wrap="square" rtlCol="0">
            <a:spAutoFit/>
          </a:bodyPr>
          <a:lstStyle/>
          <a:p>
            <a:r>
              <a:rPr lang="nl-NL" dirty="0"/>
              <a:t>eigenschap naam + </a:t>
            </a:r>
            <a:br>
              <a:rPr lang="nl-NL" dirty="0"/>
            </a:br>
            <a:r>
              <a:rPr lang="nl-NL" dirty="0"/>
              <a:t>kenmerk relatie naar gemeente </a:t>
            </a:r>
          </a:p>
        </p:txBody>
      </p:sp>
      <p:sp>
        <p:nvSpPr>
          <p:cNvPr id="6" name="Ovaal 5">
            <a:extLst>
              <a:ext uri="{FF2B5EF4-FFF2-40B4-BE49-F238E27FC236}">
                <a16:creationId xmlns:a16="http://schemas.microsoft.com/office/drawing/2014/main" id="{616AA7BD-907C-EEAA-F960-F90E6FA91BD5}"/>
              </a:ext>
            </a:extLst>
          </p:cNvPr>
          <p:cNvSpPr/>
          <p:nvPr/>
        </p:nvSpPr>
        <p:spPr>
          <a:xfrm>
            <a:off x="669333" y="5315269"/>
            <a:ext cx="2333278" cy="792164"/>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err="1"/>
              <a:t>Id</a:t>
            </a:r>
            <a:r>
              <a:rPr lang="nl-NL" dirty="0"/>
              <a:t> van </a:t>
            </a:r>
          </a:p>
          <a:p>
            <a:pPr algn="ctr"/>
            <a:r>
              <a:rPr lang="nl-NL" dirty="0"/>
              <a:t>domein object</a:t>
            </a:r>
          </a:p>
        </p:txBody>
      </p:sp>
      <p:sp>
        <p:nvSpPr>
          <p:cNvPr id="7" name="Tekstvak 6">
            <a:extLst>
              <a:ext uri="{FF2B5EF4-FFF2-40B4-BE49-F238E27FC236}">
                <a16:creationId xmlns:a16="http://schemas.microsoft.com/office/drawing/2014/main" id="{4D4382CA-C8C1-C1DD-BFE2-79A852182915}"/>
              </a:ext>
            </a:extLst>
          </p:cNvPr>
          <p:cNvSpPr txBox="1"/>
          <p:nvPr/>
        </p:nvSpPr>
        <p:spPr>
          <a:xfrm>
            <a:off x="669333" y="1420665"/>
            <a:ext cx="2352503" cy="923330"/>
          </a:xfrm>
          <a:prstGeom prst="rect">
            <a:avLst/>
          </a:prstGeom>
          <a:noFill/>
        </p:spPr>
        <p:txBody>
          <a:bodyPr wrap="none" rtlCol="0">
            <a:spAutoFit/>
          </a:bodyPr>
          <a:lstStyle/>
          <a:p>
            <a:r>
              <a:rPr lang="nl-NL" dirty="0"/>
              <a:t>domein object: </a:t>
            </a:r>
            <a:br>
              <a:rPr lang="nl-NL" dirty="0"/>
            </a:br>
            <a:r>
              <a:rPr lang="nl-NL" dirty="0"/>
              <a:t>een dorp/woonplaats </a:t>
            </a:r>
            <a:br>
              <a:rPr lang="nl-NL" dirty="0"/>
            </a:br>
            <a:r>
              <a:rPr lang="nl-NL" dirty="0"/>
              <a:t>Beekbergen.</a:t>
            </a:r>
          </a:p>
        </p:txBody>
      </p:sp>
      <p:sp>
        <p:nvSpPr>
          <p:cNvPr id="15" name="Ovaal 14">
            <a:extLst>
              <a:ext uri="{FF2B5EF4-FFF2-40B4-BE49-F238E27FC236}">
                <a16:creationId xmlns:a16="http://schemas.microsoft.com/office/drawing/2014/main" id="{52E77609-3195-86BB-B020-A2F4C4BBE703}"/>
              </a:ext>
            </a:extLst>
          </p:cNvPr>
          <p:cNvSpPr/>
          <p:nvPr/>
        </p:nvSpPr>
        <p:spPr>
          <a:xfrm>
            <a:off x="814437" y="3568260"/>
            <a:ext cx="2182761" cy="5063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eigenschap</a:t>
            </a:r>
          </a:p>
        </p:txBody>
      </p:sp>
      <p:sp>
        <p:nvSpPr>
          <p:cNvPr id="16" name="Ovaal 15">
            <a:extLst>
              <a:ext uri="{FF2B5EF4-FFF2-40B4-BE49-F238E27FC236}">
                <a16:creationId xmlns:a16="http://schemas.microsoft.com/office/drawing/2014/main" id="{8532B81F-211B-A7FF-FBCB-8F912C282AB5}"/>
              </a:ext>
            </a:extLst>
          </p:cNvPr>
          <p:cNvSpPr/>
          <p:nvPr/>
        </p:nvSpPr>
        <p:spPr>
          <a:xfrm>
            <a:off x="814437" y="4123063"/>
            <a:ext cx="2182761" cy="5063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eigenschap</a:t>
            </a:r>
          </a:p>
        </p:txBody>
      </p:sp>
      <p:sp>
        <p:nvSpPr>
          <p:cNvPr id="17" name="Tekstvak 16">
            <a:extLst>
              <a:ext uri="{FF2B5EF4-FFF2-40B4-BE49-F238E27FC236}">
                <a16:creationId xmlns:a16="http://schemas.microsoft.com/office/drawing/2014/main" id="{4B2398F6-3388-34F4-3612-0A8C08809255}"/>
              </a:ext>
            </a:extLst>
          </p:cNvPr>
          <p:cNvSpPr txBox="1"/>
          <p:nvPr/>
        </p:nvSpPr>
        <p:spPr>
          <a:xfrm>
            <a:off x="3049844" y="3588136"/>
            <a:ext cx="2557531" cy="369332"/>
          </a:xfrm>
          <a:prstGeom prst="rect">
            <a:avLst/>
          </a:prstGeom>
          <a:noFill/>
        </p:spPr>
        <p:txBody>
          <a:bodyPr wrap="square" rtlCol="0">
            <a:spAutoFit/>
          </a:bodyPr>
          <a:lstStyle/>
          <a:p>
            <a:r>
              <a:rPr lang="nl-NL" dirty="0"/>
              <a:t>naam</a:t>
            </a:r>
          </a:p>
        </p:txBody>
      </p:sp>
      <p:sp>
        <p:nvSpPr>
          <p:cNvPr id="18" name="Tekstvak 17">
            <a:extLst>
              <a:ext uri="{FF2B5EF4-FFF2-40B4-BE49-F238E27FC236}">
                <a16:creationId xmlns:a16="http://schemas.microsoft.com/office/drawing/2014/main" id="{338091FB-C7BE-F66A-C9D0-2FE6B2A44940}"/>
              </a:ext>
            </a:extLst>
          </p:cNvPr>
          <p:cNvSpPr txBox="1"/>
          <p:nvPr/>
        </p:nvSpPr>
        <p:spPr>
          <a:xfrm>
            <a:off x="3057357" y="4184959"/>
            <a:ext cx="3438661" cy="369332"/>
          </a:xfrm>
          <a:prstGeom prst="rect">
            <a:avLst/>
          </a:prstGeom>
          <a:noFill/>
        </p:spPr>
        <p:txBody>
          <a:bodyPr wrap="square" rtlCol="0">
            <a:spAutoFit/>
          </a:bodyPr>
          <a:lstStyle/>
          <a:p>
            <a:r>
              <a:rPr lang="nl-NL" dirty="0"/>
              <a:t>woonplaatsgrens (geometrie)</a:t>
            </a:r>
          </a:p>
        </p:txBody>
      </p:sp>
      <p:sp>
        <p:nvSpPr>
          <p:cNvPr id="19" name="Ovaal 18">
            <a:extLst>
              <a:ext uri="{FF2B5EF4-FFF2-40B4-BE49-F238E27FC236}">
                <a16:creationId xmlns:a16="http://schemas.microsoft.com/office/drawing/2014/main" id="{EF82E0A9-7EA0-5550-C782-36F13B68CB5F}"/>
              </a:ext>
            </a:extLst>
          </p:cNvPr>
          <p:cNvSpPr/>
          <p:nvPr/>
        </p:nvSpPr>
        <p:spPr>
          <a:xfrm>
            <a:off x="814436" y="4698094"/>
            <a:ext cx="2182761" cy="5063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kenmerk</a:t>
            </a:r>
          </a:p>
        </p:txBody>
      </p:sp>
      <p:sp>
        <p:nvSpPr>
          <p:cNvPr id="20" name="Tekstvak 19">
            <a:extLst>
              <a:ext uri="{FF2B5EF4-FFF2-40B4-BE49-F238E27FC236}">
                <a16:creationId xmlns:a16="http://schemas.microsoft.com/office/drawing/2014/main" id="{2A52CFB1-0B0F-5872-1AA7-02818A0DB705}"/>
              </a:ext>
            </a:extLst>
          </p:cNvPr>
          <p:cNvSpPr txBox="1"/>
          <p:nvPr/>
        </p:nvSpPr>
        <p:spPr>
          <a:xfrm>
            <a:off x="3129287" y="4722566"/>
            <a:ext cx="3199324" cy="369332"/>
          </a:xfrm>
          <a:prstGeom prst="rect">
            <a:avLst/>
          </a:prstGeom>
          <a:noFill/>
        </p:spPr>
        <p:txBody>
          <a:bodyPr wrap="square" rtlCol="0">
            <a:spAutoFit/>
          </a:bodyPr>
          <a:lstStyle/>
          <a:p>
            <a:r>
              <a:rPr lang="nl-NL" dirty="0"/>
              <a:t>ligt in gemeente Apeldoorn</a:t>
            </a:r>
          </a:p>
        </p:txBody>
      </p:sp>
      <p:sp>
        <p:nvSpPr>
          <p:cNvPr id="3" name="Titel 2">
            <a:extLst>
              <a:ext uri="{FF2B5EF4-FFF2-40B4-BE49-F238E27FC236}">
                <a16:creationId xmlns:a16="http://schemas.microsoft.com/office/drawing/2014/main" id="{D26E5D12-D304-E547-12C3-031A185C500B}"/>
              </a:ext>
            </a:extLst>
          </p:cNvPr>
          <p:cNvSpPr>
            <a:spLocks noGrp="1"/>
          </p:cNvSpPr>
          <p:nvPr>
            <p:ph type="title"/>
          </p:nvPr>
        </p:nvSpPr>
        <p:spPr>
          <a:xfrm>
            <a:off x="605824" y="231649"/>
            <a:ext cx="10652726" cy="1325563"/>
          </a:xfrm>
        </p:spPr>
        <p:txBody>
          <a:bodyPr>
            <a:noAutofit/>
          </a:bodyPr>
          <a:lstStyle/>
          <a:p>
            <a:pPr algn="ctr"/>
            <a:r>
              <a:rPr lang="nl-NL" sz="3200" dirty="0"/>
              <a:t>Even inkomen: voorbeeld van een domein object</a:t>
            </a:r>
          </a:p>
        </p:txBody>
      </p:sp>
      <p:pic>
        <p:nvPicPr>
          <p:cNvPr id="1026" name="Picture 2" descr="Luchtfoto van Beekbergen – Earth Art">
            <a:extLst>
              <a:ext uri="{FF2B5EF4-FFF2-40B4-BE49-F238E27FC236}">
                <a16:creationId xmlns:a16="http://schemas.microsoft.com/office/drawing/2014/main" id="{9A5C8702-6855-62CF-9791-699FEEB506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5127" y="1451410"/>
            <a:ext cx="1913157" cy="23135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fbeelding van de woonplaats Beekbergen op de kaart.">
            <a:extLst>
              <a:ext uri="{FF2B5EF4-FFF2-40B4-BE49-F238E27FC236}">
                <a16:creationId xmlns:a16="http://schemas.microsoft.com/office/drawing/2014/main" id="{9D097C51-BCAB-C799-9573-6CEF294061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8632" y="1388171"/>
            <a:ext cx="4846398" cy="5040068"/>
          </a:xfrm>
          <a:prstGeom prst="rect">
            <a:avLst/>
          </a:prstGeom>
          <a:noFill/>
          <a:extLst>
            <a:ext uri="{909E8E84-426E-40DD-AFC4-6F175D3DCCD1}">
              <a14:hiddenFill xmlns:a14="http://schemas.microsoft.com/office/drawing/2010/main">
                <a:solidFill>
                  <a:srgbClr val="FFFFFF"/>
                </a:solidFill>
              </a14:hiddenFill>
            </a:ext>
          </a:extLst>
        </p:spPr>
      </p:pic>
      <p:sp>
        <p:nvSpPr>
          <p:cNvPr id="8" name="Tekstvak 7">
            <a:extLst>
              <a:ext uri="{FF2B5EF4-FFF2-40B4-BE49-F238E27FC236}">
                <a16:creationId xmlns:a16="http://schemas.microsoft.com/office/drawing/2014/main" id="{4AC27550-658F-D9C4-199D-B2DF64A5E3B5}"/>
              </a:ext>
            </a:extLst>
          </p:cNvPr>
          <p:cNvSpPr txBox="1"/>
          <p:nvPr/>
        </p:nvSpPr>
        <p:spPr>
          <a:xfrm>
            <a:off x="814436" y="6192972"/>
            <a:ext cx="5625579" cy="369332"/>
          </a:xfrm>
          <a:prstGeom prst="rect">
            <a:avLst/>
          </a:prstGeom>
          <a:noFill/>
        </p:spPr>
        <p:txBody>
          <a:bodyPr wrap="none" rtlCol="0">
            <a:spAutoFit/>
          </a:bodyPr>
          <a:lstStyle/>
          <a:p>
            <a:r>
              <a:rPr lang="nl-NL" dirty="0"/>
              <a:t>Het domein object is uniek te identificeren met deze Id.</a:t>
            </a:r>
          </a:p>
        </p:txBody>
      </p:sp>
    </p:spTree>
    <p:extLst>
      <p:ext uri="{BB962C8B-B14F-4D97-AF65-F5344CB8AC3E}">
        <p14:creationId xmlns:p14="http://schemas.microsoft.com/office/powerpoint/2010/main" val="2088868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al 3">
            <a:extLst>
              <a:ext uri="{FF2B5EF4-FFF2-40B4-BE49-F238E27FC236}">
                <a16:creationId xmlns:a16="http://schemas.microsoft.com/office/drawing/2014/main" id="{FAC7722D-353D-7BB4-EA84-AFF252C9E2A8}"/>
              </a:ext>
            </a:extLst>
          </p:cNvPr>
          <p:cNvSpPr/>
          <p:nvPr/>
        </p:nvSpPr>
        <p:spPr>
          <a:xfrm>
            <a:off x="428968" y="1886055"/>
            <a:ext cx="2271252" cy="914400"/>
          </a:xfrm>
          <a:prstGeom prst="ellipse">
            <a:avLst/>
          </a:prstGeom>
          <a:solidFill>
            <a:srgbClr val="0070C0"/>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Woonplaats</a:t>
            </a:r>
          </a:p>
          <a:p>
            <a:pPr algn="ctr"/>
            <a:r>
              <a:rPr lang="nl-NL" dirty="0"/>
              <a:t>Beekbergen</a:t>
            </a:r>
          </a:p>
        </p:txBody>
      </p:sp>
      <p:sp>
        <p:nvSpPr>
          <p:cNvPr id="5" name="Tekstvak 4">
            <a:extLst>
              <a:ext uri="{FF2B5EF4-FFF2-40B4-BE49-F238E27FC236}">
                <a16:creationId xmlns:a16="http://schemas.microsoft.com/office/drawing/2014/main" id="{190542D6-042A-251A-7499-F5825B869287}"/>
              </a:ext>
            </a:extLst>
          </p:cNvPr>
          <p:cNvSpPr txBox="1"/>
          <p:nvPr/>
        </p:nvSpPr>
        <p:spPr>
          <a:xfrm>
            <a:off x="2804825" y="4812107"/>
            <a:ext cx="3364405" cy="646331"/>
          </a:xfrm>
          <a:prstGeom prst="rect">
            <a:avLst/>
          </a:prstGeom>
          <a:noFill/>
        </p:spPr>
        <p:txBody>
          <a:bodyPr wrap="square" rtlCol="0">
            <a:spAutoFit/>
          </a:bodyPr>
          <a:lstStyle/>
          <a:p>
            <a:r>
              <a:rPr lang="nl-NL" dirty="0"/>
              <a:t>eigenschap naam + </a:t>
            </a:r>
            <a:br>
              <a:rPr lang="nl-NL" dirty="0"/>
            </a:br>
            <a:r>
              <a:rPr lang="nl-NL" dirty="0"/>
              <a:t>kenmerk relatie naar gemeente </a:t>
            </a:r>
          </a:p>
        </p:txBody>
      </p:sp>
      <p:sp>
        <p:nvSpPr>
          <p:cNvPr id="6" name="Ovaal 5">
            <a:extLst>
              <a:ext uri="{FF2B5EF4-FFF2-40B4-BE49-F238E27FC236}">
                <a16:creationId xmlns:a16="http://schemas.microsoft.com/office/drawing/2014/main" id="{733CA8E1-39E8-1FEE-A897-B53506421B8F}"/>
              </a:ext>
            </a:extLst>
          </p:cNvPr>
          <p:cNvSpPr/>
          <p:nvPr/>
        </p:nvSpPr>
        <p:spPr>
          <a:xfrm>
            <a:off x="822462" y="4717584"/>
            <a:ext cx="1877757" cy="982622"/>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err="1"/>
              <a:t>Id</a:t>
            </a:r>
            <a:r>
              <a:rPr lang="nl-NL" dirty="0"/>
              <a:t> van </a:t>
            </a:r>
          </a:p>
          <a:p>
            <a:pPr algn="ctr"/>
            <a:r>
              <a:rPr lang="nl-NL" dirty="0"/>
              <a:t>domein object</a:t>
            </a:r>
          </a:p>
        </p:txBody>
      </p:sp>
      <p:sp>
        <p:nvSpPr>
          <p:cNvPr id="15" name="Ovaal 14">
            <a:extLst>
              <a:ext uri="{FF2B5EF4-FFF2-40B4-BE49-F238E27FC236}">
                <a16:creationId xmlns:a16="http://schemas.microsoft.com/office/drawing/2014/main" id="{92DB7A3D-249B-F720-043C-4C44B451B79A}"/>
              </a:ext>
            </a:extLst>
          </p:cNvPr>
          <p:cNvSpPr/>
          <p:nvPr/>
        </p:nvSpPr>
        <p:spPr>
          <a:xfrm>
            <a:off x="822463" y="2970575"/>
            <a:ext cx="1877757" cy="5063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eigenschap</a:t>
            </a:r>
          </a:p>
        </p:txBody>
      </p:sp>
      <p:sp>
        <p:nvSpPr>
          <p:cNvPr id="16" name="Ovaal 15">
            <a:extLst>
              <a:ext uri="{FF2B5EF4-FFF2-40B4-BE49-F238E27FC236}">
                <a16:creationId xmlns:a16="http://schemas.microsoft.com/office/drawing/2014/main" id="{813A9223-C52F-4589-DC54-C0E738267D60}"/>
              </a:ext>
            </a:extLst>
          </p:cNvPr>
          <p:cNvSpPr/>
          <p:nvPr/>
        </p:nvSpPr>
        <p:spPr>
          <a:xfrm>
            <a:off x="822463" y="3525378"/>
            <a:ext cx="1877757" cy="5063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eigenschap</a:t>
            </a:r>
          </a:p>
        </p:txBody>
      </p:sp>
      <p:sp>
        <p:nvSpPr>
          <p:cNvPr id="17" name="Tekstvak 16">
            <a:extLst>
              <a:ext uri="{FF2B5EF4-FFF2-40B4-BE49-F238E27FC236}">
                <a16:creationId xmlns:a16="http://schemas.microsoft.com/office/drawing/2014/main" id="{EA5AE1ED-DBB2-66AA-A8B8-D492BC096B29}"/>
              </a:ext>
            </a:extLst>
          </p:cNvPr>
          <p:cNvSpPr txBox="1"/>
          <p:nvPr/>
        </p:nvSpPr>
        <p:spPr>
          <a:xfrm>
            <a:off x="2745046" y="2990451"/>
            <a:ext cx="2557531" cy="369332"/>
          </a:xfrm>
          <a:prstGeom prst="rect">
            <a:avLst/>
          </a:prstGeom>
          <a:noFill/>
        </p:spPr>
        <p:txBody>
          <a:bodyPr wrap="square" rtlCol="0">
            <a:spAutoFit/>
          </a:bodyPr>
          <a:lstStyle/>
          <a:p>
            <a:r>
              <a:rPr lang="nl-NL" dirty="0"/>
              <a:t>naam</a:t>
            </a:r>
          </a:p>
        </p:txBody>
      </p:sp>
      <p:sp>
        <p:nvSpPr>
          <p:cNvPr id="18" name="Tekstvak 17">
            <a:extLst>
              <a:ext uri="{FF2B5EF4-FFF2-40B4-BE49-F238E27FC236}">
                <a16:creationId xmlns:a16="http://schemas.microsoft.com/office/drawing/2014/main" id="{C3A77695-6EA7-E94A-42D7-5E1CB307DBD7}"/>
              </a:ext>
            </a:extLst>
          </p:cNvPr>
          <p:cNvSpPr txBox="1"/>
          <p:nvPr/>
        </p:nvSpPr>
        <p:spPr>
          <a:xfrm>
            <a:off x="2804825" y="3525294"/>
            <a:ext cx="3438661" cy="369332"/>
          </a:xfrm>
          <a:prstGeom prst="rect">
            <a:avLst/>
          </a:prstGeom>
          <a:noFill/>
        </p:spPr>
        <p:txBody>
          <a:bodyPr wrap="square" rtlCol="0">
            <a:spAutoFit/>
          </a:bodyPr>
          <a:lstStyle/>
          <a:p>
            <a:r>
              <a:rPr lang="nl-NL" dirty="0"/>
              <a:t>woonplaatsgrens (geometrie)</a:t>
            </a:r>
          </a:p>
        </p:txBody>
      </p:sp>
      <p:sp>
        <p:nvSpPr>
          <p:cNvPr id="19" name="Ovaal 18">
            <a:extLst>
              <a:ext uri="{FF2B5EF4-FFF2-40B4-BE49-F238E27FC236}">
                <a16:creationId xmlns:a16="http://schemas.microsoft.com/office/drawing/2014/main" id="{262DFB20-7B1A-C388-AB7F-D6B583603EA7}"/>
              </a:ext>
            </a:extLst>
          </p:cNvPr>
          <p:cNvSpPr/>
          <p:nvPr/>
        </p:nvSpPr>
        <p:spPr>
          <a:xfrm>
            <a:off x="822462" y="4100409"/>
            <a:ext cx="1877757" cy="5063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kenmerk</a:t>
            </a:r>
          </a:p>
        </p:txBody>
      </p:sp>
      <p:sp>
        <p:nvSpPr>
          <p:cNvPr id="20" name="Tekstvak 19">
            <a:extLst>
              <a:ext uri="{FF2B5EF4-FFF2-40B4-BE49-F238E27FC236}">
                <a16:creationId xmlns:a16="http://schemas.microsoft.com/office/drawing/2014/main" id="{1385406E-81F0-4BE3-3B5D-FBA48A6CE4EA}"/>
              </a:ext>
            </a:extLst>
          </p:cNvPr>
          <p:cNvSpPr txBox="1"/>
          <p:nvPr/>
        </p:nvSpPr>
        <p:spPr>
          <a:xfrm>
            <a:off x="2824489" y="4124881"/>
            <a:ext cx="3199324" cy="369332"/>
          </a:xfrm>
          <a:prstGeom prst="rect">
            <a:avLst/>
          </a:prstGeom>
          <a:noFill/>
        </p:spPr>
        <p:txBody>
          <a:bodyPr wrap="square" rtlCol="0">
            <a:spAutoFit/>
          </a:bodyPr>
          <a:lstStyle/>
          <a:p>
            <a:r>
              <a:rPr lang="nl-NL" dirty="0"/>
              <a:t>ligt in gemeente Apeldoorn</a:t>
            </a:r>
          </a:p>
        </p:txBody>
      </p:sp>
      <p:sp>
        <p:nvSpPr>
          <p:cNvPr id="2" name="Tekstvak 1">
            <a:extLst>
              <a:ext uri="{FF2B5EF4-FFF2-40B4-BE49-F238E27FC236}">
                <a16:creationId xmlns:a16="http://schemas.microsoft.com/office/drawing/2014/main" id="{42B65D4F-931F-F0EA-6517-CEC3E71447CA}"/>
              </a:ext>
            </a:extLst>
          </p:cNvPr>
          <p:cNvSpPr txBox="1"/>
          <p:nvPr/>
        </p:nvSpPr>
        <p:spPr>
          <a:xfrm>
            <a:off x="6168189" y="1602231"/>
            <a:ext cx="5792977" cy="4801314"/>
          </a:xfrm>
          <a:prstGeom prst="rect">
            <a:avLst/>
          </a:prstGeom>
          <a:noFill/>
        </p:spPr>
        <p:txBody>
          <a:bodyPr wrap="square" rtlCol="0">
            <a:spAutoFit/>
          </a:bodyPr>
          <a:lstStyle/>
          <a:p>
            <a:r>
              <a:rPr lang="nl-NL" dirty="0"/>
              <a:t>Voorbeelden van setjes gegevens in gegevensobjecten met als onderwerp de woonplaats Beekbergen:</a:t>
            </a:r>
            <a:br>
              <a:rPr lang="nl-NL" dirty="0"/>
            </a:br>
            <a:endParaRPr lang="nl-NL" dirty="0"/>
          </a:p>
          <a:p>
            <a:pPr marL="342900" indent="-342900">
              <a:buFont typeface="+mj-lt"/>
              <a:buAutoNum type="arabicPeriod"/>
            </a:pPr>
            <a:r>
              <a:rPr lang="nl-NL" dirty="0"/>
              <a:t>Beekbergen</a:t>
            </a:r>
          </a:p>
          <a:p>
            <a:pPr marL="342900" indent="-342900">
              <a:buFont typeface="+mj-lt"/>
              <a:buAutoNum type="arabicPeriod"/>
            </a:pPr>
            <a:r>
              <a:rPr lang="nl-NL" dirty="0"/>
              <a:t>Beekbergen + geometrie</a:t>
            </a:r>
          </a:p>
          <a:p>
            <a:pPr marL="342900" indent="-342900">
              <a:buFont typeface="+mj-lt"/>
              <a:buAutoNum type="arabicPeriod"/>
            </a:pPr>
            <a:r>
              <a:rPr lang="nl-NL" dirty="0"/>
              <a:t>Beekbergen + gemeentenaam Apeldoorn</a:t>
            </a:r>
          </a:p>
          <a:p>
            <a:pPr marL="342900" indent="-342900">
              <a:buFont typeface="+mj-lt"/>
              <a:buAutoNum type="arabicPeriod"/>
            </a:pPr>
            <a:r>
              <a:rPr lang="nl-NL" dirty="0"/>
              <a:t>Beekbergen + gemeencode Apeldoorn</a:t>
            </a:r>
          </a:p>
          <a:p>
            <a:pPr marL="342900" indent="-342900">
              <a:buFont typeface="+mj-lt"/>
              <a:buAutoNum type="arabicPeriod"/>
            </a:pPr>
            <a:r>
              <a:rPr lang="nl-NL" dirty="0"/>
              <a:t>NEN3610 ID 12345 + Beekbergen</a:t>
            </a:r>
          </a:p>
          <a:p>
            <a:pPr marL="342900" indent="-342900">
              <a:buFont typeface="+mj-lt"/>
              <a:buAutoNum type="arabicPeriod"/>
            </a:pPr>
            <a:r>
              <a:rPr lang="nl-NL" dirty="0"/>
              <a:t>NEN3610 ID 12345 + Beekbergen + </a:t>
            </a:r>
            <a:br>
              <a:rPr lang="nl-NL" dirty="0"/>
            </a:br>
            <a:r>
              <a:rPr lang="nl-NL" dirty="0"/>
              <a:t>gemeentecode van Apeldoorn </a:t>
            </a:r>
          </a:p>
          <a:p>
            <a:pPr marL="342900" indent="-342900">
              <a:buFont typeface="+mj-lt"/>
              <a:buAutoNum type="arabicPeriod"/>
            </a:pPr>
            <a:r>
              <a:rPr lang="nl-NL" dirty="0"/>
              <a:t>NEN3610 ID 12345 + versie 1 + begin geldigheid 1/1/2022 + Beekbergen + geometrie + gemeentecode</a:t>
            </a:r>
          </a:p>
          <a:p>
            <a:pPr marL="342900" indent="-342900">
              <a:buFont typeface="+mj-lt"/>
              <a:buAutoNum type="arabicPeriod"/>
            </a:pPr>
            <a:r>
              <a:rPr lang="nl-NL" dirty="0"/>
              <a:t>NEN3610 ID 12345 + versie 2 +begin geldigheid 5/5/2025 + Beekbergen + geometrie + gemeentecode</a:t>
            </a:r>
            <a:br>
              <a:rPr lang="nl-NL" dirty="0"/>
            </a:br>
            <a:endParaRPr lang="nl-NL" dirty="0"/>
          </a:p>
          <a:p>
            <a:r>
              <a:rPr lang="nl-NL" dirty="0"/>
              <a:t>Merk op dat de setjes zelf geen eigen </a:t>
            </a:r>
            <a:r>
              <a:rPr lang="nl-NL" dirty="0" err="1"/>
              <a:t>Id</a:t>
            </a:r>
            <a:r>
              <a:rPr lang="nl-NL" dirty="0"/>
              <a:t> hebben, </a:t>
            </a:r>
            <a:br>
              <a:rPr lang="nl-NL" dirty="0"/>
            </a:br>
            <a:r>
              <a:rPr lang="nl-NL" dirty="0"/>
              <a:t>ze bevatten wel </a:t>
            </a:r>
            <a:r>
              <a:rPr lang="nl-NL" dirty="0" err="1"/>
              <a:t>Id’s</a:t>
            </a:r>
            <a:r>
              <a:rPr lang="nl-NL" dirty="0"/>
              <a:t>, soms meerdere. </a:t>
            </a:r>
          </a:p>
        </p:txBody>
      </p:sp>
      <p:sp>
        <p:nvSpPr>
          <p:cNvPr id="3" name="Titel 2">
            <a:extLst>
              <a:ext uri="{FF2B5EF4-FFF2-40B4-BE49-F238E27FC236}">
                <a16:creationId xmlns:a16="http://schemas.microsoft.com/office/drawing/2014/main" id="{E6C8876B-6907-5A93-5072-6874A2DF1228}"/>
              </a:ext>
            </a:extLst>
          </p:cNvPr>
          <p:cNvSpPr>
            <a:spLocks noGrp="1"/>
          </p:cNvSpPr>
          <p:nvPr>
            <p:ph type="title"/>
          </p:nvPr>
        </p:nvSpPr>
        <p:spPr>
          <a:xfrm>
            <a:off x="605824" y="231649"/>
            <a:ext cx="10652726" cy="1325563"/>
          </a:xfrm>
        </p:spPr>
        <p:txBody>
          <a:bodyPr>
            <a:noAutofit/>
          </a:bodyPr>
          <a:lstStyle/>
          <a:p>
            <a:pPr algn="ctr"/>
            <a:r>
              <a:rPr lang="nl-NL" sz="3200" dirty="0"/>
              <a:t>Even inkomen: voorbeelden van gegevensobject</a:t>
            </a:r>
            <a:r>
              <a:rPr lang="nl-NL" sz="3200" u="sng" dirty="0"/>
              <a:t>en</a:t>
            </a:r>
            <a:r>
              <a:rPr lang="nl-NL" sz="3200" dirty="0"/>
              <a:t>, </a:t>
            </a:r>
            <a:br>
              <a:rPr lang="nl-NL" sz="3200" dirty="0"/>
            </a:br>
            <a:r>
              <a:rPr lang="nl-NL" sz="3200" dirty="0"/>
              <a:t>en gegevens die je hierin kan aantreffen </a:t>
            </a:r>
            <a:r>
              <a:rPr lang="nl-NL" sz="3200" i="1" dirty="0"/>
              <a:t>over</a:t>
            </a:r>
            <a:r>
              <a:rPr lang="nl-NL" sz="3200" dirty="0"/>
              <a:t> een domein object</a:t>
            </a:r>
          </a:p>
        </p:txBody>
      </p:sp>
      <p:sp>
        <p:nvSpPr>
          <p:cNvPr id="9" name="Tekstvak 8">
            <a:extLst>
              <a:ext uri="{FF2B5EF4-FFF2-40B4-BE49-F238E27FC236}">
                <a16:creationId xmlns:a16="http://schemas.microsoft.com/office/drawing/2014/main" id="{48FAAA4D-C768-3BB7-C33B-BCCC036923E6}"/>
              </a:ext>
            </a:extLst>
          </p:cNvPr>
          <p:cNvSpPr txBox="1"/>
          <p:nvPr/>
        </p:nvSpPr>
        <p:spPr>
          <a:xfrm>
            <a:off x="613850" y="5734860"/>
            <a:ext cx="5625579" cy="369332"/>
          </a:xfrm>
          <a:prstGeom prst="rect">
            <a:avLst/>
          </a:prstGeom>
          <a:noFill/>
        </p:spPr>
        <p:txBody>
          <a:bodyPr wrap="none" rtlCol="0">
            <a:spAutoFit/>
          </a:bodyPr>
          <a:lstStyle/>
          <a:p>
            <a:r>
              <a:rPr lang="nl-NL" dirty="0"/>
              <a:t>Het domein object is uniek te identificeren met deze Id.</a:t>
            </a:r>
          </a:p>
        </p:txBody>
      </p:sp>
    </p:spTree>
    <p:extLst>
      <p:ext uri="{BB962C8B-B14F-4D97-AF65-F5344CB8AC3E}">
        <p14:creationId xmlns:p14="http://schemas.microsoft.com/office/powerpoint/2010/main" val="332878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53FAB2-33B6-927C-40F3-C2E0358765F1}"/>
              </a:ext>
            </a:extLst>
          </p:cNvPr>
          <p:cNvSpPr>
            <a:spLocks noGrp="1"/>
          </p:cNvSpPr>
          <p:nvPr>
            <p:ph type="title"/>
          </p:nvPr>
        </p:nvSpPr>
        <p:spPr>
          <a:xfrm>
            <a:off x="838201" y="478431"/>
            <a:ext cx="10921180" cy="1325563"/>
          </a:xfrm>
        </p:spPr>
        <p:txBody>
          <a:bodyPr>
            <a:normAutofit/>
          </a:bodyPr>
          <a:lstStyle/>
          <a:p>
            <a:r>
              <a:rPr lang="nl-NL" sz="2800" dirty="0"/>
              <a:t>Samenhang beschouwde werkelijkheid en gegevensverwerkingsdomein(en)</a:t>
            </a:r>
          </a:p>
        </p:txBody>
      </p:sp>
      <p:sp>
        <p:nvSpPr>
          <p:cNvPr id="3" name="Tijdelijke aanduiding voor inhoud 2">
            <a:extLst>
              <a:ext uri="{FF2B5EF4-FFF2-40B4-BE49-F238E27FC236}">
                <a16:creationId xmlns:a16="http://schemas.microsoft.com/office/drawing/2014/main" id="{A69D5E73-6275-00DC-4765-03E099D1EA7B}"/>
              </a:ext>
            </a:extLst>
          </p:cNvPr>
          <p:cNvSpPr>
            <a:spLocks noGrp="1"/>
          </p:cNvSpPr>
          <p:nvPr>
            <p:ph idx="1"/>
          </p:nvPr>
        </p:nvSpPr>
        <p:spPr>
          <a:xfrm>
            <a:off x="838201" y="1540722"/>
            <a:ext cx="10655300" cy="4469452"/>
          </a:xfrm>
        </p:spPr>
        <p:txBody>
          <a:bodyPr>
            <a:noAutofit/>
          </a:bodyPr>
          <a:lstStyle/>
          <a:p>
            <a:pPr marL="0" indent="0">
              <a:buNone/>
            </a:pPr>
            <a:r>
              <a:rPr lang="nl-NL" sz="1600" dirty="0"/>
              <a:t>Gegevens gaan over eigenschappen van domeinobjecten. Wanneer het bij gegevens niet meer eenduidig helder is over welk domeinobject deze gaan, dan zijn we losgeslagen van de (beschouwde) werkelijkheid en dan zijn de gegevens niet meer betrouwbaar te verwerken. </a:t>
            </a:r>
          </a:p>
          <a:p>
            <a:pPr marL="0" indent="0">
              <a:buNone/>
            </a:pPr>
            <a:r>
              <a:rPr lang="nl-NL" sz="1600" dirty="0"/>
              <a:t>In het verwerkingsdomein is het bij administraties vaak gebruikelijk om </a:t>
            </a:r>
            <a:r>
              <a:rPr lang="nl-NL" sz="1600" dirty="0" err="1"/>
              <a:t>by</a:t>
            </a:r>
            <a:r>
              <a:rPr lang="nl-NL" sz="1600" dirty="0"/>
              <a:t> design precies 1 gegevensobject te spiegelen aan precies 1 domein object. Bv. domein Woonplaats en gegevensobject Woonplaats. Maar dit is niet perse altijd het geval. Hoe meer je naar gegevensproducten gaat die op maat gemaakt zijn voor gebruikers, hoe meer we zien dat gegevens over verschillende domeinobjecten bij elkaar worden gezet in 1 gegevensobject. Tegelijkertijd kunnen vele gegevensobjecten, in het eigen of een ander gegevensverwerkingsdomeinen over hetzelfde domein object gaan. </a:t>
            </a:r>
          </a:p>
          <a:p>
            <a:pPr marL="0" indent="0">
              <a:buNone/>
            </a:pPr>
            <a:r>
              <a:rPr lang="nl-NL" sz="1600" dirty="0"/>
              <a:t>Dit maakt het extra belangrijk om eenduidig aan te geven hoe de verhouding is tussen ‘</a:t>
            </a:r>
            <a:r>
              <a:rPr lang="nl-NL" sz="1600" i="1" dirty="0"/>
              <a:t>de gegevensobjecten en de gegevens erin</a:t>
            </a:r>
            <a:r>
              <a:rPr lang="nl-NL" sz="1600" dirty="0"/>
              <a:t>’ en ‘</a:t>
            </a:r>
            <a:r>
              <a:rPr lang="nl-NL" sz="1600" i="1" dirty="0"/>
              <a:t>de domeinobjecten en hun eigenschappen</a:t>
            </a:r>
            <a:r>
              <a:rPr lang="nl-NL" sz="1600" dirty="0"/>
              <a:t>’, waarover deze gegevens gaan. Identificatieprocessen en </a:t>
            </a:r>
            <a:r>
              <a:rPr lang="nl-NL" sz="1600" dirty="0" err="1"/>
              <a:t>Id’s</a:t>
            </a:r>
            <a:r>
              <a:rPr lang="nl-NL" sz="1600" dirty="0"/>
              <a:t> spelen hierbij een essentiële rol. </a:t>
            </a:r>
          </a:p>
          <a:p>
            <a:pPr marL="0" indent="0">
              <a:buNone/>
            </a:pPr>
            <a:endParaRPr lang="nl-NL" sz="1600" dirty="0"/>
          </a:p>
          <a:p>
            <a:pPr marL="0" indent="0">
              <a:buNone/>
            </a:pPr>
            <a:endParaRPr lang="nl-NL" sz="1600" dirty="0"/>
          </a:p>
          <a:p>
            <a:pPr marL="0" indent="0">
              <a:buNone/>
            </a:pPr>
            <a:endParaRPr lang="nl-NL" sz="1600" b="1" dirty="0"/>
          </a:p>
          <a:p>
            <a:pPr marL="0" indent="0">
              <a:buNone/>
            </a:pPr>
            <a:r>
              <a:rPr lang="nl-NL" sz="1600" b="1" dirty="0"/>
              <a:t>Conclusie</a:t>
            </a:r>
            <a:r>
              <a:rPr lang="nl-NL" sz="1600" dirty="0"/>
              <a:t>: het is zeer van belang dat dat </a:t>
            </a:r>
            <a:r>
              <a:rPr lang="nl-NL" sz="1600" dirty="0" err="1"/>
              <a:t>Id’s</a:t>
            </a:r>
            <a:r>
              <a:rPr lang="nl-NL" sz="1600" dirty="0"/>
              <a:t> die gebruikt worden in gegevensobjecten betrouwbaar te koppelen zijn aan de </a:t>
            </a:r>
            <a:r>
              <a:rPr lang="nl-NL" sz="1600" dirty="0" err="1"/>
              <a:t>Id’s</a:t>
            </a:r>
            <a:r>
              <a:rPr lang="nl-NL" sz="1600" dirty="0"/>
              <a:t> van de domeinobjecten waarover de gegevens gaan. Vanwege de zoektocht naar goede passende terminologie noemen we deze hier nog even </a:t>
            </a:r>
            <a:r>
              <a:rPr lang="nl-NL" sz="1600" dirty="0" err="1"/>
              <a:t>Id’s</a:t>
            </a:r>
            <a:r>
              <a:rPr lang="nl-NL" sz="1600" dirty="0"/>
              <a:t>. </a:t>
            </a:r>
            <a:r>
              <a:rPr lang="nl-NL" sz="1600" dirty="0" err="1"/>
              <a:t>Id’s</a:t>
            </a:r>
            <a:r>
              <a:rPr lang="nl-NL" sz="1600" dirty="0"/>
              <a:t> zijn soms bedoeld om iets te identificeren en soms om iets aan te wijzen of te koppelen. Waarbij het gegevensmodel zich kan beperken tot: voldoende eenduidig voor een bepaald gebruik.</a:t>
            </a:r>
          </a:p>
        </p:txBody>
      </p:sp>
      <p:grpSp>
        <p:nvGrpSpPr>
          <p:cNvPr id="27" name="Groep 26">
            <a:extLst>
              <a:ext uri="{FF2B5EF4-FFF2-40B4-BE49-F238E27FC236}">
                <a16:creationId xmlns:a16="http://schemas.microsoft.com/office/drawing/2014/main" id="{3A0FD32F-45FF-708E-13C7-E51B5511328D}"/>
              </a:ext>
            </a:extLst>
          </p:cNvPr>
          <p:cNvGrpSpPr/>
          <p:nvPr/>
        </p:nvGrpSpPr>
        <p:grpSpPr>
          <a:xfrm>
            <a:off x="4373880" y="4183688"/>
            <a:ext cx="4440127" cy="1104094"/>
            <a:chOff x="1074420" y="4085367"/>
            <a:chExt cx="4440127" cy="1104094"/>
          </a:xfrm>
        </p:grpSpPr>
        <p:sp>
          <p:nvSpPr>
            <p:cNvPr id="16" name="Tekstvak 15">
              <a:extLst>
                <a:ext uri="{FF2B5EF4-FFF2-40B4-BE49-F238E27FC236}">
                  <a16:creationId xmlns:a16="http://schemas.microsoft.com/office/drawing/2014/main" id="{30D8998D-7E8E-6126-B033-5FFEE627C16C}"/>
                </a:ext>
              </a:extLst>
            </p:cNvPr>
            <p:cNvSpPr txBox="1"/>
            <p:nvPr/>
          </p:nvSpPr>
          <p:spPr>
            <a:xfrm>
              <a:off x="3491877" y="4666241"/>
              <a:ext cx="2022670" cy="523220"/>
            </a:xfrm>
            <a:prstGeom prst="rect">
              <a:avLst/>
            </a:prstGeom>
            <a:noFill/>
          </p:spPr>
          <p:txBody>
            <a:bodyPr wrap="none" rtlCol="0">
              <a:spAutoFit/>
            </a:bodyPr>
            <a:lstStyle/>
            <a:p>
              <a:r>
                <a:rPr lang="nl-NL" sz="1400" dirty="0"/>
                <a:t>Naam: Pascal Hendriks</a:t>
              </a:r>
            </a:p>
            <a:p>
              <a:r>
                <a:rPr lang="nl-NL" sz="1400" dirty="0"/>
                <a:t>Woonplaats: Eindhoven</a:t>
              </a:r>
            </a:p>
          </p:txBody>
        </p:sp>
        <p:cxnSp>
          <p:nvCxnSpPr>
            <p:cNvPr id="17" name="Rechte verbindingslijn met pijl 16">
              <a:extLst>
                <a:ext uri="{FF2B5EF4-FFF2-40B4-BE49-F238E27FC236}">
                  <a16:creationId xmlns:a16="http://schemas.microsoft.com/office/drawing/2014/main" id="{01340A83-DCD1-B564-2AB7-37D6EC418B09}"/>
                </a:ext>
              </a:extLst>
            </p:cNvPr>
            <p:cNvCxnSpPr/>
            <p:nvPr/>
          </p:nvCxnSpPr>
          <p:spPr>
            <a:xfrm flipH="1">
              <a:off x="2939962" y="4494098"/>
              <a:ext cx="460650" cy="0"/>
            </a:xfrm>
            <a:prstGeom prst="straightConnector1">
              <a:avLst/>
            </a:prstGeom>
            <a:ln w="63500">
              <a:solidFill>
                <a:srgbClr val="00B050"/>
              </a:solidFill>
              <a:tailEnd type="triangle" w="lg" len="lg"/>
            </a:ln>
          </p:spPr>
          <p:style>
            <a:lnRef idx="2">
              <a:schemeClr val="accent1"/>
            </a:lnRef>
            <a:fillRef idx="0">
              <a:schemeClr val="accent1"/>
            </a:fillRef>
            <a:effectRef idx="1">
              <a:schemeClr val="accent1"/>
            </a:effectRef>
            <a:fontRef idx="minor">
              <a:schemeClr val="tx1"/>
            </a:fontRef>
          </p:style>
        </p:cxnSp>
        <p:sp>
          <p:nvSpPr>
            <p:cNvPr id="18" name="Tekstvak 17">
              <a:extLst>
                <a:ext uri="{FF2B5EF4-FFF2-40B4-BE49-F238E27FC236}">
                  <a16:creationId xmlns:a16="http://schemas.microsoft.com/office/drawing/2014/main" id="{836E087D-086F-6F3B-4DB8-0CD405397FDB}"/>
                </a:ext>
              </a:extLst>
            </p:cNvPr>
            <p:cNvSpPr txBox="1"/>
            <p:nvPr/>
          </p:nvSpPr>
          <p:spPr>
            <a:xfrm>
              <a:off x="2651939" y="4378802"/>
              <a:ext cx="206540" cy="208485"/>
            </a:xfrm>
            <a:prstGeom prst="rect">
              <a:avLst/>
            </a:prstGeom>
            <a:noFill/>
          </p:spPr>
          <p:txBody>
            <a:bodyPr wrap="none" rtlCol="0">
              <a:spAutoFit/>
            </a:bodyPr>
            <a:lstStyle/>
            <a:p>
              <a:r>
                <a:rPr lang="nl-NL" sz="5400" b="1" dirty="0">
                  <a:solidFill>
                    <a:srgbClr val="FF0000"/>
                  </a:solidFill>
                </a:rPr>
                <a:t>?</a:t>
              </a:r>
            </a:p>
          </p:txBody>
        </p:sp>
        <p:sp>
          <p:nvSpPr>
            <p:cNvPr id="19" name="Tekstvak 18">
              <a:extLst>
                <a:ext uri="{FF2B5EF4-FFF2-40B4-BE49-F238E27FC236}">
                  <a16:creationId xmlns:a16="http://schemas.microsoft.com/office/drawing/2014/main" id="{4F280A31-06D7-8D38-4A63-C181F003DE02}"/>
                </a:ext>
              </a:extLst>
            </p:cNvPr>
            <p:cNvSpPr txBox="1"/>
            <p:nvPr/>
          </p:nvSpPr>
          <p:spPr>
            <a:xfrm>
              <a:off x="3499457" y="4095471"/>
              <a:ext cx="1579954" cy="145939"/>
            </a:xfrm>
            <a:prstGeom prst="rect">
              <a:avLst/>
            </a:prstGeom>
            <a:noFill/>
          </p:spPr>
          <p:txBody>
            <a:bodyPr wrap="none" rtlCol="0">
              <a:spAutoFit/>
            </a:bodyPr>
            <a:lstStyle/>
            <a:p>
              <a:r>
                <a:rPr lang="nl-NL" dirty="0">
                  <a:solidFill>
                    <a:schemeClr val="bg1">
                      <a:lumMod val="50000"/>
                    </a:schemeClr>
                  </a:solidFill>
                </a:rPr>
                <a:t>Personen in de werkelijkheid waarvan je </a:t>
              </a:r>
            </a:p>
            <a:p>
              <a:r>
                <a:rPr lang="nl-NL" dirty="0">
                  <a:solidFill>
                    <a:schemeClr val="bg1">
                      <a:lumMod val="50000"/>
                    </a:schemeClr>
                  </a:solidFill>
                </a:rPr>
                <a:t>de neus daadwerkelijk aan kunt raken.</a:t>
              </a:r>
            </a:p>
          </p:txBody>
        </p:sp>
        <p:cxnSp>
          <p:nvCxnSpPr>
            <p:cNvPr id="20" name="Rechte verbindingslijn 19">
              <a:extLst>
                <a:ext uri="{FF2B5EF4-FFF2-40B4-BE49-F238E27FC236}">
                  <a16:creationId xmlns:a16="http://schemas.microsoft.com/office/drawing/2014/main" id="{D0F76A12-B57C-82A7-1F8C-C89E588497D7}"/>
                </a:ext>
              </a:extLst>
            </p:cNvPr>
            <p:cNvCxnSpPr>
              <a:cxnSpLocks/>
            </p:cNvCxnSpPr>
            <p:nvPr/>
          </p:nvCxnSpPr>
          <p:spPr>
            <a:xfrm flipV="1">
              <a:off x="3231279" y="4123657"/>
              <a:ext cx="134657" cy="25098"/>
            </a:xfrm>
            <a:prstGeom prst="line">
              <a:avLst/>
            </a:prstGeom>
            <a:ln>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pic>
          <p:nvPicPr>
            <p:cNvPr id="21" name="Afbeelding 20" descr="Jonge chinse jonge steekt een vinger op">
              <a:extLst>
                <a:ext uri="{FF2B5EF4-FFF2-40B4-BE49-F238E27FC236}">
                  <a16:creationId xmlns:a16="http://schemas.microsoft.com/office/drawing/2014/main" id="{FBFFA5C9-06E2-3B56-0525-6B55D02FF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0405" y="4336067"/>
              <a:ext cx="356097" cy="676437"/>
            </a:xfrm>
            <a:prstGeom prst="rect">
              <a:avLst/>
            </a:prstGeom>
          </p:spPr>
        </p:pic>
        <p:pic>
          <p:nvPicPr>
            <p:cNvPr id="22" name="Afbeelding 21" descr="Jong meisje juicht één hand">
              <a:extLst>
                <a:ext uri="{FF2B5EF4-FFF2-40B4-BE49-F238E27FC236}">
                  <a16:creationId xmlns:a16="http://schemas.microsoft.com/office/drawing/2014/main" id="{C6CF757C-7ECD-D097-7A27-AEA6F2EBA5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8815" y="4085367"/>
              <a:ext cx="459770" cy="676437"/>
            </a:xfrm>
            <a:prstGeom prst="rect">
              <a:avLst/>
            </a:prstGeom>
          </p:spPr>
        </p:pic>
        <p:pic>
          <p:nvPicPr>
            <p:cNvPr id="23" name="Afbeelding 22" descr="Oudere vrouw boos">
              <a:extLst>
                <a:ext uri="{FF2B5EF4-FFF2-40B4-BE49-F238E27FC236}">
                  <a16:creationId xmlns:a16="http://schemas.microsoft.com/office/drawing/2014/main" id="{CC793783-A78A-E34A-3E31-5E3679F8F6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6945" y="4659920"/>
              <a:ext cx="758418" cy="484182"/>
            </a:xfrm>
            <a:prstGeom prst="rect">
              <a:avLst/>
            </a:prstGeom>
          </p:spPr>
        </p:pic>
        <p:pic>
          <p:nvPicPr>
            <p:cNvPr id="24" name="Afbeelding 23" descr="Man klantenservice">
              <a:extLst>
                <a:ext uri="{FF2B5EF4-FFF2-40B4-BE49-F238E27FC236}">
                  <a16:creationId xmlns:a16="http://schemas.microsoft.com/office/drawing/2014/main" id="{8713D79D-EE84-CDC7-D862-72D840563A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420" y="4095471"/>
              <a:ext cx="713753" cy="484182"/>
            </a:xfrm>
            <a:prstGeom prst="rect">
              <a:avLst/>
            </a:prstGeom>
          </p:spPr>
        </p:pic>
      </p:grpSp>
    </p:spTree>
    <p:extLst>
      <p:ext uri="{BB962C8B-B14F-4D97-AF65-F5344CB8AC3E}">
        <p14:creationId xmlns:p14="http://schemas.microsoft.com/office/powerpoint/2010/main" val="3921898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D43C40-4F19-23B9-2D17-C0B7DAE8EE54}"/>
              </a:ext>
            </a:extLst>
          </p:cNvPr>
          <p:cNvSpPr>
            <a:spLocks noGrp="1"/>
          </p:cNvSpPr>
          <p:nvPr>
            <p:ph type="title"/>
          </p:nvPr>
        </p:nvSpPr>
        <p:spPr>
          <a:xfrm>
            <a:off x="838200" y="681065"/>
            <a:ext cx="9201150" cy="902201"/>
          </a:xfrm>
        </p:spPr>
        <p:txBody>
          <a:bodyPr>
            <a:normAutofit fontScale="90000"/>
          </a:bodyPr>
          <a:lstStyle/>
          <a:p>
            <a:pPr algn="ctr"/>
            <a:r>
              <a:rPr lang="nl-NL" sz="3600" dirty="0"/>
              <a:t>Waar hebben we het over als we het over </a:t>
            </a:r>
            <a:r>
              <a:rPr lang="nl-NL" sz="3600" dirty="0" err="1"/>
              <a:t>Id’s</a:t>
            </a:r>
            <a:r>
              <a:rPr lang="nl-NL" sz="3600" dirty="0"/>
              <a:t> hebben</a:t>
            </a:r>
            <a:br>
              <a:rPr lang="nl-NL" sz="3600" dirty="0"/>
            </a:br>
            <a:r>
              <a:rPr lang="nl-NL" sz="3600" dirty="0"/>
              <a:t>bij domein objecten op de conceptuele laag (MIM-2)</a:t>
            </a:r>
          </a:p>
        </p:txBody>
      </p:sp>
      <p:sp>
        <p:nvSpPr>
          <p:cNvPr id="6" name="Tijdelijke aanduiding voor inhoud 5">
            <a:extLst>
              <a:ext uri="{FF2B5EF4-FFF2-40B4-BE49-F238E27FC236}">
                <a16:creationId xmlns:a16="http://schemas.microsoft.com/office/drawing/2014/main" id="{BD2DD81E-4D24-EA41-417F-62CBF8C61D35}"/>
              </a:ext>
            </a:extLst>
          </p:cNvPr>
          <p:cNvSpPr>
            <a:spLocks noGrp="1"/>
          </p:cNvSpPr>
          <p:nvPr>
            <p:ph idx="1"/>
          </p:nvPr>
        </p:nvSpPr>
        <p:spPr>
          <a:xfrm>
            <a:off x="838200" y="1641976"/>
            <a:ext cx="10712450" cy="4083858"/>
          </a:xfrm>
        </p:spPr>
        <p:txBody>
          <a:bodyPr>
            <a:noAutofit/>
          </a:bodyPr>
          <a:lstStyle/>
          <a:p>
            <a:pPr marL="0" indent="0">
              <a:buNone/>
            </a:pPr>
            <a:r>
              <a:rPr lang="nl-NL" sz="1600" dirty="0"/>
              <a:t>Een domein object willen we graag kunnen </a:t>
            </a:r>
            <a:r>
              <a:rPr lang="nl-NL" sz="1600" i="1" dirty="0"/>
              <a:t>identificeren</a:t>
            </a:r>
            <a:r>
              <a:rPr lang="nl-NL" sz="1600" dirty="0"/>
              <a:t>, zodat we eenduidig weten welk domeinobject (exemplaar, instantie van een objecttype) we het hebben. Het is precies die ene. Identificeren kan op basis van:</a:t>
            </a:r>
          </a:p>
          <a:p>
            <a:r>
              <a:rPr lang="nl-NL" sz="1600" dirty="0"/>
              <a:t>1 of meer intrinsieke eigen kenmerken. Voorbeeld: woonplaatsnaam en gemeente waar de woonplaats in ligt. </a:t>
            </a:r>
          </a:p>
          <a:p>
            <a:r>
              <a:rPr lang="nl-NL" sz="1600" dirty="0"/>
              <a:t>1 toegekend eigen kenmerk. Voorbeeld: woonplaatscode, of </a:t>
            </a:r>
            <a:r>
              <a:rPr lang="nl-NL" sz="1600" dirty="0" err="1"/>
              <a:t>burgerservicenummer</a:t>
            </a:r>
            <a:r>
              <a:rPr lang="nl-NL" sz="1600" dirty="0"/>
              <a:t> van een ingeschrevene.</a:t>
            </a:r>
          </a:p>
          <a:p>
            <a:r>
              <a:rPr lang="nl-NL" sz="1600" dirty="0"/>
              <a:t>met behulp van een gerelateerd domeinobject, dat zelf wel geïdentificeerd kan worden, te weten wanneer identificeren niet (helemaal) kan op basis van alleen de eigen kenmerken. Voorbeeld: huisdier van een bepaald persoon, of een schip dat een motor heeft waarbij de motor identificerend is voor een schip.</a:t>
            </a:r>
          </a:p>
          <a:p>
            <a:pPr marL="0" indent="0">
              <a:buNone/>
            </a:pPr>
            <a:r>
              <a:rPr lang="nl-NL" sz="1600" dirty="0"/>
              <a:t>Zoals te zien bij deze laatste kan een domein object niet altijd geïdentificeerd worden met de eigen kenmerken. Wellicht is dit ook niet altijd vereist, zo zal een huisdier vast wel opgehaald worden door de juiste eigenaar. Maar wanneer een beschouwingsdomein ook een gegevensverwerkingsdomein kent, dan is identificeren vrijwel altijd wel vereist. </a:t>
            </a:r>
          </a:p>
          <a:p>
            <a:pPr marL="0" indent="0">
              <a:buNone/>
            </a:pPr>
            <a:r>
              <a:rPr lang="nl-NL" sz="1600" dirty="0"/>
              <a:t>De naam ‘Jan’ is in een kamer met 3 mensen ook identificerend, en dat kan voldoende zijn. Totdat er nog een Jan komt. De uniekheid van een eigenschap hangt dus deels ook af van hoe groot een beschouwingsdomein is. Zo zijn telefoonnummers in Nederland uniek, maar wereldwijd niet. Er wordt dan een extra landcode, +31, aan toegevoegd. </a:t>
            </a:r>
          </a:p>
          <a:p>
            <a:pPr marL="0" indent="0">
              <a:buNone/>
            </a:pPr>
            <a:r>
              <a:rPr lang="nl-NL" sz="1600" dirty="0"/>
              <a:t>Merk tot slot nog op dat een toegekende eigenschap ooit begonnen kan zijn als een administratief toegekend gegeven, dat in de loop der jaren zeer prominent is geworden in een bepaald domein, zoals een </a:t>
            </a:r>
            <a:r>
              <a:rPr lang="nl-NL" sz="1600" dirty="0" err="1"/>
              <a:t>bsn</a:t>
            </a:r>
            <a:r>
              <a:rPr lang="nl-NL" sz="1600" dirty="0"/>
              <a:t>. Deze is dan het officiële </a:t>
            </a:r>
            <a:r>
              <a:rPr lang="nl-NL" sz="1600" dirty="0" err="1"/>
              <a:t>Id</a:t>
            </a:r>
            <a:r>
              <a:rPr lang="nl-NL" sz="1600" dirty="0"/>
              <a:t> geworden (en de administratieve IT context ontstegen) waarover officiële keten overstijgende afspraken zijn gemaakt.  Meer dan 1 is niet gewenst: houdt administratief toegekende </a:t>
            </a:r>
            <a:r>
              <a:rPr lang="nl-NL" sz="1600" dirty="0" err="1"/>
              <a:t>Id’s</a:t>
            </a:r>
            <a:r>
              <a:rPr lang="nl-NL" sz="1600" dirty="0"/>
              <a:t> daarom zo veel als mogelijk binnen de </a:t>
            </a:r>
            <a:r>
              <a:rPr lang="nl-NL" sz="1600" dirty="0" err="1"/>
              <a:t>gegevenslaag</a:t>
            </a:r>
            <a:r>
              <a:rPr lang="nl-NL" sz="1600" dirty="0"/>
              <a:t>. </a:t>
            </a:r>
          </a:p>
        </p:txBody>
      </p:sp>
    </p:spTree>
    <p:extLst>
      <p:ext uri="{BB962C8B-B14F-4D97-AF65-F5344CB8AC3E}">
        <p14:creationId xmlns:p14="http://schemas.microsoft.com/office/powerpoint/2010/main" val="1595360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9CB55-B4EA-9DC8-E3C5-76CD8EC41B2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C685677-E696-1098-77E1-A0F0AC278C19}"/>
              </a:ext>
            </a:extLst>
          </p:cNvPr>
          <p:cNvSpPr>
            <a:spLocks noGrp="1"/>
          </p:cNvSpPr>
          <p:nvPr>
            <p:ph type="title"/>
          </p:nvPr>
        </p:nvSpPr>
        <p:spPr>
          <a:xfrm>
            <a:off x="838200" y="655916"/>
            <a:ext cx="8858250" cy="902201"/>
          </a:xfrm>
        </p:spPr>
        <p:txBody>
          <a:bodyPr>
            <a:normAutofit fontScale="90000"/>
          </a:bodyPr>
          <a:lstStyle/>
          <a:p>
            <a:pPr algn="ctr"/>
            <a:r>
              <a:rPr lang="nl-NL" sz="3600" dirty="0"/>
              <a:t>Waar hebben we het over als we het over </a:t>
            </a:r>
            <a:r>
              <a:rPr lang="nl-NL" sz="3600" dirty="0" err="1"/>
              <a:t>Id’s</a:t>
            </a:r>
            <a:r>
              <a:rPr lang="nl-NL" sz="3600" dirty="0"/>
              <a:t> hebben </a:t>
            </a:r>
            <a:br>
              <a:rPr lang="nl-NL" sz="3600" dirty="0"/>
            </a:br>
            <a:r>
              <a:rPr lang="nl-NL" sz="3600" dirty="0"/>
              <a:t>bij gegevensobjecten op de gegevens laag (MIM-3)</a:t>
            </a:r>
          </a:p>
        </p:txBody>
      </p:sp>
      <p:sp>
        <p:nvSpPr>
          <p:cNvPr id="6" name="Tijdelijke aanduiding voor inhoud 5">
            <a:extLst>
              <a:ext uri="{FF2B5EF4-FFF2-40B4-BE49-F238E27FC236}">
                <a16:creationId xmlns:a16="http://schemas.microsoft.com/office/drawing/2014/main" id="{7CFF3016-4BA5-6758-1D00-1505817E6E1D}"/>
              </a:ext>
            </a:extLst>
          </p:cNvPr>
          <p:cNvSpPr>
            <a:spLocks noGrp="1"/>
          </p:cNvSpPr>
          <p:nvPr>
            <p:ph idx="1"/>
          </p:nvPr>
        </p:nvSpPr>
        <p:spPr>
          <a:xfrm>
            <a:off x="838200" y="1691467"/>
            <a:ext cx="10579100" cy="4680758"/>
          </a:xfrm>
        </p:spPr>
        <p:txBody>
          <a:bodyPr>
            <a:noAutofit/>
          </a:bodyPr>
          <a:lstStyle/>
          <a:p>
            <a:pPr marL="0" indent="0">
              <a:buNone/>
            </a:pPr>
            <a:r>
              <a:rPr lang="nl-NL" sz="1600" dirty="0"/>
              <a:t>Bij gegevensobjecten willen we vaak ook op de een of andere manier iets kunnen </a:t>
            </a:r>
            <a:r>
              <a:rPr lang="nl-NL" sz="1600" i="1" dirty="0"/>
              <a:t>aanwijzen </a:t>
            </a:r>
            <a:r>
              <a:rPr lang="nl-NL" sz="1600" dirty="0"/>
              <a:t>of ernaar kunnen </a:t>
            </a:r>
            <a:r>
              <a:rPr lang="nl-NL" sz="1600" i="1" dirty="0"/>
              <a:t>refereren. </a:t>
            </a:r>
            <a:r>
              <a:rPr lang="nl-NL" sz="1600" dirty="0"/>
              <a:t>Ook dit gebeurd met een </a:t>
            </a:r>
            <a:r>
              <a:rPr lang="nl-NL" sz="1600" dirty="0" err="1"/>
              <a:t>Id</a:t>
            </a:r>
            <a:r>
              <a:rPr lang="nl-NL" sz="1600" dirty="0"/>
              <a:t>, maar in de </a:t>
            </a:r>
            <a:r>
              <a:rPr lang="nl-NL" sz="1600" dirty="0" err="1"/>
              <a:t>gegevenslaag</a:t>
            </a:r>
            <a:r>
              <a:rPr lang="nl-NL" sz="1600" dirty="0"/>
              <a:t> zien we dat er meerdere soorten gebruiksdoelen zijn voor </a:t>
            </a:r>
            <a:r>
              <a:rPr lang="nl-NL" sz="1600" dirty="0" err="1"/>
              <a:t>Id’s</a:t>
            </a:r>
            <a:r>
              <a:rPr lang="nl-NL" sz="1600" dirty="0"/>
              <a:t> in de </a:t>
            </a:r>
            <a:r>
              <a:rPr lang="nl-NL" sz="1600" dirty="0" err="1"/>
              <a:t>gegevenslaag</a:t>
            </a:r>
            <a:r>
              <a:rPr lang="nl-NL" sz="1600" dirty="0"/>
              <a:t>, hieronder kort weergegeven: </a:t>
            </a:r>
          </a:p>
          <a:p>
            <a:pPr marL="0" indent="0">
              <a:buNone/>
            </a:pPr>
            <a:r>
              <a:rPr lang="nl-NL" sz="1600" u="sng" dirty="0"/>
              <a:t>Gebruiksdoel 1: het kunnen identificeren van een domein object met behulp van gegevens</a:t>
            </a:r>
            <a:r>
              <a:rPr lang="nl-NL" sz="1600" dirty="0"/>
              <a:t> </a:t>
            </a:r>
            <a:br>
              <a:rPr lang="nl-NL" sz="1600" dirty="0"/>
            </a:br>
            <a:r>
              <a:rPr lang="nl-NL" sz="1600" dirty="0"/>
              <a:t>Het </a:t>
            </a:r>
            <a:r>
              <a:rPr lang="nl-NL" sz="1600" dirty="0" err="1"/>
              <a:t>Id</a:t>
            </a:r>
            <a:r>
              <a:rPr lang="nl-NL" sz="1600" dirty="0"/>
              <a:t> van het domeinobject wordt hergebruikt door de gegevens hierover te gebruiken als </a:t>
            </a:r>
            <a:r>
              <a:rPr lang="nl-NL" sz="1600" dirty="0" err="1"/>
              <a:t>Id</a:t>
            </a:r>
            <a:r>
              <a:rPr lang="nl-NL" sz="1600" dirty="0"/>
              <a:t> in een gegevensobject. Zo is een natuurlijk persoon te identificeren met een foto of vingerafdruk of zijn naam en geboorteplaats. </a:t>
            </a:r>
          </a:p>
          <a:p>
            <a:pPr marL="0" indent="0">
              <a:buNone/>
            </a:pPr>
            <a:r>
              <a:rPr lang="nl-NL" sz="1600" u="sng" dirty="0"/>
              <a:t>Gebruiksdoel 2: voor elk domein object een enkelvoudige officiële </a:t>
            </a:r>
            <a:r>
              <a:rPr lang="nl-NL" sz="1600" u="sng" dirty="0" err="1"/>
              <a:t>Id</a:t>
            </a:r>
            <a:r>
              <a:rPr lang="nl-NL" sz="1600" u="sng" dirty="0"/>
              <a:t> uitgeven t.b.v. uniforme herkenbaarheid</a:t>
            </a:r>
            <a:br>
              <a:rPr lang="nl-NL" sz="1600" u="sng" dirty="0"/>
            </a:br>
            <a:r>
              <a:rPr lang="nl-NL" sz="1600" dirty="0"/>
              <a:t>Op logisch niveau wordt er regelmatig gebruikt gemaakt van generieke constructies, die voor alle gegevensobjecten op dezelfde manier werken en uniform in elkaar zitten. Je kan dan  zeggen: in dit gegevensverwerkingsdomein krijgt dit ene domeinobject op logisch niveau een eigen </a:t>
            </a:r>
            <a:r>
              <a:rPr lang="nl-NL" sz="1600" dirty="0" err="1"/>
              <a:t>Id</a:t>
            </a:r>
            <a:r>
              <a:rPr lang="nl-NL" sz="1600" dirty="0"/>
              <a:t> (vaak een gegenereerd uniek nummer). Elk gegevensobject met hierin dit </a:t>
            </a:r>
            <a:r>
              <a:rPr lang="nl-NL" sz="1600" dirty="0" err="1"/>
              <a:t>Id</a:t>
            </a:r>
            <a:r>
              <a:rPr lang="nl-NL" sz="1600" dirty="0"/>
              <a:t> gaat over hetzelfde domein object. Hiermee zijn alle gegevensobjecten die over ditzelfde domein object gaan te herkennen, althans in dit gegevensverwerkingsdomein. Je kan naar dit domein object refereren door middel van deze Id. Dit </a:t>
            </a:r>
            <a:r>
              <a:rPr lang="nl-NL" sz="1600" dirty="0" err="1"/>
              <a:t>Id</a:t>
            </a:r>
            <a:r>
              <a:rPr lang="nl-NL" sz="1600" dirty="0"/>
              <a:t> is de officiële </a:t>
            </a:r>
            <a:r>
              <a:rPr lang="nl-NL" sz="1600" dirty="0" err="1"/>
              <a:t>Id</a:t>
            </a:r>
            <a:r>
              <a:rPr lang="nl-NL" sz="1600" dirty="0"/>
              <a:t> is in dit gegevensverwerkingsdomein en in interacterende ketens wordt er gebruik van gemaakt. </a:t>
            </a:r>
          </a:p>
          <a:p>
            <a:pPr marL="0" indent="0">
              <a:buNone/>
            </a:pPr>
            <a:r>
              <a:rPr lang="nl-NL" sz="1600" dirty="0"/>
              <a:t>Merk op: identificatie kan niet plaatsvinden op basis van administratief toegekende eigenschappen, zoals een </a:t>
            </a:r>
            <a:r>
              <a:rPr lang="nl-NL" sz="1600" dirty="0" err="1"/>
              <a:t>bsn</a:t>
            </a:r>
            <a:r>
              <a:rPr lang="nl-NL" sz="1600" dirty="0"/>
              <a:t>. Na identificatie zoals bedoeld in gebruiksdoel 1 kan er wel overgestapt worden op het </a:t>
            </a:r>
            <a:r>
              <a:rPr lang="nl-NL" sz="1600" dirty="0" err="1"/>
              <a:t>Id</a:t>
            </a:r>
            <a:r>
              <a:rPr lang="nl-NL" sz="1600" dirty="0"/>
              <a:t> zoals bedoeld in gebruiksdoel 2 (uiteraard alleen mits deze koppeling betrouwbaar gelegd kan worden) en kan verdere verwerking hierop vertrouwen.    </a:t>
            </a:r>
          </a:p>
          <a:p>
            <a:pPr marL="0" indent="0">
              <a:buNone/>
            </a:pPr>
            <a:r>
              <a:rPr lang="nl-NL" sz="1600" u="sng" dirty="0"/>
              <a:t>Gebruiksdoel 3: een </a:t>
            </a:r>
            <a:r>
              <a:rPr lang="nl-NL" sz="1600" u="sng" dirty="0" err="1"/>
              <a:t>Id</a:t>
            </a:r>
            <a:r>
              <a:rPr lang="nl-NL" sz="1600" u="sng" dirty="0"/>
              <a:t> die rekening houdt met gegevens over hetzelfde domein object in verschillende tijdperiodes</a:t>
            </a:r>
            <a:br>
              <a:rPr lang="nl-NL" sz="1600" u="sng" dirty="0">
                <a:sym typeface="Wingdings" panose="05000000000000000000" pitchFamily="2" charset="2"/>
              </a:rPr>
            </a:br>
            <a:r>
              <a:rPr lang="nl-NL" sz="1600" dirty="0"/>
              <a:t>Veel administraties houden rekening met dat gegevens over hetzelfde domeinobject kan veranderen in de tijd. Het blijft dan in hetzelfde gegevensverwerkingsdomein gaan over hetzelfde domein object, … </a:t>
            </a:r>
            <a:r>
              <a:rPr lang="nl-NL" sz="1200" dirty="0"/>
              <a:t>ga verder op de volgende sheet.</a:t>
            </a:r>
            <a:endParaRPr lang="nl-NL" sz="1600" dirty="0"/>
          </a:p>
        </p:txBody>
      </p:sp>
    </p:spTree>
    <p:extLst>
      <p:ext uri="{BB962C8B-B14F-4D97-AF65-F5344CB8AC3E}">
        <p14:creationId xmlns:p14="http://schemas.microsoft.com/office/powerpoint/2010/main" val="2028220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FC341A14-A28B-E8D8-4D9A-56338EE604D9}"/>
              </a:ext>
            </a:extLst>
          </p:cNvPr>
          <p:cNvSpPr>
            <a:spLocks noGrp="1"/>
          </p:cNvSpPr>
          <p:nvPr>
            <p:ph idx="1"/>
          </p:nvPr>
        </p:nvSpPr>
        <p:spPr>
          <a:xfrm>
            <a:off x="781050" y="793750"/>
            <a:ext cx="10883900" cy="5664200"/>
          </a:xfrm>
        </p:spPr>
        <p:txBody>
          <a:bodyPr>
            <a:normAutofit lnSpcReduction="10000"/>
          </a:bodyPr>
          <a:lstStyle/>
          <a:p>
            <a:pPr marL="0" indent="0">
              <a:buNone/>
            </a:pPr>
            <a:r>
              <a:rPr lang="nl-NL" sz="1600" dirty="0"/>
              <a:t>… maar de gegevens over het domeinobject zijn op het ene moment in tijd anders dan op het andere moment in tijd. Deze setjes gegevens worden uit elkaar gehouden met iets waarvoor termen gebruikt worden zoals een voorkomen/verschijningsvorm van een domeinobject en/of een versie van een gegevensobject. … gegevens over het domeinobject gaan dan vergezeld met metagegevens, zoals tijdslijn geldigheid en registratiemomenten. </a:t>
            </a:r>
          </a:p>
          <a:p>
            <a:pPr marL="0" indent="0">
              <a:buNone/>
            </a:pPr>
            <a:r>
              <a:rPr lang="nl-NL" sz="1600" dirty="0"/>
              <a:t>Bv. inkomen 2024: 50,000, en in 2025: 52,000.</a:t>
            </a:r>
          </a:p>
          <a:p>
            <a:r>
              <a:rPr lang="nl-NL" sz="1600" dirty="0"/>
              <a:t>Versie 1: inkomen van Jan: 50,000. Logische </a:t>
            </a:r>
            <a:r>
              <a:rPr lang="nl-NL" sz="1600" dirty="0" err="1"/>
              <a:t>Id</a:t>
            </a:r>
            <a:r>
              <a:rPr lang="nl-NL" sz="1600" dirty="0"/>
              <a:t> voor Jan: 12345. Geldig: 2024, geregistreerd 1/1/2024</a:t>
            </a:r>
          </a:p>
          <a:p>
            <a:r>
              <a:rPr lang="nl-NL" sz="1600" dirty="0"/>
              <a:t>Versie 2: inkomen van Jan: 50,000. Logische </a:t>
            </a:r>
            <a:r>
              <a:rPr lang="nl-NL" sz="1600" dirty="0" err="1"/>
              <a:t>Id</a:t>
            </a:r>
            <a:r>
              <a:rPr lang="nl-NL" sz="1600" dirty="0"/>
              <a:t> voor Jan: 12345. Geldig: 2025, geregistreerd 3/3/2025</a:t>
            </a:r>
          </a:p>
          <a:p>
            <a:pPr marL="0" indent="0">
              <a:buNone/>
            </a:pPr>
            <a:r>
              <a:rPr lang="nl-NL" sz="1600" dirty="0"/>
              <a:t>De administratie kent dan een bepaald historiemodel en gegevensuitwisselingen zijn hierop ingericht. Het is dan  gebruikelijk om 1 unieke </a:t>
            </a:r>
            <a:r>
              <a:rPr lang="nl-NL" sz="1600" dirty="0" err="1"/>
              <a:t>Id</a:t>
            </a:r>
            <a:r>
              <a:rPr lang="nl-NL" sz="1600" dirty="0"/>
              <a:t> te modelleren, zoals bedoeld in gebruiksdoel 2, die gelijk blijft (statisch is) voor alle versies van een gegevensobjecten over Jan, in dit geval de logische </a:t>
            </a:r>
            <a:r>
              <a:rPr lang="nl-NL" sz="1600" dirty="0" err="1"/>
              <a:t>Id</a:t>
            </a:r>
            <a:r>
              <a:rPr lang="nl-NL" sz="1600" dirty="0"/>
              <a:t> 12345 – EN – deze aan te vullen met extra gegevens die per versie een andere waarde kunnen hebben, een uniek makende versie aanduiding.  Versie 1 heeft als </a:t>
            </a:r>
            <a:r>
              <a:rPr lang="nl-NL" sz="1600" dirty="0" err="1"/>
              <a:t>Id</a:t>
            </a:r>
            <a:r>
              <a:rPr lang="nl-NL" sz="1600" dirty="0"/>
              <a:t> dan de combinatie van: Logische </a:t>
            </a:r>
            <a:r>
              <a:rPr lang="nl-NL" sz="1600" dirty="0" err="1"/>
              <a:t>Id</a:t>
            </a:r>
            <a:r>
              <a:rPr lang="nl-NL" sz="1600" dirty="0"/>
              <a:t> voor Jan: 12345 </a:t>
            </a:r>
            <a:r>
              <a:rPr lang="nl-NL" sz="1600" u="sng" dirty="0"/>
              <a:t>en</a:t>
            </a:r>
            <a:r>
              <a:rPr lang="nl-NL" sz="1600" dirty="0"/>
              <a:t> versienummer 1 (of geldig: 2024). </a:t>
            </a:r>
          </a:p>
          <a:p>
            <a:pPr marL="0" indent="0">
              <a:buNone/>
            </a:pPr>
            <a:r>
              <a:rPr lang="nl-NL" sz="1600" dirty="0"/>
              <a:t>Versie 1 en versie 2 zijn in dit voorbeeld aparte gegevensobjecten. Beide gaan wel over hetzelfde domeinobject met </a:t>
            </a:r>
            <a:r>
              <a:rPr lang="nl-NL" sz="1600" dirty="0" err="1"/>
              <a:t>Id</a:t>
            </a:r>
            <a:r>
              <a:rPr lang="nl-NL" sz="1600" dirty="0"/>
              <a:t>: 12345, maar deze is niet uniek genoeg om een versie aan te kunnen wijzen. Vandaar de versie aanduiding.  </a:t>
            </a:r>
          </a:p>
          <a:p>
            <a:pPr marL="0" indent="0">
              <a:buNone/>
            </a:pPr>
            <a:r>
              <a:rPr lang="nl-NL" sz="1600" dirty="0"/>
              <a:t>Een alternatieve benadering is om een nieuwe </a:t>
            </a:r>
            <a:r>
              <a:rPr lang="nl-NL" sz="1600" dirty="0" err="1"/>
              <a:t>Id</a:t>
            </a:r>
            <a:r>
              <a:rPr lang="nl-NL" sz="1600" dirty="0"/>
              <a:t> te genereren voor elke versie. Dit heeft als nadeel dat het domein object waar het over gaat dan niet meer goed te zien is (het opzoeken ervan vereist een extra </a:t>
            </a:r>
            <a:r>
              <a:rPr lang="nl-NL" sz="1600" dirty="0" err="1"/>
              <a:t>lookup</a:t>
            </a:r>
            <a:r>
              <a:rPr lang="nl-NL" sz="1600" dirty="0"/>
              <a:t> in de administratie, en administraties die onderling verbonden zijn weten dan niet meer dat het om hetzelfde domein object gaat). </a:t>
            </a:r>
          </a:p>
          <a:p>
            <a:pPr marL="0" indent="0">
              <a:buNone/>
            </a:pPr>
            <a:r>
              <a:rPr lang="nl-NL" sz="1600" u="sng" dirty="0"/>
              <a:t>Gebruiksdoel 4: het gebruik van </a:t>
            </a:r>
            <a:r>
              <a:rPr lang="nl-NL" sz="1600" u="sng" dirty="0" err="1"/>
              <a:t>Id’s</a:t>
            </a:r>
            <a:r>
              <a:rPr lang="nl-NL" sz="1600" u="sng" dirty="0"/>
              <a:t> in gegevensproducten om te weten over welke domeinobjecten het product gaat</a:t>
            </a:r>
            <a:br>
              <a:rPr lang="nl-NL" sz="1600" u="sng" dirty="0"/>
            </a:br>
            <a:r>
              <a:rPr lang="nl-NL" sz="1600" dirty="0"/>
              <a:t>Deze gegevensobjecten gebruiken eigenlijk altijd dezelfde eerder genoemde </a:t>
            </a:r>
            <a:r>
              <a:rPr lang="nl-NL" sz="1600" dirty="0" err="1"/>
              <a:t>Id’s</a:t>
            </a:r>
            <a:r>
              <a:rPr lang="nl-NL" sz="1600" dirty="0"/>
              <a:t>. Het komt dan voor dat er mix van meerdere </a:t>
            </a:r>
            <a:r>
              <a:rPr lang="nl-NL" sz="1600" dirty="0" err="1"/>
              <a:t>Id’s</a:t>
            </a:r>
            <a:r>
              <a:rPr lang="nl-NL" sz="1600" dirty="0"/>
              <a:t>, maar dan voor verschillende domeinobjecten, te vinden zijn in hetzelfde gegevensobject. </a:t>
            </a:r>
          </a:p>
          <a:p>
            <a:pPr marL="0" indent="0">
              <a:buNone/>
            </a:pPr>
            <a:r>
              <a:rPr lang="nl-NL" sz="1600" u="sng" dirty="0"/>
              <a:t>Gebruiksdoelen op de technische laag (MIM-4)</a:t>
            </a:r>
            <a:br>
              <a:rPr lang="nl-NL" sz="1600" u="sng" dirty="0"/>
            </a:br>
            <a:r>
              <a:rPr lang="nl-NL" sz="1600" dirty="0"/>
              <a:t>Tot slot zijn in de IT nog record </a:t>
            </a:r>
            <a:r>
              <a:rPr lang="nl-NL" sz="1600" dirty="0" err="1"/>
              <a:t>Id’s</a:t>
            </a:r>
            <a:r>
              <a:rPr lang="nl-NL" sz="1600" dirty="0"/>
              <a:t>, bericht </a:t>
            </a:r>
            <a:r>
              <a:rPr lang="nl-NL" sz="1600" dirty="0" err="1"/>
              <a:t>Id’s</a:t>
            </a:r>
            <a:r>
              <a:rPr lang="nl-NL" sz="1600" dirty="0"/>
              <a:t> (die los staat van domein objecten), een technisch hulp </a:t>
            </a:r>
            <a:r>
              <a:rPr lang="nl-NL" sz="1600" dirty="0" err="1"/>
              <a:t>Id</a:t>
            </a:r>
            <a:r>
              <a:rPr lang="nl-NL" sz="1600" dirty="0"/>
              <a:t> om berichten aan elkaar te kunnen relateren en/of correleren, en </a:t>
            </a:r>
            <a:r>
              <a:rPr lang="nl-NL" sz="1600" dirty="0" err="1"/>
              <a:t>uniqueness</a:t>
            </a:r>
            <a:r>
              <a:rPr lang="nl-NL" sz="1600" dirty="0"/>
              <a:t> </a:t>
            </a:r>
            <a:r>
              <a:rPr lang="nl-NL" sz="1600" dirty="0" err="1"/>
              <a:t>constraints</a:t>
            </a:r>
            <a:r>
              <a:rPr lang="nl-NL" sz="1600" dirty="0"/>
              <a:t> t.b.v. data integriteit. Hier gaat deze </a:t>
            </a:r>
            <a:r>
              <a:rPr lang="nl-NL" sz="1600" dirty="0" err="1"/>
              <a:t>ppt</a:t>
            </a:r>
            <a:r>
              <a:rPr lang="nl-NL" sz="1600" dirty="0"/>
              <a:t> niet over!</a:t>
            </a:r>
          </a:p>
        </p:txBody>
      </p:sp>
    </p:spTree>
    <p:extLst>
      <p:ext uri="{BB962C8B-B14F-4D97-AF65-F5344CB8AC3E}">
        <p14:creationId xmlns:p14="http://schemas.microsoft.com/office/powerpoint/2010/main" val="967079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6B14B-B7A4-48B1-4081-4E65DC5C16A1}"/>
            </a:ext>
          </a:extLst>
        </p:cNvPr>
        <p:cNvGrpSpPr/>
        <p:nvPr/>
      </p:nvGrpSpPr>
      <p:grpSpPr>
        <a:xfrm>
          <a:off x="0" y="0"/>
          <a:ext cx="0" cy="0"/>
          <a:chOff x="0" y="0"/>
          <a:chExt cx="0" cy="0"/>
        </a:xfrm>
      </p:grpSpPr>
      <p:sp>
        <p:nvSpPr>
          <p:cNvPr id="3" name="Rechthoek 2">
            <a:extLst>
              <a:ext uri="{FF2B5EF4-FFF2-40B4-BE49-F238E27FC236}">
                <a16:creationId xmlns:a16="http://schemas.microsoft.com/office/drawing/2014/main" id="{FAB0CA9B-2A95-37E5-BF21-EE89532FE668}"/>
              </a:ext>
            </a:extLst>
          </p:cNvPr>
          <p:cNvSpPr/>
          <p:nvPr/>
        </p:nvSpPr>
        <p:spPr>
          <a:xfrm>
            <a:off x="5486399" y="4773038"/>
            <a:ext cx="6705601" cy="1666672"/>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Rechthoek 3">
            <a:extLst>
              <a:ext uri="{FF2B5EF4-FFF2-40B4-BE49-F238E27FC236}">
                <a16:creationId xmlns:a16="http://schemas.microsoft.com/office/drawing/2014/main" id="{CAC2A5D6-FF43-014B-7DAE-451083E244C2}"/>
              </a:ext>
            </a:extLst>
          </p:cNvPr>
          <p:cNvSpPr/>
          <p:nvPr/>
        </p:nvSpPr>
        <p:spPr>
          <a:xfrm>
            <a:off x="5486400" y="3670570"/>
            <a:ext cx="6705599" cy="1102468"/>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 name="Rechthoek 4">
            <a:extLst>
              <a:ext uri="{FF2B5EF4-FFF2-40B4-BE49-F238E27FC236}">
                <a16:creationId xmlns:a16="http://schemas.microsoft.com/office/drawing/2014/main" id="{0D678E3F-90FE-2981-E2D3-CB406A13FE53}"/>
              </a:ext>
            </a:extLst>
          </p:cNvPr>
          <p:cNvSpPr/>
          <p:nvPr/>
        </p:nvSpPr>
        <p:spPr>
          <a:xfrm>
            <a:off x="5486401" y="1478604"/>
            <a:ext cx="6705599" cy="2191966"/>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Tekstvak 5">
            <a:extLst>
              <a:ext uri="{FF2B5EF4-FFF2-40B4-BE49-F238E27FC236}">
                <a16:creationId xmlns:a16="http://schemas.microsoft.com/office/drawing/2014/main" id="{544E21AA-4686-B242-4292-2A65F1EC3E2A}"/>
              </a:ext>
            </a:extLst>
          </p:cNvPr>
          <p:cNvSpPr txBox="1"/>
          <p:nvPr/>
        </p:nvSpPr>
        <p:spPr>
          <a:xfrm rot="16200000">
            <a:off x="11353467" y="4083304"/>
            <a:ext cx="1282210" cy="276999"/>
          </a:xfrm>
          <a:prstGeom prst="rect">
            <a:avLst/>
          </a:prstGeom>
          <a:noFill/>
        </p:spPr>
        <p:txBody>
          <a:bodyPr wrap="none" rtlCol="0">
            <a:spAutoFit/>
          </a:bodyPr>
          <a:lstStyle/>
          <a:p>
            <a:r>
              <a:rPr lang="nl-NL" sz="1200" dirty="0"/>
              <a:t>Gebruiksdoel V2</a:t>
            </a:r>
          </a:p>
        </p:txBody>
      </p:sp>
      <p:sp>
        <p:nvSpPr>
          <p:cNvPr id="7" name="Tekstvak 6">
            <a:extLst>
              <a:ext uri="{FF2B5EF4-FFF2-40B4-BE49-F238E27FC236}">
                <a16:creationId xmlns:a16="http://schemas.microsoft.com/office/drawing/2014/main" id="{3D3A317C-014D-B8E3-B755-4013D6545985}"/>
              </a:ext>
            </a:extLst>
          </p:cNvPr>
          <p:cNvSpPr txBox="1"/>
          <p:nvPr/>
        </p:nvSpPr>
        <p:spPr>
          <a:xfrm rot="16200000">
            <a:off x="11296821" y="2272146"/>
            <a:ext cx="1282210" cy="276999"/>
          </a:xfrm>
          <a:prstGeom prst="rect">
            <a:avLst/>
          </a:prstGeom>
          <a:noFill/>
        </p:spPr>
        <p:txBody>
          <a:bodyPr wrap="none" rtlCol="0">
            <a:spAutoFit/>
          </a:bodyPr>
          <a:lstStyle/>
          <a:p>
            <a:r>
              <a:rPr lang="nl-NL" sz="1200" dirty="0"/>
              <a:t>Gebruiksdoel V1</a:t>
            </a:r>
          </a:p>
        </p:txBody>
      </p:sp>
      <p:sp>
        <p:nvSpPr>
          <p:cNvPr id="9" name="Tekstvak 8">
            <a:extLst>
              <a:ext uri="{FF2B5EF4-FFF2-40B4-BE49-F238E27FC236}">
                <a16:creationId xmlns:a16="http://schemas.microsoft.com/office/drawing/2014/main" id="{F5022699-B16D-2377-BCAE-7CEE268C67DB}"/>
              </a:ext>
            </a:extLst>
          </p:cNvPr>
          <p:cNvSpPr txBox="1"/>
          <p:nvPr/>
        </p:nvSpPr>
        <p:spPr>
          <a:xfrm rot="16200000">
            <a:off x="11353467" y="5467874"/>
            <a:ext cx="1282210" cy="276999"/>
          </a:xfrm>
          <a:prstGeom prst="rect">
            <a:avLst/>
          </a:prstGeom>
          <a:noFill/>
        </p:spPr>
        <p:txBody>
          <a:bodyPr wrap="none" rtlCol="0">
            <a:spAutoFit/>
          </a:bodyPr>
          <a:lstStyle/>
          <a:p>
            <a:r>
              <a:rPr lang="nl-NL" sz="1200" dirty="0"/>
              <a:t>Gebruiksdoel V3</a:t>
            </a:r>
          </a:p>
        </p:txBody>
      </p:sp>
      <p:sp>
        <p:nvSpPr>
          <p:cNvPr id="2" name="Tekstvak 1">
            <a:extLst>
              <a:ext uri="{FF2B5EF4-FFF2-40B4-BE49-F238E27FC236}">
                <a16:creationId xmlns:a16="http://schemas.microsoft.com/office/drawing/2014/main" id="{1898E6BF-77F4-F0C3-6C31-2574040212B0}"/>
              </a:ext>
            </a:extLst>
          </p:cNvPr>
          <p:cNvSpPr txBox="1"/>
          <p:nvPr/>
        </p:nvSpPr>
        <p:spPr>
          <a:xfrm>
            <a:off x="637310" y="602083"/>
            <a:ext cx="4708310" cy="6186309"/>
          </a:xfrm>
          <a:prstGeom prst="rect">
            <a:avLst/>
          </a:prstGeom>
          <a:noFill/>
        </p:spPr>
        <p:txBody>
          <a:bodyPr wrap="square" rtlCol="0">
            <a:spAutoFit/>
          </a:bodyPr>
          <a:lstStyle/>
          <a:p>
            <a:r>
              <a:rPr lang="nl-NL" dirty="0"/>
              <a:t>De eerder genoemde setjes gegevens in diverse gegevensobjecten over Beekbergen. </a:t>
            </a:r>
            <a:br>
              <a:rPr lang="nl-NL" dirty="0"/>
            </a:br>
            <a:r>
              <a:rPr lang="nl-NL" dirty="0"/>
              <a:t>Nu met hier rechts een duiding ervan.</a:t>
            </a:r>
            <a:br>
              <a:rPr lang="nl-NL" dirty="0"/>
            </a:br>
            <a:endParaRPr lang="nl-NL" dirty="0"/>
          </a:p>
          <a:p>
            <a:pPr marL="342900" indent="-342900">
              <a:buFont typeface="+mj-lt"/>
              <a:buAutoNum type="arabicPeriod"/>
            </a:pPr>
            <a:r>
              <a:rPr lang="nl-NL" dirty="0"/>
              <a:t>Beekbergen</a:t>
            </a:r>
          </a:p>
          <a:p>
            <a:pPr marL="342900" indent="-342900">
              <a:buFont typeface="+mj-lt"/>
              <a:buAutoNum type="arabicPeriod"/>
            </a:pPr>
            <a:r>
              <a:rPr lang="nl-NL" dirty="0"/>
              <a:t>Beekbergen + geometrie</a:t>
            </a:r>
          </a:p>
          <a:p>
            <a:pPr marL="342900" indent="-342900">
              <a:buFont typeface="+mj-lt"/>
              <a:buAutoNum type="arabicPeriod"/>
            </a:pPr>
            <a:r>
              <a:rPr lang="nl-NL" dirty="0"/>
              <a:t>Beekbergen + gemeentenaam Apeldoorn</a:t>
            </a:r>
          </a:p>
          <a:p>
            <a:pPr marL="342900" indent="-342900">
              <a:buFont typeface="+mj-lt"/>
              <a:buAutoNum type="arabicPeriod"/>
            </a:pPr>
            <a:r>
              <a:rPr lang="nl-NL" dirty="0"/>
              <a:t>Beekbergen + gemeencode Apeldoorn</a:t>
            </a:r>
          </a:p>
          <a:p>
            <a:pPr marL="342900" indent="-342900">
              <a:buFont typeface="+mj-lt"/>
              <a:buAutoNum type="arabicPeriod"/>
            </a:pPr>
            <a:r>
              <a:rPr lang="nl-NL" dirty="0"/>
              <a:t>NEN3610 ID 12345 + Beekbergen</a:t>
            </a:r>
          </a:p>
          <a:p>
            <a:pPr marL="342900" indent="-342900">
              <a:buFont typeface="+mj-lt"/>
              <a:buAutoNum type="arabicPeriod"/>
            </a:pPr>
            <a:r>
              <a:rPr lang="nl-NL" dirty="0"/>
              <a:t>NEN3610 ID 12345 + Beekbergen + gemeentecode van Apeldoorn</a:t>
            </a:r>
            <a:br>
              <a:rPr lang="nl-NL" dirty="0"/>
            </a:br>
            <a:r>
              <a:rPr lang="nl-NL" dirty="0"/>
              <a:t> </a:t>
            </a:r>
          </a:p>
          <a:p>
            <a:pPr marL="342900" indent="-342900">
              <a:buFont typeface="+mj-lt"/>
              <a:buAutoNum type="arabicPeriod"/>
            </a:pPr>
            <a:r>
              <a:rPr lang="nl-NL" dirty="0"/>
              <a:t>NEN3610 ID 12345 + versie 1 + begin geldigheid 1/1/2022 + Beekbergen + geometrie + gemeentecode</a:t>
            </a:r>
          </a:p>
          <a:p>
            <a:pPr marL="342900" indent="-342900">
              <a:buFont typeface="+mj-lt"/>
              <a:buAutoNum type="arabicPeriod"/>
            </a:pPr>
            <a:r>
              <a:rPr lang="nl-NL" dirty="0"/>
              <a:t>NEN3610 ID 12345 + versie 2 +begin geldigheid 5/5/2025 + Beekbergen + geometrie + gemeentecode</a:t>
            </a:r>
            <a:br>
              <a:rPr lang="nl-NL" dirty="0"/>
            </a:br>
            <a:endParaRPr lang="nl-NL" dirty="0"/>
          </a:p>
          <a:p>
            <a:r>
              <a:rPr lang="nl-NL" dirty="0"/>
              <a:t>Merk op dat de setjes zelf geen eigen </a:t>
            </a:r>
            <a:r>
              <a:rPr lang="nl-NL" dirty="0" err="1"/>
              <a:t>Id</a:t>
            </a:r>
            <a:r>
              <a:rPr lang="nl-NL" dirty="0"/>
              <a:t> hebben, ze bevatten wel </a:t>
            </a:r>
            <a:r>
              <a:rPr lang="nl-NL" dirty="0" err="1"/>
              <a:t>Id’s</a:t>
            </a:r>
            <a:r>
              <a:rPr lang="nl-NL" dirty="0"/>
              <a:t>, soms meerdere. </a:t>
            </a:r>
          </a:p>
          <a:p>
            <a:endParaRPr lang="nl-NL" dirty="0"/>
          </a:p>
        </p:txBody>
      </p:sp>
      <p:sp>
        <p:nvSpPr>
          <p:cNvPr id="8" name="Tekstvak 7">
            <a:extLst>
              <a:ext uri="{FF2B5EF4-FFF2-40B4-BE49-F238E27FC236}">
                <a16:creationId xmlns:a16="http://schemas.microsoft.com/office/drawing/2014/main" id="{AB1841C6-F66C-5D30-3242-C1F94F7A5624}"/>
              </a:ext>
            </a:extLst>
          </p:cNvPr>
          <p:cNvSpPr txBox="1"/>
          <p:nvPr/>
        </p:nvSpPr>
        <p:spPr>
          <a:xfrm>
            <a:off x="5486401" y="602083"/>
            <a:ext cx="6310744" cy="5909310"/>
          </a:xfrm>
          <a:prstGeom prst="rect">
            <a:avLst/>
          </a:prstGeom>
          <a:noFill/>
        </p:spPr>
        <p:txBody>
          <a:bodyPr wrap="square" rtlCol="0">
            <a:spAutoFit/>
          </a:bodyPr>
          <a:lstStyle/>
          <a:p>
            <a:r>
              <a:rPr lang="nl-NL" dirty="0"/>
              <a:t>Duiding m.b.t. de geschiktheid ervan voor de gebruiksdoelen. Merk op dat alle hier over hetzelfde domeinobject gaan.</a:t>
            </a:r>
            <a:br>
              <a:rPr lang="nl-NL" dirty="0"/>
            </a:br>
            <a:endParaRPr lang="nl-NL" dirty="0"/>
          </a:p>
          <a:p>
            <a:pPr marL="342900" indent="-342900">
              <a:buFont typeface="+mj-lt"/>
              <a:buAutoNum type="arabicPeriod"/>
            </a:pPr>
            <a:r>
              <a:rPr lang="nl-NL" dirty="0"/>
              <a:t>naam Beekbergen kan een </a:t>
            </a:r>
            <a:r>
              <a:rPr lang="nl-NL" dirty="0" err="1"/>
              <a:t>Id</a:t>
            </a:r>
            <a:r>
              <a:rPr lang="nl-NL" dirty="0"/>
              <a:t> zijn, maar er kunnen meerdere woonplaatsen zijn met deze naam.</a:t>
            </a:r>
          </a:p>
          <a:p>
            <a:pPr marL="342900" indent="-342900">
              <a:buFont typeface="+mj-lt"/>
              <a:buAutoNum type="arabicPeriod"/>
            </a:pPr>
            <a:r>
              <a:rPr lang="nl-NL" dirty="0"/>
              <a:t>geometrie kan uniek zijn over alle woonplaatsen heen, al kan deze wel af en toe veranderen. </a:t>
            </a:r>
          </a:p>
          <a:p>
            <a:pPr marL="342900" indent="-342900">
              <a:buFont typeface="+mj-lt"/>
              <a:buAutoNum type="arabicPeriod"/>
            </a:pPr>
            <a:r>
              <a:rPr lang="nl-NL" dirty="0"/>
              <a:t>Beekbergen + gemeentenaam Apeldoorn is uniek op 1 moment in de tijd, tot een van de namen veranderd</a:t>
            </a:r>
          </a:p>
          <a:p>
            <a:pPr marL="342900" indent="-342900">
              <a:buFont typeface="+mj-lt"/>
              <a:buAutoNum type="arabicPeriod"/>
            </a:pPr>
            <a:r>
              <a:rPr lang="nl-NL" dirty="0"/>
              <a:t>Beekbergen + gemeencode Apeldoorn is uniek op 1 moment in de tijd, maar als gemeentelijke herindeling… </a:t>
            </a:r>
          </a:p>
          <a:p>
            <a:pPr marL="342900" indent="-342900">
              <a:buFont typeface="+mj-lt"/>
              <a:buAutoNum type="arabicPeriod"/>
            </a:pPr>
            <a:r>
              <a:rPr lang="nl-NL" dirty="0"/>
              <a:t>NEN3610 ID 12345 is uniek en stabiel voor het domein object Beekbergen (ook als bv. de naam lichtjes wijzigt)</a:t>
            </a:r>
          </a:p>
          <a:p>
            <a:pPr marL="342900" indent="-342900">
              <a:buFont typeface="+mj-lt"/>
              <a:buAutoNum type="arabicPeriod"/>
            </a:pPr>
            <a:r>
              <a:rPr lang="nl-NL" dirty="0"/>
              <a:t>Zie 5, met een koppeling die ook het domein object uniek identificeert, althans op 1 moment in de tijd </a:t>
            </a:r>
          </a:p>
          <a:p>
            <a:pPr marL="342900" indent="-342900">
              <a:buFont typeface="+mj-lt"/>
              <a:buAutoNum type="arabicPeriod"/>
            </a:pPr>
            <a:r>
              <a:rPr lang="nl-NL" dirty="0"/>
              <a:t>NEN3610 ID + versie 1 is uniek, maar ook </a:t>
            </a:r>
            <a:br>
              <a:rPr lang="nl-NL" dirty="0"/>
            </a:br>
            <a:r>
              <a:rPr lang="nl-NL" dirty="0"/>
              <a:t>NEN3610 ID + begin geldigheid 1/1/2022 in uniek, en heeft een koppeling die ook het domeinobject uniek identificeert, althans op 1 moment in de tijd. </a:t>
            </a:r>
          </a:p>
          <a:p>
            <a:pPr marL="342900" indent="-342900">
              <a:buFont typeface="+mj-lt"/>
              <a:buAutoNum type="arabicPeriod"/>
            </a:pPr>
            <a:r>
              <a:rPr lang="nl-NL" dirty="0"/>
              <a:t>Zie 7, maar dan een andere versie. De begin geldigheid kan immers ook gelijk zijn voor 2 versies. </a:t>
            </a:r>
          </a:p>
        </p:txBody>
      </p:sp>
    </p:spTree>
    <p:extLst>
      <p:ext uri="{BB962C8B-B14F-4D97-AF65-F5344CB8AC3E}">
        <p14:creationId xmlns:p14="http://schemas.microsoft.com/office/powerpoint/2010/main" val="2262901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F264F-A98F-71CC-9C47-3A3FDB16314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41412A9-C128-50E7-47CD-43F293D11950}"/>
              </a:ext>
            </a:extLst>
          </p:cNvPr>
          <p:cNvSpPr>
            <a:spLocks noGrp="1"/>
          </p:cNvSpPr>
          <p:nvPr>
            <p:ph type="title"/>
          </p:nvPr>
        </p:nvSpPr>
        <p:spPr>
          <a:xfrm>
            <a:off x="581025" y="125926"/>
            <a:ext cx="10515600" cy="1036731"/>
          </a:xfrm>
        </p:spPr>
        <p:txBody>
          <a:bodyPr>
            <a:normAutofit/>
          </a:bodyPr>
          <a:lstStyle/>
          <a:p>
            <a:r>
              <a:rPr lang="nl-NL" sz="3600" dirty="0"/>
              <a:t>Structurering van </a:t>
            </a:r>
            <a:r>
              <a:rPr lang="nl-NL" sz="3600" dirty="0" err="1"/>
              <a:t>Id’s</a:t>
            </a:r>
            <a:r>
              <a:rPr lang="nl-NL" sz="3600" dirty="0"/>
              <a:t> 1/3</a:t>
            </a:r>
          </a:p>
        </p:txBody>
      </p:sp>
      <p:sp>
        <p:nvSpPr>
          <p:cNvPr id="3" name="Tijdelijke aanduiding voor inhoud 2">
            <a:extLst>
              <a:ext uri="{FF2B5EF4-FFF2-40B4-BE49-F238E27FC236}">
                <a16:creationId xmlns:a16="http://schemas.microsoft.com/office/drawing/2014/main" id="{F46FE959-CE02-5553-9FF2-FE0BEA40D71A}"/>
              </a:ext>
            </a:extLst>
          </p:cNvPr>
          <p:cNvSpPr>
            <a:spLocks noGrp="1"/>
          </p:cNvSpPr>
          <p:nvPr>
            <p:ph idx="1"/>
          </p:nvPr>
        </p:nvSpPr>
        <p:spPr>
          <a:xfrm>
            <a:off x="581025" y="1058779"/>
            <a:ext cx="6432543" cy="5548850"/>
          </a:xfrm>
        </p:spPr>
        <p:txBody>
          <a:bodyPr>
            <a:noAutofit/>
          </a:bodyPr>
          <a:lstStyle/>
          <a:p>
            <a:pPr marL="0" indent="0">
              <a:buNone/>
            </a:pPr>
            <a:r>
              <a:rPr lang="nl-NL" sz="1400" dirty="0"/>
              <a:t>Kijkende naar de kandidaat </a:t>
            </a:r>
            <a:r>
              <a:rPr lang="nl-NL" sz="1400" dirty="0" err="1"/>
              <a:t>Id’s</a:t>
            </a:r>
            <a:r>
              <a:rPr lang="nl-NL" sz="1400" dirty="0"/>
              <a:t> in de gegevens van de vorige sheet:</a:t>
            </a:r>
          </a:p>
          <a:p>
            <a:pPr marL="0" indent="0">
              <a:buNone/>
            </a:pPr>
            <a:r>
              <a:rPr lang="nl-NL" sz="1400" u="sng" dirty="0"/>
              <a:t>Domein object Woonplaats</a:t>
            </a:r>
          </a:p>
          <a:p>
            <a:r>
              <a:rPr lang="nl-NL" sz="1400" dirty="0"/>
              <a:t>Samengestelde </a:t>
            </a:r>
            <a:r>
              <a:rPr lang="nl-NL" sz="1400" dirty="0" err="1"/>
              <a:t>Id’s</a:t>
            </a:r>
            <a:r>
              <a:rPr lang="nl-NL" sz="1400" dirty="0"/>
              <a:t>: woonplaats naam en gemeente code of </a:t>
            </a:r>
            <a:br>
              <a:rPr lang="nl-NL" sz="1400" dirty="0"/>
            </a:br>
            <a:r>
              <a:rPr lang="nl-NL" sz="1400" dirty="0" err="1"/>
              <a:t>of</a:t>
            </a:r>
            <a:r>
              <a:rPr lang="nl-NL" sz="1400" dirty="0"/>
              <a:t> </a:t>
            </a:r>
            <a:r>
              <a:rPr lang="nl-NL" sz="1400" dirty="0">
                <a:solidFill>
                  <a:srgbClr val="0070C0"/>
                </a:solidFill>
              </a:rPr>
              <a:t>woonplaats naam + gemeente naam</a:t>
            </a:r>
          </a:p>
          <a:p>
            <a:r>
              <a:rPr lang="nl-NL" sz="1400" dirty="0"/>
              <a:t>Enkelvoudige </a:t>
            </a:r>
            <a:r>
              <a:rPr lang="nl-NL" sz="1400" dirty="0" err="1"/>
              <a:t>Id’s</a:t>
            </a:r>
            <a:r>
              <a:rPr lang="nl-NL" sz="1400" dirty="0"/>
              <a:t>: woonplaatscode uit tabel 33 of geometrie</a:t>
            </a:r>
            <a:br>
              <a:rPr lang="nl-NL" sz="1400" dirty="0"/>
            </a:br>
            <a:endParaRPr lang="nl-NL" sz="1400" dirty="0"/>
          </a:p>
          <a:p>
            <a:pPr marL="0" indent="0">
              <a:buNone/>
            </a:pPr>
            <a:r>
              <a:rPr lang="nl-NL" sz="1400" u="sng" dirty="0"/>
              <a:t>Gegevensobject Woonplaats</a:t>
            </a:r>
          </a:p>
          <a:p>
            <a:r>
              <a:rPr lang="nl-NL" sz="1400" dirty="0"/>
              <a:t>enkelvoudige </a:t>
            </a:r>
            <a:r>
              <a:rPr lang="nl-NL" sz="1400" dirty="0" err="1"/>
              <a:t>Id’s</a:t>
            </a:r>
            <a:r>
              <a:rPr lang="nl-NL" sz="1400" dirty="0"/>
              <a:t>: </a:t>
            </a:r>
            <a:r>
              <a:rPr lang="nl-NL" sz="1400" dirty="0">
                <a:solidFill>
                  <a:schemeClr val="accent2"/>
                </a:solidFill>
              </a:rPr>
              <a:t>NEN3610 </a:t>
            </a:r>
            <a:r>
              <a:rPr lang="nl-NL" sz="1400" dirty="0" err="1">
                <a:solidFill>
                  <a:schemeClr val="accent2"/>
                </a:solidFill>
              </a:rPr>
              <a:t>Id</a:t>
            </a:r>
            <a:r>
              <a:rPr lang="nl-NL" sz="1400" dirty="0"/>
              <a:t> (logisch niveau) of woonplaatscode (toegekende eigenschap die ook terugkomt op conceptueel niveau)</a:t>
            </a:r>
          </a:p>
          <a:p>
            <a:r>
              <a:rPr lang="nl-NL" sz="1400" dirty="0"/>
              <a:t>samengestelde </a:t>
            </a:r>
            <a:r>
              <a:rPr lang="nl-NL" sz="1400" dirty="0" err="1"/>
              <a:t>Id’s</a:t>
            </a:r>
            <a:r>
              <a:rPr lang="nl-NL" sz="1400" dirty="0"/>
              <a:t>: </a:t>
            </a:r>
            <a:r>
              <a:rPr lang="nl-NL" sz="1400" dirty="0">
                <a:solidFill>
                  <a:schemeClr val="accent2"/>
                </a:solidFill>
              </a:rPr>
              <a:t>NEN3610 </a:t>
            </a:r>
            <a:r>
              <a:rPr lang="nl-NL" sz="1400" dirty="0" err="1">
                <a:solidFill>
                  <a:schemeClr val="accent2"/>
                </a:solidFill>
              </a:rPr>
              <a:t>Id</a:t>
            </a:r>
            <a:r>
              <a:rPr lang="nl-NL" sz="1400" dirty="0">
                <a:solidFill>
                  <a:schemeClr val="accent2"/>
                </a:solidFill>
              </a:rPr>
              <a:t> + versienummer </a:t>
            </a:r>
            <a:br>
              <a:rPr lang="nl-NL" sz="1400" dirty="0"/>
            </a:br>
            <a:r>
              <a:rPr lang="nl-NL" sz="1400" dirty="0"/>
              <a:t>of woonplaatsnaam + gemeentecode of woonplaatsnaam + gemeente naam</a:t>
            </a:r>
          </a:p>
          <a:p>
            <a:pPr marL="0" indent="0">
              <a:buNone/>
            </a:pPr>
            <a:r>
              <a:rPr lang="nl-NL" sz="1400" dirty="0"/>
              <a:t>Rechts is er gekozen om de </a:t>
            </a:r>
            <a:r>
              <a:rPr lang="nl-NL" sz="1400" dirty="0" err="1"/>
              <a:t>Id’s</a:t>
            </a:r>
            <a:r>
              <a:rPr lang="nl-NL" sz="1400" dirty="0"/>
              <a:t> die hierboven een kleur hebben gekregen in de gegevensverwerking te gebruiken om tussen gegevensobjecten onderling te verwijzen. Merk op dat de andere </a:t>
            </a:r>
            <a:r>
              <a:rPr lang="nl-NL" sz="1400" dirty="0" err="1"/>
              <a:t>Id’s</a:t>
            </a:r>
            <a:r>
              <a:rPr lang="nl-NL" sz="1400" dirty="0"/>
              <a:t> zitten ook in het gegevensobject zitten.  </a:t>
            </a:r>
          </a:p>
          <a:p>
            <a:pPr marL="0" indent="0">
              <a:buNone/>
            </a:pPr>
            <a:r>
              <a:rPr lang="nl-NL" sz="1400" dirty="0"/>
              <a:t>Aanvullend kan beargumenteerd worden dat het domein object Gemeente ook in de gegevens zit, in het gegevensobject dat gaat over domein object Woonplaats. </a:t>
            </a:r>
          </a:p>
          <a:p>
            <a:pPr marL="0" indent="0">
              <a:buNone/>
            </a:pPr>
            <a:r>
              <a:rPr lang="nl-NL" sz="1400" b="1" dirty="0"/>
              <a:t>Conclusie</a:t>
            </a:r>
            <a:r>
              <a:rPr lang="nl-NL" sz="1400" dirty="0"/>
              <a:t>: in/op/bij een setje gegevens kunnen meer dan 1 </a:t>
            </a:r>
            <a:r>
              <a:rPr lang="nl-NL" sz="1400" dirty="0" err="1"/>
              <a:t>Id</a:t>
            </a:r>
            <a:r>
              <a:rPr lang="nl-NL" sz="1400" dirty="0"/>
              <a:t> worden aangetroffen. Het is daarom van belang om te benoemen welke </a:t>
            </a:r>
            <a:r>
              <a:rPr lang="nl-NL" sz="1400" dirty="0" err="1"/>
              <a:t>Id’s</a:t>
            </a:r>
            <a:r>
              <a:rPr lang="nl-NL" sz="1400" dirty="0"/>
              <a:t> er in een gegevensobject te vinden zijn, en wat voor </a:t>
            </a:r>
            <a:r>
              <a:rPr lang="nl-NL" sz="1400" dirty="0" err="1"/>
              <a:t>Id’s</a:t>
            </a:r>
            <a:r>
              <a:rPr lang="nl-NL" sz="1400" dirty="0"/>
              <a:t> het zijn. Vaak is wel te zien of af te leiden om wat voor </a:t>
            </a:r>
            <a:r>
              <a:rPr lang="nl-NL" sz="1400" dirty="0" err="1"/>
              <a:t>Id</a:t>
            </a:r>
            <a:r>
              <a:rPr lang="nl-NL" sz="1400" dirty="0"/>
              <a:t> het gaat, maar expliciet specificeren is beter. </a:t>
            </a:r>
          </a:p>
          <a:p>
            <a:pPr marL="0" indent="0">
              <a:buNone/>
            </a:pPr>
            <a:r>
              <a:rPr lang="nl-NL" sz="1400" b="1" dirty="0"/>
              <a:t>Conclusie: </a:t>
            </a:r>
            <a:r>
              <a:rPr lang="nl-NL" sz="1400" dirty="0"/>
              <a:t>er is niet zoiets als </a:t>
            </a:r>
            <a:r>
              <a:rPr lang="nl-NL" sz="1400" u="sng" dirty="0"/>
              <a:t>de</a:t>
            </a:r>
            <a:r>
              <a:rPr lang="nl-NL" sz="1400" dirty="0"/>
              <a:t> </a:t>
            </a:r>
            <a:r>
              <a:rPr lang="nl-NL" sz="1400" dirty="0" err="1"/>
              <a:t>Id</a:t>
            </a:r>
            <a:r>
              <a:rPr lang="nl-NL" sz="1400" dirty="0"/>
              <a:t> </a:t>
            </a:r>
            <a:r>
              <a:rPr lang="nl-NL" sz="1400" u="sng" dirty="0"/>
              <a:t>van</a:t>
            </a:r>
            <a:r>
              <a:rPr lang="nl-NL" sz="1400" dirty="0"/>
              <a:t> een gegevensobject. Er zijn alleen </a:t>
            </a:r>
            <a:r>
              <a:rPr lang="nl-NL" sz="1400" dirty="0" err="1"/>
              <a:t>Id's</a:t>
            </a:r>
            <a:r>
              <a:rPr lang="nl-NL" sz="1400" dirty="0"/>
              <a:t> die je aantreft in een gegevensobject, die een bepaald gebruiksdoel hebben. </a:t>
            </a:r>
          </a:p>
          <a:p>
            <a:pPr marL="0" indent="0">
              <a:buNone/>
            </a:pPr>
            <a:endParaRPr lang="nl-NL" sz="1400" dirty="0"/>
          </a:p>
        </p:txBody>
      </p:sp>
      <p:sp>
        <p:nvSpPr>
          <p:cNvPr id="14" name="Rechthoek 13">
            <a:extLst>
              <a:ext uri="{FF2B5EF4-FFF2-40B4-BE49-F238E27FC236}">
                <a16:creationId xmlns:a16="http://schemas.microsoft.com/office/drawing/2014/main" id="{EB5B7F99-5FC7-2447-B80D-1BE2B2897F45}"/>
              </a:ext>
            </a:extLst>
          </p:cNvPr>
          <p:cNvSpPr/>
          <p:nvPr/>
        </p:nvSpPr>
        <p:spPr>
          <a:xfrm>
            <a:off x="8371165" y="1566453"/>
            <a:ext cx="2856015" cy="614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t>Id</a:t>
            </a:r>
            <a:r>
              <a:rPr lang="nl-NL" sz="1400" dirty="0"/>
              <a:t>: woonplaats naam Beekbergen + gemeente Apeldoorn</a:t>
            </a:r>
          </a:p>
        </p:txBody>
      </p:sp>
      <p:sp>
        <p:nvSpPr>
          <p:cNvPr id="15" name="Rechthoek 14">
            <a:extLst>
              <a:ext uri="{FF2B5EF4-FFF2-40B4-BE49-F238E27FC236}">
                <a16:creationId xmlns:a16="http://schemas.microsoft.com/office/drawing/2014/main" id="{FF8844DD-1CC2-1B6E-A6AE-7EC73B634BDD}"/>
              </a:ext>
            </a:extLst>
          </p:cNvPr>
          <p:cNvSpPr/>
          <p:nvPr/>
        </p:nvSpPr>
        <p:spPr>
          <a:xfrm>
            <a:off x="9381432" y="3061826"/>
            <a:ext cx="1929206" cy="88508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solidFill>
                  <a:schemeClr val="tx1"/>
                </a:solidFill>
              </a:rPr>
              <a:t>“verstopte </a:t>
            </a:r>
            <a:r>
              <a:rPr lang="nl-NL" sz="1400" dirty="0" err="1">
                <a:solidFill>
                  <a:schemeClr val="tx1"/>
                </a:solidFill>
              </a:rPr>
              <a:t>Id</a:t>
            </a:r>
            <a:r>
              <a:rPr lang="nl-NL" sz="1400" dirty="0">
                <a:solidFill>
                  <a:schemeClr val="tx1"/>
                </a:solidFill>
              </a:rPr>
              <a:t>”</a:t>
            </a:r>
            <a:br>
              <a:rPr lang="nl-NL" sz="1400" dirty="0">
                <a:solidFill>
                  <a:schemeClr val="tx1"/>
                </a:solidFill>
              </a:rPr>
            </a:br>
            <a:r>
              <a:rPr lang="nl-NL" sz="1400" dirty="0">
                <a:solidFill>
                  <a:schemeClr val="tx1"/>
                </a:solidFill>
              </a:rPr>
              <a:t>12345 heeft </a:t>
            </a:r>
            <a:br>
              <a:rPr lang="nl-NL" sz="1400" dirty="0">
                <a:solidFill>
                  <a:schemeClr val="tx1"/>
                </a:solidFill>
              </a:rPr>
            </a:br>
            <a:r>
              <a:rPr lang="nl-NL" sz="1400" dirty="0">
                <a:solidFill>
                  <a:schemeClr val="tx1"/>
                </a:solidFill>
              </a:rPr>
              <a:t>naam Beekbergen, gemeente Apeldoorn</a:t>
            </a:r>
          </a:p>
        </p:txBody>
      </p:sp>
      <p:sp>
        <p:nvSpPr>
          <p:cNvPr id="17" name="Rechthoek 16">
            <a:extLst>
              <a:ext uri="{FF2B5EF4-FFF2-40B4-BE49-F238E27FC236}">
                <a16:creationId xmlns:a16="http://schemas.microsoft.com/office/drawing/2014/main" id="{1D08ED52-3C20-5707-3FE1-3D5EEFBB7ED4}"/>
              </a:ext>
            </a:extLst>
          </p:cNvPr>
          <p:cNvSpPr/>
          <p:nvPr/>
        </p:nvSpPr>
        <p:spPr>
          <a:xfrm>
            <a:off x="8412377" y="4764416"/>
            <a:ext cx="947391" cy="4572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solidFill>
                  <a:schemeClr val="tx1"/>
                </a:solidFill>
              </a:rPr>
              <a:t>Id</a:t>
            </a:r>
            <a:r>
              <a:rPr lang="nl-NL" sz="1400" dirty="0">
                <a:solidFill>
                  <a:schemeClr val="tx1"/>
                </a:solidFill>
              </a:rPr>
              <a:t>: 12345</a:t>
            </a:r>
          </a:p>
        </p:txBody>
      </p:sp>
      <p:sp>
        <p:nvSpPr>
          <p:cNvPr id="18" name="Rechthoek 17">
            <a:extLst>
              <a:ext uri="{FF2B5EF4-FFF2-40B4-BE49-F238E27FC236}">
                <a16:creationId xmlns:a16="http://schemas.microsoft.com/office/drawing/2014/main" id="{A3F33FDA-3EAD-2E96-7BB7-797A1C60B0A9}"/>
              </a:ext>
            </a:extLst>
          </p:cNvPr>
          <p:cNvSpPr/>
          <p:nvPr/>
        </p:nvSpPr>
        <p:spPr>
          <a:xfrm>
            <a:off x="8416937" y="5531135"/>
            <a:ext cx="948240" cy="53063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solidFill>
                  <a:schemeClr val="tx1"/>
                </a:solidFill>
              </a:rPr>
              <a:t>Id</a:t>
            </a:r>
            <a:r>
              <a:rPr lang="nl-NL" sz="1400" dirty="0">
                <a:solidFill>
                  <a:schemeClr val="tx1"/>
                </a:solidFill>
              </a:rPr>
              <a:t>: 12345 + versie 1</a:t>
            </a:r>
          </a:p>
        </p:txBody>
      </p:sp>
      <p:cxnSp>
        <p:nvCxnSpPr>
          <p:cNvPr id="20" name="Rechte verbindingslijn met pijl 19">
            <a:extLst>
              <a:ext uri="{FF2B5EF4-FFF2-40B4-BE49-F238E27FC236}">
                <a16:creationId xmlns:a16="http://schemas.microsoft.com/office/drawing/2014/main" id="{C39E6B9F-1927-E78E-4903-CE76A70A7017}"/>
              </a:ext>
            </a:extLst>
          </p:cNvPr>
          <p:cNvCxnSpPr>
            <a:cxnSpLocks/>
            <a:stCxn id="17" idx="0"/>
            <a:endCxn id="15" idx="2"/>
          </p:cNvCxnSpPr>
          <p:nvPr/>
        </p:nvCxnSpPr>
        <p:spPr>
          <a:xfrm flipV="1">
            <a:off x="8886073" y="3946909"/>
            <a:ext cx="1459962" cy="8175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Rechte verbindingslijn met pijl 20">
            <a:extLst>
              <a:ext uri="{FF2B5EF4-FFF2-40B4-BE49-F238E27FC236}">
                <a16:creationId xmlns:a16="http://schemas.microsoft.com/office/drawing/2014/main" id="{5B27ED6A-0F66-4C15-C250-99A34B91290F}"/>
              </a:ext>
            </a:extLst>
          </p:cNvPr>
          <p:cNvCxnSpPr>
            <a:cxnSpLocks/>
            <a:stCxn id="18" idx="0"/>
            <a:endCxn id="17" idx="2"/>
          </p:cNvCxnSpPr>
          <p:nvPr/>
        </p:nvCxnSpPr>
        <p:spPr>
          <a:xfrm flipH="1" flipV="1">
            <a:off x="8886073" y="5221616"/>
            <a:ext cx="4984" cy="3095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kstvak 22">
            <a:extLst>
              <a:ext uri="{FF2B5EF4-FFF2-40B4-BE49-F238E27FC236}">
                <a16:creationId xmlns:a16="http://schemas.microsoft.com/office/drawing/2014/main" id="{B5D21244-CCF1-8782-3848-8B91A544C3AC}"/>
              </a:ext>
            </a:extLst>
          </p:cNvPr>
          <p:cNvSpPr txBox="1"/>
          <p:nvPr/>
        </p:nvSpPr>
        <p:spPr>
          <a:xfrm>
            <a:off x="9497273" y="4956775"/>
            <a:ext cx="2297665" cy="1169551"/>
          </a:xfrm>
          <a:prstGeom prst="rect">
            <a:avLst/>
          </a:prstGeom>
          <a:noFill/>
        </p:spPr>
        <p:txBody>
          <a:bodyPr wrap="square" rtlCol="0">
            <a:spAutoFit/>
          </a:bodyPr>
          <a:lstStyle/>
          <a:p>
            <a:r>
              <a:rPr lang="nl-NL" sz="1400" i="1" dirty="0"/>
              <a:t>versie 1 is een versie in de tijd van 12345</a:t>
            </a:r>
            <a:br>
              <a:rPr lang="nl-NL" sz="1400" i="1" dirty="0"/>
            </a:br>
            <a:r>
              <a:rPr lang="nl-NL" sz="1400" i="1" u="sng" dirty="0"/>
              <a:t>en</a:t>
            </a:r>
            <a:r>
              <a:rPr lang="nl-NL" sz="1400" i="1" dirty="0"/>
              <a:t> daarmee ook van het domein object woonplaats (in alleen dit domein)</a:t>
            </a:r>
          </a:p>
        </p:txBody>
      </p:sp>
      <p:sp>
        <p:nvSpPr>
          <p:cNvPr id="24" name="Rechthoek 23">
            <a:extLst>
              <a:ext uri="{FF2B5EF4-FFF2-40B4-BE49-F238E27FC236}">
                <a16:creationId xmlns:a16="http://schemas.microsoft.com/office/drawing/2014/main" id="{1BDAED3C-DC60-AE43-8DE1-E9A34632F75B}"/>
              </a:ext>
            </a:extLst>
          </p:cNvPr>
          <p:cNvSpPr/>
          <p:nvPr/>
        </p:nvSpPr>
        <p:spPr>
          <a:xfrm>
            <a:off x="8330757" y="469551"/>
            <a:ext cx="2896421" cy="31726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t>Domein object Woonplaats</a:t>
            </a:r>
          </a:p>
        </p:txBody>
      </p:sp>
      <p:cxnSp>
        <p:nvCxnSpPr>
          <p:cNvPr id="29" name="Rechte verbindingslijn met pijl 28">
            <a:extLst>
              <a:ext uri="{FF2B5EF4-FFF2-40B4-BE49-F238E27FC236}">
                <a16:creationId xmlns:a16="http://schemas.microsoft.com/office/drawing/2014/main" id="{370EF115-7A5B-ACDA-3061-4EF9A72DFD6C}"/>
              </a:ext>
            </a:extLst>
          </p:cNvPr>
          <p:cNvCxnSpPr>
            <a:cxnSpLocks/>
          </p:cNvCxnSpPr>
          <p:nvPr/>
        </p:nvCxnSpPr>
        <p:spPr>
          <a:xfrm>
            <a:off x="7720001" y="548268"/>
            <a:ext cx="610756" cy="27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Rechte verbindingslijn 29">
            <a:extLst>
              <a:ext uri="{FF2B5EF4-FFF2-40B4-BE49-F238E27FC236}">
                <a16:creationId xmlns:a16="http://schemas.microsoft.com/office/drawing/2014/main" id="{0A272953-0291-8147-B1EC-BB79FA604208}"/>
              </a:ext>
            </a:extLst>
          </p:cNvPr>
          <p:cNvCxnSpPr>
            <a:cxnSpLocks/>
          </p:cNvCxnSpPr>
          <p:nvPr/>
        </p:nvCxnSpPr>
        <p:spPr>
          <a:xfrm>
            <a:off x="7720001" y="548268"/>
            <a:ext cx="0" cy="4443527"/>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Rechte verbindingslijn 30">
            <a:extLst>
              <a:ext uri="{FF2B5EF4-FFF2-40B4-BE49-F238E27FC236}">
                <a16:creationId xmlns:a16="http://schemas.microsoft.com/office/drawing/2014/main" id="{619B00BD-C06F-B0FF-BC13-6D5EF44E0E64}"/>
              </a:ext>
            </a:extLst>
          </p:cNvPr>
          <p:cNvCxnSpPr>
            <a:cxnSpLocks/>
            <a:endCxn id="17" idx="1"/>
          </p:cNvCxnSpPr>
          <p:nvPr/>
        </p:nvCxnSpPr>
        <p:spPr>
          <a:xfrm>
            <a:off x="7720001" y="4993016"/>
            <a:ext cx="692376" cy="0"/>
          </a:xfrm>
          <a:prstGeom prst="line">
            <a:avLst/>
          </a:prstGeom>
        </p:spPr>
        <p:style>
          <a:lnRef idx="2">
            <a:schemeClr val="accent1"/>
          </a:lnRef>
          <a:fillRef idx="0">
            <a:schemeClr val="accent1"/>
          </a:fillRef>
          <a:effectRef idx="1">
            <a:schemeClr val="accent1"/>
          </a:effectRef>
          <a:fontRef idx="minor">
            <a:schemeClr val="tx1"/>
          </a:fontRef>
        </p:style>
      </p:cxnSp>
      <p:sp>
        <p:nvSpPr>
          <p:cNvPr id="32" name="Rechthoek 31">
            <a:extLst>
              <a:ext uri="{FF2B5EF4-FFF2-40B4-BE49-F238E27FC236}">
                <a16:creationId xmlns:a16="http://schemas.microsoft.com/office/drawing/2014/main" id="{AA2529E3-3E63-90F3-76CB-B211EE944169}"/>
              </a:ext>
            </a:extLst>
          </p:cNvPr>
          <p:cNvSpPr/>
          <p:nvPr/>
        </p:nvSpPr>
        <p:spPr>
          <a:xfrm>
            <a:off x="8412377" y="6290367"/>
            <a:ext cx="2898261" cy="31726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t>Gegevensobject</a:t>
            </a:r>
          </a:p>
        </p:txBody>
      </p:sp>
      <p:cxnSp>
        <p:nvCxnSpPr>
          <p:cNvPr id="65" name="Rechte verbindingslijn met pijl 64">
            <a:extLst>
              <a:ext uri="{FF2B5EF4-FFF2-40B4-BE49-F238E27FC236}">
                <a16:creationId xmlns:a16="http://schemas.microsoft.com/office/drawing/2014/main" id="{9F0C0204-625A-84BF-2CA1-3DE31F200972}"/>
              </a:ext>
            </a:extLst>
          </p:cNvPr>
          <p:cNvCxnSpPr>
            <a:cxnSpLocks/>
            <a:stCxn id="15" idx="0"/>
          </p:cNvCxnSpPr>
          <p:nvPr/>
        </p:nvCxnSpPr>
        <p:spPr>
          <a:xfrm flipH="1" flipV="1">
            <a:off x="10337646" y="2180622"/>
            <a:ext cx="8389" cy="8812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4" name="Tekstvak 83">
            <a:extLst>
              <a:ext uri="{FF2B5EF4-FFF2-40B4-BE49-F238E27FC236}">
                <a16:creationId xmlns:a16="http://schemas.microsoft.com/office/drawing/2014/main" id="{2022EFCE-EE57-0693-2A83-25DD11E5FC39}"/>
              </a:ext>
            </a:extLst>
          </p:cNvPr>
          <p:cNvSpPr txBox="1"/>
          <p:nvPr/>
        </p:nvSpPr>
        <p:spPr>
          <a:xfrm>
            <a:off x="6961252" y="2610977"/>
            <a:ext cx="1092863" cy="2031325"/>
          </a:xfrm>
          <a:prstGeom prst="rect">
            <a:avLst/>
          </a:prstGeom>
          <a:solidFill>
            <a:schemeClr val="bg1">
              <a:alpha val="80000"/>
            </a:schemeClr>
          </a:solidFill>
        </p:spPr>
        <p:txBody>
          <a:bodyPr wrap="none" rtlCol="0">
            <a:spAutoFit/>
          </a:bodyPr>
          <a:lstStyle/>
          <a:p>
            <a:pPr algn="ctr"/>
            <a:r>
              <a:rPr lang="nl-NL" sz="1400" i="1" dirty="0"/>
              <a:t>12345 </a:t>
            </a:r>
            <a:br>
              <a:rPr lang="nl-NL" sz="1400" i="1" dirty="0"/>
            </a:br>
            <a:r>
              <a:rPr lang="nl-NL" sz="1400" i="1" dirty="0"/>
              <a:t>is een </a:t>
            </a:r>
            <a:r>
              <a:rPr lang="nl-NL" sz="1400" i="1" dirty="0" err="1"/>
              <a:t>Id</a:t>
            </a:r>
            <a:r>
              <a:rPr lang="nl-NL" sz="1400" i="1" dirty="0"/>
              <a:t> </a:t>
            </a:r>
          </a:p>
          <a:p>
            <a:pPr algn="ctr"/>
            <a:r>
              <a:rPr lang="nl-NL" sz="1400" i="1" dirty="0"/>
              <a:t>op </a:t>
            </a:r>
          </a:p>
          <a:p>
            <a:pPr algn="ctr"/>
            <a:r>
              <a:rPr lang="nl-NL" sz="1400" i="1" dirty="0"/>
              <a:t>logisch </a:t>
            </a:r>
          </a:p>
          <a:p>
            <a:pPr algn="ctr"/>
            <a:r>
              <a:rPr lang="nl-NL" sz="1400" i="1" dirty="0"/>
              <a:t>niveau, </a:t>
            </a:r>
            <a:br>
              <a:rPr lang="nl-NL" sz="1400" i="1" dirty="0"/>
            </a:br>
            <a:r>
              <a:rPr lang="nl-NL" sz="1400" i="1" dirty="0"/>
              <a:t>uitgegeven  </a:t>
            </a:r>
            <a:br>
              <a:rPr lang="nl-NL" sz="1400" i="1" dirty="0"/>
            </a:br>
            <a:r>
              <a:rPr lang="nl-NL" sz="1400" i="1" dirty="0"/>
              <a:t>voor </a:t>
            </a:r>
            <a:br>
              <a:rPr lang="nl-NL" sz="1400" i="1" dirty="0"/>
            </a:br>
            <a:r>
              <a:rPr lang="nl-NL" sz="1400" i="1" dirty="0"/>
              <a:t>deze </a:t>
            </a:r>
            <a:br>
              <a:rPr lang="nl-NL" sz="1400" i="1" dirty="0"/>
            </a:br>
            <a:r>
              <a:rPr lang="nl-NL" sz="1400" i="1" dirty="0"/>
              <a:t>woonplaats</a:t>
            </a:r>
          </a:p>
        </p:txBody>
      </p:sp>
      <p:sp>
        <p:nvSpPr>
          <p:cNvPr id="88" name="Tekstvak 87">
            <a:extLst>
              <a:ext uri="{FF2B5EF4-FFF2-40B4-BE49-F238E27FC236}">
                <a16:creationId xmlns:a16="http://schemas.microsoft.com/office/drawing/2014/main" id="{B6A702BE-19F3-930A-101B-DF072AA727B3}"/>
              </a:ext>
            </a:extLst>
          </p:cNvPr>
          <p:cNvSpPr txBox="1"/>
          <p:nvPr/>
        </p:nvSpPr>
        <p:spPr>
          <a:xfrm>
            <a:off x="8685668" y="4107436"/>
            <a:ext cx="3175154" cy="523220"/>
          </a:xfrm>
          <a:prstGeom prst="rect">
            <a:avLst/>
          </a:prstGeom>
          <a:solidFill>
            <a:schemeClr val="bg1">
              <a:alpha val="80000"/>
            </a:schemeClr>
          </a:solidFill>
        </p:spPr>
        <p:txBody>
          <a:bodyPr wrap="square" rtlCol="0">
            <a:spAutoFit/>
          </a:bodyPr>
          <a:lstStyle/>
          <a:p>
            <a:pPr algn="ctr"/>
            <a:r>
              <a:rPr lang="nl-NL" sz="1400" i="1" dirty="0"/>
              <a:t>op 1 moment in de tijd correct, </a:t>
            </a:r>
            <a:br>
              <a:rPr lang="nl-NL" sz="1400" i="1" dirty="0"/>
            </a:br>
            <a:r>
              <a:rPr lang="nl-NL" sz="1400" i="1" dirty="0"/>
              <a:t>maar namen kunnen veranderen</a:t>
            </a:r>
          </a:p>
        </p:txBody>
      </p:sp>
      <p:cxnSp>
        <p:nvCxnSpPr>
          <p:cNvPr id="89" name="Rechte verbindingslijn met pijl 88">
            <a:extLst>
              <a:ext uri="{FF2B5EF4-FFF2-40B4-BE49-F238E27FC236}">
                <a16:creationId xmlns:a16="http://schemas.microsoft.com/office/drawing/2014/main" id="{323FA577-947F-6E35-2811-EBEF09B166AA}"/>
              </a:ext>
            </a:extLst>
          </p:cNvPr>
          <p:cNvCxnSpPr>
            <a:cxnSpLocks/>
          </p:cNvCxnSpPr>
          <p:nvPr/>
        </p:nvCxnSpPr>
        <p:spPr>
          <a:xfrm>
            <a:off x="7983816" y="696758"/>
            <a:ext cx="3469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7" name="Rechte verbindingslijn 96">
            <a:extLst>
              <a:ext uri="{FF2B5EF4-FFF2-40B4-BE49-F238E27FC236}">
                <a16:creationId xmlns:a16="http://schemas.microsoft.com/office/drawing/2014/main" id="{FAE770D0-3583-3868-EF45-57223E04BDF5}"/>
              </a:ext>
            </a:extLst>
          </p:cNvPr>
          <p:cNvCxnSpPr>
            <a:cxnSpLocks/>
          </p:cNvCxnSpPr>
          <p:nvPr/>
        </p:nvCxnSpPr>
        <p:spPr>
          <a:xfrm>
            <a:off x="7984455" y="703685"/>
            <a:ext cx="11034" cy="1169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Rechte verbindingslijn 98">
            <a:extLst>
              <a:ext uri="{FF2B5EF4-FFF2-40B4-BE49-F238E27FC236}">
                <a16:creationId xmlns:a16="http://schemas.microsoft.com/office/drawing/2014/main" id="{85E4084E-59B5-0188-82FC-2CBDF242C8FE}"/>
              </a:ext>
            </a:extLst>
          </p:cNvPr>
          <p:cNvCxnSpPr>
            <a:cxnSpLocks/>
            <a:stCxn id="14" idx="1"/>
          </p:cNvCxnSpPr>
          <p:nvPr/>
        </p:nvCxnSpPr>
        <p:spPr>
          <a:xfrm flipH="1" flipV="1">
            <a:off x="7995489" y="1873537"/>
            <a:ext cx="375676" cy="1"/>
          </a:xfrm>
          <a:prstGeom prst="line">
            <a:avLst/>
          </a:prstGeom>
        </p:spPr>
        <p:style>
          <a:lnRef idx="2">
            <a:schemeClr val="accent1"/>
          </a:lnRef>
          <a:fillRef idx="0">
            <a:schemeClr val="accent1"/>
          </a:fillRef>
          <a:effectRef idx="1">
            <a:schemeClr val="accent1"/>
          </a:effectRef>
          <a:fontRef idx="minor">
            <a:schemeClr val="tx1"/>
          </a:fontRef>
        </p:style>
      </p:cxnSp>
      <p:sp>
        <p:nvSpPr>
          <p:cNvPr id="93" name="Tekstvak 92">
            <a:extLst>
              <a:ext uri="{FF2B5EF4-FFF2-40B4-BE49-F238E27FC236}">
                <a16:creationId xmlns:a16="http://schemas.microsoft.com/office/drawing/2014/main" id="{0651F6D7-DE5C-B1A4-D8A1-9C934AE428E2}"/>
              </a:ext>
            </a:extLst>
          </p:cNvPr>
          <p:cNvSpPr txBox="1"/>
          <p:nvPr/>
        </p:nvSpPr>
        <p:spPr>
          <a:xfrm>
            <a:off x="8059578" y="899907"/>
            <a:ext cx="2492990" cy="523220"/>
          </a:xfrm>
          <a:prstGeom prst="rect">
            <a:avLst/>
          </a:prstGeom>
          <a:solidFill>
            <a:schemeClr val="bg1">
              <a:alpha val="80000"/>
            </a:schemeClr>
          </a:solidFill>
        </p:spPr>
        <p:txBody>
          <a:bodyPr wrap="none" rtlCol="0">
            <a:spAutoFit/>
          </a:bodyPr>
          <a:lstStyle/>
          <a:p>
            <a:pPr algn="ctr"/>
            <a:r>
              <a:rPr lang="nl-NL" sz="1400" i="1" dirty="0"/>
              <a:t>een </a:t>
            </a:r>
            <a:r>
              <a:rPr lang="nl-NL" sz="1400" i="1" dirty="0" err="1"/>
              <a:t>Id</a:t>
            </a:r>
            <a:r>
              <a:rPr lang="nl-NL" sz="1400" i="1" dirty="0"/>
              <a:t> op conceptueel niveau </a:t>
            </a:r>
            <a:br>
              <a:rPr lang="nl-NL" sz="1400" i="1" dirty="0"/>
            </a:br>
            <a:r>
              <a:rPr lang="nl-NL" sz="1400" i="1" u="sng" dirty="0"/>
              <a:t>van</a:t>
            </a:r>
            <a:r>
              <a:rPr lang="nl-NL" sz="1400" i="1" dirty="0"/>
              <a:t> een domein object </a:t>
            </a:r>
          </a:p>
        </p:txBody>
      </p:sp>
      <p:sp>
        <p:nvSpPr>
          <p:cNvPr id="22" name="Tekstvak 21">
            <a:extLst>
              <a:ext uri="{FF2B5EF4-FFF2-40B4-BE49-F238E27FC236}">
                <a16:creationId xmlns:a16="http://schemas.microsoft.com/office/drawing/2014/main" id="{E788A596-01BD-F08E-6E58-10B6659A3BC6}"/>
              </a:ext>
            </a:extLst>
          </p:cNvPr>
          <p:cNvSpPr txBox="1"/>
          <p:nvPr/>
        </p:nvSpPr>
        <p:spPr>
          <a:xfrm>
            <a:off x="9776137" y="2461847"/>
            <a:ext cx="1316899" cy="523220"/>
          </a:xfrm>
          <a:prstGeom prst="rect">
            <a:avLst/>
          </a:prstGeom>
          <a:solidFill>
            <a:schemeClr val="bg1">
              <a:alpha val="80000"/>
            </a:schemeClr>
          </a:solidFill>
        </p:spPr>
        <p:txBody>
          <a:bodyPr wrap="none" rtlCol="0">
            <a:spAutoFit/>
          </a:bodyPr>
          <a:lstStyle/>
          <a:p>
            <a:r>
              <a:rPr lang="nl-NL" sz="1400" i="1" dirty="0"/>
              <a:t>koppeling met </a:t>
            </a:r>
            <a:br>
              <a:rPr lang="nl-NL" sz="1400" i="1" dirty="0"/>
            </a:br>
            <a:r>
              <a:rPr lang="nl-NL" sz="1400" i="1" dirty="0"/>
              <a:t>werkelijkheid</a:t>
            </a:r>
          </a:p>
        </p:txBody>
      </p:sp>
      <p:cxnSp>
        <p:nvCxnSpPr>
          <p:cNvPr id="150" name="Rechte verbindingslijn 149">
            <a:extLst>
              <a:ext uri="{FF2B5EF4-FFF2-40B4-BE49-F238E27FC236}">
                <a16:creationId xmlns:a16="http://schemas.microsoft.com/office/drawing/2014/main" id="{8A22A85E-7B8C-5E1F-8A3C-9E7AADACE69A}"/>
              </a:ext>
            </a:extLst>
          </p:cNvPr>
          <p:cNvCxnSpPr>
            <a:cxnSpLocks/>
          </p:cNvCxnSpPr>
          <p:nvPr/>
        </p:nvCxnSpPr>
        <p:spPr>
          <a:xfrm>
            <a:off x="6187669" y="2439415"/>
            <a:ext cx="5460097" cy="0"/>
          </a:xfrm>
          <a:prstGeom prst="line">
            <a:avLst/>
          </a:prstGeom>
          <a:ln w="6350">
            <a:prstDash val="sysDash"/>
          </a:ln>
        </p:spPr>
        <p:style>
          <a:lnRef idx="2">
            <a:schemeClr val="accent1"/>
          </a:lnRef>
          <a:fillRef idx="0">
            <a:schemeClr val="accent1"/>
          </a:fillRef>
          <a:effectRef idx="1">
            <a:schemeClr val="accent1"/>
          </a:effectRef>
          <a:fontRef idx="minor">
            <a:schemeClr val="tx1"/>
          </a:fontRef>
        </p:style>
      </p:cxnSp>
      <p:sp>
        <p:nvSpPr>
          <p:cNvPr id="155" name="Tekstvak 154">
            <a:extLst>
              <a:ext uri="{FF2B5EF4-FFF2-40B4-BE49-F238E27FC236}">
                <a16:creationId xmlns:a16="http://schemas.microsoft.com/office/drawing/2014/main" id="{4E054DA5-68AC-253C-8652-4B7F30F0B441}"/>
              </a:ext>
            </a:extLst>
          </p:cNvPr>
          <p:cNvSpPr txBox="1"/>
          <p:nvPr/>
        </p:nvSpPr>
        <p:spPr>
          <a:xfrm>
            <a:off x="6068672" y="2029497"/>
            <a:ext cx="1212191" cy="307777"/>
          </a:xfrm>
          <a:prstGeom prst="rect">
            <a:avLst/>
          </a:prstGeom>
          <a:noFill/>
        </p:spPr>
        <p:txBody>
          <a:bodyPr wrap="none" rtlCol="0">
            <a:spAutoFit/>
          </a:bodyPr>
          <a:lstStyle/>
          <a:p>
            <a:r>
              <a:rPr lang="nl-NL" sz="1400" b="1" dirty="0"/>
              <a:t>conceptueel</a:t>
            </a:r>
          </a:p>
        </p:txBody>
      </p:sp>
      <p:sp>
        <p:nvSpPr>
          <p:cNvPr id="156" name="Tekstvak 155">
            <a:extLst>
              <a:ext uri="{FF2B5EF4-FFF2-40B4-BE49-F238E27FC236}">
                <a16:creationId xmlns:a16="http://schemas.microsoft.com/office/drawing/2014/main" id="{935B9EC4-0A8D-1DE6-57BD-DF73B4248657}"/>
              </a:ext>
            </a:extLst>
          </p:cNvPr>
          <p:cNvSpPr txBox="1"/>
          <p:nvPr/>
        </p:nvSpPr>
        <p:spPr>
          <a:xfrm>
            <a:off x="6403368" y="2476489"/>
            <a:ext cx="774571" cy="307777"/>
          </a:xfrm>
          <a:prstGeom prst="rect">
            <a:avLst/>
          </a:prstGeom>
          <a:noFill/>
        </p:spPr>
        <p:txBody>
          <a:bodyPr wrap="none" rtlCol="0">
            <a:spAutoFit/>
          </a:bodyPr>
          <a:lstStyle/>
          <a:p>
            <a:r>
              <a:rPr lang="nl-NL" sz="1400" b="1" dirty="0"/>
              <a:t>logisch</a:t>
            </a:r>
          </a:p>
        </p:txBody>
      </p:sp>
      <p:cxnSp>
        <p:nvCxnSpPr>
          <p:cNvPr id="163" name="Rechte verbindingslijn met pijl 162">
            <a:extLst>
              <a:ext uri="{FF2B5EF4-FFF2-40B4-BE49-F238E27FC236}">
                <a16:creationId xmlns:a16="http://schemas.microsoft.com/office/drawing/2014/main" id="{7476943F-4ADF-3ACB-BE70-4C17A4477344}"/>
              </a:ext>
            </a:extLst>
          </p:cNvPr>
          <p:cNvCxnSpPr>
            <a:cxnSpLocks/>
          </p:cNvCxnSpPr>
          <p:nvPr/>
        </p:nvCxnSpPr>
        <p:spPr>
          <a:xfrm>
            <a:off x="8203391" y="2027078"/>
            <a:ext cx="1677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8" name="Rechte verbindingslijn 167">
            <a:extLst>
              <a:ext uri="{FF2B5EF4-FFF2-40B4-BE49-F238E27FC236}">
                <a16:creationId xmlns:a16="http://schemas.microsoft.com/office/drawing/2014/main" id="{B1A8F772-7E1C-0054-F382-337F64116263}"/>
              </a:ext>
            </a:extLst>
          </p:cNvPr>
          <p:cNvCxnSpPr>
            <a:cxnSpLocks/>
          </p:cNvCxnSpPr>
          <p:nvPr/>
        </p:nvCxnSpPr>
        <p:spPr>
          <a:xfrm>
            <a:off x="8203391" y="2031532"/>
            <a:ext cx="0" cy="28330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74" name="Rechte verbindingslijn 173">
            <a:extLst>
              <a:ext uri="{FF2B5EF4-FFF2-40B4-BE49-F238E27FC236}">
                <a16:creationId xmlns:a16="http://schemas.microsoft.com/office/drawing/2014/main" id="{5A2B5B47-BE88-9E34-AC21-FC4164089093}"/>
              </a:ext>
            </a:extLst>
          </p:cNvPr>
          <p:cNvCxnSpPr>
            <a:cxnSpLocks/>
          </p:cNvCxnSpPr>
          <p:nvPr/>
        </p:nvCxnSpPr>
        <p:spPr>
          <a:xfrm>
            <a:off x="8210745" y="4864553"/>
            <a:ext cx="201633" cy="0"/>
          </a:xfrm>
          <a:prstGeom prst="line">
            <a:avLst/>
          </a:prstGeom>
        </p:spPr>
        <p:style>
          <a:lnRef idx="2">
            <a:schemeClr val="accent1"/>
          </a:lnRef>
          <a:fillRef idx="0">
            <a:schemeClr val="accent1"/>
          </a:fillRef>
          <a:effectRef idx="1">
            <a:schemeClr val="accent1"/>
          </a:effectRef>
          <a:fontRef idx="minor">
            <a:schemeClr val="tx1"/>
          </a:fontRef>
        </p:style>
      </p:cxnSp>
      <p:sp>
        <p:nvSpPr>
          <p:cNvPr id="177" name="Tekstvak 176">
            <a:extLst>
              <a:ext uri="{FF2B5EF4-FFF2-40B4-BE49-F238E27FC236}">
                <a16:creationId xmlns:a16="http://schemas.microsoft.com/office/drawing/2014/main" id="{5CCDB782-2402-32FA-2969-3DD8E95DE984}"/>
              </a:ext>
            </a:extLst>
          </p:cNvPr>
          <p:cNvSpPr txBox="1"/>
          <p:nvPr/>
        </p:nvSpPr>
        <p:spPr>
          <a:xfrm>
            <a:off x="8079701" y="2774431"/>
            <a:ext cx="1211935" cy="1169551"/>
          </a:xfrm>
          <a:prstGeom prst="rect">
            <a:avLst/>
          </a:prstGeom>
          <a:solidFill>
            <a:schemeClr val="bg1">
              <a:alpha val="80000"/>
            </a:schemeClr>
          </a:solidFill>
        </p:spPr>
        <p:txBody>
          <a:bodyPr wrap="square" rtlCol="0">
            <a:spAutoFit/>
          </a:bodyPr>
          <a:lstStyle/>
          <a:p>
            <a:pPr algn="ctr"/>
            <a:r>
              <a:rPr lang="nl-NL" sz="1400" i="1" dirty="0"/>
              <a:t>12345 is </a:t>
            </a:r>
            <a:br>
              <a:rPr lang="nl-NL" sz="1400" i="1" dirty="0"/>
            </a:br>
            <a:r>
              <a:rPr lang="nl-NL" sz="1400" i="1" dirty="0"/>
              <a:t>ook een representatie van de </a:t>
            </a:r>
            <a:br>
              <a:rPr lang="nl-NL" sz="1400" i="1" dirty="0"/>
            </a:br>
            <a:r>
              <a:rPr lang="nl-NL" sz="1400" i="1" dirty="0"/>
              <a:t>deze </a:t>
            </a:r>
            <a:r>
              <a:rPr lang="nl-NL" sz="1400" i="1" dirty="0" err="1"/>
              <a:t>Id</a:t>
            </a:r>
            <a:endParaRPr lang="nl-NL" sz="1400" i="1" dirty="0"/>
          </a:p>
        </p:txBody>
      </p:sp>
    </p:spTree>
    <p:extLst>
      <p:ext uri="{BB962C8B-B14F-4D97-AF65-F5344CB8AC3E}">
        <p14:creationId xmlns:p14="http://schemas.microsoft.com/office/powerpoint/2010/main" val="1239077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459B7-0810-7302-2A8A-4F178A6D60C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9EB7661-92C3-B107-4CE1-482573E98B1D}"/>
              </a:ext>
            </a:extLst>
          </p:cNvPr>
          <p:cNvSpPr>
            <a:spLocks noGrp="1"/>
          </p:cNvSpPr>
          <p:nvPr>
            <p:ph type="title"/>
          </p:nvPr>
        </p:nvSpPr>
        <p:spPr>
          <a:xfrm>
            <a:off x="581024" y="82175"/>
            <a:ext cx="10515600" cy="1325563"/>
          </a:xfrm>
        </p:spPr>
        <p:txBody>
          <a:bodyPr>
            <a:normAutofit/>
          </a:bodyPr>
          <a:lstStyle/>
          <a:p>
            <a:r>
              <a:rPr lang="nl-NL" sz="3600" dirty="0"/>
              <a:t>Structurering van </a:t>
            </a:r>
            <a:r>
              <a:rPr lang="nl-NL" sz="3600" dirty="0" err="1"/>
              <a:t>Id’s</a:t>
            </a:r>
            <a:r>
              <a:rPr lang="nl-NL" sz="3600" dirty="0"/>
              <a:t> 2/3</a:t>
            </a:r>
          </a:p>
        </p:txBody>
      </p:sp>
      <p:sp>
        <p:nvSpPr>
          <p:cNvPr id="3" name="Tijdelijke aanduiding voor inhoud 2">
            <a:extLst>
              <a:ext uri="{FF2B5EF4-FFF2-40B4-BE49-F238E27FC236}">
                <a16:creationId xmlns:a16="http://schemas.microsoft.com/office/drawing/2014/main" id="{458476D4-8EA9-3AB7-6DE2-2270111E5CEF}"/>
              </a:ext>
            </a:extLst>
          </p:cNvPr>
          <p:cNvSpPr>
            <a:spLocks noGrp="1"/>
          </p:cNvSpPr>
          <p:nvPr>
            <p:ph idx="1"/>
          </p:nvPr>
        </p:nvSpPr>
        <p:spPr>
          <a:xfrm>
            <a:off x="581024" y="1133916"/>
            <a:ext cx="7225994" cy="5327073"/>
          </a:xfrm>
        </p:spPr>
        <p:txBody>
          <a:bodyPr>
            <a:noAutofit/>
          </a:bodyPr>
          <a:lstStyle/>
          <a:p>
            <a:pPr marL="0" indent="0">
              <a:buNone/>
            </a:pPr>
            <a:r>
              <a:rPr lang="nl-NL" sz="1400" dirty="0"/>
              <a:t>In meer generieke zin zien we diverse </a:t>
            </a:r>
            <a:r>
              <a:rPr lang="nl-NL" sz="1400" dirty="0" err="1"/>
              <a:t>Id’s</a:t>
            </a:r>
            <a:r>
              <a:rPr lang="nl-NL" sz="1400" dirty="0"/>
              <a:t> terug: </a:t>
            </a:r>
          </a:p>
          <a:p>
            <a:pPr marL="0" indent="0">
              <a:buNone/>
            </a:pPr>
            <a:r>
              <a:rPr lang="nl-NL" sz="1400" u="sng" dirty="0"/>
              <a:t>Domein object Woonplaats</a:t>
            </a:r>
          </a:p>
          <a:p>
            <a:pPr marL="0" indent="0">
              <a:buNone/>
            </a:pPr>
            <a:r>
              <a:rPr lang="nl-NL" sz="1400" dirty="0"/>
              <a:t>Een </a:t>
            </a:r>
            <a:r>
              <a:rPr lang="nl-NL" sz="1400" dirty="0" err="1"/>
              <a:t>Id</a:t>
            </a:r>
            <a:r>
              <a:rPr lang="nl-NL" sz="1400" dirty="0"/>
              <a:t> van een domeinobject IS geen eigenschap, maar bestaat uit een </a:t>
            </a:r>
            <a:br>
              <a:rPr lang="nl-NL" sz="1400" dirty="0"/>
            </a:br>
            <a:r>
              <a:rPr lang="nl-NL" sz="1400" dirty="0"/>
              <a:t>(een set van) 1 of meer eigenschappen. </a:t>
            </a:r>
          </a:p>
          <a:p>
            <a:pPr marL="342900" indent="-342900">
              <a:buFont typeface="+mj-lt"/>
              <a:buAutoNum type="alphaUcPeriod"/>
            </a:pPr>
            <a:r>
              <a:rPr lang="nl-NL" sz="1400" dirty="0"/>
              <a:t>met een samengestelde </a:t>
            </a:r>
            <a:r>
              <a:rPr lang="nl-NL" sz="1400" dirty="0" err="1"/>
              <a:t>Id</a:t>
            </a:r>
            <a:r>
              <a:rPr lang="nl-NL" sz="1400" dirty="0"/>
              <a:t>, vrijwel altijd intrinsieke eigenschappen</a:t>
            </a:r>
          </a:p>
          <a:p>
            <a:pPr marL="342900" indent="-342900">
              <a:buFont typeface="+mj-lt"/>
              <a:buAutoNum type="alphaUcPeriod"/>
            </a:pPr>
            <a:r>
              <a:rPr lang="nl-NL" sz="1400" dirty="0"/>
              <a:t>met een enkelvoudige </a:t>
            </a:r>
            <a:r>
              <a:rPr lang="nl-NL" sz="1400" dirty="0" err="1"/>
              <a:t>Id</a:t>
            </a:r>
            <a:r>
              <a:rPr lang="nl-NL" sz="1400" dirty="0"/>
              <a:t>, soms toegekende en soms intrinsiek</a:t>
            </a:r>
            <a:br>
              <a:rPr lang="nl-NL" sz="1400" dirty="0"/>
            </a:br>
            <a:endParaRPr lang="nl-NL" sz="1400" dirty="0"/>
          </a:p>
          <a:p>
            <a:pPr marL="0" indent="0">
              <a:buNone/>
            </a:pPr>
            <a:r>
              <a:rPr lang="nl-NL" sz="1400" u="sng" dirty="0"/>
              <a:t>Gegevensobject Woonplaats</a:t>
            </a:r>
          </a:p>
          <a:p>
            <a:pPr marL="0" indent="0">
              <a:buNone/>
            </a:pPr>
            <a:r>
              <a:rPr lang="nl-NL" sz="1400" dirty="0"/>
              <a:t>Een </a:t>
            </a:r>
            <a:r>
              <a:rPr lang="nl-NL" sz="1400" dirty="0" err="1"/>
              <a:t>Id</a:t>
            </a:r>
            <a:r>
              <a:rPr lang="nl-NL" sz="1400" dirty="0"/>
              <a:t> die je aan kan treffen in een gegevensobject is gespecificeerd als een set van 1 of meer gegevenstypen waarbij het gebruiksdoel geduid is. Een gegevenstype is dus niet een </a:t>
            </a:r>
            <a:r>
              <a:rPr lang="nl-NL" sz="1400" dirty="0" err="1"/>
              <a:t>Id</a:t>
            </a:r>
            <a:r>
              <a:rPr lang="nl-NL" sz="1400" dirty="0"/>
              <a:t>, een </a:t>
            </a:r>
            <a:r>
              <a:rPr lang="nl-NL" sz="1400" dirty="0" err="1"/>
              <a:t>Id</a:t>
            </a:r>
            <a:r>
              <a:rPr lang="nl-NL" sz="1400" dirty="0"/>
              <a:t> wijst 1 of meerdere gegevenstypen aan die in de set van de </a:t>
            </a:r>
            <a:r>
              <a:rPr lang="nl-NL" sz="1400" dirty="0" err="1"/>
              <a:t>Id</a:t>
            </a:r>
            <a:r>
              <a:rPr lang="nl-NL" sz="1400" dirty="0"/>
              <a:t> zitten.  </a:t>
            </a:r>
          </a:p>
          <a:p>
            <a:pPr marL="342900" indent="-342900">
              <a:buFont typeface="+mj-lt"/>
              <a:buAutoNum type="arabicPeriod"/>
            </a:pPr>
            <a:r>
              <a:rPr lang="nl-NL" sz="1400" dirty="0"/>
              <a:t>een speciaal uitgegeven </a:t>
            </a:r>
            <a:r>
              <a:rPr lang="nl-NL" sz="1400" dirty="0" err="1"/>
              <a:t>Id</a:t>
            </a:r>
            <a:r>
              <a:rPr lang="nl-NL" sz="1400" dirty="0"/>
              <a:t> op logisch niveau, om het domein object te </a:t>
            </a:r>
            <a:br>
              <a:rPr lang="nl-NL" sz="1400" dirty="0"/>
            </a:br>
            <a:r>
              <a:rPr lang="nl-NL" sz="1400" dirty="0"/>
              <a:t>representeren in een bepaald gegevensverwerkingsdomein. Deze is over </a:t>
            </a:r>
            <a:br>
              <a:rPr lang="nl-NL" sz="1400" dirty="0"/>
            </a:br>
            <a:r>
              <a:rPr lang="nl-NL" sz="1400" dirty="0"/>
              <a:t>versies heen altijd gelijk. Deze is onveranderlijk / statisch. </a:t>
            </a:r>
          </a:p>
          <a:p>
            <a:pPr marL="342900" indent="-342900">
              <a:buFont typeface="+mj-lt"/>
              <a:buAutoNum type="arabicPeriod"/>
            </a:pPr>
            <a:r>
              <a:rPr lang="nl-NL" sz="1400" dirty="0"/>
              <a:t>een combinatie van gegevens </a:t>
            </a:r>
            <a:r>
              <a:rPr lang="nl-NL" sz="1400" u="sng" dirty="0"/>
              <a:t>over</a:t>
            </a:r>
            <a:r>
              <a:rPr lang="nl-NL" sz="1400" dirty="0"/>
              <a:t> de eigenschappen die een domein object </a:t>
            </a:r>
            <a:r>
              <a:rPr lang="nl-NL" sz="1400" dirty="0" err="1"/>
              <a:t>Id</a:t>
            </a:r>
            <a:r>
              <a:rPr lang="nl-NL" sz="1400" dirty="0"/>
              <a:t> vormen (zie A of B). Deze worden vaak gebruikt om een domein object mee te identificeren. </a:t>
            </a:r>
          </a:p>
          <a:p>
            <a:pPr marL="342900" indent="-342900">
              <a:buFont typeface="+mj-lt"/>
              <a:buAutoNum type="arabicPeriod"/>
            </a:pPr>
            <a:r>
              <a:rPr lang="nl-NL" sz="1400" dirty="0"/>
              <a:t>een combinatie van 1, met een versie aanduiding (of begin geldigheid). Deze wordt in administraties vaak gebruikt om setjes gegevens over een domein object </a:t>
            </a:r>
            <a:br>
              <a:rPr lang="nl-NL" sz="1400" dirty="0"/>
            </a:br>
            <a:r>
              <a:rPr lang="nl-NL" sz="1400" dirty="0"/>
              <a:t>bij te houden. Deze wordt bij actuele gegevens meestal niet meegeleverd. </a:t>
            </a:r>
          </a:p>
          <a:p>
            <a:pPr marL="0" indent="0">
              <a:buNone/>
            </a:pPr>
            <a:r>
              <a:rPr lang="nl-NL" sz="1400" dirty="0"/>
              <a:t>Deze </a:t>
            </a:r>
            <a:r>
              <a:rPr lang="nl-NL" sz="1400" dirty="0" err="1"/>
              <a:t>Id’s</a:t>
            </a:r>
            <a:r>
              <a:rPr lang="nl-NL" sz="1400" dirty="0"/>
              <a:t> hebben tot doel om op een of andere manier verwijzingen mogelijk te maken naar elkaar en naar een domein object, direct of indirect. Hier rechts abstract weergegeven.</a:t>
            </a:r>
            <a:endParaRPr lang="nl-NL" sz="1400" b="1" dirty="0"/>
          </a:p>
          <a:p>
            <a:endParaRPr lang="nl-NL" sz="1400" dirty="0"/>
          </a:p>
        </p:txBody>
      </p:sp>
      <p:sp>
        <p:nvSpPr>
          <p:cNvPr id="14" name="Rechthoek 13">
            <a:extLst>
              <a:ext uri="{FF2B5EF4-FFF2-40B4-BE49-F238E27FC236}">
                <a16:creationId xmlns:a16="http://schemas.microsoft.com/office/drawing/2014/main" id="{752C48A8-8F9B-A055-D910-9892011BE5F1}"/>
              </a:ext>
            </a:extLst>
          </p:cNvPr>
          <p:cNvSpPr/>
          <p:nvPr/>
        </p:nvSpPr>
        <p:spPr>
          <a:xfrm>
            <a:off x="8769927" y="1435825"/>
            <a:ext cx="2161309" cy="614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t>Id</a:t>
            </a:r>
            <a:r>
              <a:rPr lang="nl-NL" sz="1400" dirty="0"/>
              <a:t> A </a:t>
            </a:r>
            <a:br>
              <a:rPr lang="nl-NL" sz="1400" dirty="0"/>
            </a:br>
            <a:r>
              <a:rPr lang="nl-NL" sz="1400" dirty="0"/>
              <a:t>(samengesteld)</a:t>
            </a:r>
          </a:p>
        </p:txBody>
      </p:sp>
      <p:sp>
        <p:nvSpPr>
          <p:cNvPr id="15" name="Rechthoek 14">
            <a:extLst>
              <a:ext uri="{FF2B5EF4-FFF2-40B4-BE49-F238E27FC236}">
                <a16:creationId xmlns:a16="http://schemas.microsoft.com/office/drawing/2014/main" id="{1D6927FD-E135-0E13-93DB-46804BF42FDF}"/>
              </a:ext>
            </a:extLst>
          </p:cNvPr>
          <p:cNvSpPr/>
          <p:nvPr/>
        </p:nvSpPr>
        <p:spPr>
          <a:xfrm>
            <a:off x="10364065" y="3220759"/>
            <a:ext cx="744682" cy="4572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solidFill>
                  <a:schemeClr val="tx1"/>
                </a:solidFill>
              </a:rPr>
              <a:t>Id</a:t>
            </a:r>
            <a:r>
              <a:rPr lang="nl-NL" sz="1400" dirty="0">
                <a:solidFill>
                  <a:schemeClr val="tx1"/>
                </a:solidFill>
              </a:rPr>
              <a:t> 2</a:t>
            </a:r>
          </a:p>
        </p:txBody>
      </p:sp>
      <p:sp>
        <p:nvSpPr>
          <p:cNvPr id="17" name="Rechthoek 16">
            <a:extLst>
              <a:ext uri="{FF2B5EF4-FFF2-40B4-BE49-F238E27FC236}">
                <a16:creationId xmlns:a16="http://schemas.microsoft.com/office/drawing/2014/main" id="{D4A63D58-08DA-6993-DC8F-69F19D5026EE}"/>
              </a:ext>
            </a:extLst>
          </p:cNvPr>
          <p:cNvSpPr/>
          <p:nvPr/>
        </p:nvSpPr>
        <p:spPr>
          <a:xfrm>
            <a:off x="8811139" y="4633788"/>
            <a:ext cx="744682" cy="4572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solidFill>
                  <a:schemeClr val="tx1"/>
                </a:solidFill>
              </a:rPr>
              <a:t>Id</a:t>
            </a:r>
            <a:r>
              <a:rPr lang="nl-NL" sz="1400" dirty="0">
                <a:solidFill>
                  <a:schemeClr val="tx1"/>
                </a:solidFill>
              </a:rPr>
              <a:t> 1</a:t>
            </a:r>
          </a:p>
        </p:txBody>
      </p:sp>
      <p:sp>
        <p:nvSpPr>
          <p:cNvPr id="18" name="Rechthoek 17">
            <a:extLst>
              <a:ext uri="{FF2B5EF4-FFF2-40B4-BE49-F238E27FC236}">
                <a16:creationId xmlns:a16="http://schemas.microsoft.com/office/drawing/2014/main" id="{2D1DE197-258C-627E-DCF2-EB7BD40ED455}"/>
              </a:ext>
            </a:extLst>
          </p:cNvPr>
          <p:cNvSpPr/>
          <p:nvPr/>
        </p:nvSpPr>
        <p:spPr>
          <a:xfrm>
            <a:off x="8829214" y="5413428"/>
            <a:ext cx="744682" cy="4572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solidFill>
                  <a:schemeClr val="tx1"/>
                </a:solidFill>
              </a:rPr>
              <a:t>Id</a:t>
            </a:r>
            <a:r>
              <a:rPr lang="nl-NL" sz="1400" dirty="0">
                <a:solidFill>
                  <a:schemeClr val="tx1"/>
                </a:solidFill>
              </a:rPr>
              <a:t> 3</a:t>
            </a:r>
          </a:p>
        </p:txBody>
      </p:sp>
      <p:cxnSp>
        <p:nvCxnSpPr>
          <p:cNvPr id="20" name="Rechte verbindingslijn met pijl 19">
            <a:extLst>
              <a:ext uri="{FF2B5EF4-FFF2-40B4-BE49-F238E27FC236}">
                <a16:creationId xmlns:a16="http://schemas.microsoft.com/office/drawing/2014/main" id="{D93E541D-6036-10B4-9136-A3FDF46CC712}"/>
              </a:ext>
            </a:extLst>
          </p:cNvPr>
          <p:cNvCxnSpPr>
            <a:cxnSpLocks/>
            <a:stCxn id="17" idx="0"/>
            <a:endCxn id="15" idx="2"/>
          </p:cNvCxnSpPr>
          <p:nvPr/>
        </p:nvCxnSpPr>
        <p:spPr>
          <a:xfrm flipV="1">
            <a:off x="9183480" y="3677959"/>
            <a:ext cx="1552926" cy="955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Rechte verbindingslijn met pijl 20">
            <a:extLst>
              <a:ext uri="{FF2B5EF4-FFF2-40B4-BE49-F238E27FC236}">
                <a16:creationId xmlns:a16="http://schemas.microsoft.com/office/drawing/2014/main" id="{5D5DE344-BD62-47C3-FB29-0A7D9529FDED}"/>
              </a:ext>
            </a:extLst>
          </p:cNvPr>
          <p:cNvCxnSpPr>
            <a:cxnSpLocks/>
            <a:stCxn id="18" idx="0"/>
            <a:endCxn id="17" idx="2"/>
          </p:cNvCxnSpPr>
          <p:nvPr/>
        </p:nvCxnSpPr>
        <p:spPr>
          <a:xfrm flipH="1" flipV="1">
            <a:off x="9183480" y="5090988"/>
            <a:ext cx="18075" cy="322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kstvak 22">
            <a:extLst>
              <a:ext uri="{FF2B5EF4-FFF2-40B4-BE49-F238E27FC236}">
                <a16:creationId xmlns:a16="http://schemas.microsoft.com/office/drawing/2014/main" id="{C4C853E5-2200-3A6C-CDF2-85175934E74D}"/>
              </a:ext>
            </a:extLst>
          </p:cNvPr>
          <p:cNvSpPr txBox="1"/>
          <p:nvPr/>
        </p:nvSpPr>
        <p:spPr>
          <a:xfrm>
            <a:off x="7840575" y="5086065"/>
            <a:ext cx="1276761" cy="1169551"/>
          </a:xfrm>
          <a:prstGeom prst="rect">
            <a:avLst/>
          </a:prstGeom>
          <a:noFill/>
        </p:spPr>
        <p:txBody>
          <a:bodyPr wrap="square" rtlCol="0">
            <a:spAutoFit/>
          </a:bodyPr>
          <a:lstStyle/>
          <a:p>
            <a:r>
              <a:rPr lang="nl-NL" sz="1400" i="1" dirty="0"/>
              <a:t>is een versie </a:t>
            </a:r>
            <a:br>
              <a:rPr lang="nl-NL" sz="1400" i="1" dirty="0"/>
            </a:br>
            <a:r>
              <a:rPr lang="nl-NL" sz="1400" i="1" dirty="0"/>
              <a:t>in de tijd </a:t>
            </a:r>
            <a:br>
              <a:rPr lang="nl-NL" sz="1400" i="1" dirty="0"/>
            </a:br>
            <a:r>
              <a:rPr lang="nl-NL" sz="1400" i="1" dirty="0"/>
              <a:t>van 1 </a:t>
            </a:r>
            <a:r>
              <a:rPr lang="nl-NL" sz="1400" i="1" u="sng" dirty="0"/>
              <a:t>en</a:t>
            </a:r>
            <a:r>
              <a:rPr lang="nl-NL" sz="1400" i="1" dirty="0"/>
              <a:t> </a:t>
            </a:r>
            <a:br>
              <a:rPr lang="nl-NL" sz="1400" i="1" dirty="0"/>
            </a:br>
            <a:r>
              <a:rPr lang="nl-NL" sz="1400" i="1" dirty="0"/>
              <a:t>daarmee </a:t>
            </a:r>
            <a:br>
              <a:rPr lang="nl-NL" sz="1400" i="1" dirty="0"/>
            </a:br>
            <a:r>
              <a:rPr lang="nl-NL" sz="1400" i="1" dirty="0"/>
              <a:t>ook van 2</a:t>
            </a:r>
          </a:p>
        </p:txBody>
      </p:sp>
      <p:sp>
        <p:nvSpPr>
          <p:cNvPr id="24" name="Rechthoek 23">
            <a:extLst>
              <a:ext uri="{FF2B5EF4-FFF2-40B4-BE49-F238E27FC236}">
                <a16:creationId xmlns:a16="http://schemas.microsoft.com/office/drawing/2014/main" id="{D2E3553C-8601-80AD-01A3-8C33888B26BD}"/>
              </a:ext>
            </a:extLst>
          </p:cNvPr>
          <p:cNvSpPr/>
          <p:nvPr/>
        </p:nvSpPr>
        <p:spPr>
          <a:xfrm>
            <a:off x="8729518" y="338923"/>
            <a:ext cx="2216647" cy="31726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t>Domein object</a:t>
            </a:r>
          </a:p>
        </p:txBody>
      </p:sp>
      <p:cxnSp>
        <p:nvCxnSpPr>
          <p:cNvPr id="29" name="Rechte verbindingslijn met pijl 28">
            <a:extLst>
              <a:ext uri="{FF2B5EF4-FFF2-40B4-BE49-F238E27FC236}">
                <a16:creationId xmlns:a16="http://schemas.microsoft.com/office/drawing/2014/main" id="{69E43FC6-0E66-2DC7-76BF-36FFAEEF8796}"/>
              </a:ext>
            </a:extLst>
          </p:cNvPr>
          <p:cNvCxnSpPr>
            <a:cxnSpLocks/>
          </p:cNvCxnSpPr>
          <p:nvPr/>
        </p:nvCxnSpPr>
        <p:spPr>
          <a:xfrm>
            <a:off x="8118762" y="417640"/>
            <a:ext cx="610756" cy="27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Rechte verbindingslijn 29">
            <a:extLst>
              <a:ext uri="{FF2B5EF4-FFF2-40B4-BE49-F238E27FC236}">
                <a16:creationId xmlns:a16="http://schemas.microsoft.com/office/drawing/2014/main" id="{D60C8FEF-CA12-B342-ABD9-279D22A57807}"/>
              </a:ext>
            </a:extLst>
          </p:cNvPr>
          <p:cNvCxnSpPr>
            <a:cxnSpLocks/>
          </p:cNvCxnSpPr>
          <p:nvPr/>
        </p:nvCxnSpPr>
        <p:spPr>
          <a:xfrm>
            <a:off x="8118762" y="417640"/>
            <a:ext cx="0" cy="4443527"/>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Rechte verbindingslijn 30">
            <a:extLst>
              <a:ext uri="{FF2B5EF4-FFF2-40B4-BE49-F238E27FC236}">
                <a16:creationId xmlns:a16="http://schemas.microsoft.com/office/drawing/2014/main" id="{9CFA3F53-2D95-D430-5319-836A10000341}"/>
              </a:ext>
            </a:extLst>
          </p:cNvPr>
          <p:cNvCxnSpPr>
            <a:cxnSpLocks/>
            <a:endCxn id="17" idx="1"/>
          </p:cNvCxnSpPr>
          <p:nvPr/>
        </p:nvCxnSpPr>
        <p:spPr>
          <a:xfrm>
            <a:off x="8118762" y="4862388"/>
            <a:ext cx="692377" cy="0"/>
          </a:xfrm>
          <a:prstGeom prst="line">
            <a:avLst/>
          </a:prstGeom>
        </p:spPr>
        <p:style>
          <a:lnRef idx="2">
            <a:schemeClr val="accent1"/>
          </a:lnRef>
          <a:fillRef idx="0">
            <a:schemeClr val="accent1"/>
          </a:fillRef>
          <a:effectRef idx="1">
            <a:schemeClr val="accent1"/>
          </a:effectRef>
          <a:fontRef idx="minor">
            <a:schemeClr val="tx1"/>
          </a:fontRef>
        </p:style>
      </p:cxnSp>
      <p:sp>
        <p:nvSpPr>
          <p:cNvPr id="32" name="Rechthoek 31">
            <a:extLst>
              <a:ext uri="{FF2B5EF4-FFF2-40B4-BE49-F238E27FC236}">
                <a16:creationId xmlns:a16="http://schemas.microsoft.com/office/drawing/2014/main" id="{5ED5933A-A5F2-8A56-3C47-0F57ADFDD9CC}"/>
              </a:ext>
            </a:extLst>
          </p:cNvPr>
          <p:cNvSpPr/>
          <p:nvPr/>
        </p:nvSpPr>
        <p:spPr>
          <a:xfrm>
            <a:off x="8964136" y="6159739"/>
            <a:ext cx="2216647" cy="31726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t>Gegevensobject</a:t>
            </a:r>
          </a:p>
        </p:txBody>
      </p:sp>
      <p:cxnSp>
        <p:nvCxnSpPr>
          <p:cNvPr id="65" name="Rechte verbindingslijn met pijl 64">
            <a:extLst>
              <a:ext uri="{FF2B5EF4-FFF2-40B4-BE49-F238E27FC236}">
                <a16:creationId xmlns:a16="http://schemas.microsoft.com/office/drawing/2014/main" id="{FCF55F60-C6E7-8593-C740-C87787BEE909}"/>
              </a:ext>
            </a:extLst>
          </p:cNvPr>
          <p:cNvCxnSpPr>
            <a:cxnSpLocks/>
            <a:stCxn id="15" idx="0"/>
          </p:cNvCxnSpPr>
          <p:nvPr/>
        </p:nvCxnSpPr>
        <p:spPr>
          <a:xfrm flipV="1">
            <a:off x="10736406" y="2049994"/>
            <a:ext cx="1" cy="1170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4" name="Tekstvak 83">
            <a:extLst>
              <a:ext uri="{FF2B5EF4-FFF2-40B4-BE49-F238E27FC236}">
                <a16:creationId xmlns:a16="http://schemas.microsoft.com/office/drawing/2014/main" id="{74174D90-C630-D39D-A8C3-5315B3CA06C9}"/>
              </a:ext>
            </a:extLst>
          </p:cNvPr>
          <p:cNvSpPr txBox="1"/>
          <p:nvPr/>
        </p:nvSpPr>
        <p:spPr>
          <a:xfrm>
            <a:off x="7447171" y="2410929"/>
            <a:ext cx="1211935" cy="1815882"/>
          </a:xfrm>
          <a:prstGeom prst="rect">
            <a:avLst/>
          </a:prstGeom>
          <a:solidFill>
            <a:schemeClr val="bg1">
              <a:alpha val="80000"/>
            </a:schemeClr>
          </a:solidFill>
        </p:spPr>
        <p:txBody>
          <a:bodyPr wrap="none" rtlCol="0">
            <a:spAutoFit/>
          </a:bodyPr>
          <a:lstStyle/>
          <a:p>
            <a:pPr algn="ctr"/>
            <a:r>
              <a:rPr lang="nl-NL" sz="1400" i="1" dirty="0"/>
              <a:t>een </a:t>
            </a:r>
            <a:r>
              <a:rPr lang="nl-NL" sz="1400" i="1" dirty="0" err="1"/>
              <a:t>Id</a:t>
            </a:r>
            <a:r>
              <a:rPr lang="nl-NL" sz="1400" i="1" dirty="0"/>
              <a:t> </a:t>
            </a:r>
          </a:p>
          <a:p>
            <a:pPr algn="ctr"/>
            <a:r>
              <a:rPr lang="nl-NL" sz="1400" i="1" dirty="0"/>
              <a:t>op </a:t>
            </a:r>
          </a:p>
          <a:p>
            <a:pPr algn="ctr"/>
            <a:r>
              <a:rPr lang="nl-NL" sz="1400" i="1" dirty="0"/>
              <a:t>logisch </a:t>
            </a:r>
          </a:p>
          <a:p>
            <a:pPr algn="ctr"/>
            <a:r>
              <a:rPr lang="nl-NL" sz="1400" i="1" dirty="0"/>
              <a:t>niveau </a:t>
            </a:r>
            <a:br>
              <a:rPr lang="nl-NL" sz="1400" i="1" dirty="0"/>
            </a:br>
            <a:r>
              <a:rPr lang="nl-NL" sz="1400" i="1" dirty="0"/>
              <a:t>van een </a:t>
            </a:r>
          </a:p>
          <a:p>
            <a:pPr algn="ctr"/>
            <a:r>
              <a:rPr lang="nl-NL" sz="1400" i="1" dirty="0"/>
              <a:t>domein </a:t>
            </a:r>
          </a:p>
          <a:p>
            <a:pPr algn="ctr"/>
            <a:r>
              <a:rPr lang="nl-NL" sz="1400" i="1" dirty="0"/>
              <a:t>object:</a:t>
            </a:r>
            <a:br>
              <a:rPr lang="nl-NL" sz="1400" i="1" dirty="0"/>
            </a:br>
            <a:r>
              <a:rPr lang="nl-NL" sz="1400" i="1" dirty="0"/>
              <a:t>representatie</a:t>
            </a:r>
          </a:p>
        </p:txBody>
      </p:sp>
      <p:sp>
        <p:nvSpPr>
          <p:cNvPr id="88" name="Tekstvak 87">
            <a:extLst>
              <a:ext uri="{FF2B5EF4-FFF2-40B4-BE49-F238E27FC236}">
                <a16:creationId xmlns:a16="http://schemas.microsoft.com/office/drawing/2014/main" id="{8D340E6E-F47A-4FFB-51CD-F9BE2060B70B}"/>
              </a:ext>
            </a:extLst>
          </p:cNvPr>
          <p:cNvSpPr txBox="1"/>
          <p:nvPr/>
        </p:nvSpPr>
        <p:spPr>
          <a:xfrm>
            <a:off x="9085542" y="3817587"/>
            <a:ext cx="2354879" cy="523220"/>
          </a:xfrm>
          <a:prstGeom prst="rect">
            <a:avLst/>
          </a:prstGeom>
          <a:solidFill>
            <a:schemeClr val="bg1">
              <a:alpha val="80000"/>
            </a:schemeClr>
          </a:solidFill>
        </p:spPr>
        <p:txBody>
          <a:bodyPr wrap="square" rtlCol="0">
            <a:spAutoFit/>
          </a:bodyPr>
          <a:lstStyle/>
          <a:p>
            <a:pPr algn="ctr"/>
            <a:r>
              <a:rPr lang="nl-NL" sz="1400" i="1" dirty="0"/>
              <a:t>op 1 moment in de tijd </a:t>
            </a:r>
            <a:br>
              <a:rPr lang="nl-NL" sz="1400" i="1" dirty="0"/>
            </a:br>
            <a:r>
              <a:rPr lang="nl-NL" sz="1400" i="1" dirty="0"/>
              <a:t>een 1 op 1 relatie</a:t>
            </a:r>
          </a:p>
        </p:txBody>
      </p:sp>
      <p:cxnSp>
        <p:nvCxnSpPr>
          <p:cNvPr id="89" name="Rechte verbindingslijn met pijl 88">
            <a:extLst>
              <a:ext uri="{FF2B5EF4-FFF2-40B4-BE49-F238E27FC236}">
                <a16:creationId xmlns:a16="http://schemas.microsoft.com/office/drawing/2014/main" id="{4EA5FE49-78C1-DBCD-03FC-7C6DA9BF483E}"/>
              </a:ext>
            </a:extLst>
          </p:cNvPr>
          <p:cNvCxnSpPr>
            <a:cxnSpLocks/>
          </p:cNvCxnSpPr>
          <p:nvPr/>
        </p:nvCxnSpPr>
        <p:spPr>
          <a:xfrm>
            <a:off x="8382577" y="566130"/>
            <a:ext cx="3469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7" name="Rechte verbindingslijn 96">
            <a:extLst>
              <a:ext uri="{FF2B5EF4-FFF2-40B4-BE49-F238E27FC236}">
                <a16:creationId xmlns:a16="http://schemas.microsoft.com/office/drawing/2014/main" id="{45D8995B-3EA6-F98D-3263-1A023D8BA0C3}"/>
              </a:ext>
            </a:extLst>
          </p:cNvPr>
          <p:cNvCxnSpPr>
            <a:cxnSpLocks/>
          </p:cNvCxnSpPr>
          <p:nvPr/>
        </p:nvCxnSpPr>
        <p:spPr>
          <a:xfrm>
            <a:off x="8383216" y="573057"/>
            <a:ext cx="11034" cy="1169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Rechte verbindingslijn 98">
            <a:extLst>
              <a:ext uri="{FF2B5EF4-FFF2-40B4-BE49-F238E27FC236}">
                <a16:creationId xmlns:a16="http://schemas.microsoft.com/office/drawing/2014/main" id="{88BFC9DC-96EF-D446-3B8F-5158C3DC8B48}"/>
              </a:ext>
            </a:extLst>
          </p:cNvPr>
          <p:cNvCxnSpPr>
            <a:cxnSpLocks/>
            <a:stCxn id="14" idx="1"/>
          </p:cNvCxnSpPr>
          <p:nvPr/>
        </p:nvCxnSpPr>
        <p:spPr>
          <a:xfrm flipH="1" flipV="1">
            <a:off x="8394250" y="1742909"/>
            <a:ext cx="375677" cy="1"/>
          </a:xfrm>
          <a:prstGeom prst="line">
            <a:avLst/>
          </a:prstGeom>
        </p:spPr>
        <p:style>
          <a:lnRef idx="2">
            <a:schemeClr val="accent1"/>
          </a:lnRef>
          <a:fillRef idx="0">
            <a:schemeClr val="accent1"/>
          </a:fillRef>
          <a:effectRef idx="1">
            <a:schemeClr val="accent1"/>
          </a:effectRef>
          <a:fontRef idx="minor">
            <a:schemeClr val="tx1"/>
          </a:fontRef>
        </p:style>
      </p:cxnSp>
      <p:sp>
        <p:nvSpPr>
          <p:cNvPr id="93" name="Tekstvak 92">
            <a:extLst>
              <a:ext uri="{FF2B5EF4-FFF2-40B4-BE49-F238E27FC236}">
                <a16:creationId xmlns:a16="http://schemas.microsoft.com/office/drawing/2014/main" id="{AB8A4A29-299B-4806-38AB-76F755255776}"/>
              </a:ext>
            </a:extLst>
          </p:cNvPr>
          <p:cNvSpPr txBox="1"/>
          <p:nvPr/>
        </p:nvSpPr>
        <p:spPr>
          <a:xfrm>
            <a:off x="8458339" y="769279"/>
            <a:ext cx="2492990" cy="523220"/>
          </a:xfrm>
          <a:prstGeom prst="rect">
            <a:avLst/>
          </a:prstGeom>
          <a:solidFill>
            <a:schemeClr val="bg1">
              <a:alpha val="80000"/>
            </a:schemeClr>
          </a:solidFill>
        </p:spPr>
        <p:txBody>
          <a:bodyPr wrap="none" rtlCol="0">
            <a:spAutoFit/>
          </a:bodyPr>
          <a:lstStyle/>
          <a:p>
            <a:pPr algn="ctr"/>
            <a:r>
              <a:rPr lang="nl-NL" sz="1400" i="1" dirty="0"/>
              <a:t>een </a:t>
            </a:r>
            <a:r>
              <a:rPr lang="nl-NL" sz="1400" i="1" dirty="0" err="1"/>
              <a:t>Id</a:t>
            </a:r>
            <a:r>
              <a:rPr lang="nl-NL" sz="1400" i="1" dirty="0"/>
              <a:t> op conceptueel niveau </a:t>
            </a:r>
            <a:br>
              <a:rPr lang="nl-NL" sz="1400" i="1" dirty="0"/>
            </a:br>
            <a:r>
              <a:rPr lang="nl-NL" sz="1400" i="1" u="sng" dirty="0"/>
              <a:t>van</a:t>
            </a:r>
            <a:r>
              <a:rPr lang="nl-NL" sz="1400" i="1" dirty="0"/>
              <a:t> een domein object </a:t>
            </a:r>
          </a:p>
        </p:txBody>
      </p:sp>
      <p:cxnSp>
        <p:nvCxnSpPr>
          <p:cNvPr id="106" name="Rechte verbindingslijn met pijl 105">
            <a:extLst>
              <a:ext uri="{FF2B5EF4-FFF2-40B4-BE49-F238E27FC236}">
                <a16:creationId xmlns:a16="http://schemas.microsoft.com/office/drawing/2014/main" id="{26ACE1FA-61A3-1470-E0F9-082F832AF1CC}"/>
              </a:ext>
            </a:extLst>
          </p:cNvPr>
          <p:cNvCxnSpPr>
            <a:cxnSpLocks/>
            <a:stCxn id="18" idx="3"/>
          </p:cNvCxnSpPr>
          <p:nvPr/>
        </p:nvCxnSpPr>
        <p:spPr>
          <a:xfrm>
            <a:off x="9573896" y="5642028"/>
            <a:ext cx="443394" cy="419336"/>
          </a:xfrm>
          <a:prstGeom prst="straightConnector1">
            <a:avLst/>
          </a:prstGeom>
          <a:ln w="12700">
            <a:prstDash val="dash"/>
            <a:tailEnd type="triangle"/>
          </a:ln>
        </p:spPr>
        <p:style>
          <a:lnRef idx="2">
            <a:schemeClr val="accent1"/>
          </a:lnRef>
          <a:fillRef idx="0">
            <a:schemeClr val="accent1"/>
          </a:fillRef>
          <a:effectRef idx="1">
            <a:schemeClr val="accent1"/>
          </a:effectRef>
          <a:fontRef idx="minor">
            <a:schemeClr val="tx1"/>
          </a:fontRef>
        </p:style>
      </p:cxnSp>
      <p:sp>
        <p:nvSpPr>
          <p:cNvPr id="22" name="Tekstvak 21">
            <a:extLst>
              <a:ext uri="{FF2B5EF4-FFF2-40B4-BE49-F238E27FC236}">
                <a16:creationId xmlns:a16="http://schemas.microsoft.com/office/drawing/2014/main" id="{D62D6DAD-4C94-5313-C6EC-C945B6AE6E12}"/>
              </a:ext>
            </a:extLst>
          </p:cNvPr>
          <p:cNvSpPr txBox="1"/>
          <p:nvPr/>
        </p:nvSpPr>
        <p:spPr>
          <a:xfrm>
            <a:off x="10125768" y="2339105"/>
            <a:ext cx="1316899" cy="523220"/>
          </a:xfrm>
          <a:prstGeom prst="rect">
            <a:avLst/>
          </a:prstGeom>
          <a:solidFill>
            <a:schemeClr val="bg1">
              <a:alpha val="80000"/>
            </a:schemeClr>
          </a:solidFill>
        </p:spPr>
        <p:txBody>
          <a:bodyPr wrap="none" rtlCol="0">
            <a:spAutoFit/>
          </a:bodyPr>
          <a:lstStyle/>
          <a:p>
            <a:r>
              <a:rPr lang="nl-NL" sz="1400" i="1" dirty="0"/>
              <a:t>koppeling met </a:t>
            </a:r>
            <a:br>
              <a:rPr lang="nl-NL" sz="1400" i="1" dirty="0"/>
            </a:br>
            <a:r>
              <a:rPr lang="nl-NL" sz="1400" i="1" dirty="0"/>
              <a:t>werkelijkheid</a:t>
            </a:r>
          </a:p>
        </p:txBody>
      </p:sp>
      <p:cxnSp>
        <p:nvCxnSpPr>
          <p:cNvPr id="141" name="Rechte verbindingslijn met pijl 140">
            <a:extLst>
              <a:ext uri="{FF2B5EF4-FFF2-40B4-BE49-F238E27FC236}">
                <a16:creationId xmlns:a16="http://schemas.microsoft.com/office/drawing/2014/main" id="{DC0A7123-E154-74FE-58F3-C3974F25A5F3}"/>
              </a:ext>
            </a:extLst>
          </p:cNvPr>
          <p:cNvCxnSpPr>
            <a:cxnSpLocks/>
          </p:cNvCxnSpPr>
          <p:nvPr/>
        </p:nvCxnSpPr>
        <p:spPr>
          <a:xfrm>
            <a:off x="9644949" y="4861167"/>
            <a:ext cx="461026" cy="1103215"/>
          </a:xfrm>
          <a:prstGeom prst="straightConnector1">
            <a:avLst/>
          </a:prstGeom>
          <a:ln w="12700">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45" name="Rechte verbindingslijn met pijl 144">
            <a:extLst>
              <a:ext uri="{FF2B5EF4-FFF2-40B4-BE49-F238E27FC236}">
                <a16:creationId xmlns:a16="http://schemas.microsoft.com/office/drawing/2014/main" id="{7C5D8A50-B13F-0579-C485-3292973E438C}"/>
              </a:ext>
            </a:extLst>
          </p:cNvPr>
          <p:cNvCxnSpPr>
            <a:cxnSpLocks/>
          </p:cNvCxnSpPr>
          <p:nvPr/>
        </p:nvCxnSpPr>
        <p:spPr>
          <a:xfrm flipH="1">
            <a:off x="10238562" y="4495840"/>
            <a:ext cx="310807" cy="1374788"/>
          </a:xfrm>
          <a:prstGeom prst="straightConnector1">
            <a:avLst/>
          </a:prstGeom>
          <a:ln w="12700">
            <a:prstDash val="dash"/>
            <a:tailEnd type="triangle"/>
          </a:ln>
        </p:spPr>
        <p:style>
          <a:lnRef idx="2">
            <a:schemeClr val="accent1"/>
          </a:lnRef>
          <a:fillRef idx="0">
            <a:schemeClr val="accent1"/>
          </a:fillRef>
          <a:effectRef idx="1">
            <a:schemeClr val="accent1"/>
          </a:effectRef>
          <a:fontRef idx="minor">
            <a:schemeClr val="tx1"/>
          </a:fontRef>
        </p:style>
      </p:cxnSp>
      <p:sp>
        <p:nvSpPr>
          <p:cNvPr id="147" name="Tekstvak 146">
            <a:extLst>
              <a:ext uri="{FF2B5EF4-FFF2-40B4-BE49-F238E27FC236}">
                <a16:creationId xmlns:a16="http://schemas.microsoft.com/office/drawing/2014/main" id="{FAA30F43-5AD3-F8D5-32B9-69E506E093AE}"/>
              </a:ext>
            </a:extLst>
          </p:cNvPr>
          <p:cNvSpPr txBox="1"/>
          <p:nvPr/>
        </p:nvSpPr>
        <p:spPr>
          <a:xfrm>
            <a:off x="10017290" y="5304579"/>
            <a:ext cx="2003234" cy="738664"/>
          </a:xfrm>
          <a:prstGeom prst="rect">
            <a:avLst/>
          </a:prstGeom>
          <a:noFill/>
        </p:spPr>
        <p:txBody>
          <a:bodyPr wrap="square" rtlCol="0">
            <a:spAutoFit/>
          </a:bodyPr>
          <a:lstStyle/>
          <a:p>
            <a:pPr algn="ctr"/>
            <a:r>
              <a:rPr lang="nl-NL" sz="1400" i="1" dirty="0" err="1"/>
              <a:t>Id’s</a:t>
            </a:r>
            <a:r>
              <a:rPr lang="nl-NL" sz="1400" i="1" dirty="0"/>
              <a:t> op </a:t>
            </a:r>
            <a:br>
              <a:rPr lang="nl-NL" sz="1400" i="1" dirty="0"/>
            </a:br>
            <a:r>
              <a:rPr lang="nl-NL" sz="1400" i="1" dirty="0"/>
              <a:t>logisch niveau </a:t>
            </a:r>
            <a:br>
              <a:rPr lang="nl-NL" sz="1400" i="1" dirty="0"/>
            </a:br>
            <a:r>
              <a:rPr lang="nl-NL" sz="1400" i="1" u="sng" dirty="0"/>
              <a:t>die je aantreft in</a:t>
            </a:r>
          </a:p>
        </p:txBody>
      </p:sp>
      <p:cxnSp>
        <p:nvCxnSpPr>
          <p:cNvPr id="150" name="Rechte verbindingslijn 149">
            <a:extLst>
              <a:ext uri="{FF2B5EF4-FFF2-40B4-BE49-F238E27FC236}">
                <a16:creationId xmlns:a16="http://schemas.microsoft.com/office/drawing/2014/main" id="{181D3B75-856A-6E69-8336-AEC0E14F809F}"/>
              </a:ext>
            </a:extLst>
          </p:cNvPr>
          <p:cNvCxnSpPr>
            <a:cxnSpLocks/>
          </p:cNvCxnSpPr>
          <p:nvPr/>
        </p:nvCxnSpPr>
        <p:spPr>
          <a:xfrm>
            <a:off x="6813311" y="2308787"/>
            <a:ext cx="5233216" cy="0"/>
          </a:xfrm>
          <a:prstGeom prst="line">
            <a:avLst/>
          </a:prstGeom>
          <a:ln w="6350">
            <a:prstDash val="sysDash"/>
          </a:ln>
        </p:spPr>
        <p:style>
          <a:lnRef idx="2">
            <a:schemeClr val="accent1"/>
          </a:lnRef>
          <a:fillRef idx="0">
            <a:schemeClr val="accent1"/>
          </a:fillRef>
          <a:effectRef idx="1">
            <a:schemeClr val="accent1"/>
          </a:effectRef>
          <a:fontRef idx="minor">
            <a:schemeClr val="tx1"/>
          </a:fontRef>
        </p:style>
      </p:cxnSp>
      <p:sp>
        <p:nvSpPr>
          <p:cNvPr id="155" name="Tekstvak 154">
            <a:extLst>
              <a:ext uri="{FF2B5EF4-FFF2-40B4-BE49-F238E27FC236}">
                <a16:creationId xmlns:a16="http://schemas.microsoft.com/office/drawing/2014/main" id="{756EF199-E27C-280F-93AC-5A71221A6643}"/>
              </a:ext>
            </a:extLst>
          </p:cNvPr>
          <p:cNvSpPr txBox="1"/>
          <p:nvPr/>
        </p:nvSpPr>
        <p:spPr>
          <a:xfrm>
            <a:off x="6556814" y="1898869"/>
            <a:ext cx="1212191" cy="307777"/>
          </a:xfrm>
          <a:prstGeom prst="rect">
            <a:avLst/>
          </a:prstGeom>
          <a:noFill/>
        </p:spPr>
        <p:txBody>
          <a:bodyPr wrap="none" rtlCol="0">
            <a:spAutoFit/>
          </a:bodyPr>
          <a:lstStyle/>
          <a:p>
            <a:r>
              <a:rPr lang="nl-NL" sz="1400" b="1" dirty="0"/>
              <a:t>conceptueel</a:t>
            </a:r>
          </a:p>
        </p:txBody>
      </p:sp>
      <p:sp>
        <p:nvSpPr>
          <p:cNvPr id="156" name="Tekstvak 155">
            <a:extLst>
              <a:ext uri="{FF2B5EF4-FFF2-40B4-BE49-F238E27FC236}">
                <a16:creationId xmlns:a16="http://schemas.microsoft.com/office/drawing/2014/main" id="{BF4AAADD-4E4B-F569-4D59-21245A93ED64}"/>
              </a:ext>
            </a:extLst>
          </p:cNvPr>
          <p:cNvSpPr txBox="1"/>
          <p:nvPr/>
        </p:nvSpPr>
        <p:spPr>
          <a:xfrm>
            <a:off x="6891510" y="2345861"/>
            <a:ext cx="774571" cy="307777"/>
          </a:xfrm>
          <a:prstGeom prst="rect">
            <a:avLst/>
          </a:prstGeom>
          <a:noFill/>
        </p:spPr>
        <p:txBody>
          <a:bodyPr wrap="none" rtlCol="0">
            <a:spAutoFit/>
          </a:bodyPr>
          <a:lstStyle/>
          <a:p>
            <a:r>
              <a:rPr lang="nl-NL" sz="1400" b="1" dirty="0"/>
              <a:t>logisch</a:t>
            </a:r>
          </a:p>
        </p:txBody>
      </p:sp>
      <p:cxnSp>
        <p:nvCxnSpPr>
          <p:cNvPr id="163" name="Rechte verbindingslijn met pijl 162">
            <a:extLst>
              <a:ext uri="{FF2B5EF4-FFF2-40B4-BE49-F238E27FC236}">
                <a16:creationId xmlns:a16="http://schemas.microsoft.com/office/drawing/2014/main" id="{823DCFD0-B866-818B-F05D-589312ADB329}"/>
              </a:ext>
            </a:extLst>
          </p:cNvPr>
          <p:cNvCxnSpPr>
            <a:cxnSpLocks/>
          </p:cNvCxnSpPr>
          <p:nvPr/>
        </p:nvCxnSpPr>
        <p:spPr>
          <a:xfrm>
            <a:off x="8602152" y="1896450"/>
            <a:ext cx="1677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8" name="Rechte verbindingslijn 167">
            <a:extLst>
              <a:ext uri="{FF2B5EF4-FFF2-40B4-BE49-F238E27FC236}">
                <a16:creationId xmlns:a16="http://schemas.microsoft.com/office/drawing/2014/main" id="{652D472C-349F-A501-9EEF-AFA3D2B91AF0}"/>
              </a:ext>
            </a:extLst>
          </p:cNvPr>
          <p:cNvCxnSpPr>
            <a:cxnSpLocks/>
          </p:cNvCxnSpPr>
          <p:nvPr/>
        </p:nvCxnSpPr>
        <p:spPr>
          <a:xfrm>
            <a:off x="8602152" y="1900904"/>
            <a:ext cx="0" cy="28330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74" name="Rechte verbindingslijn 173">
            <a:extLst>
              <a:ext uri="{FF2B5EF4-FFF2-40B4-BE49-F238E27FC236}">
                <a16:creationId xmlns:a16="http://schemas.microsoft.com/office/drawing/2014/main" id="{220BA0CB-B1D7-348A-1F31-29A1D1EBFE16}"/>
              </a:ext>
            </a:extLst>
          </p:cNvPr>
          <p:cNvCxnSpPr>
            <a:cxnSpLocks/>
          </p:cNvCxnSpPr>
          <p:nvPr/>
        </p:nvCxnSpPr>
        <p:spPr>
          <a:xfrm>
            <a:off x="8609506" y="4733925"/>
            <a:ext cx="201633" cy="0"/>
          </a:xfrm>
          <a:prstGeom prst="line">
            <a:avLst/>
          </a:prstGeom>
        </p:spPr>
        <p:style>
          <a:lnRef idx="2">
            <a:schemeClr val="accent1"/>
          </a:lnRef>
          <a:fillRef idx="0">
            <a:schemeClr val="accent1"/>
          </a:fillRef>
          <a:effectRef idx="1">
            <a:schemeClr val="accent1"/>
          </a:effectRef>
          <a:fontRef idx="minor">
            <a:schemeClr val="tx1"/>
          </a:fontRef>
        </p:style>
      </p:cxnSp>
      <p:sp>
        <p:nvSpPr>
          <p:cNvPr id="177" name="Tekstvak 176">
            <a:extLst>
              <a:ext uri="{FF2B5EF4-FFF2-40B4-BE49-F238E27FC236}">
                <a16:creationId xmlns:a16="http://schemas.microsoft.com/office/drawing/2014/main" id="{0A560D55-C89F-F122-D58A-1CA0385B3B02}"/>
              </a:ext>
            </a:extLst>
          </p:cNvPr>
          <p:cNvSpPr txBox="1"/>
          <p:nvPr/>
        </p:nvSpPr>
        <p:spPr>
          <a:xfrm>
            <a:off x="8479574" y="2702260"/>
            <a:ext cx="1211935" cy="954107"/>
          </a:xfrm>
          <a:prstGeom prst="rect">
            <a:avLst/>
          </a:prstGeom>
          <a:solidFill>
            <a:schemeClr val="bg1">
              <a:alpha val="80000"/>
            </a:schemeClr>
          </a:solidFill>
        </p:spPr>
        <p:txBody>
          <a:bodyPr wrap="square" rtlCol="0">
            <a:spAutoFit/>
          </a:bodyPr>
          <a:lstStyle/>
          <a:p>
            <a:pPr algn="ctr"/>
            <a:r>
              <a:rPr lang="nl-NL" sz="1400" i="1" dirty="0"/>
              <a:t>representatie van </a:t>
            </a:r>
            <a:r>
              <a:rPr lang="nl-NL" sz="1400" i="1" dirty="0" err="1"/>
              <a:t>Id</a:t>
            </a:r>
            <a:r>
              <a:rPr lang="nl-NL" sz="1400" i="1" dirty="0"/>
              <a:t> A op logisch niveau</a:t>
            </a:r>
          </a:p>
        </p:txBody>
      </p:sp>
    </p:spTree>
    <p:extLst>
      <p:ext uri="{BB962C8B-B14F-4D97-AF65-F5344CB8AC3E}">
        <p14:creationId xmlns:p14="http://schemas.microsoft.com/office/powerpoint/2010/main" val="1149409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425E3-66F0-FDC9-8D73-CAE5812DD8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F54C49B-D3D4-357D-A62C-BBD92436BDE3}"/>
              </a:ext>
            </a:extLst>
          </p:cNvPr>
          <p:cNvSpPr>
            <a:spLocks noGrp="1"/>
          </p:cNvSpPr>
          <p:nvPr>
            <p:ph type="title"/>
          </p:nvPr>
        </p:nvSpPr>
        <p:spPr>
          <a:xfrm>
            <a:off x="571499" y="193963"/>
            <a:ext cx="10515600" cy="1325563"/>
          </a:xfrm>
        </p:spPr>
        <p:txBody>
          <a:bodyPr>
            <a:normAutofit/>
          </a:bodyPr>
          <a:lstStyle/>
          <a:p>
            <a:r>
              <a:rPr lang="nl-NL" sz="3600" dirty="0"/>
              <a:t>Structurering van </a:t>
            </a:r>
            <a:r>
              <a:rPr lang="nl-NL" sz="3600" dirty="0" err="1"/>
              <a:t>Id’s</a:t>
            </a:r>
            <a:r>
              <a:rPr lang="nl-NL" sz="3600" dirty="0"/>
              <a:t> 3/3</a:t>
            </a:r>
          </a:p>
        </p:txBody>
      </p:sp>
      <p:sp>
        <p:nvSpPr>
          <p:cNvPr id="6" name="Tekstvak 5">
            <a:extLst>
              <a:ext uri="{FF2B5EF4-FFF2-40B4-BE49-F238E27FC236}">
                <a16:creationId xmlns:a16="http://schemas.microsoft.com/office/drawing/2014/main" id="{B1C17486-E782-EE3D-F9DE-DB5E0F16E671}"/>
              </a:ext>
            </a:extLst>
          </p:cNvPr>
          <p:cNvSpPr txBox="1"/>
          <p:nvPr/>
        </p:nvSpPr>
        <p:spPr>
          <a:xfrm>
            <a:off x="631390" y="1292499"/>
            <a:ext cx="6440103" cy="5478423"/>
          </a:xfrm>
          <a:prstGeom prst="rect">
            <a:avLst/>
          </a:prstGeom>
          <a:noFill/>
        </p:spPr>
        <p:txBody>
          <a:bodyPr wrap="square">
            <a:spAutoFit/>
          </a:bodyPr>
          <a:lstStyle/>
          <a:p>
            <a:pPr marL="0" indent="0">
              <a:buNone/>
            </a:pPr>
            <a:r>
              <a:rPr lang="nl-NL" sz="1400" dirty="0"/>
              <a:t>Als er nog verder inzoomen op de relatie tussen de </a:t>
            </a:r>
            <a:r>
              <a:rPr lang="nl-NL" sz="1400" dirty="0" err="1"/>
              <a:t>Id’s</a:t>
            </a:r>
            <a:r>
              <a:rPr lang="nl-NL" sz="1400" dirty="0"/>
              <a:t> dan zien we nog: </a:t>
            </a:r>
          </a:p>
          <a:p>
            <a:pPr marL="0" indent="0">
              <a:buNone/>
            </a:pPr>
            <a:endParaRPr lang="nl-NL" sz="1400" dirty="0"/>
          </a:p>
          <a:p>
            <a:pPr marL="285750" indent="-285750">
              <a:buFont typeface="Arial" panose="020B0604020202020204" pitchFamily="34" charset="0"/>
              <a:buChar char="•"/>
            </a:pPr>
            <a:r>
              <a:rPr lang="nl-NL" sz="1400" dirty="0" err="1"/>
              <a:t>Id</a:t>
            </a:r>
            <a:r>
              <a:rPr lang="nl-NL" sz="1400" dirty="0"/>
              <a:t> 1: is een representatie op logisch niveau van een domein object. </a:t>
            </a:r>
            <a:br>
              <a:rPr lang="nl-NL" sz="1400" dirty="0"/>
            </a:br>
            <a:r>
              <a:rPr lang="nl-NL" sz="1400" dirty="0"/>
              <a:t>Merk op dat deze kan per apart verwerkingsdomein worden uitgegeven.</a:t>
            </a:r>
            <a:br>
              <a:rPr lang="nl-NL" sz="1400" dirty="0"/>
            </a:br>
            <a:endParaRPr lang="nl-NL" sz="1400" dirty="0"/>
          </a:p>
          <a:p>
            <a:pPr marL="285750" indent="-285750">
              <a:buFont typeface="Arial" panose="020B0604020202020204" pitchFamily="34" charset="0"/>
              <a:buChar char="•"/>
            </a:pPr>
            <a:r>
              <a:rPr lang="nl-NL" sz="1400" dirty="0" err="1"/>
              <a:t>Id</a:t>
            </a:r>
            <a:r>
              <a:rPr lang="nl-NL" sz="1400" dirty="0"/>
              <a:t> 2: is een </a:t>
            </a:r>
            <a:r>
              <a:rPr lang="nl-NL" sz="1400" dirty="0" err="1"/>
              <a:t>Id</a:t>
            </a:r>
            <a:r>
              <a:rPr lang="nl-NL" sz="1400" dirty="0"/>
              <a:t> op logische niveau die overeenkomt met </a:t>
            </a:r>
            <a:br>
              <a:rPr lang="nl-NL" sz="1400" dirty="0"/>
            </a:br>
            <a:r>
              <a:rPr lang="nl-NL" sz="1400" dirty="0"/>
              <a:t>de </a:t>
            </a:r>
            <a:r>
              <a:rPr lang="nl-NL" sz="1400" dirty="0" err="1"/>
              <a:t>Id</a:t>
            </a:r>
            <a:r>
              <a:rPr lang="nl-NL" sz="1400" dirty="0"/>
              <a:t> op conceptueel niveau, te weten gegevens hierover. </a:t>
            </a:r>
          </a:p>
          <a:p>
            <a:pPr marL="742950" lvl="1" indent="-285750">
              <a:buFont typeface="Arial" panose="020B0604020202020204" pitchFamily="34" charset="0"/>
              <a:buChar char="•"/>
            </a:pPr>
            <a:r>
              <a:rPr lang="nl-NL" sz="1400" dirty="0"/>
              <a:t>Dat niet elk gegevensobject deze gegevens bevat is </a:t>
            </a:r>
            <a:br>
              <a:rPr lang="nl-NL" sz="1400" dirty="0"/>
            </a:br>
            <a:r>
              <a:rPr lang="nl-NL" sz="1400" dirty="0"/>
              <a:t>niet erg, mits in een administratie, via </a:t>
            </a:r>
            <a:r>
              <a:rPr lang="nl-NL" sz="1400" dirty="0" err="1"/>
              <a:t>Id</a:t>
            </a:r>
            <a:r>
              <a:rPr lang="nl-NL" sz="1400" dirty="0"/>
              <a:t> 1, het juiste </a:t>
            </a:r>
            <a:br>
              <a:rPr lang="nl-NL" sz="1400" dirty="0"/>
            </a:br>
            <a:r>
              <a:rPr lang="nl-NL" sz="1400" dirty="0"/>
              <a:t>domein object weer betrouwbaar gevonden kan worden. </a:t>
            </a:r>
          </a:p>
          <a:p>
            <a:pPr marL="742950" lvl="1" indent="-285750">
              <a:buFont typeface="Arial" panose="020B0604020202020204" pitchFamily="34" charset="0"/>
              <a:buChar char="•"/>
            </a:pPr>
            <a:r>
              <a:rPr lang="nl-NL" sz="1400" dirty="0"/>
              <a:t>Er zijn ook gegevensobjecten waarin alleen </a:t>
            </a:r>
            <a:r>
              <a:rPr lang="nl-NL" sz="1400" dirty="0" err="1"/>
              <a:t>Id</a:t>
            </a:r>
            <a:r>
              <a:rPr lang="nl-NL" sz="1400" dirty="0"/>
              <a:t> 2 is opgenomen. </a:t>
            </a:r>
            <a:br>
              <a:rPr lang="nl-NL" sz="1400" dirty="0"/>
            </a:br>
            <a:r>
              <a:rPr lang="nl-NL" sz="1400" dirty="0"/>
              <a:t>Dat is voor veel functionele doeleinden prima. </a:t>
            </a:r>
            <a:br>
              <a:rPr lang="nl-NL" sz="1400" dirty="0"/>
            </a:br>
            <a:endParaRPr lang="nl-NL" sz="1400" dirty="0"/>
          </a:p>
          <a:p>
            <a:pPr marL="285750" indent="-285750">
              <a:buFont typeface="Arial" panose="020B0604020202020204" pitchFamily="34" charset="0"/>
              <a:buChar char="•"/>
            </a:pPr>
            <a:r>
              <a:rPr lang="nl-NL" sz="1400" dirty="0" err="1"/>
              <a:t>Id</a:t>
            </a:r>
            <a:r>
              <a:rPr lang="nl-NL" sz="1400" dirty="0"/>
              <a:t> 1 en </a:t>
            </a:r>
            <a:r>
              <a:rPr lang="nl-NL" sz="1400" dirty="0" err="1"/>
              <a:t>Id</a:t>
            </a:r>
            <a:r>
              <a:rPr lang="nl-NL" sz="1400" dirty="0"/>
              <a:t> 2: er ligt op 1 moment in de tijd ook een 1 op 1 koppeling </a:t>
            </a:r>
            <a:br>
              <a:rPr lang="nl-NL" sz="1400" dirty="0"/>
            </a:br>
            <a:r>
              <a:rPr lang="nl-NL" sz="1400" dirty="0"/>
              <a:t>tussen beide. Hiermee is koppeling 1 ook betrouwbaar. </a:t>
            </a:r>
          </a:p>
          <a:p>
            <a:endParaRPr lang="nl-NL" sz="1400" dirty="0"/>
          </a:p>
          <a:p>
            <a:pPr marL="285750" indent="-285750">
              <a:buFont typeface="Arial" panose="020B0604020202020204" pitchFamily="34" charset="0"/>
              <a:buChar char="•"/>
            </a:pPr>
            <a:r>
              <a:rPr lang="nl-NL" sz="1400" dirty="0" err="1"/>
              <a:t>Id</a:t>
            </a:r>
            <a:r>
              <a:rPr lang="nl-NL" sz="1400" dirty="0"/>
              <a:t> 3: elke versie van een gegevensobject is gekoppeld aan precies 1 </a:t>
            </a:r>
            <a:r>
              <a:rPr lang="nl-NL" sz="1400" dirty="0" err="1"/>
              <a:t>Id</a:t>
            </a:r>
            <a:r>
              <a:rPr lang="nl-NL" sz="1400" dirty="0"/>
              <a:t> zoals bedoeld in </a:t>
            </a:r>
            <a:r>
              <a:rPr lang="nl-NL" sz="1400" dirty="0" err="1"/>
              <a:t>Id</a:t>
            </a:r>
            <a:r>
              <a:rPr lang="nl-NL" sz="1400" dirty="0"/>
              <a:t> 1. Deze horen bij elkaar.</a:t>
            </a:r>
          </a:p>
          <a:p>
            <a:pPr marL="742950" lvl="1" indent="-285750">
              <a:buFont typeface="Arial" panose="020B0604020202020204" pitchFamily="34" charset="0"/>
              <a:buChar char="•"/>
            </a:pPr>
            <a:r>
              <a:rPr lang="nl-NL" sz="1400" dirty="0"/>
              <a:t>Deze zijn vaak een uitwerking van een bepaald historiemodel. </a:t>
            </a:r>
          </a:p>
          <a:p>
            <a:pPr marL="742950" lvl="1" indent="-285750">
              <a:buFont typeface="Arial" panose="020B0604020202020204" pitchFamily="34" charset="0"/>
              <a:buChar char="•"/>
            </a:pPr>
            <a:r>
              <a:rPr lang="nl-NL" sz="1400" dirty="0"/>
              <a:t>Via deze combinatie weten we ook wanneer gegevens van hetzelfde domeinobject bij elkaar horen, voor een periode</a:t>
            </a:r>
          </a:p>
          <a:p>
            <a:endParaRPr lang="nl-NL" sz="1400" dirty="0"/>
          </a:p>
          <a:p>
            <a:r>
              <a:rPr lang="nl-NL" sz="1400" dirty="0"/>
              <a:t>Later: gegevensobjecten kunnen gegevens bevatten over meerdere domein objecten bevatten. Als dit zo is, dan zijn er soms meerdere </a:t>
            </a:r>
            <a:r>
              <a:rPr lang="nl-NL" sz="1400" dirty="0" err="1"/>
              <a:t>Id’s</a:t>
            </a:r>
            <a:r>
              <a:rPr lang="nl-NL" sz="1400" dirty="0"/>
              <a:t> nodig, waarbij het bij elk helder moet zijn om welk domein object het gaat. </a:t>
            </a:r>
          </a:p>
        </p:txBody>
      </p:sp>
      <p:sp>
        <p:nvSpPr>
          <p:cNvPr id="12" name="Rechthoek 11">
            <a:extLst>
              <a:ext uri="{FF2B5EF4-FFF2-40B4-BE49-F238E27FC236}">
                <a16:creationId xmlns:a16="http://schemas.microsoft.com/office/drawing/2014/main" id="{939ED3E2-C777-E0DF-5F26-212DE7FD0BB5}"/>
              </a:ext>
            </a:extLst>
          </p:cNvPr>
          <p:cNvSpPr/>
          <p:nvPr/>
        </p:nvSpPr>
        <p:spPr>
          <a:xfrm>
            <a:off x="8769927" y="1435825"/>
            <a:ext cx="2161309" cy="614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t>Id</a:t>
            </a:r>
            <a:r>
              <a:rPr lang="nl-NL" sz="1400" dirty="0"/>
              <a:t> A </a:t>
            </a:r>
            <a:br>
              <a:rPr lang="nl-NL" sz="1400" dirty="0"/>
            </a:br>
            <a:r>
              <a:rPr lang="nl-NL" sz="1400" dirty="0"/>
              <a:t>(samengesteld)</a:t>
            </a:r>
          </a:p>
        </p:txBody>
      </p:sp>
      <p:sp>
        <p:nvSpPr>
          <p:cNvPr id="13" name="Rechthoek 12">
            <a:extLst>
              <a:ext uri="{FF2B5EF4-FFF2-40B4-BE49-F238E27FC236}">
                <a16:creationId xmlns:a16="http://schemas.microsoft.com/office/drawing/2014/main" id="{3E325D1E-BCFE-963F-3609-AFDBD6F8A1EC}"/>
              </a:ext>
            </a:extLst>
          </p:cNvPr>
          <p:cNvSpPr/>
          <p:nvPr/>
        </p:nvSpPr>
        <p:spPr>
          <a:xfrm>
            <a:off x="10364065" y="3220759"/>
            <a:ext cx="744682" cy="4572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solidFill>
                  <a:schemeClr val="tx1"/>
                </a:solidFill>
              </a:rPr>
              <a:t>Id</a:t>
            </a:r>
            <a:r>
              <a:rPr lang="nl-NL" sz="1400" dirty="0">
                <a:solidFill>
                  <a:schemeClr val="tx1"/>
                </a:solidFill>
              </a:rPr>
              <a:t> 2</a:t>
            </a:r>
          </a:p>
        </p:txBody>
      </p:sp>
      <p:sp>
        <p:nvSpPr>
          <p:cNvPr id="16" name="Rechthoek 15">
            <a:extLst>
              <a:ext uri="{FF2B5EF4-FFF2-40B4-BE49-F238E27FC236}">
                <a16:creationId xmlns:a16="http://schemas.microsoft.com/office/drawing/2014/main" id="{EBB329E3-300F-0D85-0DC9-1B76541DAD29}"/>
              </a:ext>
            </a:extLst>
          </p:cNvPr>
          <p:cNvSpPr/>
          <p:nvPr/>
        </p:nvSpPr>
        <p:spPr>
          <a:xfrm>
            <a:off x="8811139" y="4633788"/>
            <a:ext cx="744682" cy="4572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solidFill>
                  <a:schemeClr val="tx1"/>
                </a:solidFill>
              </a:rPr>
              <a:t>Id</a:t>
            </a:r>
            <a:r>
              <a:rPr lang="nl-NL" sz="1400" dirty="0">
                <a:solidFill>
                  <a:schemeClr val="tx1"/>
                </a:solidFill>
              </a:rPr>
              <a:t> 1</a:t>
            </a:r>
          </a:p>
        </p:txBody>
      </p:sp>
      <p:sp>
        <p:nvSpPr>
          <p:cNvPr id="19" name="Rechthoek 18">
            <a:extLst>
              <a:ext uri="{FF2B5EF4-FFF2-40B4-BE49-F238E27FC236}">
                <a16:creationId xmlns:a16="http://schemas.microsoft.com/office/drawing/2014/main" id="{2DA7B338-160A-1849-22C5-EDA29ED069F0}"/>
              </a:ext>
            </a:extLst>
          </p:cNvPr>
          <p:cNvSpPr/>
          <p:nvPr/>
        </p:nvSpPr>
        <p:spPr>
          <a:xfrm>
            <a:off x="8829214" y="5413428"/>
            <a:ext cx="744682" cy="4572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err="1">
                <a:solidFill>
                  <a:schemeClr val="tx1"/>
                </a:solidFill>
              </a:rPr>
              <a:t>Id</a:t>
            </a:r>
            <a:r>
              <a:rPr lang="nl-NL" sz="1400" dirty="0">
                <a:solidFill>
                  <a:schemeClr val="tx1"/>
                </a:solidFill>
              </a:rPr>
              <a:t> 3</a:t>
            </a:r>
          </a:p>
        </p:txBody>
      </p:sp>
      <p:cxnSp>
        <p:nvCxnSpPr>
          <p:cNvPr id="25" name="Rechte verbindingslijn met pijl 24">
            <a:extLst>
              <a:ext uri="{FF2B5EF4-FFF2-40B4-BE49-F238E27FC236}">
                <a16:creationId xmlns:a16="http://schemas.microsoft.com/office/drawing/2014/main" id="{A7BB3F2E-FD5B-27C0-1707-62BF3CF98E74}"/>
              </a:ext>
            </a:extLst>
          </p:cNvPr>
          <p:cNvCxnSpPr>
            <a:cxnSpLocks/>
            <a:stCxn id="16" idx="0"/>
            <a:endCxn id="13" idx="2"/>
          </p:cNvCxnSpPr>
          <p:nvPr/>
        </p:nvCxnSpPr>
        <p:spPr>
          <a:xfrm flipV="1">
            <a:off x="9183480" y="3677959"/>
            <a:ext cx="1552926" cy="955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Rechte verbindingslijn met pijl 25">
            <a:extLst>
              <a:ext uri="{FF2B5EF4-FFF2-40B4-BE49-F238E27FC236}">
                <a16:creationId xmlns:a16="http://schemas.microsoft.com/office/drawing/2014/main" id="{C933219D-2D66-1C82-17A2-8FC84709D770}"/>
              </a:ext>
            </a:extLst>
          </p:cNvPr>
          <p:cNvCxnSpPr>
            <a:cxnSpLocks/>
            <a:stCxn id="19" idx="0"/>
            <a:endCxn id="16" idx="2"/>
          </p:cNvCxnSpPr>
          <p:nvPr/>
        </p:nvCxnSpPr>
        <p:spPr>
          <a:xfrm flipH="1" flipV="1">
            <a:off x="9183480" y="5090988"/>
            <a:ext cx="18075" cy="322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kstvak 26">
            <a:extLst>
              <a:ext uri="{FF2B5EF4-FFF2-40B4-BE49-F238E27FC236}">
                <a16:creationId xmlns:a16="http://schemas.microsoft.com/office/drawing/2014/main" id="{98FC7355-DE54-0CCD-BAA6-4E19990EA676}"/>
              </a:ext>
            </a:extLst>
          </p:cNvPr>
          <p:cNvSpPr txBox="1"/>
          <p:nvPr/>
        </p:nvSpPr>
        <p:spPr>
          <a:xfrm>
            <a:off x="7840575" y="5086065"/>
            <a:ext cx="1276761" cy="1169551"/>
          </a:xfrm>
          <a:prstGeom prst="rect">
            <a:avLst/>
          </a:prstGeom>
          <a:noFill/>
        </p:spPr>
        <p:txBody>
          <a:bodyPr wrap="square" rtlCol="0">
            <a:spAutoFit/>
          </a:bodyPr>
          <a:lstStyle/>
          <a:p>
            <a:r>
              <a:rPr lang="nl-NL" sz="1400" i="1" dirty="0"/>
              <a:t>is een versie </a:t>
            </a:r>
            <a:br>
              <a:rPr lang="nl-NL" sz="1400" i="1" dirty="0"/>
            </a:br>
            <a:r>
              <a:rPr lang="nl-NL" sz="1400" i="1" dirty="0"/>
              <a:t>in de tijd </a:t>
            </a:r>
            <a:br>
              <a:rPr lang="nl-NL" sz="1400" i="1" dirty="0"/>
            </a:br>
            <a:r>
              <a:rPr lang="nl-NL" sz="1400" i="1" dirty="0"/>
              <a:t>van 1 </a:t>
            </a:r>
            <a:r>
              <a:rPr lang="nl-NL" sz="1400" i="1" u="sng" dirty="0"/>
              <a:t>en</a:t>
            </a:r>
            <a:r>
              <a:rPr lang="nl-NL" sz="1400" i="1" dirty="0"/>
              <a:t> </a:t>
            </a:r>
            <a:br>
              <a:rPr lang="nl-NL" sz="1400" i="1" dirty="0"/>
            </a:br>
            <a:r>
              <a:rPr lang="nl-NL" sz="1400" i="1" dirty="0"/>
              <a:t>daarmee </a:t>
            </a:r>
            <a:br>
              <a:rPr lang="nl-NL" sz="1400" i="1" dirty="0"/>
            </a:br>
            <a:r>
              <a:rPr lang="nl-NL" sz="1400" i="1" dirty="0"/>
              <a:t>ook van 2</a:t>
            </a:r>
          </a:p>
        </p:txBody>
      </p:sp>
      <p:sp>
        <p:nvSpPr>
          <p:cNvPr id="28" name="Rechthoek 27">
            <a:extLst>
              <a:ext uri="{FF2B5EF4-FFF2-40B4-BE49-F238E27FC236}">
                <a16:creationId xmlns:a16="http://schemas.microsoft.com/office/drawing/2014/main" id="{2A378D74-E898-C490-2CF7-B3CC7D4835F9}"/>
              </a:ext>
            </a:extLst>
          </p:cNvPr>
          <p:cNvSpPr/>
          <p:nvPr/>
        </p:nvSpPr>
        <p:spPr>
          <a:xfrm>
            <a:off x="8729518" y="338923"/>
            <a:ext cx="2216647" cy="31726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t>Domein object</a:t>
            </a:r>
          </a:p>
        </p:txBody>
      </p:sp>
      <p:cxnSp>
        <p:nvCxnSpPr>
          <p:cNvPr id="33" name="Rechte verbindingslijn met pijl 32">
            <a:extLst>
              <a:ext uri="{FF2B5EF4-FFF2-40B4-BE49-F238E27FC236}">
                <a16:creationId xmlns:a16="http://schemas.microsoft.com/office/drawing/2014/main" id="{2A7B3E77-DB86-1E63-C644-7A81B31C114E}"/>
              </a:ext>
            </a:extLst>
          </p:cNvPr>
          <p:cNvCxnSpPr>
            <a:cxnSpLocks/>
          </p:cNvCxnSpPr>
          <p:nvPr/>
        </p:nvCxnSpPr>
        <p:spPr>
          <a:xfrm>
            <a:off x="8118762" y="417640"/>
            <a:ext cx="610756" cy="27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Rechte verbindingslijn 33">
            <a:extLst>
              <a:ext uri="{FF2B5EF4-FFF2-40B4-BE49-F238E27FC236}">
                <a16:creationId xmlns:a16="http://schemas.microsoft.com/office/drawing/2014/main" id="{93ED6744-0376-78A2-50D1-BE371B54388B}"/>
              </a:ext>
            </a:extLst>
          </p:cNvPr>
          <p:cNvCxnSpPr>
            <a:cxnSpLocks/>
          </p:cNvCxnSpPr>
          <p:nvPr/>
        </p:nvCxnSpPr>
        <p:spPr>
          <a:xfrm>
            <a:off x="8118762" y="417640"/>
            <a:ext cx="0" cy="444352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Rechte verbindingslijn 34">
            <a:extLst>
              <a:ext uri="{FF2B5EF4-FFF2-40B4-BE49-F238E27FC236}">
                <a16:creationId xmlns:a16="http://schemas.microsoft.com/office/drawing/2014/main" id="{657A6854-2D99-0439-673C-C6E020877ACD}"/>
              </a:ext>
            </a:extLst>
          </p:cNvPr>
          <p:cNvCxnSpPr>
            <a:cxnSpLocks/>
            <a:endCxn id="16" idx="1"/>
          </p:cNvCxnSpPr>
          <p:nvPr/>
        </p:nvCxnSpPr>
        <p:spPr>
          <a:xfrm>
            <a:off x="8118762" y="4862388"/>
            <a:ext cx="692377" cy="0"/>
          </a:xfrm>
          <a:prstGeom prst="line">
            <a:avLst/>
          </a:prstGeom>
        </p:spPr>
        <p:style>
          <a:lnRef idx="2">
            <a:schemeClr val="accent1"/>
          </a:lnRef>
          <a:fillRef idx="0">
            <a:schemeClr val="accent1"/>
          </a:fillRef>
          <a:effectRef idx="1">
            <a:schemeClr val="accent1"/>
          </a:effectRef>
          <a:fontRef idx="minor">
            <a:schemeClr val="tx1"/>
          </a:fontRef>
        </p:style>
      </p:cxnSp>
      <p:sp>
        <p:nvSpPr>
          <p:cNvPr id="36" name="Rechthoek 35">
            <a:extLst>
              <a:ext uri="{FF2B5EF4-FFF2-40B4-BE49-F238E27FC236}">
                <a16:creationId xmlns:a16="http://schemas.microsoft.com/office/drawing/2014/main" id="{44E8ADFA-77A0-D1E9-1146-3D62FE8ED33D}"/>
              </a:ext>
            </a:extLst>
          </p:cNvPr>
          <p:cNvSpPr/>
          <p:nvPr/>
        </p:nvSpPr>
        <p:spPr>
          <a:xfrm>
            <a:off x="8964136" y="6159739"/>
            <a:ext cx="2216647" cy="31726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t>Gegevensobject</a:t>
            </a:r>
          </a:p>
        </p:txBody>
      </p:sp>
      <p:cxnSp>
        <p:nvCxnSpPr>
          <p:cNvPr id="37" name="Rechte verbindingslijn met pijl 36">
            <a:extLst>
              <a:ext uri="{FF2B5EF4-FFF2-40B4-BE49-F238E27FC236}">
                <a16:creationId xmlns:a16="http://schemas.microsoft.com/office/drawing/2014/main" id="{B0905B0E-5347-6D99-7B23-E8996BFB560F}"/>
              </a:ext>
            </a:extLst>
          </p:cNvPr>
          <p:cNvCxnSpPr>
            <a:cxnSpLocks/>
            <a:stCxn id="13" idx="0"/>
          </p:cNvCxnSpPr>
          <p:nvPr/>
        </p:nvCxnSpPr>
        <p:spPr>
          <a:xfrm flipV="1">
            <a:off x="10736406" y="2049994"/>
            <a:ext cx="1" cy="1170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kstvak 37">
            <a:extLst>
              <a:ext uri="{FF2B5EF4-FFF2-40B4-BE49-F238E27FC236}">
                <a16:creationId xmlns:a16="http://schemas.microsoft.com/office/drawing/2014/main" id="{E5994393-7DD1-D18B-AA27-512A43E28BD6}"/>
              </a:ext>
            </a:extLst>
          </p:cNvPr>
          <p:cNvSpPr txBox="1"/>
          <p:nvPr/>
        </p:nvSpPr>
        <p:spPr>
          <a:xfrm>
            <a:off x="7447171" y="2410929"/>
            <a:ext cx="1211935" cy="1815882"/>
          </a:xfrm>
          <a:prstGeom prst="rect">
            <a:avLst/>
          </a:prstGeom>
          <a:solidFill>
            <a:schemeClr val="bg1">
              <a:alpha val="80000"/>
            </a:schemeClr>
          </a:solidFill>
        </p:spPr>
        <p:txBody>
          <a:bodyPr wrap="none" rtlCol="0">
            <a:spAutoFit/>
          </a:bodyPr>
          <a:lstStyle/>
          <a:p>
            <a:pPr algn="ctr"/>
            <a:r>
              <a:rPr lang="nl-NL" sz="1400" i="1" dirty="0"/>
              <a:t>een </a:t>
            </a:r>
            <a:r>
              <a:rPr lang="nl-NL" sz="1400" i="1" dirty="0" err="1"/>
              <a:t>Id</a:t>
            </a:r>
            <a:r>
              <a:rPr lang="nl-NL" sz="1400" i="1" dirty="0"/>
              <a:t> </a:t>
            </a:r>
          </a:p>
          <a:p>
            <a:pPr algn="ctr"/>
            <a:r>
              <a:rPr lang="nl-NL" sz="1400" i="1" dirty="0"/>
              <a:t>op </a:t>
            </a:r>
          </a:p>
          <a:p>
            <a:pPr algn="ctr"/>
            <a:r>
              <a:rPr lang="nl-NL" sz="1400" i="1" dirty="0"/>
              <a:t>logisch </a:t>
            </a:r>
          </a:p>
          <a:p>
            <a:pPr algn="ctr"/>
            <a:r>
              <a:rPr lang="nl-NL" sz="1400" i="1" dirty="0"/>
              <a:t>niveau </a:t>
            </a:r>
            <a:br>
              <a:rPr lang="nl-NL" sz="1400" i="1" dirty="0"/>
            </a:br>
            <a:r>
              <a:rPr lang="nl-NL" sz="1400" i="1" dirty="0"/>
              <a:t>van een </a:t>
            </a:r>
          </a:p>
          <a:p>
            <a:pPr algn="ctr"/>
            <a:r>
              <a:rPr lang="nl-NL" sz="1400" i="1" dirty="0"/>
              <a:t>domein </a:t>
            </a:r>
          </a:p>
          <a:p>
            <a:pPr algn="ctr"/>
            <a:r>
              <a:rPr lang="nl-NL" sz="1400" i="1" dirty="0"/>
              <a:t>object:</a:t>
            </a:r>
            <a:br>
              <a:rPr lang="nl-NL" sz="1400" i="1" dirty="0"/>
            </a:br>
            <a:r>
              <a:rPr lang="nl-NL" sz="1400" i="1" dirty="0"/>
              <a:t>representatie</a:t>
            </a:r>
          </a:p>
        </p:txBody>
      </p:sp>
      <p:sp>
        <p:nvSpPr>
          <p:cNvPr id="39" name="Tekstvak 38">
            <a:extLst>
              <a:ext uri="{FF2B5EF4-FFF2-40B4-BE49-F238E27FC236}">
                <a16:creationId xmlns:a16="http://schemas.microsoft.com/office/drawing/2014/main" id="{48E6ED51-653A-96A2-649D-5610139E005A}"/>
              </a:ext>
            </a:extLst>
          </p:cNvPr>
          <p:cNvSpPr txBox="1"/>
          <p:nvPr/>
        </p:nvSpPr>
        <p:spPr>
          <a:xfrm>
            <a:off x="9085542" y="3817587"/>
            <a:ext cx="2354879" cy="523220"/>
          </a:xfrm>
          <a:prstGeom prst="rect">
            <a:avLst/>
          </a:prstGeom>
          <a:solidFill>
            <a:schemeClr val="bg1">
              <a:alpha val="80000"/>
            </a:schemeClr>
          </a:solidFill>
        </p:spPr>
        <p:txBody>
          <a:bodyPr wrap="square" rtlCol="0">
            <a:spAutoFit/>
          </a:bodyPr>
          <a:lstStyle/>
          <a:p>
            <a:pPr algn="ctr"/>
            <a:r>
              <a:rPr lang="nl-NL" sz="1400" i="1" dirty="0"/>
              <a:t>op 1 moment in de tijd </a:t>
            </a:r>
            <a:br>
              <a:rPr lang="nl-NL" sz="1400" i="1" dirty="0"/>
            </a:br>
            <a:r>
              <a:rPr lang="nl-NL" sz="1400" i="1" dirty="0"/>
              <a:t>een 1 op 1 relatie</a:t>
            </a:r>
          </a:p>
        </p:txBody>
      </p:sp>
      <p:cxnSp>
        <p:nvCxnSpPr>
          <p:cNvPr id="40" name="Rechte verbindingslijn met pijl 39">
            <a:extLst>
              <a:ext uri="{FF2B5EF4-FFF2-40B4-BE49-F238E27FC236}">
                <a16:creationId xmlns:a16="http://schemas.microsoft.com/office/drawing/2014/main" id="{B78C6246-EB05-EEEF-1DBE-C127C73B0719}"/>
              </a:ext>
            </a:extLst>
          </p:cNvPr>
          <p:cNvCxnSpPr>
            <a:cxnSpLocks/>
          </p:cNvCxnSpPr>
          <p:nvPr/>
        </p:nvCxnSpPr>
        <p:spPr>
          <a:xfrm>
            <a:off x="8382577" y="566130"/>
            <a:ext cx="3469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Rechte verbindingslijn 40">
            <a:extLst>
              <a:ext uri="{FF2B5EF4-FFF2-40B4-BE49-F238E27FC236}">
                <a16:creationId xmlns:a16="http://schemas.microsoft.com/office/drawing/2014/main" id="{668C57B8-50BB-60BC-0262-44D06F9EEDE7}"/>
              </a:ext>
            </a:extLst>
          </p:cNvPr>
          <p:cNvCxnSpPr>
            <a:cxnSpLocks/>
          </p:cNvCxnSpPr>
          <p:nvPr/>
        </p:nvCxnSpPr>
        <p:spPr>
          <a:xfrm>
            <a:off x="8383216" y="573057"/>
            <a:ext cx="11034" cy="1169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Rechte verbindingslijn 41">
            <a:extLst>
              <a:ext uri="{FF2B5EF4-FFF2-40B4-BE49-F238E27FC236}">
                <a16:creationId xmlns:a16="http://schemas.microsoft.com/office/drawing/2014/main" id="{37F25BE2-2A2B-F761-771C-AB9BEE6D99BD}"/>
              </a:ext>
            </a:extLst>
          </p:cNvPr>
          <p:cNvCxnSpPr>
            <a:cxnSpLocks/>
            <a:stCxn id="12" idx="1"/>
          </p:cNvCxnSpPr>
          <p:nvPr/>
        </p:nvCxnSpPr>
        <p:spPr>
          <a:xfrm flipH="1" flipV="1">
            <a:off x="8394250" y="1742909"/>
            <a:ext cx="375677" cy="1"/>
          </a:xfrm>
          <a:prstGeom prst="line">
            <a:avLst/>
          </a:prstGeom>
        </p:spPr>
        <p:style>
          <a:lnRef idx="2">
            <a:schemeClr val="accent1"/>
          </a:lnRef>
          <a:fillRef idx="0">
            <a:schemeClr val="accent1"/>
          </a:fillRef>
          <a:effectRef idx="1">
            <a:schemeClr val="accent1"/>
          </a:effectRef>
          <a:fontRef idx="minor">
            <a:schemeClr val="tx1"/>
          </a:fontRef>
        </p:style>
      </p:cxnSp>
      <p:sp>
        <p:nvSpPr>
          <p:cNvPr id="43" name="Tekstvak 42">
            <a:extLst>
              <a:ext uri="{FF2B5EF4-FFF2-40B4-BE49-F238E27FC236}">
                <a16:creationId xmlns:a16="http://schemas.microsoft.com/office/drawing/2014/main" id="{BF7CA683-0E10-1840-D2CC-47E484FBDA7D}"/>
              </a:ext>
            </a:extLst>
          </p:cNvPr>
          <p:cNvSpPr txBox="1"/>
          <p:nvPr/>
        </p:nvSpPr>
        <p:spPr>
          <a:xfrm>
            <a:off x="8458339" y="769279"/>
            <a:ext cx="2492990" cy="523220"/>
          </a:xfrm>
          <a:prstGeom prst="rect">
            <a:avLst/>
          </a:prstGeom>
          <a:solidFill>
            <a:schemeClr val="bg1">
              <a:alpha val="80000"/>
            </a:schemeClr>
          </a:solidFill>
        </p:spPr>
        <p:txBody>
          <a:bodyPr wrap="none" rtlCol="0">
            <a:spAutoFit/>
          </a:bodyPr>
          <a:lstStyle/>
          <a:p>
            <a:pPr algn="ctr"/>
            <a:r>
              <a:rPr lang="nl-NL" sz="1400" i="1" dirty="0"/>
              <a:t>een </a:t>
            </a:r>
            <a:r>
              <a:rPr lang="nl-NL" sz="1400" i="1" dirty="0" err="1"/>
              <a:t>Id</a:t>
            </a:r>
            <a:r>
              <a:rPr lang="nl-NL" sz="1400" i="1" dirty="0"/>
              <a:t> op conceptueel niveau </a:t>
            </a:r>
            <a:br>
              <a:rPr lang="nl-NL" sz="1400" i="1" dirty="0"/>
            </a:br>
            <a:r>
              <a:rPr lang="nl-NL" sz="1400" i="1" u="sng" dirty="0"/>
              <a:t>van</a:t>
            </a:r>
            <a:r>
              <a:rPr lang="nl-NL" sz="1400" i="1" dirty="0"/>
              <a:t> een domein object </a:t>
            </a:r>
          </a:p>
        </p:txBody>
      </p:sp>
      <p:cxnSp>
        <p:nvCxnSpPr>
          <p:cNvPr id="44" name="Rechte verbindingslijn met pijl 43">
            <a:extLst>
              <a:ext uri="{FF2B5EF4-FFF2-40B4-BE49-F238E27FC236}">
                <a16:creationId xmlns:a16="http://schemas.microsoft.com/office/drawing/2014/main" id="{92A15EF8-2B3A-F92D-37F5-B7C53458C211}"/>
              </a:ext>
            </a:extLst>
          </p:cNvPr>
          <p:cNvCxnSpPr>
            <a:cxnSpLocks/>
            <a:stCxn id="19" idx="3"/>
          </p:cNvCxnSpPr>
          <p:nvPr/>
        </p:nvCxnSpPr>
        <p:spPr>
          <a:xfrm>
            <a:off x="9573896" y="5642028"/>
            <a:ext cx="443394" cy="419336"/>
          </a:xfrm>
          <a:prstGeom prst="straightConnector1">
            <a:avLst/>
          </a:prstGeom>
          <a:ln w="12700">
            <a:prstDash val="dash"/>
            <a:tailEnd type="triangle"/>
          </a:ln>
        </p:spPr>
        <p:style>
          <a:lnRef idx="2">
            <a:schemeClr val="accent1"/>
          </a:lnRef>
          <a:fillRef idx="0">
            <a:schemeClr val="accent1"/>
          </a:fillRef>
          <a:effectRef idx="1">
            <a:schemeClr val="accent1"/>
          </a:effectRef>
          <a:fontRef idx="minor">
            <a:schemeClr val="tx1"/>
          </a:fontRef>
        </p:style>
      </p:cxnSp>
      <p:sp>
        <p:nvSpPr>
          <p:cNvPr id="45" name="Tekstvak 44">
            <a:extLst>
              <a:ext uri="{FF2B5EF4-FFF2-40B4-BE49-F238E27FC236}">
                <a16:creationId xmlns:a16="http://schemas.microsoft.com/office/drawing/2014/main" id="{B053ABE7-A188-FF27-96D8-2755480BD7F9}"/>
              </a:ext>
            </a:extLst>
          </p:cNvPr>
          <p:cNvSpPr txBox="1"/>
          <p:nvPr/>
        </p:nvSpPr>
        <p:spPr>
          <a:xfrm>
            <a:off x="10125768" y="2339105"/>
            <a:ext cx="1316899" cy="523220"/>
          </a:xfrm>
          <a:prstGeom prst="rect">
            <a:avLst/>
          </a:prstGeom>
          <a:solidFill>
            <a:schemeClr val="bg1">
              <a:alpha val="80000"/>
            </a:schemeClr>
          </a:solidFill>
        </p:spPr>
        <p:txBody>
          <a:bodyPr wrap="none" rtlCol="0">
            <a:spAutoFit/>
          </a:bodyPr>
          <a:lstStyle/>
          <a:p>
            <a:r>
              <a:rPr lang="nl-NL" sz="1400" i="1" dirty="0"/>
              <a:t>koppeling met </a:t>
            </a:r>
            <a:br>
              <a:rPr lang="nl-NL" sz="1400" i="1" dirty="0"/>
            </a:br>
            <a:r>
              <a:rPr lang="nl-NL" sz="1400" i="1" dirty="0"/>
              <a:t>werkelijkheid</a:t>
            </a:r>
          </a:p>
        </p:txBody>
      </p:sp>
      <p:cxnSp>
        <p:nvCxnSpPr>
          <p:cNvPr id="46" name="Rechte verbindingslijn met pijl 45">
            <a:extLst>
              <a:ext uri="{FF2B5EF4-FFF2-40B4-BE49-F238E27FC236}">
                <a16:creationId xmlns:a16="http://schemas.microsoft.com/office/drawing/2014/main" id="{7C5580E5-F826-D83E-A31B-19AD470DEADB}"/>
              </a:ext>
            </a:extLst>
          </p:cNvPr>
          <p:cNvCxnSpPr>
            <a:cxnSpLocks/>
          </p:cNvCxnSpPr>
          <p:nvPr/>
        </p:nvCxnSpPr>
        <p:spPr>
          <a:xfrm>
            <a:off x="9644949" y="4861167"/>
            <a:ext cx="461026" cy="1103215"/>
          </a:xfrm>
          <a:prstGeom prst="straightConnector1">
            <a:avLst/>
          </a:prstGeom>
          <a:ln w="12700">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7" name="Rechte verbindingslijn met pijl 46">
            <a:extLst>
              <a:ext uri="{FF2B5EF4-FFF2-40B4-BE49-F238E27FC236}">
                <a16:creationId xmlns:a16="http://schemas.microsoft.com/office/drawing/2014/main" id="{F8D4A02A-2AF2-7C91-1E2A-8BC5C2DACEA6}"/>
              </a:ext>
            </a:extLst>
          </p:cNvPr>
          <p:cNvCxnSpPr>
            <a:cxnSpLocks/>
          </p:cNvCxnSpPr>
          <p:nvPr/>
        </p:nvCxnSpPr>
        <p:spPr>
          <a:xfrm flipH="1">
            <a:off x="10238562" y="4495840"/>
            <a:ext cx="310807" cy="1374788"/>
          </a:xfrm>
          <a:prstGeom prst="straightConnector1">
            <a:avLst/>
          </a:prstGeom>
          <a:ln w="12700">
            <a:prstDash val="dash"/>
            <a:tailEnd type="triangle"/>
          </a:ln>
        </p:spPr>
        <p:style>
          <a:lnRef idx="2">
            <a:schemeClr val="accent1"/>
          </a:lnRef>
          <a:fillRef idx="0">
            <a:schemeClr val="accent1"/>
          </a:fillRef>
          <a:effectRef idx="1">
            <a:schemeClr val="accent1"/>
          </a:effectRef>
          <a:fontRef idx="minor">
            <a:schemeClr val="tx1"/>
          </a:fontRef>
        </p:style>
      </p:cxnSp>
      <p:sp>
        <p:nvSpPr>
          <p:cNvPr id="48" name="Tekstvak 47">
            <a:extLst>
              <a:ext uri="{FF2B5EF4-FFF2-40B4-BE49-F238E27FC236}">
                <a16:creationId xmlns:a16="http://schemas.microsoft.com/office/drawing/2014/main" id="{3BEE83E0-563C-6E3B-7367-AFA6CDE920B9}"/>
              </a:ext>
            </a:extLst>
          </p:cNvPr>
          <p:cNvSpPr txBox="1"/>
          <p:nvPr/>
        </p:nvSpPr>
        <p:spPr>
          <a:xfrm>
            <a:off x="10017290" y="5304579"/>
            <a:ext cx="2003234" cy="738664"/>
          </a:xfrm>
          <a:prstGeom prst="rect">
            <a:avLst/>
          </a:prstGeom>
          <a:noFill/>
        </p:spPr>
        <p:txBody>
          <a:bodyPr wrap="square" rtlCol="0">
            <a:spAutoFit/>
          </a:bodyPr>
          <a:lstStyle/>
          <a:p>
            <a:pPr algn="ctr"/>
            <a:r>
              <a:rPr lang="nl-NL" sz="1400" i="1" dirty="0" err="1"/>
              <a:t>Id’s</a:t>
            </a:r>
            <a:r>
              <a:rPr lang="nl-NL" sz="1400" i="1" dirty="0"/>
              <a:t> op </a:t>
            </a:r>
            <a:br>
              <a:rPr lang="nl-NL" sz="1400" i="1" dirty="0"/>
            </a:br>
            <a:r>
              <a:rPr lang="nl-NL" sz="1400" i="1" dirty="0"/>
              <a:t>logisch niveau </a:t>
            </a:r>
            <a:br>
              <a:rPr lang="nl-NL" sz="1400" i="1" dirty="0"/>
            </a:br>
            <a:r>
              <a:rPr lang="nl-NL" sz="1400" i="1" u="sng" dirty="0"/>
              <a:t>die je aantreft in</a:t>
            </a:r>
          </a:p>
        </p:txBody>
      </p:sp>
      <p:cxnSp>
        <p:nvCxnSpPr>
          <p:cNvPr id="49" name="Rechte verbindingslijn 48">
            <a:extLst>
              <a:ext uri="{FF2B5EF4-FFF2-40B4-BE49-F238E27FC236}">
                <a16:creationId xmlns:a16="http://schemas.microsoft.com/office/drawing/2014/main" id="{04ACA02B-3B1A-D176-EA5C-B007B96ECE4C}"/>
              </a:ext>
            </a:extLst>
          </p:cNvPr>
          <p:cNvCxnSpPr>
            <a:cxnSpLocks/>
          </p:cNvCxnSpPr>
          <p:nvPr/>
        </p:nvCxnSpPr>
        <p:spPr>
          <a:xfrm>
            <a:off x="6696433" y="2308787"/>
            <a:ext cx="5350094" cy="0"/>
          </a:xfrm>
          <a:prstGeom prst="line">
            <a:avLst/>
          </a:prstGeom>
          <a:ln w="6350">
            <a:prstDash val="sysDash"/>
          </a:ln>
        </p:spPr>
        <p:style>
          <a:lnRef idx="2">
            <a:schemeClr val="accent1"/>
          </a:lnRef>
          <a:fillRef idx="0">
            <a:schemeClr val="accent1"/>
          </a:fillRef>
          <a:effectRef idx="1">
            <a:schemeClr val="accent1"/>
          </a:effectRef>
          <a:fontRef idx="minor">
            <a:schemeClr val="tx1"/>
          </a:fontRef>
        </p:style>
      </p:cxnSp>
      <p:sp>
        <p:nvSpPr>
          <p:cNvPr id="50" name="Tekstvak 49">
            <a:extLst>
              <a:ext uri="{FF2B5EF4-FFF2-40B4-BE49-F238E27FC236}">
                <a16:creationId xmlns:a16="http://schemas.microsoft.com/office/drawing/2014/main" id="{5CD227D5-1585-C651-7140-1079906255A3}"/>
              </a:ext>
            </a:extLst>
          </p:cNvPr>
          <p:cNvSpPr txBox="1"/>
          <p:nvPr/>
        </p:nvSpPr>
        <p:spPr>
          <a:xfrm>
            <a:off x="6591190" y="1898869"/>
            <a:ext cx="1212191" cy="307777"/>
          </a:xfrm>
          <a:prstGeom prst="rect">
            <a:avLst/>
          </a:prstGeom>
          <a:noFill/>
        </p:spPr>
        <p:txBody>
          <a:bodyPr wrap="none" rtlCol="0">
            <a:spAutoFit/>
          </a:bodyPr>
          <a:lstStyle/>
          <a:p>
            <a:r>
              <a:rPr lang="nl-NL" sz="1400" b="1" dirty="0"/>
              <a:t>conceptueel</a:t>
            </a:r>
          </a:p>
        </p:txBody>
      </p:sp>
      <p:sp>
        <p:nvSpPr>
          <p:cNvPr id="51" name="Tekstvak 50">
            <a:extLst>
              <a:ext uri="{FF2B5EF4-FFF2-40B4-BE49-F238E27FC236}">
                <a16:creationId xmlns:a16="http://schemas.microsoft.com/office/drawing/2014/main" id="{E9AE30D5-53D8-4580-1012-0FFFDA52213C}"/>
              </a:ext>
            </a:extLst>
          </p:cNvPr>
          <p:cNvSpPr txBox="1"/>
          <p:nvPr/>
        </p:nvSpPr>
        <p:spPr>
          <a:xfrm>
            <a:off x="6925886" y="2345861"/>
            <a:ext cx="774571" cy="307777"/>
          </a:xfrm>
          <a:prstGeom prst="rect">
            <a:avLst/>
          </a:prstGeom>
          <a:noFill/>
        </p:spPr>
        <p:txBody>
          <a:bodyPr wrap="none" rtlCol="0">
            <a:spAutoFit/>
          </a:bodyPr>
          <a:lstStyle/>
          <a:p>
            <a:r>
              <a:rPr lang="nl-NL" sz="1400" b="1" dirty="0"/>
              <a:t>logisch</a:t>
            </a:r>
          </a:p>
        </p:txBody>
      </p:sp>
      <p:cxnSp>
        <p:nvCxnSpPr>
          <p:cNvPr id="52" name="Rechte verbindingslijn met pijl 51">
            <a:extLst>
              <a:ext uri="{FF2B5EF4-FFF2-40B4-BE49-F238E27FC236}">
                <a16:creationId xmlns:a16="http://schemas.microsoft.com/office/drawing/2014/main" id="{3FF978E4-8F8E-9608-9694-324632A7996C}"/>
              </a:ext>
            </a:extLst>
          </p:cNvPr>
          <p:cNvCxnSpPr>
            <a:cxnSpLocks/>
          </p:cNvCxnSpPr>
          <p:nvPr/>
        </p:nvCxnSpPr>
        <p:spPr>
          <a:xfrm>
            <a:off x="8602152" y="1896450"/>
            <a:ext cx="1677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Rechte verbindingslijn 52">
            <a:extLst>
              <a:ext uri="{FF2B5EF4-FFF2-40B4-BE49-F238E27FC236}">
                <a16:creationId xmlns:a16="http://schemas.microsoft.com/office/drawing/2014/main" id="{D0A50956-74F6-3BE2-69F4-EF81529A331E}"/>
              </a:ext>
            </a:extLst>
          </p:cNvPr>
          <p:cNvCxnSpPr>
            <a:cxnSpLocks/>
          </p:cNvCxnSpPr>
          <p:nvPr/>
        </p:nvCxnSpPr>
        <p:spPr>
          <a:xfrm>
            <a:off x="8602152" y="1900904"/>
            <a:ext cx="0" cy="2833021"/>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Rechte verbindingslijn 53">
            <a:extLst>
              <a:ext uri="{FF2B5EF4-FFF2-40B4-BE49-F238E27FC236}">
                <a16:creationId xmlns:a16="http://schemas.microsoft.com/office/drawing/2014/main" id="{DCFC1FF3-A3FA-0C79-3090-225CEC3EDE8A}"/>
              </a:ext>
            </a:extLst>
          </p:cNvPr>
          <p:cNvCxnSpPr>
            <a:cxnSpLocks/>
          </p:cNvCxnSpPr>
          <p:nvPr/>
        </p:nvCxnSpPr>
        <p:spPr>
          <a:xfrm>
            <a:off x="8609506" y="4733925"/>
            <a:ext cx="201633" cy="0"/>
          </a:xfrm>
          <a:prstGeom prst="line">
            <a:avLst/>
          </a:prstGeom>
        </p:spPr>
        <p:style>
          <a:lnRef idx="2">
            <a:schemeClr val="accent1"/>
          </a:lnRef>
          <a:fillRef idx="0">
            <a:schemeClr val="accent1"/>
          </a:fillRef>
          <a:effectRef idx="1">
            <a:schemeClr val="accent1"/>
          </a:effectRef>
          <a:fontRef idx="minor">
            <a:schemeClr val="tx1"/>
          </a:fontRef>
        </p:style>
      </p:cxnSp>
      <p:sp>
        <p:nvSpPr>
          <p:cNvPr id="55" name="Tekstvak 54">
            <a:extLst>
              <a:ext uri="{FF2B5EF4-FFF2-40B4-BE49-F238E27FC236}">
                <a16:creationId xmlns:a16="http://schemas.microsoft.com/office/drawing/2014/main" id="{24185089-E076-CAB6-1A73-08510A0CECC0}"/>
              </a:ext>
            </a:extLst>
          </p:cNvPr>
          <p:cNvSpPr txBox="1"/>
          <p:nvPr/>
        </p:nvSpPr>
        <p:spPr>
          <a:xfrm>
            <a:off x="8479574" y="2702260"/>
            <a:ext cx="1211935" cy="954107"/>
          </a:xfrm>
          <a:prstGeom prst="rect">
            <a:avLst/>
          </a:prstGeom>
          <a:solidFill>
            <a:schemeClr val="bg1">
              <a:alpha val="80000"/>
            </a:schemeClr>
          </a:solidFill>
        </p:spPr>
        <p:txBody>
          <a:bodyPr wrap="square" rtlCol="0">
            <a:spAutoFit/>
          </a:bodyPr>
          <a:lstStyle/>
          <a:p>
            <a:pPr algn="ctr"/>
            <a:r>
              <a:rPr lang="nl-NL" sz="1400" i="1" dirty="0"/>
              <a:t>representatie van </a:t>
            </a:r>
            <a:r>
              <a:rPr lang="nl-NL" sz="1400" i="1" dirty="0" err="1"/>
              <a:t>Id</a:t>
            </a:r>
            <a:r>
              <a:rPr lang="nl-NL" sz="1400" i="1" dirty="0"/>
              <a:t> A op logisch niveau</a:t>
            </a:r>
          </a:p>
        </p:txBody>
      </p:sp>
    </p:spTree>
    <p:extLst>
      <p:ext uri="{BB962C8B-B14F-4D97-AF65-F5344CB8AC3E}">
        <p14:creationId xmlns:p14="http://schemas.microsoft.com/office/powerpoint/2010/main" val="45731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2EF97-586B-0E59-F5D9-DE6A0E6C8373}"/>
            </a:ext>
          </a:extLst>
        </p:cNvPr>
        <p:cNvGrpSpPr/>
        <p:nvPr/>
      </p:nvGrpSpPr>
      <p:grpSpPr>
        <a:xfrm>
          <a:off x="0" y="0"/>
          <a:ext cx="0" cy="0"/>
          <a:chOff x="0" y="0"/>
          <a:chExt cx="0" cy="0"/>
        </a:xfrm>
      </p:grpSpPr>
      <p:sp>
        <p:nvSpPr>
          <p:cNvPr id="55" name="Rechthoek 54">
            <a:extLst>
              <a:ext uri="{FF2B5EF4-FFF2-40B4-BE49-F238E27FC236}">
                <a16:creationId xmlns:a16="http://schemas.microsoft.com/office/drawing/2014/main" id="{F05C4AA1-3B9E-8F55-B136-738F66F712FB}"/>
              </a:ext>
            </a:extLst>
          </p:cNvPr>
          <p:cNvSpPr/>
          <p:nvPr/>
        </p:nvSpPr>
        <p:spPr>
          <a:xfrm>
            <a:off x="6801759" y="3647136"/>
            <a:ext cx="5192318" cy="3009622"/>
          </a:xfrm>
          <a:custGeom>
            <a:avLst/>
            <a:gdLst>
              <a:gd name="csX0" fmla="*/ 0 w 5192318"/>
              <a:gd name="csY0" fmla="*/ 0 h 3009622"/>
              <a:gd name="csX1" fmla="*/ 752886 w 5192318"/>
              <a:gd name="csY1" fmla="*/ 0 h 3009622"/>
              <a:gd name="csX2" fmla="*/ 1453849 w 5192318"/>
              <a:gd name="csY2" fmla="*/ 0 h 3009622"/>
              <a:gd name="csX3" fmla="*/ 1947119 w 5192318"/>
              <a:gd name="csY3" fmla="*/ 0 h 3009622"/>
              <a:gd name="csX4" fmla="*/ 2700005 w 5192318"/>
              <a:gd name="csY4" fmla="*/ 0 h 3009622"/>
              <a:gd name="csX5" fmla="*/ 3349045 w 5192318"/>
              <a:gd name="csY5" fmla="*/ 0 h 3009622"/>
              <a:gd name="csX6" fmla="*/ 3946162 w 5192318"/>
              <a:gd name="csY6" fmla="*/ 0 h 3009622"/>
              <a:gd name="csX7" fmla="*/ 5192318 w 5192318"/>
              <a:gd name="csY7" fmla="*/ 0 h 3009622"/>
              <a:gd name="csX8" fmla="*/ 5192318 w 5192318"/>
              <a:gd name="csY8" fmla="*/ 511636 h 3009622"/>
              <a:gd name="csX9" fmla="*/ 5192318 w 5192318"/>
              <a:gd name="csY9" fmla="*/ 1173753 h 3009622"/>
              <a:gd name="csX10" fmla="*/ 5192318 w 5192318"/>
              <a:gd name="csY10" fmla="*/ 1805773 h 3009622"/>
              <a:gd name="csX11" fmla="*/ 5192318 w 5192318"/>
              <a:gd name="csY11" fmla="*/ 2437794 h 3009622"/>
              <a:gd name="csX12" fmla="*/ 5192318 w 5192318"/>
              <a:gd name="csY12" fmla="*/ 3009622 h 3009622"/>
              <a:gd name="csX13" fmla="*/ 4439432 w 5192318"/>
              <a:gd name="csY13" fmla="*/ 3009622 h 3009622"/>
              <a:gd name="csX14" fmla="*/ 3946162 w 5192318"/>
              <a:gd name="csY14" fmla="*/ 3009622 h 3009622"/>
              <a:gd name="csX15" fmla="*/ 3245199 w 5192318"/>
              <a:gd name="csY15" fmla="*/ 3009622 h 3009622"/>
              <a:gd name="csX16" fmla="*/ 2751929 w 5192318"/>
              <a:gd name="csY16" fmla="*/ 3009622 h 3009622"/>
              <a:gd name="csX17" fmla="*/ 2258658 w 5192318"/>
              <a:gd name="csY17" fmla="*/ 3009622 h 3009622"/>
              <a:gd name="csX18" fmla="*/ 1765388 w 5192318"/>
              <a:gd name="csY18" fmla="*/ 3009622 h 3009622"/>
              <a:gd name="csX19" fmla="*/ 1168272 w 5192318"/>
              <a:gd name="csY19" fmla="*/ 3009622 h 3009622"/>
              <a:gd name="csX20" fmla="*/ 0 w 5192318"/>
              <a:gd name="csY20" fmla="*/ 3009622 h 3009622"/>
              <a:gd name="csX21" fmla="*/ 0 w 5192318"/>
              <a:gd name="csY21" fmla="*/ 2407698 h 3009622"/>
              <a:gd name="csX22" fmla="*/ 0 w 5192318"/>
              <a:gd name="csY22" fmla="*/ 1865966 h 3009622"/>
              <a:gd name="csX23" fmla="*/ 0 w 5192318"/>
              <a:gd name="csY23" fmla="*/ 1294137 h 3009622"/>
              <a:gd name="csX24" fmla="*/ 0 w 5192318"/>
              <a:gd name="csY24" fmla="*/ 692213 h 3009622"/>
              <a:gd name="csX25" fmla="*/ 0 w 5192318"/>
              <a:gd name="csY25" fmla="*/ 0 h 30096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192318" h="3009622" fill="none" extrusionOk="0">
                <a:moveTo>
                  <a:pt x="0" y="0"/>
                </a:moveTo>
                <a:cubicBezTo>
                  <a:pt x="305985" y="289"/>
                  <a:pt x="403308" y="34336"/>
                  <a:pt x="752886" y="0"/>
                </a:cubicBezTo>
                <a:cubicBezTo>
                  <a:pt x="1102464" y="-34336"/>
                  <a:pt x="1199259" y="-5389"/>
                  <a:pt x="1453849" y="0"/>
                </a:cubicBezTo>
                <a:cubicBezTo>
                  <a:pt x="1708439" y="5389"/>
                  <a:pt x="1703361" y="7850"/>
                  <a:pt x="1947119" y="0"/>
                </a:cubicBezTo>
                <a:cubicBezTo>
                  <a:pt x="2190877" y="-7850"/>
                  <a:pt x="2365251" y="10407"/>
                  <a:pt x="2700005" y="0"/>
                </a:cubicBezTo>
                <a:cubicBezTo>
                  <a:pt x="3034759" y="-10407"/>
                  <a:pt x="3036250" y="-29076"/>
                  <a:pt x="3349045" y="0"/>
                </a:cubicBezTo>
                <a:cubicBezTo>
                  <a:pt x="3661840" y="29076"/>
                  <a:pt x="3684385" y="5812"/>
                  <a:pt x="3946162" y="0"/>
                </a:cubicBezTo>
                <a:cubicBezTo>
                  <a:pt x="4207939" y="-5812"/>
                  <a:pt x="4942032" y="-50534"/>
                  <a:pt x="5192318" y="0"/>
                </a:cubicBezTo>
                <a:cubicBezTo>
                  <a:pt x="5214965" y="158587"/>
                  <a:pt x="5180674" y="316379"/>
                  <a:pt x="5192318" y="511636"/>
                </a:cubicBezTo>
                <a:cubicBezTo>
                  <a:pt x="5203962" y="706893"/>
                  <a:pt x="5161367" y="863099"/>
                  <a:pt x="5192318" y="1173753"/>
                </a:cubicBezTo>
                <a:cubicBezTo>
                  <a:pt x="5223269" y="1484407"/>
                  <a:pt x="5208900" y="1543355"/>
                  <a:pt x="5192318" y="1805773"/>
                </a:cubicBezTo>
                <a:cubicBezTo>
                  <a:pt x="5175736" y="2068191"/>
                  <a:pt x="5165162" y="2206438"/>
                  <a:pt x="5192318" y="2437794"/>
                </a:cubicBezTo>
                <a:cubicBezTo>
                  <a:pt x="5219474" y="2669150"/>
                  <a:pt x="5181179" y="2833781"/>
                  <a:pt x="5192318" y="3009622"/>
                </a:cubicBezTo>
                <a:cubicBezTo>
                  <a:pt x="5018799" y="2996671"/>
                  <a:pt x="4792132" y="2991185"/>
                  <a:pt x="4439432" y="3009622"/>
                </a:cubicBezTo>
                <a:cubicBezTo>
                  <a:pt x="4086732" y="3028059"/>
                  <a:pt x="4143665" y="3019540"/>
                  <a:pt x="3946162" y="3009622"/>
                </a:cubicBezTo>
                <a:cubicBezTo>
                  <a:pt x="3748659" y="2999705"/>
                  <a:pt x="3550164" y="2985694"/>
                  <a:pt x="3245199" y="3009622"/>
                </a:cubicBezTo>
                <a:cubicBezTo>
                  <a:pt x="2940234" y="3033550"/>
                  <a:pt x="2996961" y="3025467"/>
                  <a:pt x="2751929" y="3009622"/>
                </a:cubicBezTo>
                <a:cubicBezTo>
                  <a:pt x="2506897" y="2993778"/>
                  <a:pt x="2370548" y="2993583"/>
                  <a:pt x="2258658" y="3009622"/>
                </a:cubicBezTo>
                <a:cubicBezTo>
                  <a:pt x="2146768" y="3025661"/>
                  <a:pt x="1879312" y="3006757"/>
                  <a:pt x="1765388" y="3009622"/>
                </a:cubicBezTo>
                <a:cubicBezTo>
                  <a:pt x="1651464" y="3012488"/>
                  <a:pt x="1422691" y="2995785"/>
                  <a:pt x="1168272" y="3009622"/>
                </a:cubicBezTo>
                <a:cubicBezTo>
                  <a:pt x="913853" y="3023459"/>
                  <a:pt x="346723" y="2974541"/>
                  <a:pt x="0" y="3009622"/>
                </a:cubicBezTo>
                <a:cubicBezTo>
                  <a:pt x="-16487" y="2714226"/>
                  <a:pt x="20452" y="2665546"/>
                  <a:pt x="0" y="2407698"/>
                </a:cubicBezTo>
                <a:cubicBezTo>
                  <a:pt x="-20452" y="2149850"/>
                  <a:pt x="-26364" y="2105452"/>
                  <a:pt x="0" y="1865966"/>
                </a:cubicBezTo>
                <a:cubicBezTo>
                  <a:pt x="26364" y="1626480"/>
                  <a:pt x="-20582" y="1566309"/>
                  <a:pt x="0" y="1294137"/>
                </a:cubicBezTo>
                <a:cubicBezTo>
                  <a:pt x="20582" y="1021965"/>
                  <a:pt x="20416" y="939501"/>
                  <a:pt x="0" y="692213"/>
                </a:cubicBezTo>
                <a:cubicBezTo>
                  <a:pt x="-20416" y="444925"/>
                  <a:pt x="-20430" y="254501"/>
                  <a:pt x="0" y="0"/>
                </a:cubicBezTo>
                <a:close/>
              </a:path>
              <a:path w="5192318" h="3009622" stroke="0" extrusionOk="0">
                <a:moveTo>
                  <a:pt x="0" y="0"/>
                </a:moveTo>
                <a:cubicBezTo>
                  <a:pt x="151419" y="24658"/>
                  <a:pt x="517101" y="-20015"/>
                  <a:pt x="752886" y="0"/>
                </a:cubicBezTo>
                <a:cubicBezTo>
                  <a:pt x="988671" y="20015"/>
                  <a:pt x="1179391" y="16596"/>
                  <a:pt x="1401926" y="0"/>
                </a:cubicBezTo>
                <a:cubicBezTo>
                  <a:pt x="1624461" y="-16596"/>
                  <a:pt x="1761178" y="12112"/>
                  <a:pt x="1947119" y="0"/>
                </a:cubicBezTo>
                <a:cubicBezTo>
                  <a:pt x="2133060" y="-12112"/>
                  <a:pt x="2458955" y="-25720"/>
                  <a:pt x="2596159" y="0"/>
                </a:cubicBezTo>
                <a:cubicBezTo>
                  <a:pt x="2733363" y="25720"/>
                  <a:pt x="3147994" y="-743"/>
                  <a:pt x="3349045" y="0"/>
                </a:cubicBezTo>
                <a:cubicBezTo>
                  <a:pt x="3550096" y="743"/>
                  <a:pt x="3625235" y="-25948"/>
                  <a:pt x="3894239" y="0"/>
                </a:cubicBezTo>
                <a:cubicBezTo>
                  <a:pt x="4163243" y="25948"/>
                  <a:pt x="4239095" y="-21569"/>
                  <a:pt x="4387509" y="0"/>
                </a:cubicBezTo>
                <a:cubicBezTo>
                  <a:pt x="4535923" y="21569"/>
                  <a:pt x="4915891" y="17196"/>
                  <a:pt x="5192318" y="0"/>
                </a:cubicBezTo>
                <a:cubicBezTo>
                  <a:pt x="5207753" y="214313"/>
                  <a:pt x="5209290" y="329538"/>
                  <a:pt x="5192318" y="601924"/>
                </a:cubicBezTo>
                <a:cubicBezTo>
                  <a:pt x="5175346" y="874310"/>
                  <a:pt x="5162118" y="1015221"/>
                  <a:pt x="5192318" y="1233945"/>
                </a:cubicBezTo>
                <a:cubicBezTo>
                  <a:pt x="5222518" y="1452669"/>
                  <a:pt x="5171019" y="1617489"/>
                  <a:pt x="5192318" y="1805773"/>
                </a:cubicBezTo>
                <a:cubicBezTo>
                  <a:pt x="5213617" y="1994057"/>
                  <a:pt x="5217175" y="2143819"/>
                  <a:pt x="5192318" y="2377601"/>
                </a:cubicBezTo>
                <a:cubicBezTo>
                  <a:pt x="5167461" y="2611383"/>
                  <a:pt x="5184237" y="2722827"/>
                  <a:pt x="5192318" y="3009622"/>
                </a:cubicBezTo>
                <a:cubicBezTo>
                  <a:pt x="4905122" y="3023167"/>
                  <a:pt x="4817061" y="3038917"/>
                  <a:pt x="4595201" y="3009622"/>
                </a:cubicBezTo>
                <a:cubicBezTo>
                  <a:pt x="4373341" y="2980327"/>
                  <a:pt x="4086930" y="2979301"/>
                  <a:pt x="3894239" y="3009622"/>
                </a:cubicBezTo>
                <a:cubicBezTo>
                  <a:pt x="3701548" y="3039943"/>
                  <a:pt x="3503546" y="3015594"/>
                  <a:pt x="3141352" y="3009622"/>
                </a:cubicBezTo>
                <a:cubicBezTo>
                  <a:pt x="2779158" y="3003650"/>
                  <a:pt x="2593277" y="3017202"/>
                  <a:pt x="2440389" y="3009622"/>
                </a:cubicBezTo>
                <a:cubicBezTo>
                  <a:pt x="2287501" y="3002042"/>
                  <a:pt x="2021832" y="3033732"/>
                  <a:pt x="1791350" y="3009622"/>
                </a:cubicBezTo>
                <a:cubicBezTo>
                  <a:pt x="1560868" y="2985512"/>
                  <a:pt x="1535150" y="3017974"/>
                  <a:pt x="1298080" y="3009622"/>
                </a:cubicBezTo>
                <a:cubicBezTo>
                  <a:pt x="1061010" y="3001271"/>
                  <a:pt x="828671" y="3042016"/>
                  <a:pt x="649040" y="3009622"/>
                </a:cubicBezTo>
                <a:cubicBezTo>
                  <a:pt x="469409" y="2977228"/>
                  <a:pt x="177503" y="3005175"/>
                  <a:pt x="0" y="3009622"/>
                </a:cubicBezTo>
                <a:cubicBezTo>
                  <a:pt x="-30059" y="2805542"/>
                  <a:pt x="10867" y="2664107"/>
                  <a:pt x="0" y="2347505"/>
                </a:cubicBezTo>
                <a:cubicBezTo>
                  <a:pt x="-10867" y="2030903"/>
                  <a:pt x="-1396" y="1937857"/>
                  <a:pt x="0" y="1805773"/>
                </a:cubicBezTo>
                <a:cubicBezTo>
                  <a:pt x="1396" y="1673689"/>
                  <a:pt x="18165" y="1466287"/>
                  <a:pt x="0" y="1173753"/>
                </a:cubicBezTo>
                <a:cubicBezTo>
                  <a:pt x="-18165" y="881219"/>
                  <a:pt x="-5722" y="350702"/>
                  <a:pt x="0" y="0"/>
                </a:cubicBezTo>
                <a:close/>
              </a:path>
            </a:pathLst>
          </a:custGeom>
          <a:solidFill>
            <a:schemeClr val="bg1">
              <a:lumMod val="95000"/>
            </a:schemeClr>
          </a:solidFill>
          <a:ln>
            <a:solidFill>
              <a:schemeClr val="tx1">
                <a:lumMod val="50000"/>
                <a:lumOff val="50000"/>
              </a:schemeClr>
            </a:solidFill>
            <a:prstDash val="dash"/>
            <a:extLst>
              <a:ext uri="{C807C97D-BFC1-408E-A445-0C87EB9F89A2}">
                <ask:lineSketchStyleProps xmlns:ask="http://schemas.microsoft.com/office/drawing/2018/sketchyshapes" sd="98176570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nl-NL" dirty="0">
                <a:solidFill>
                  <a:schemeClr val="accent2"/>
                </a:solidFill>
              </a:rPr>
              <a:t>LGM – logische laag – MIM-2</a:t>
            </a:r>
          </a:p>
        </p:txBody>
      </p:sp>
      <p:sp>
        <p:nvSpPr>
          <p:cNvPr id="53" name="Rechthoek 52">
            <a:extLst>
              <a:ext uri="{FF2B5EF4-FFF2-40B4-BE49-F238E27FC236}">
                <a16:creationId xmlns:a16="http://schemas.microsoft.com/office/drawing/2014/main" id="{C32FA49C-BE74-CDD8-AE62-31F52425A807}"/>
              </a:ext>
            </a:extLst>
          </p:cNvPr>
          <p:cNvSpPr/>
          <p:nvPr/>
        </p:nvSpPr>
        <p:spPr>
          <a:xfrm>
            <a:off x="6801758" y="599285"/>
            <a:ext cx="5192319" cy="2913590"/>
          </a:xfrm>
          <a:custGeom>
            <a:avLst/>
            <a:gdLst>
              <a:gd name="csX0" fmla="*/ 0 w 5192319"/>
              <a:gd name="csY0" fmla="*/ 0 h 2913590"/>
              <a:gd name="csX1" fmla="*/ 700963 w 5192319"/>
              <a:gd name="csY1" fmla="*/ 0 h 2913590"/>
              <a:gd name="csX2" fmla="*/ 1194233 w 5192319"/>
              <a:gd name="csY2" fmla="*/ 0 h 2913590"/>
              <a:gd name="csX3" fmla="*/ 1791350 w 5192319"/>
              <a:gd name="csY3" fmla="*/ 0 h 2913590"/>
              <a:gd name="csX4" fmla="*/ 2544236 w 5192319"/>
              <a:gd name="csY4" fmla="*/ 0 h 2913590"/>
              <a:gd name="csX5" fmla="*/ 3193276 w 5192319"/>
              <a:gd name="csY5" fmla="*/ 0 h 2913590"/>
              <a:gd name="csX6" fmla="*/ 3894239 w 5192319"/>
              <a:gd name="csY6" fmla="*/ 0 h 2913590"/>
              <a:gd name="csX7" fmla="*/ 4491356 w 5192319"/>
              <a:gd name="csY7" fmla="*/ 0 h 2913590"/>
              <a:gd name="csX8" fmla="*/ 5192319 w 5192319"/>
              <a:gd name="csY8" fmla="*/ 0 h 2913590"/>
              <a:gd name="csX9" fmla="*/ 5192319 w 5192319"/>
              <a:gd name="csY9" fmla="*/ 640990 h 2913590"/>
              <a:gd name="csX10" fmla="*/ 5192319 w 5192319"/>
              <a:gd name="csY10" fmla="*/ 1165436 h 2913590"/>
              <a:gd name="csX11" fmla="*/ 5192319 w 5192319"/>
              <a:gd name="csY11" fmla="*/ 1660746 h 2913590"/>
              <a:gd name="csX12" fmla="*/ 5192319 w 5192319"/>
              <a:gd name="csY12" fmla="*/ 2185193 h 2913590"/>
              <a:gd name="csX13" fmla="*/ 5192319 w 5192319"/>
              <a:gd name="csY13" fmla="*/ 2913590 h 2913590"/>
              <a:gd name="csX14" fmla="*/ 4543279 w 5192319"/>
              <a:gd name="csY14" fmla="*/ 2913590 h 2913590"/>
              <a:gd name="csX15" fmla="*/ 3894239 w 5192319"/>
              <a:gd name="csY15" fmla="*/ 2913590 h 2913590"/>
              <a:gd name="csX16" fmla="*/ 3349046 w 5192319"/>
              <a:gd name="csY16" fmla="*/ 2913590 h 2913590"/>
              <a:gd name="csX17" fmla="*/ 2700006 w 5192319"/>
              <a:gd name="csY17" fmla="*/ 2913590 h 2913590"/>
              <a:gd name="csX18" fmla="*/ 2050966 w 5192319"/>
              <a:gd name="csY18" fmla="*/ 2913590 h 2913590"/>
              <a:gd name="csX19" fmla="*/ 1401926 w 5192319"/>
              <a:gd name="csY19" fmla="*/ 2913590 h 2913590"/>
              <a:gd name="csX20" fmla="*/ 752886 w 5192319"/>
              <a:gd name="csY20" fmla="*/ 2913590 h 2913590"/>
              <a:gd name="csX21" fmla="*/ 0 w 5192319"/>
              <a:gd name="csY21" fmla="*/ 2913590 h 2913590"/>
              <a:gd name="csX22" fmla="*/ 0 w 5192319"/>
              <a:gd name="csY22" fmla="*/ 2301736 h 2913590"/>
              <a:gd name="csX23" fmla="*/ 0 w 5192319"/>
              <a:gd name="csY23" fmla="*/ 1689882 h 2913590"/>
              <a:gd name="csX24" fmla="*/ 0 w 5192319"/>
              <a:gd name="csY24" fmla="*/ 1078028 h 2913590"/>
              <a:gd name="csX25" fmla="*/ 0 w 5192319"/>
              <a:gd name="csY25" fmla="*/ 0 h 2913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192319" h="2913590" fill="none" extrusionOk="0">
                <a:moveTo>
                  <a:pt x="0" y="0"/>
                </a:moveTo>
                <a:cubicBezTo>
                  <a:pt x="308276" y="-4214"/>
                  <a:pt x="393208" y="7405"/>
                  <a:pt x="700963" y="0"/>
                </a:cubicBezTo>
                <a:cubicBezTo>
                  <a:pt x="1008718" y="-7405"/>
                  <a:pt x="1069119" y="16367"/>
                  <a:pt x="1194233" y="0"/>
                </a:cubicBezTo>
                <a:cubicBezTo>
                  <a:pt x="1319347" y="-16367"/>
                  <a:pt x="1600745" y="-1273"/>
                  <a:pt x="1791350" y="0"/>
                </a:cubicBezTo>
                <a:cubicBezTo>
                  <a:pt x="1981955" y="1273"/>
                  <a:pt x="2202849" y="3144"/>
                  <a:pt x="2544236" y="0"/>
                </a:cubicBezTo>
                <a:cubicBezTo>
                  <a:pt x="2885623" y="-3144"/>
                  <a:pt x="2906166" y="-7256"/>
                  <a:pt x="3193276" y="0"/>
                </a:cubicBezTo>
                <a:cubicBezTo>
                  <a:pt x="3480386" y="7256"/>
                  <a:pt x="3648412" y="485"/>
                  <a:pt x="3894239" y="0"/>
                </a:cubicBezTo>
                <a:cubicBezTo>
                  <a:pt x="4140066" y="-485"/>
                  <a:pt x="4336654" y="27023"/>
                  <a:pt x="4491356" y="0"/>
                </a:cubicBezTo>
                <a:cubicBezTo>
                  <a:pt x="4646058" y="-27023"/>
                  <a:pt x="5040657" y="-14719"/>
                  <a:pt x="5192319" y="0"/>
                </a:cubicBezTo>
                <a:cubicBezTo>
                  <a:pt x="5188871" y="283114"/>
                  <a:pt x="5177569" y="490050"/>
                  <a:pt x="5192319" y="640990"/>
                </a:cubicBezTo>
                <a:cubicBezTo>
                  <a:pt x="5207070" y="791930"/>
                  <a:pt x="5199723" y="963583"/>
                  <a:pt x="5192319" y="1165436"/>
                </a:cubicBezTo>
                <a:cubicBezTo>
                  <a:pt x="5184915" y="1367289"/>
                  <a:pt x="5212726" y="1492850"/>
                  <a:pt x="5192319" y="1660746"/>
                </a:cubicBezTo>
                <a:cubicBezTo>
                  <a:pt x="5171913" y="1828642"/>
                  <a:pt x="5194512" y="2066656"/>
                  <a:pt x="5192319" y="2185193"/>
                </a:cubicBezTo>
                <a:cubicBezTo>
                  <a:pt x="5190126" y="2303730"/>
                  <a:pt x="5213211" y="2702975"/>
                  <a:pt x="5192319" y="2913590"/>
                </a:cubicBezTo>
                <a:cubicBezTo>
                  <a:pt x="4931590" y="2924922"/>
                  <a:pt x="4764338" y="2918646"/>
                  <a:pt x="4543279" y="2913590"/>
                </a:cubicBezTo>
                <a:cubicBezTo>
                  <a:pt x="4322220" y="2908534"/>
                  <a:pt x="4206008" y="2926307"/>
                  <a:pt x="3894239" y="2913590"/>
                </a:cubicBezTo>
                <a:cubicBezTo>
                  <a:pt x="3582470" y="2900873"/>
                  <a:pt x="3542500" y="2920246"/>
                  <a:pt x="3349046" y="2913590"/>
                </a:cubicBezTo>
                <a:cubicBezTo>
                  <a:pt x="3155592" y="2906934"/>
                  <a:pt x="2885062" y="2886838"/>
                  <a:pt x="2700006" y="2913590"/>
                </a:cubicBezTo>
                <a:cubicBezTo>
                  <a:pt x="2514950" y="2940342"/>
                  <a:pt x="2328459" y="2921453"/>
                  <a:pt x="2050966" y="2913590"/>
                </a:cubicBezTo>
                <a:cubicBezTo>
                  <a:pt x="1773473" y="2905727"/>
                  <a:pt x="1532103" y="2882143"/>
                  <a:pt x="1401926" y="2913590"/>
                </a:cubicBezTo>
                <a:cubicBezTo>
                  <a:pt x="1271749" y="2945037"/>
                  <a:pt x="1007250" y="2893584"/>
                  <a:pt x="752886" y="2913590"/>
                </a:cubicBezTo>
                <a:cubicBezTo>
                  <a:pt x="498522" y="2933596"/>
                  <a:pt x="306452" y="2945627"/>
                  <a:pt x="0" y="2913590"/>
                </a:cubicBezTo>
                <a:cubicBezTo>
                  <a:pt x="9592" y="2654281"/>
                  <a:pt x="-16261" y="2579956"/>
                  <a:pt x="0" y="2301736"/>
                </a:cubicBezTo>
                <a:cubicBezTo>
                  <a:pt x="16261" y="2023516"/>
                  <a:pt x="24083" y="1829048"/>
                  <a:pt x="0" y="1689882"/>
                </a:cubicBezTo>
                <a:cubicBezTo>
                  <a:pt x="-24083" y="1550716"/>
                  <a:pt x="612" y="1325371"/>
                  <a:pt x="0" y="1078028"/>
                </a:cubicBezTo>
                <a:cubicBezTo>
                  <a:pt x="-612" y="830685"/>
                  <a:pt x="-16257" y="465591"/>
                  <a:pt x="0" y="0"/>
                </a:cubicBezTo>
                <a:close/>
              </a:path>
              <a:path w="5192319" h="2913590" stroke="0" extrusionOk="0">
                <a:moveTo>
                  <a:pt x="0" y="0"/>
                </a:moveTo>
                <a:cubicBezTo>
                  <a:pt x="185132" y="19369"/>
                  <a:pt x="329043" y="-294"/>
                  <a:pt x="597117" y="0"/>
                </a:cubicBezTo>
                <a:cubicBezTo>
                  <a:pt x="865191" y="294"/>
                  <a:pt x="856635" y="-10493"/>
                  <a:pt x="1090387" y="0"/>
                </a:cubicBezTo>
                <a:cubicBezTo>
                  <a:pt x="1324139" y="10493"/>
                  <a:pt x="1482926" y="9225"/>
                  <a:pt x="1843273" y="0"/>
                </a:cubicBezTo>
                <a:cubicBezTo>
                  <a:pt x="2203620" y="-9225"/>
                  <a:pt x="2228127" y="-28437"/>
                  <a:pt x="2440390" y="0"/>
                </a:cubicBezTo>
                <a:cubicBezTo>
                  <a:pt x="2652653" y="28437"/>
                  <a:pt x="2861562" y="2756"/>
                  <a:pt x="3037507" y="0"/>
                </a:cubicBezTo>
                <a:cubicBezTo>
                  <a:pt x="3213452" y="-2756"/>
                  <a:pt x="3498484" y="-4376"/>
                  <a:pt x="3790393" y="0"/>
                </a:cubicBezTo>
                <a:cubicBezTo>
                  <a:pt x="4082302" y="4376"/>
                  <a:pt x="4167078" y="-6520"/>
                  <a:pt x="4335586" y="0"/>
                </a:cubicBezTo>
                <a:cubicBezTo>
                  <a:pt x="4504094" y="6520"/>
                  <a:pt x="4970057" y="-32491"/>
                  <a:pt x="5192319" y="0"/>
                </a:cubicBezTo>
                <a:cubicBezTo>
                  <a:pt x="5193712" y="163125"/>
                  <a:pt x="5211563" y="353840"/>
                  <a:pt x="5192319" y="640990"/>
                </a:cubicBezTo>
                <a:cubicBezTo>
                  <a:pt x="5173076" y="928140"/>
                  <a:pt x="5167690" y="1057103"/>
                  <a:pt x="5192319" y="1165436"/>
                </a:cubicBezTo>
                <a:cubicBezTo>
                  <a:pt x="5216948" y="1273769"/>
                  <a:pt x="5196849" y="1457430"/>
                  <a:pt x="5192319" y="1748154"/>
                </a:cubicBezTo>
                <a:cubicBezTo>
                  <a:pt x="5187789" y="2038878"/>
                  <a:pt x="5207883" y="2231226"/>
                  <a:pt x="5192319" y="2360008"/>
                </a:cubicBezTo>
                <a:cubicBezTo>
                  <a:pt x="5176755" y="2488790"/>
                  <a:pt x="5165992" y="2738389"/>
                  <a:pt x="5192319" y="2913590"/>
                </a:cubicBezTo>
                <a:cubicBezTo>
                  <a:pt x="4933988" y="2928507"/>
                  <a:pt x="4859877" y="2884449"/>
                  <a:pt x="4543279" y="2913590"/>
                </a:cubicBezTo>
                <a:cubicBezTo>
                  <a:pt x="4226681" y="2942731"/>
                  <a:pt x="4140603" y="2907306"/>
                  <a:pt x="3998086" y="2913590"/>
                </a:cubicBezTo>
                <a:cubicBezTo>
                  <a:pt x="3855569" y="2919874"/>
                  <a:pt x="3672370" y="2910087"/>
                  <a:pt x="3349046" y="2913590"/>
                </a:cubicBezTo>
                <a:cubicBezTo>
                  <a:pt x="3025722" y="2917093"/>
                  <a:pt x="2875118" y="2916303"/>
                  <a:pt x="2596160" y="2913590"/>
                </a:cubicBezTo>
                <a:cubicBezTo>
                  <a:pt x="2317202" y="2910877"/>
                  <a:pt x="2213168" y="2915752"/>
                  <a:pt x="1947120" y="2913590"/>
                </a:cubicBezTo>
                <a:cubicBezTo>
                  <a:pt x="1681072" y="2911428"/>
                  <a:pt x="1593131" y="2917154"/>
                  <a:pt x="1453849" y="2913590"/>
                </a:cubicBezTo>
                <a:cubicBezTo>
                  <a:pt x="1314567" y="2910026"/>
                  <a:pt x="1122668" y="2904230"/>
                  <a:pt x="908656" y="2913590"/>
                </a:cubicBezTo>
                <a:cubicBezTo>
                  <a:pt x="694644" y="2922950"/>
                  <a:pt x="220981" y="2878356"/>
                  <a:pt x="0" y="2913590"/>
                </a:cubicBezTo>
                <a:cubicBezTo>
                  <a:pt x="3546" y="2695865"/>
                  <a:pt x="2220" y="2539732"/>
                  <a:pt x="0" y="2330872"/>
                </a:cubicBezTo>
                <a:cubicBezTo>
                  <a:pt x="-2220" y="2122012"/>
                  <a:pt x="25105" y="1919059"/>
                  <a:pt x="0" y="1748154"/>
                </a:cubicBezTo>
                <a:cubicBezTo>
                  <a:pt x="-25105" y="1577249"/>
                  <a:pt x="19349" y="1450810"/>
                  <a:pt x="0" y="1194572"/>
                </a:cubicBezTo>
                <a:cubicBezTo>
                  <a:pt x="-19349" y="938334"/>
                  <a:pt x="19123" y="861571"/>
                  <a:pt x="0" y="699262"/>
                </a:cubicBezTo>
                <a:cubicBezTo>
                  <a:pt x="-19123" y="536953"/>
                  <a:pt x="4260" y="148300"/>
                  <a:pt x="0" y="0"/>
                </a:cubicBezTo>
                <a:close/>
              </a:path>
            </a:pathLst>
          </a:custGeom>
          <a:solidFill>
            <a:schemeClr val="bg1">
              <a:lumMod val="95000"/>
            </a:schemeClr>
          </a:solidFill>
          <a:ln>
            <a:solidFill>
              <a:schemeClr val="tx1">
                <a:lumMod val="50000"/>
                <a:lumOff val="50000"/>
              </a:schemeClr>
            </a:solidFill>
            <a:prstDash val="dash"/>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nl-NL" dirty="0">
                <a:solidFill>
                  <a:srgbClr val="0070C0"/>
                </a:solidFill>
              </a:rPr>
              <a:t>CIM – conceptuele laag, MIM-2</a:t>
            </a:r>
          </a:p>
        </p:txBody>
      </p:sp>
      <p:sp>
        <p:nvSpPr>
          <p:cNvPr id="2" name="Titel 1">
            <a:extLst>
              <a:ext uri="{FF2B5EF4-FFF2-40B4-BE49-F238E27FC236}">
                <a16:creationId xmlns:a16="http://schemas.microsoft.com/office/drawing/2014/main" id="{F15BA441-E424-F33D-4DAD-9A9315466B22}"/>
              </a:ext>
            </a:extLst>
          </p:cNvPr>
          <p:cNvSpPr>
            <a:spLocks noGrp="1"/>
          </p:cNvSpPr>
          <p:nvPr>
            <p:ph type="title"/>
          </p:nvPr>
        </p:nvSpPr>
        <p:spPr>
          <a:xfrm>
            <a:off x="548346" y="298579"/>
            <a:ext cx="6159500" cy="1003307"/>
          </a:xfrm>
        </p:spPr>
        <p:txBody>
          <a:bodyPr>
            <a:normAutofit/>
          </a:bodyPr>
          <a:lstStyle/>
          <a:p>
            <a:r>
              <a:rPr lang="nl-NL" sz="4000" dirty="0"/>
              <a:t>Uitwerking modellering </a:t>
            </a:r>
          </a:p>
        </p:txBody>
      </p:sp>
      <p:sp>
        <p:nvSpPr>
          <p:cNvPr id="12" name="Tijdelijke aanduiding voor inhoud 11">
            <a:extLst>
              <a:ext uri="{FF2B5EF4-FFF2-40B4-BE49-F238E27FC236}">
                <a16:creationId xmlns:a16="http://schemas.microsoft.com/office/drawing/2014/main" id="{664FD52B-C38E-67AE-007D-F6397481A9C3}"/>
              </a:ext>
            </a:extLst>
          </p:cNvPr>
          <p:cNvSpPr>
            <a:spLocks noGrp="1"/>
          </p:cNvSpPr>
          <p:nvPr>
            <p:ph idx="1"/>
          </p:nvPr>
        </p:nvSpPr>
        <p:spPr>
          <a:xfrm>
            <a:off x="510487" y="1190247"/>
            <a:ext cx="5928542" cy="5260256"/>
          </a:xfrm>
        </p:spPr>
        <p:txBody>
          <a:bodyPr>
            <a:noAutofit/>
          </a:bodyPr>
          <a:lstStyle/>
          <a:p>
            <a:pPr marL="0" indent="0">
              <a:buNone/>
            </a:pPr>
            <a:r>
              <a:rPr lang="nl-NL" sz="1400" dirty="0"/>
              <a:t>Na de analyse over </a:t>
            </a:r>
            <a:r>
              <a:rPr lang="nl-NL" sz="1400" dirty="0" err="1"/>
              <a:t>Id’s</a:t>
            </a:r>
            <a:r>
              <a:rPr lang="nl-NL" sz="1400" dirty="0"/>
              <a:t> in de vorige sheets is het tijd om deze zichtbaar te maken in een informatiemodel en in een gegevensmodel. Zoals hier rechts. Merk hierbij op dat modelleurs hier vaak eigen afwegingen maken. </a:t>
            </a:r>
          </a:p>
          <a:p>
            <a:pPr marL="0" indent="0">
              <a:buNone/>
            </a:pPr>
            <a:r>
              <a:rPr lang="nl-NL" sz="1400" u="sng" dirty="0"/>
              <a:t>Conceptueel, MIM-2</a:t>
            </a:r>
          </a:p>
          <a:p>
            <a:pPr marL="0" indent="0">
              <a:buNone/>
            </a:pPr>
            <a:r>
              <a:rPr lang="nl-NL" sz="1400" dirty="0"/>
              <a:t>Een woonplaats met een naam die uniek is binnen een gemeente. </a:t>
            </a:r>
            <a:br>
              <a:rPr lang="nl-NL" sz="1400" dirty="0"/>
            </a:br>
            <a:r>
              <a:rPr lang="nl-NL" sz="1400" dirty="0"/>
              <a:t>Een woonplaats code die uniek is voor alle woonplaatsen in Nederland. </a:t>
            </a:r>
            <a:br>
              <a:rPr lang="nl-NL" sz="1400" dirty="0"/>
            </a:br>
            <a:r>
              <a:rPr lang="nl-NL" sz="1400" dirty="0"/>
              <a:t>Er is hier (nog) niet gekozen om een aparte </a:t>
            </a:r>
            <a:r>
              <a:rPr lang="nl-NL" sz="1400" dirty="0" err="1"/>
              <a:t>Id</a:t>
            </a:r>
            <a:r>
              <a:rPr lang="nl-NL" sz="1400" dirty="0"/>
              <a:t> te maken voor de geometrie. </a:t>
            </a:r>
          </a:p>
          <a:p>
            <a:pPr marL="0" indent="0">
              <a:buNone/>
            </a:pPr>
            <a:r>
              <a:rPr lang="nl-NL" sz="1400" u="sng" dirty="0"/>
              <a:t>Logische gegevens, MIM-3</a:t>
            </a:r>
            <a:r>
              <a:rPr lang="nl-NL" sz="1400" dirty="0"/>
              <a:t> </a:t>
            </a:r>
          </a:p>
          <a:p>
            <a:pPr marL="0" indent="0">
              <a:buNone/>
            </a:pPr>
            <a:r>
              <a:rPr lang="nl-NL" sz="1400" dirty="0"/>
              <a:t>Om een of andere reden is er gekozen om in de logische laag het domein object woonplaats een eigen logische </a:t>
            </a:r>
            <a:r>
              <a:rPr lang="nl-NL" sz="1400" dirty="0" err="1"/>
              <a:t>id</a:t>
            </a:r>
            <a:r>
              <a:rPr lang="nl-NL" sz="1400" dirty="0"/>
              <a:t> te geven, WPL Id. Deze had ook voluit ‘identificatie’ genoemd kunnen worden, zo heet deze bv. in het LGM van de BAG. Er had ook gekozen kunnen worden voor de woonplaatscode, maar er is hier een voorkeur voor een generieke </a:t>
            </a:r>
            <a:r>
              <a:rPr lang="nl-NL" sz="1400" dirty="0" err="1"/>
              <a:t>Id</a:t>
            </a:r>
            <a:r>
              <a:rPr lang="nl-NL" sz="1400" dirty="0"/>
              <a:t> constructie.</a:t>
            </a:r>
          </a:p>
          <a:p>
            <a:pPr marL="0" indent="0">
              <a:buNone/>
            </a:pPr>
            <a:r>
              <a:rPr lang="nl-NL" sz="1400" dirty="0"/>
              <a:t>Verder, om voorkomens/verschijningsvormen van een domeinobject in de tijd te ondersteunen, maakt de administratie gebruikt van versies, met een versienummer (dit kan ook met begin geldigheid, registratiemoment, foutherstel moment en andere extra gegevens, maar daar is hier niet voor gekozen, dit maakt het voorbeeld te druk en is minder generiek).</a:t>
            </a:r>
          </a:p>
          <a:p>
            <a:pPr marL="0" indent="0">
              <a:buNone/>
            </a:pPr>
            <a:r>
              <a:rPr lang="nl-NL" sz="1400" dirty="0"/>
              <a:t>Tot slot, geometrie is niet relevant in dit LGM. </a:t>
            </a:r>
          </a:p>
          <a:p>
            <a:pPr marL="0" indent="0">
              <a:buNone/>
            </a:pPr>
            <a:r>
              <a:rPr lang="nl-NL" sz="1400" dirty="0"/>
              <a:t>Merk op dat ‘WPL </a:t>
            </a:r>
            <a:r>
              <a:rPr lang="nl-NL" sz="1400" dirty="0" err="1"/>
              <a:t>Id</a:t>
            </a:r>
            <a:r>
              <a:rPr lang="nl-NL" sz="1400" dirty="0"/>
              <a:t>’ en ‘versienummer’ vaak beide gemodelleerd worden </a:t>
            </a:r>
            <a:r>
              <a:rPr lang="nl-NL" sz="1400" u="sng" dirty="0"/>
              <a:t>in</a:t>
            </a:r>
            <a:r>
              <a:rPr lang="nl-NL" sz="1400" dirty="0"/>
              <a:t> hetzelfde </a:t>
            </a:r>
            <a:r>
              <a:rPr lang="nl-NL" sz="1400" dirty="0" err="1"/>
              <a:t>gegevensobjecttype</a:t>
            </a:r>
            <a:r>
              <a:rPr lang="nl-NL" sz="1400" dirty="0"/>
              <a:t> (hoeft niet, mag wel). Er zijn modelleurs die dit graag doen, zodat alle </a:t>
            </a:r>
            <a:r>
              <a:rPr lang="nl-NL" sz="1400" dirty="0" err="1"/>
              <a:t>Id’s</a:t>
            </a:r>
            <a:r>
              <a:rPr lang="nl-NL" sz="1400" dirty="0"/>
              <a:t> mooi bij elkaar staan, zoals hier rechts. Er worden dan meerdere </a:t>
            </a:r>
            <a:r>
              <a:rPr lang="nl-NL" sz="1400" dirty="0" err="1"/>
              <a:t>Id’s</a:t>
            </a:r>
            <a:r>
              <a:rPr lang="nl-NL" sz="1400" dirty="0"/>
              <a:t> gemodelleerd in hetzelfde </a:t>
            </a:r>
            <a:r>
              <a:rPr lang="nl-NL" sz="1400" dirty="0" err="1"/>
              <a:t>gegevensobjecttype</a:t>
            </a:r>
            <a:r>
              <a:rPr lang="nl-NL" sz="1400" dirty="0"/>
              <a:t>.</a:t>
            </a:r>
          </a:p>
        </p:txBody>
      </p:sp>
      <p:sp>
        <p:nvSpPr>
          <p:cNvPr id="6" name="Rechthoek 5">
            <a:extLst>
              <a:ext uri="{FF2B5EF4-FFF2-40B4-BE49-F238E27FC236}">
                <a16:creationId xmlns:a16="http://schemas.microsoft.com/office/drawing/2014/main" id="{64C49E1A-E880-E7EA-02C1-84852903FB93}"/>
              </a:ext>
            </a:extLst>
          </p:cNvPr>
          <p:cNvSpPr/>
          <p:nvPr/>
        </p:nvSpPr>
        <p:spPr>
          <a:xfrm>
            <a:off x="7119259" y="1383800"/>
            <a:ext cx="2082800" cy="4572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Woonplaats</a:t>
            </a:r>
          </a:p>
        </p:txBody>
      </p:sp>
      <p:sp>
        <p:nvSpPr>
          <p:cNvPr id="8" name="Rechthoek 7">
            <a:extLst>
              <a:ext uri="{FF2B5EF4-FFF2-40B4-BE49-F238E27FC236}">
                <a16:creationId xmlns:a16="http://schemas.microsoft.com/office/drawing/2014/main" id="{45081DE5-561B-9816-F32F-C81DBA636E2A}"/>
              </a:ext>
            </a:extLst>
          </p:cNvPr>
          <p:cNvSpPr/>
          <p:nvPr/>
        </p:nvSpPr>
        <p:spPr>
          <a:xfrm>
            <a:off x="7119259" y="1926725"/>
            <a:ext cx="2082800" cy="330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naam</a:t>
            </a:r>
          </a:p>
        </p:txBody>
      </p:sp>
      <p:sp>
        <p:nvSpPr>
          <p:cNvPr id="9" name="Rechthoek 8">
            <a:extLst>
              <a:ext uri="{FF2B5EF4-FFF2-40B4-BE49-F238E27FC236}">
                <a16:creationId xmlns:a16="http://schemas.microsoft.com/office/drawing/2014/main" id="{5957D223-44EB-540C-CC39-DA98FC8D896C}"/>
              </a:ext>
            </a:extLst>
          </p:cNvPr>
          <p:cNvSpPr/>
          <p:nvPr/>
        </p:nvSpPr>
        <p:spPr>
          <a:xfrm>
            <a:off x="7119259" y="2295025"/>
            <a:ext cx="2082800" cy="2730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geometrie</a:t>
            </a:r>
          </a:p>
        </p:txBody>
      </p:sp>
      <p:sp>
        <p:nvSpPr>
          <p:cNvPr id="11" name="Rechthoek 10">
            <a:extLst>
              <a:ext uri="{FF2B5EF4-FFF2-40B4-BE49-F238E27FC236}">
                <a16:creationId xmlns:a16="http://schemas.microsoft.com/office/drawing/2014/main" id="{F5938C4A-D816-4840-FDF7-73353D4FBAB6}"/>
              </a:ext>
            </a:extLst>
          </p:cNvPr>
          <p:cNvSpPr/>
          <p:nvPr/>
        </p:nvSpPr>
        <p:spPr>
          <a:xfrm>
            <a:off x="10541909" y="2228350"/>
            <a:ext cx="907731" cy="282286"/>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naam</a:t>
            </a:r>
          </a:p>
        </p:txBody>
      </p:sp>
      <p:sp>
        <p:nvSpPr>
          <p:cNvPr id="13" name="Rechthoek 12">
            <a:extLst>
              <a:ext uri="{FF2B5EF4-FFF2-40B4-BE49-F238E27FC236}">
                <a16:creationId xmlns:a16="http://schemas.microsoft.com/office/drawing/2014/main" id="{EFF815B0-9187-560D-5B12-1209D37CEE76}"/>
              </a:ext>
            </a:extLst>
          </p:cNvPr>
          <p:cNvSpPr/>
          <p:nvPr/>
        </p:nvSpPr>
        <p:spPr>
          <a:xfrm>
            <a:off x="7119259" y="2612525"/>
            <a:ext cx="2082800" cy="273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code</a:t>
            </a:r>
          </a:p>
        </p:txBody>
      </p:sp>
      <p:sp>
        <p:nvSpPr>
          <p:cNvPr id="14" name="Rechthoek 13">
            <a:extLst>
              <a:ext uri="{FF2B5EF4-FFF2-40B4-BE49-F238E27FC236}">
                <a16:creationId xmlns:a16="http://schemas.microsoft.com/office/drawing/2014/main" id="{ED1C93E5-0814-8B03-F1AE-834EEC804DB1}"/>
              </a:ext>
            </a:extLst>
          </p:cNvPr>
          <p:cNvSpPr/>
          <p:nvPr/>
        </p:nvSpPr>
        <p:spPr>
          <a:xfrm>
            <a:off x="10541908" y="1390150"/>
            <a:ext cx="1174749" cy="4572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Gemeente</a:t>
            </a:r>
          </a:p>
        </p:txBody>
      </p:sp>
      <p:sp>
        <p:nvSpPr>
          <p:cNvPr id="15" name="Rechthoek 14">
            <a:extLst>
              <a:ext uri="{FF2B5EF4-FFF2-40B4-BE49-F238E27FC236}">
                <a16:creationId xmlns:a16="http://schemas.microsoft.com/office/drawing/2014/main" id="{E0614BDF-6830-B3F4-404E-817552714A05}"/>
              </a:ext>
            </a:extLst>
          </p:cNvPr>
          <p:cNvSpPr/>
          <p:nvPr/>
        </p:nvSpPr>
        <p:spPr>
          <a:xfrm>
            <a:off x="10541909" y="1885450"/>
            <a:ext cx="907731" cy="294569"/>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code</a:t>
            </a:r>
          </a:p>
        </p:txBody>
      </p:sp>
      <p:cxnSp>
        <p:nvCxnSpPr>
          <p:cNvPr id="18" name="Rechte verbindingslijn met pijl 17">
            <a:extLst>
              <a:ext uri="{FF2B5EF4-FFF2-40B4-BE49-F238E27FC236}">
                <a16:creationId xmlns:a16="http://schemas.microsoft.com/office/drawing/2014/main" id="{9249EC10-21D0-38CE-83C1-5F8184B971A8}"/>
              </a:ext>
            </a:extLst>
          </p:cNvPr>
          <p:cNvCxnSpPr>
            <a:cxnSpLocks/>
            <a:stCxn id="6" idx="3"/>
            <a:endCxn id="14" idx="1"/>
          </p:cNvCxnSpPr>
          <p:nvPr/>
        </p:nvCxnSpPr>
        <p:spPr>
          <a:xfrm>
            <a:off x="9202059" y="1612400"/>
            <a:ext cx="1339849" cy="6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hthoek 21">
            <a:extLst>
              <a:ext uri="{FF2B5EF4-FFF2-40B4-BE49-F238E27FC236}">
                <a16:creationId xmlns:a16="http://schemas.microsoft.com/office/drawing/2014/main" id="{35A54B46-D48D-EB40-A089-E1800311B4E4}"/>
              </a:ext>
            </a:extLst>
          </p:cNvPr>
          <p:cNvSpPr/>
          <p:nvPr/>
        </p:nvSpPr>
        <p:spPr>
          <a:xfrm>
            <a:off x="9294134" y="1266325"/>
            <a:ext cx="1174750" cy="30480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solidFill>
                  <a:schemeClr val="accent1"/>
                </a:solidFill>
              </a:rPr>
              <a:t>ligt in</a:t>
            </a:r>
          </a:p>
        </p:txBody>
      </p:sp>
      <p:sp>
        <p:nvSpPr>
          <p:cNvPr id="23" name="Rechthoek 22">
            <a:extLst>
              <a:ext uri="{FF2B5EF4-FFF2-40B4-BE49-F238E27FC236}">
                <a16:creationId xmlns:a16="http://schemas.microsoft.com/office/drawing/2014/main" id="{CB2E96F9-742E-CC08-B618-017B377B2D8F}"/>
              </a:ext>
            </a:extLst>
          </p:cNvPr>
          <p:cNvSpPr/>
          <p:nvPr/>
        </p:nvSpPr>
        <p:spPr>
          <a:xfrm>
            <a:off x="7119259" y="4118765"/>
            <a:ext cx="2082800" cy="4572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Woonplaats</a:t>
            </a:r>
          </a:p>
        </p:txBody>
      </p:sp>
      <p:sp>
        <p:nvSpPr>
          <p:cNvPr id="28" name="Rechthoek 27">
            <a:extLst>
              <a:ext uri="{FF2B5EF4-FFF2-40B4-BE49-F238E27FC236}">
                <a16:creationId xmlns:a16="http://schemas.microsoft.com/office/drawing/2014/main" id="{B33E8363-87F0-8248-B251-23A5F0509ECE}"/>
              </a:ext>
            </a:extLst>
          </p:cNvPr>
          <p:cNvSpPr/>
          <p:nvPr/>
        </p:nvSpPr>
        <p:spPr>
          <a:xfrm>
            <a:off x="7119259" y="5168244"/>
            <a:ext cx="2082800" cy="215900"/>
          </a:xfrm>
          <a:prstGeom prst="rect">
            <a:avLst/>
          </a:prstGeom>
          <a:pattFill prst="wdDnDiag">
            <a:fgClr>
              <a:schemeClr val="accent2">
                <a:lumMod val="40000"/>
                <a:lumOff val="6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naam</a:t>
            </a:r>
          </a:p>
        </p:txBody>
      </p:sp>
      <p:sp>
        <p:nvSpPr>
          <p:cNvPr id="34" name="Rechthoek 33">
            <a:extLst>
              <a:ext uri="{FF2B5EF4-FFF2-40B4-BE49-F238E27FC236}">
                <a16:creationId xmlns:a16="http://schemas.microsoft.com/office/drawing/2014/main" id="{589D4B4B-43B4-3008-B8D6-593A274B9194}"/>
              </a:ext>
            </a:extLst>
          </p:cNvPr>
          <p:cNvSpPr/>
          <p:nvPr/>
        </p:nvSpPr>
        <p:spPr>
          <a:xfrm>
            <a:off x="7119259" y="4620415"/>
            <a:ext cx="2082800" cy="215900"/>
          </a:xfrm>
          <a:prstGeom prst="rect">
            <a:avLst/>
          </a:prstGeom>
          <a:pattFill prst="dkVert">
            <a:fgClr>
              <a:schemeClr val="accent2">
                <a:lumMod val="40000"/>
                <a:lumOff val="6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WPL </a:t>
            </a:r>
            <a:r>
              <a:rPr lang="nl-NL" sz="1600" dirty="0" err="1">
                <a:solidFill>
                  <a:schemeClr val="tx1"/>
                </a:solidFill>
              </a:rPr>
              <a:t>Id</a:t>
            </a:r>
            <a:endParaRPr lang="nl-NL" sz="1600" dirty="0">
              <a:solidFill>
                <a:schemeClr val="tx1"/>
              </a:solidFill>
            </a:endParaRPr>
          </a:p>
        </p:txBody>
      </p:sp>
      <p:sp>
        <p:nvSpPr>
          <p:cNvPr id="37" name="Rechthoek 36">
            <a:extLst>
              <a:ext uri="{FF2B5EF4-FFF2-40B4-BE49-F238E27FC236}">
                <a16:creationId xmlns:a16="http://schemas.microsoft.com/office/drawing/2014/main" id="{C86E378D-879C-2CEA-44BE-D0BF520C0843}"/>
              </a:ext>
            </a:extLst>
          </p:cNvPr>
          <p:cNvSpPr/>
          <p:nvPr/>
        </p:nvSpPr>
        <p:spPr>
          <a:xfrm>
            <a:off x="7119259" y="4899815"/>
            <a:ext cx="2082800" cy="215900"/>
          </a:xfrm>
          <a:prstGeom prst="rect">
            <a:avLst/>
          </a:prstGeom>
          <a:pattFill prst="pct20">
            <a:fgClr>
              <a:schemeClr val="accent2">
                <a:lumMod val="40000"/>
                <a:lumOff val="6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versienummer </a:t>
            </a:r>
          </a:p>
        </p:txBody>
      </p:sp>
      <p:sp>
        <p:nvSpPr>
          <p:cNvPr id="38" name="Rechteraccolade 37">
            <a:extLst>
              <a:ext uri="{FF2B5EF4-FFF2-40B4-BE49-F238E27FC236}">
                <a16:creationId xmlns:a16="http://schemas.microsoft.com/office/drawing/2014/main" id="{2704D6C0-D037-6AA4-4435-8FA73DF9D7A6}"/>
              </a:ext>
            </a:extLst>
          </p:cNvPr>
          <p:cNvSpPr/>
          <p:nvPr/>
        </p:nvSpPr>
        <p:spPr>
          <a:xfrm rot="4186911">
            <a:off x="9811671" y="1416665"/>
            <a:ext cx="159175" cy="132376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sz="1600"/>
          </a:p>
        </p:txBody>
      </p:sp>
      <p:sp>
        <p:nvSpPr>
          <p:cNvPr id="39" name="Rechteraccolade 38">
            <a:extLst>
              <a:ext uri="{FF2B5EF4-FFF2-40B4-BE49-F238E27FC236}">
                <a16:creationId xmlns:a16="http://schemas.microsoft.com/office/drawing/2014/main" id="{C1A0A8CF-4C07-634B-E76C-407D69A040F0}"/>
              </a:ext>
            </a:extLst>
          </p:cNvPr>
          <p:cNvSpPr/>
          <p:nvPr/>
        </p:nvSpPr>
        <p:spPr>
          <a:xfrm>
            <a:off x="9285512" y="2631552"/>
            <a:ext cx="199458" cy="25124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sz="1600"/>
          </a:p>
        </p:txBody>
      </p:sp>
      <p:sp>
        <p:nvSpPr>
          <p:cNvPr id="40" name="Tekstvak 39">
            <a:extLst>
              <a:ext uri="{FF2B5EF4-FFF2-40B4-BE49-F238E27FC236}">
                <a16:creationId xmlns:a16="http://schemas.microsoft.com/office/drawing/2014/main" id="{D912FC72-45B3-6DEB-71D8-CE137BFCCB73}"/>
              </a:ext>
            </a:extLst>
          </p:cNvPr>
          <p:cNvSpPr txBox="1"/>
          <p:nvPr/>
        </p:nvSpPr>
        <p:spPr>
          <a:xfrm>
            <a:off x="9912321" y="2033979"/>
            <a:ext cx="556563" cy="369332"/>
          </a:xfrm>
          <a:prstGeom prst="rect">
            <a:avLst/>
          </a:prstGeom>
          <a:noFill/>
        </p:spPr>
        <p:txBody>
          <a:bodyPr wrap="none" rtlCol="0">
            <a:spAutoFit/>
          </a:bodyPr>
          <a:lstStyle/>
          <a:p>
            <a:r>
              <a:rPr lang="nl-NL" dirty="0" err="1">
                <a:solidFill>
                  <a:srgbClr val="0070C0"/>
                </a:solidFill>
              </a:rPr>
              <a:t>Id</a:t>
            </a:r>
            <a:r>
              <a:rPr lang="nl-NL" dirty="0">
                <a:solidFill>
                  <a:srgbClr val="0070C0"/>
                </a:solidFill>
              </a:rPr>
              <a:t> A</a:t>
            </a:r>
          </a:p>
        </p:txBody>
      </p:sp>
      <p:sp>
        <p:nvSpPr>
          <p:cNvPr id="41" name="Tekstvak 40">
            <a:extLst>
              <a:ext uri="{FF2B5EF4-FFF2-40B4-BE49-F238E27FC236}">
                <a16:creationId xmlns:a16="http://schemas.microsoft.com/office/drawing/2014/main" id="{67425E59-49CC-3412-09C3-CBA5C4DEF836}"/>
              </a:ext>
            </a:extLst>
          </p:cNvPr>
          <p:cNvSpPr txBox="1"/>
          <p:nvPr/>
        </p:nvSpPr>
        <p:spPr>
          <a:xfrm>
            <a:off x="9474132" y="2583294"/>
            <a:ext cx="559769" cy="369332"/>
          </a:xfrm>
          <a:prstGeom prst="rect">
            <a:avLst/>
          </a:prstGeom>
          <a:noFill/>
        </p:spPr>
        <p:txBody>
          <a:bodyPr wrap="none" rtlCol="0">
            <a:spAutoFit/>
          </a:bodyPr>
          <a:lstStyle/>
          <a:p>
            <a:r>
              <a:rPr lang="nl-NL" dirty="0" err="1">
                <a:solidFill>
                  <a:srgbClr val="0070C0"/>
                </a:solidFill>
              </a:rPr>
              <a:t>Id</a:t>
            </a:r>
            <a:r>
              <a:rPr lang="nl-NL" dirty="0">
                <a:solidFill>
                  <a:srgbClr val="0070C0"/>
                </a:solidFill>
              </a:rPr>
              <a:t> B</a:t>
            </a:r>
          </a:p>
        </p:txBody>
      </p:sp>
      <p:sp>
        <p:nvSpPr>
          <p:cNvPr id="42" name="Tekstvak 41">
            <a:extLst>
              <a:ext uri="{FF2B5EF4-FFF2-40B4-BE49-F238E27FC236}">
                <a16:creationId xmlns:a16="http://schemas.microsoft.com/office/drawing/2014/main" id="{94B980C5-F21B-7DFD-5315-E116DD7D1903}"/>
              </a:ext>
            </a:extLst>
          </p:cNvPr>
          <p:cNvSpPr txBox="1"/>
          <p:nvPr/>
        </p:nvSpPr>
        <p:spPr>
          <a:xfrm>
            <a:off x="11413426" y="1886005"/>
            <a:ext cx="503664" cy="338554"/>
          </a:xfrm>
          <a:prstGeom prst="rect">
            <a:avLst/>
          </a:prstGeom>
          <a:noFill/>
        </p:spPr>
        <p:txBody>
          <a:bodyPr wrap="none" rtlCol="0">
            <a:spAutoFit/>
          </a:bodyPr>
          <a:lstStyle/>
          <a:p>
            <a:r>
              <a:rPr lang="nl-NL" sz="1600" dirty="0" err="1">
                <a:solidFill>
                  <a:schemeClr val="accent5"/>
                </a:solidFill>
              </a:rPr>
              <a:t>Id</a:t>
            </a:r>
            <a:r>
              <a:rPr lang="nl-NL" sz="1600" dirty="0">
                <a:solidFill>
                  <a:schemeClr val="accent5"/>
                </a:solidFill>
              </a:rPr>
              <a:t> 0</a:t>
            </a:r>
          </a:p>
        </p:txBody>
      </p:sp>
      <p:sp>
        <p:nvSpPr>
          <p:cNvPr id="45" name="Rechteraccolade 44">
            <a:extLst>
              <a:ext uri="{FF2B5EF4-FFF2-40B4-BE49-F238E27FC236}">
                <a16:creationId xmlns:a16="http://schemas.microsoft.com/office/drawing/2014/main" id="{DA34D2E8-1E1E-28A3-1A40-CAFCA3773CB9}"/>
              </a:ext>
            </a:extLst>
          </p:cNvPr>
          <p:cNvSpPr/>
          <p:nvPr/>
        </p:nvSpPr>
        <p:spPr>
          <a:xfrm>
            <a:off x="9318927" y="4597410"/>
            <a:ext cx="159175" cy="261909"/>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sp>
        <p:nvSpPr>
          <p:cNvPr id="47" name="Rechteraccolade 46">
            <a:extLst>
              <a:ext uri="{FF2B5EF4-FFF2-40B4-BE49-F238E27FC236}">
                <a16:creationId xmlns:a16="http://schemas.microsoft.com/office/drawing/2014/main" id="{D7F4C38D-20B2-9967-479E-B8F0C98989C8}"/>
              </a:ext>
            </a:extLst>
          </p:cNvPr>
          <p:cNvSpPr/>
          <p:nvPr/>
        </p:nvSpPr>
        <p:spPr>
          <a:xfrm>
            <a:off x="11035826" y="4619087"/>
            <a:ext cx="159175" cy="563304"/>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sp>
        <p:nvSpPr>
          <p:cNvPr id="48" name="Tekstvak 47">
            <a:extLst>
              <a:ext uri="{FF2B5EF4-FFF2-40B4-BE49-F238E27FC236}">
                <a16:creationId xmlns:a16="http://schemas.microsoft.com/office/drawing/2014/main" id="{13AD3227-5524-4837-43A2-4268F02C0D84}"/>
              </a:ext>
            </a:extLst>
          </p:cNvPr>
          <p:cNvSpPr txBox="1"/>
          <p:nvPr/>
        </p:nvSpPr>
        <p:spPr>
          <a:xfrm>
            <a:off x="9385241" y="4533362"/>
            <a:ext cx="820109" cy="369332"/>
          </a:xfrm>
          <a:prstGeom prst="rect">
            <a:avLst/>
          </a:prstGeom>
          <a:noFill/>
        </p:spPr>
        <p:txBody>
          <a:bodyPr wrap="square" rtlCol="0">
            <a:spAutoFit/>
          </a:bodyPr>
          <a:lstStyle/>
          <a:p>
            <a:pPr algn="ctr"/>
            <a:r>
              <a:rPr lang="nl-NL" dirty="0" err="1">
                <a:solidFill>
                  <a:schemeClr val="accent2"/>
                </a:solidFill>
              </a:rPr>
              <a:t>id</a:t>
            </a:r>
            <a:r>
              <a:rPr lang="nl-NL" dirty="0">
                <a:solidFill>
                  <a:schemeClr val="accent2"/>
                </a:solidFill>
              </a:rPr>
              <a:t> 1</a:t>
            </a:r>
          </a:p>
        </p:txBody>
      </p:sp>
      <p:sp>
        <p:nvSpPr>
          <p:cNvPr id="49" name="Tekstvak 48">
            <a:extLst>
              <a:ext uri="{FF2B5EF4-FFF2-40B4-BE49-F238E27FC236}">
                <a16:creationId xmlns:a16="http://schemas.microsoft.com/office/drawing/2014/main" id="{4DE61935-97F3-1625-9C0E-73A1D13F1077}"/>
              </a:ext>
            </a:extLst>
          </p:cNvPr>
          <p:cNvSpPr txBox="1"/>
          <p:nvPr/>
        </p:nvSpPr>
        <p:spPr>
          <a:xfrm>
            <a:off x="11256233" y="4700133"/>
            <a:ext cx="538929" cy="369332"/>
          </a:xfrm>
          <a:prstGeom prst="rect">
            <a:avLst/>
          </a:prstGeom>
          <a:noFill/>
        </p:spPr>
        <p:txBody>
          <a:bodyPr wrap="none" rtlCol="0">
            <a:spAutoFit/>
          </a:bodyPr>
          <a:lstStyle/>
          <a:p>
            <a:pPr algn="ctr"/>
            <a:r>
              <a:rPr lang="nl-NL" dirty="0" err="1">
                <a:solidFill>
                  <a:schemeClr val="accent2"/>
                </a:solidFill>
              </a:rPr>
              <a:t>id</a:t>
            </a:r>
            <a:r>
              <a:rPr lang="nl-NL" dirty="0">
                <a:solidFill>
                  <a:schemeClr val="accent2"/>
                </a:solidFill>
              </a:rPr>
              <a:t> 3</a:t>
            </a:r>
          </a:p>
        </p:txBody>
      </p:sp>
      <p:sp>
        <p:nvSpPr>
          <p:cNvPr id="51" name="Rechteraccolade 50">
            <a:extLst>
              <a:ext uri="{FF2B5EF4-FFF2-40B4-BE49-F238E27FC236}">
                <a16:creationId xmlns:a16="http://schemas.microsoft.com/office/drawing/2014/main" id="{63D37670-1BEB-01D1-1DEA-74804017960F}"/>
              </a:ext>
            </a:extLst>
          </p:cNvPr>
          <p:cNvSpPr/>
          <p:nvPr/>
        </p:nvSpPr>
        <p:spPr>
          <a:xfrm>
            <a:off x="9269635" y="5736897"/>
            <a:ext cx="159175" cy="261909"/>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sp>
        <p:nvSpPr>
          <p:cNvPr id="52" name="Tekstvak 51">
            <a:extLst>
              <a:ext uri="{FF2B5EF4-FFF2-40B4-BE49-F238E27FC236}">
                <a16:creationId xmlns:a16="http://schemas.microsoft.com/office/drawing/2014/main" id="{F7B1C898-3565-1E75-586F-29C74AEB2621}"/>
              </a:ext>
            </a:extLst>
          </p:cNvPr>
          <p:cNvSpPr txBox="1"/>
          <p:nvPr/>
        </p:nvSpPr>
        <p:spPr>
          <a:xfrm>
            <a:off x="9428809" y="5660568"/>
            <a:ext cx="687733" cy="369332"/>
          </a:xfrm>
          <a:prstGeom prst="rect">
            <a:avLst/>
          </a:prstGeom>
          <a:noFill/>
        </p:spPr>
        <p:txBody>
          <a:bodyPr wrap="square" rtlCol="0">
            <a:spAutoFit/>
          </a:bodyPr>
          <a:lstStyle/>
          <a:p>
            <a:r>
              <a:rPr lang="nl-NL" dirty="0" err="1">
                <a:solidFill>
                  <a:schemeClr val="accent2"/>
                </a:solidFill>
              </a:rPr>
              <a:t>id</a:t>
            </a:r>
            <a:r>
              <a:rPr lang="nl-NL" dirty="0">
                <a:solidFill>
                  <a:schemeClr val="accent2"/>
                </a:solidFill>
              </a:rPr>
              <a:t> 2b</a:t>
            </a:r>
            <a:endParaRPr lang="nl-NL" dirty="0">
              <a:solidFill>
                <a:schemeClr val="accent3">
                  <a:lumMod val="60000"/>
                  <a:lumOff val="40000"/>
                </a:schemeClr>
              </a:solidFill>
            </a:endParaRPr>
          </a:p>
        </p:txBody>
      </p:sp>
      <p:cxnSp>
        <p:nvCxnSpPr>
          <p:cNvPr id="60" name="Rechte verbindingslijn met pijl 59">
            <a:extLst>
              <a:ext uri="{FF2B5EF4-FFF2-40B4-BE49-F238E27FC236}">
                <a16:creationId xmlns:a16="http://schemas.microsoft.com/office/drawing/2014/main" id="{731797A9-7629-4E70-7C9A-8A5BBA5A5EDF}"/>
              </a:ext>
            </a:extLst>
          </p:cNvPr>
          <p:cNvCxnSpPr>
            <a:cxnSpLocks/>
            <a:endCxn id="6" idx="1"/>
          </p:cNvCxnSpPr>
          <p:nvPr/>
        </p:nvCxnSpPr>
        <p:spPr>
          <a:xfrm flipV="1">
            <a:off x="6622211" y="1612400"/>
            <a:ext cx="497048" cy="6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Rechte verbindingslijn 64">
            <a:extLst>
              <a:ext uri="{FF2B5EF4-FFF2-40B4-BE49-F238E27FC236}">
                <a16:creationId xmlns:a16="http://schemas.microsoft.com/office/drawing/2014/main" id="{A6D8386F-1510-08BC-B5C2-43C49D12341E}"/>
              </a:ext>
            </a:extLst>
          </p:cNvPr>
          <p:cNvCxnSpPr/>
          <p:nvPr/>
        </p:nvCxnSpPr>
        <p:spPr>
          <a:xfrm>
            <a:off x="6613933" y="1618750"/>
            <a:ext cx="0" cy="272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Rechte verbindingslijn 65">
            <a:extLst>
              <a:ext uri="{FF2B5EF4-FFF2-40B4-BE49-F238E27FC236}">
                <a16:creationId xmlns:a16="http://schemas.microsoft.com/office/drawing/2014/main" id="{90B880E5-A7FB-AFA5-C31C-44FC8128BE4E}"/>
              </a:ext>
            </a:extLst>
          </p:cNvPr>
          <p:cNvCxnSpPr>
            <a:cxnSpLocks/>
            <a:endCxn id="23" idx="1"/>
          </p:cNvCxnSpPr>
          <p:nvPr/>
        </p:nvCxnSpPr>
        <p:spPr>
          <a:xfrm>
            <a:off x="6605656" y="4347365"/>
            <a:ext cx="513603" cy="0"/>
          </a:xfrm>
          <a:prstGeom prst="line">
            <a:avLst/>
          </a:prstGeom>
        </p:spPr>
        <p:style>
          <a:lnRef idx="2">
            <a:schemeClr val="accent1"/>
          </a:lnRef>
          <a:fillRef idx="0">
            <a:schemeClr val="accent1"/>
          </a:fillRef>
          <a:effectRef idx="1">
            <a:schemeClr val="accent1"/>
          </a:effectRef>
          <a:fontRef idx="minor">
            <a:schemeClr val="tx1"/>
          </a:fontRef>
        </p:style>
      </p:cxnSp>
      <p:sp>
        <p:nvSpPr>
          <p:cNvPr id="70" name="Tekstvak 69">
            <a:extLst>
              <a:ext uri="{FF2B5EF4-FFF2-40B4-BE49-F238E27FC236}">
                <a16:creationId xmlns:a16="http://schemas.microsoft.com/office/drawing/2014/main" id="{5F6C8D08-D8DF-2D65-188E-F2C14CE48950}"/>
              </a:ext>
            </a:extLst>
          </p:cNvPr>
          <p:cNvSpPr txBox="1"/>
          <p:nvPr/>
        </p:nvSpPr>
        <p:spPr>
          <a:xfrm rot="16200000">
            <a:off x="5529351" y="3973090"/>
            <a:ext cx="1829340" cy="369332"/>
          </a:xfrm>
          <a:prstGeom prst="rect">
            <a:avLst/>
          </a:prstGeom>
          <a:noFill/>
        </p:spPr>
        <p:txBody>
          <a:bodyPr wrap="square" rtlCol="0">
            <a:spAutoFit/>
          </a:bodyPr>
          <a:lstStyle/>
          <a:p>
            <a:r>
              <a:rPr lang="nl-NL" dirty="0">
                <a:solidFill>
                  <a:schemeClr val="accent3">
                    <a:lumMod val="60000"/>
                    <a:lumOff val="40000"/>
                  </a:schemeClr>
                </a:solidFill>
              </a:rPr>
              <a:t>hoofdonderwerp</a:t>
            </a:r>
          </a:p>
        </p:txBody>
      </p:sp>
      <p:sp>
        <p:nvSpPr>
          <p:cNvPr id="4" name="Rechthoek 3">
            <a:extLst>
              <a:ext uri="{FF2B5EF4-FFF2-40B4-BE49-F238E27FC236}">
                <a16:creationId xmlns:a16="http://schemas.microsoft.com/office/drawing/2014/main" id="{529A67DB-5113-1D4B-7587-7EF546242F8A}"/>
              </a:ext>
            </a:extLst>
          </p:cNvPr>
          <p:cNvSpPr/>
          <p:nvPr/>
        </p:nvSpPr>
        <p:spPr>
          <a:xfrm>
            <a:off x="7119179" y="5436397"/>
            <a:ext cx="2082800" cy="249129"/>
          </a:xfrm>
          <a:prstGeom prst="rect">
            <a:avLst/>
          </a:prstGeom>
          <a:pattFill prst="wdDnDiag">
            <a:fgClr>
              <a:schemeClr val="accent2">
                <a:lumMod val="40000"/>
                <a:lumOff val="6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gemeentecode</a:t>
            </a:r>
          </a:p>
        </p:txBody>
      </p:sp>
      <p:sp>
        <p:nvSpPr>
          <p:cNvPr id="5" name="Tekstvak 4">
            <a:extLst>
              <a:ext uri="{FF2B5EF4-FFF2-40B4-BE49-F238E27FC236}">
                <a16:creationId xmlns:a16="http://schemas.microsoft.com/office/drawing/2014/main" id="{C89C5CF7-FBC7-4087-E79B-61A63E817229}"/>
              </a:ext>
            </a:extLst>
          </p:cNvPr>
          <p:cNvSpPr txBox="1"/>
          <p:nvPr/>
        </p:nvSpPr>
        <p:spPr>
          <a:xfrm>
            <a:off x="7119259" y="6002616"/>
            <a:ext cx="4797832" cy="646331"/>
          </a:xfrm>
          <a:prstGeom prst="rect">
            <a:avLst/>
          </a:prstGeom>
          <a:noFill/>
        </p:spPr>
        <p:txBody>
          <a:bodyPr wrap="square" rtlCol="0">
            <a:spAutoFit/>
          </a:bodyPr>
          <a:lstStyle/>
          <a:p>
            <a:pPr algn="r"/>
            <a:r>
              <a:rPr lang="nl-NL" dirty="0">
                <a:solidFill>
                  <a:schemeClr val="accent2"/>
                </a:solidFill>
              </a:rPr>
              <a:t>Merk op: er zit nog een </a:t>
            </a:r>
            <a:r>
              <a:rPr lang="nl-NL" dirty="0" err="1">
                <a:solidFill>
                  <a:schemeClr val="accent2"/>
                </a:solidFill>
              </a:rPr>
              <a:t>Id</a:t>
            </a:r>
            <a:r>
              <a:rPr lang="nl-NL" dirty="0">
                <a:solidFill>
                  <a:schemeClr val="accent2"/>
                </a:solidFill>
              </a:rPr>
              <a:t> in verstopt, </a:t>
            </a:r>
            <a:r>
              <a:rPr lang="nl-NL" dirty="0" err="1">
                <a:solidFill>
                  <a:schemeClr val="accent2"/>
                </a:solidFill>
              </a:rPr>
              <a:t>Id</a:t>
            </a:r>
            <a:r>
              <a:rPr lang="nl-NL" dirty="0">
                <a:solidFill>
                  <a:schemeClr val="accent2"/>
                </a:solidFill>
              </a:rPr>
              <a:t> 4: naam + gemeentecode ( </a:t>
            </a:r>
            <a:r>
              <a:rPr lang="nl-NL" dirty="0" err="1">
                <a:solidFill>
                  <a:schemeClr val="accent2"/>
                </a:solidFill>
              </a:rPr>
              <a:t>Id</a:t>
            </a:r>
            <a:r>
              <a:rPr lang="nl-NL" dirty="0">
                <a:solidFill>
                  <a:schemeClr val="accent2"/>
                </a:solidFill>
              </a:rPr>
              <a:t> A op logisch niveau)</a:t>
            </a:r>
            <a:endParaRPr lang="nl-NL" dirty="0">
              <a:solidFill>
                <a:schemeClr val="accent3">
                  <a:lumMod val="60000"/>
                  <a:lumOff val="40000"/>
                </a:schemeClr>
              </a:solidFill>
            </a:endParaRPr>
          </a:p>
        </p:txBody>
      </p:sp>
      <p:sp>
        <p:nvSpPr>
          <p:cNvPr id="16" name="Rechthoek 15">
            <a:extLst>
              <a:ext uri="{FF2B5EF4-FFF2-40B4-BE49-F238E27FC236}">
                <a16:creationId xmlns:a16="http://schemas.microsoft.com/office/drawing/2014/main" id="{5035B5D5-38DA-B650-C99E-0D489A0BC171}"/>
              </a:ext>
            </a:extLst>
          </p:cNvPr>
          <p:cNvSpPr/>
          <p:nvPr/>
        </p:nvSpPr>
        <p:spPr>
          <a:xfrm>
            <a:off x="7103939" y="5760405"/>
            <a:ext cx="2082800" cy="215900"/>
          </a:xfrm>
          <a:prstGeom prst="rect">
            <a:avLst/>
          </a:prstGeom>
          <a:pattFill prst="wdDnDiag">
            <a:fgClr>
              <a:schemeClr val="accent2">
                <a:lumMod val="40000"/>
                <a:lumOff val="6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woonplaatscode</a:t>
            </a:r>
          </a:p>
        </p:txBody>
      </p:sp>
      <p:sp>
        <p:nvSpPr>
          <p:cNvPr id="3" name="Rechteraccolade 2">
            <a:extLst>
              <a:ext uri="{FF2B5EF4-FFF2-40B4-BE49-F238E27FC236}">
                <a16:creationId xmlns:a16="http://schemas.microsoft.com/office/drawing/2014/main" id="{EEA3858C-388F-8AE5-E298-A3D46986C444}"/>
              </a:ext>
            </a:extLst>
          </p:cNvPr>
          <p:cNvSpPr/>
          <p:nvPr/>
        </p:nvSpPr>
        <p:spPr>
          <a:xfrm>
            <a:off x="9248414" y="5187111"/>
            <a:ext cx="160757" cy="465646"/>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sp>
        <p:nvSpPr>
          <p:cNvPr id="7" name="Tekstvak 6">
            <a:extLst>
              <a:ext uri="{FF2B5EF4-FFF2-40B4-BE49-F238E27FC236}">
                <a16:creationId xmlns:a16="http://schemas.microsoft.com/office/drawing/2014/main" id="{E87F3BD1-EF8C-E70C-3AF5-825116A820E7}"/>
              </a:ext>
            </a:extLst>
          </p:cNvPr>
          <p:cNvSpPr txBox="1"/>
          <p:nvPr/>
        </p:nvSpPr>
        <p:spPr>
          <a:xfrm>
            <a:off x="9409171" y="5202222"/>
            <a:ext cx="661652" cy="369332"/>
          </a:xfrm>
          <a:prstGeom prst="rect">
            <a:avLst/>
          </a:prstGeom>
          <a:noFill/>
        </p:spPr>
        <p:txBody>
          <a:bodyPr wrap="square" rtlCol="0">
            <a:spAutoFit/>
          </a:bodyPr>
          <a:lstStyle/>
          <a:p>
            <a:r>
              <a:rPr lang="nl-NL" dirty="0" err="1">
                <a:solidFill>
                  <a:schemeClr val="accent2"/>
                </a:solidFill>
              </a:rPr>
              <a:t>id</a:t>
            </a:r>
            <a:r>
              <a:rPr lang="nl-NL" dirty="0">
                <a:solidFill>
                  <a:schemeClr val="accent2"/>
                </a:solidFill>
              </a:rPr>
              <a:t> 2a</a:t>
            </a:r>
            <a:endParaRPr lang="nl-NL" dirty="0">
              <a:solidFill>
                <a:schemeClr val="accent3">
                  <a:lumMod val="60000"/>
                  <a:lumOff val="40000"/>
                </a:schemeClr>
              </a:solidFill>
            </a:endParaRPr>
          </a:p>
        </p:txBody>
      </p:sp>
    </p:spTree>
    <p:extLst>
      <p:ext uri="{BB962C8B-B14F-4D97-AF65-F5344CB8AC3E}">
        <p14:creationId xmlns:p14="http://schemas.microsoft.com/office/powerpoint/2010/main" val="21004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39446-ABC6-FE3F-89AC-7EFB6286FD7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9C3022-F741-8F4F-D941-880DD9A37D8E}"/>
              </a:ext>
            </a:extLst>
          </p:cNvPr>
          <p:cNvSpPr>
            <a:spLocks noGrp="1"/>
          </p:cNvSpPr>
          <p:nvPr>
            <p:ph type="title"/>
          </p:nvPr>
        </p:nvSpPr>
        <p:spPr>
          <a:xfrm>
            <a:off x="4283073" y="508765"/>
            <a:ext cx="6924675" cy="1325563"/>
          </a:xfrm>
        </p:spPr>
        <p:txBody>
          <a:bodyPr>
            <a:normAutofit/>
          </a:bodyPr>
          <a:lstStyle/>
          <a:p>
            <a:r>
              <a:rPr lang="nl-NL" sz="3600" dirty="0"/>
              <a:t>Modellering patroon die je vaak ziet rondom (basis) registraties</a:t>
            </a:r>
          </a:p>
        </p:txBody>
      </p:sp>
      <p:sp>
        <p:nvSpPr>
          <p:cNvPr id="4" name="Rechthoek 3">
            <a:extLst>
              <a:ext uri="{FF2B5EF4-FFF2-40B4-BE49-F238E27FC236}">
                <a16:creationId xmlns:a16="http://schemas.microsoft.com/office/drawing/2014/main" id="{29002145-79EF-4670-6B00-835EC5B7475D}"/>
              </a:ext>
            </a:extLst>
          </p:cNvPr>
          <p:cNvSpPr/>
          <p:nvPr/>
        </p:nvSpPr>
        <p:spPr>
          <a:xfrm>
            <a:off x="1387669" y="3235164"/>
            <a:ext cx="2082800" cy="4572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p:txBody>
      </p:sp>
      <p:sp>
        <p:nvSpPr>
          <p:cNvPr id="5" name="Rechthoek 4">
            <a:extLst>
              <a:ext uri="{FF2B5EF4-FFF2-40B4-BE49-F238E27FC236}">
                <a16:creationId xmlns:a16="http://schemas.microsoft.com/office/drawing/2014/main" id="{E4B63B49-A9F6-53DD-D047-C63DA675E88C}"/>
              </a:ext>
            </a:extLst>
          </p:cNvPr>
          <p:cNvSpPr/>
          <p:nvPr/>
        </p:nvSpPr>
        <p:spPr>
          <a:xfrm>
            <a:off x="1387669" y="3736813"/>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1</a:t>
            </a:r>
          </a:p>
        </p:txBody>
      </p:sp>
      <p:sp>
        <p:nvSpPr>
          <p:cNvPr id="6" name="Rechthoek 5">
            <a:extLst>
              <a:ext uri="{FF2B5EF4-FFF2-40B4-BE49-F238E27FC236}">
                <a16:creationId xmlns:a16="http://schemas.microsoft.com/office/drawing/2014/main" id="{FC7E350B-F54C-6921-84D8-2F5EC4B6F99B}"/>
              </a:ext>
            </a:extLst>
          </p:cNvPr>
          <p:cNvSpPr/>
          <p:nvPr/>
        </p:nvSpPr>
        <p:spPr>
          <a:xfrm>
            <a:off x="1387669" y="4802916"/>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versienummer </a:t>
            </a:r>
          </a:p>
        </p:txBody>
      </p:sp>
      <p:sp>
        <p:nvSpPr>
          <p:cNvPr id="8" name="Rechthoek 7">
            <a:extLst>
              <a:ext uri="{FF2B5EF4-FFF2-40B4-BE49-F238E27FC236}">
                <a16:creationId xmlns:a16="http://schemas.microsoft.com/office/drawing/2014/main" id="{3A4CD90F-AF16-D496-D6C8-4D4AFD5751F3}"/>
              </a:ext>
            </a:extLst>
          </p:cNvPr>
          <p:cNvSpPr/>
          <p:nvPr/>
        </p:nvSpPr>
        <p:spPr>
          <a:xfrm>
            <a:off x="1387669" y="858002"/>
            <a:ext cx="2082800" cy="4572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Objecttype</a:t>
            </a:r>
          </a:p>
        </p:txBody>
      </p:sp>
      <p:sp>
        <p:nvSpPr>
          <p:cNvPr id="9" name="Rechthoek 8">
            <a:extLst>
              <a:ext uri="{FF2B5EF4-FFF2-40B4-BE49-F238E27FC236}">
                <a16:creationId xmlns:a16="http://schemas.microsoft.com/office/drawing/2014/main" id="{5F2047BA-E75A-503D-FBF4-438BC1A93C8F}"/>
              </a:ext>
            </a:extLst>
          </p:cNvPr>
          <p:cNvSpPr/>
          <p:nvPr/>
        </p:nvSpPr>
        <p:spPr>
          <a:xfrm>
            <a:off x="1387669" y="2097355"/>
            <a:ext cx="2082800" cy="57218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Identificator</a:t>
            </a:r>
            <a:r>
              <a:rPr lang="nl-NL" sz="1600" dirty="0"/>
              <a:t> domeinobject</a:t>
            </a:r>
          </a:p>
        </p:txBody>
      </p:sp>
      <p:sp>
        <p:nvSpPr>
          <p:cNvPr id="10" name="Rechthoek 9">
            <a:extLst>
              <a:ext uri="{FF2B5EF4-FFF2-40B4-BE49-F238E27FC236}">
                <a16:creationId xmlns:a16="http://schemas.microsoft.com/office/drawing/2014/main" id="{FD255DF0-6554-6F57-1CB0-CEE966D8B08A}"/>
              </a:ext>
            </a:extLst>
          </p:cNvPr>
          <p:cNvSpPr/>
          <p:nvPr/>
        </p:nvSpPr>
        <p:spPr>
          <a:xfrm>
            <a:off x="1387669" y="1392045"/>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Eigenschaptype</a:t>
            </a:r>
            <a:r>
              <a:rPr lang="nl-NL" sz="1600" dirty="0"/>
              <a:t> 1</a:t>
            </a:r>
          </a:p>
        </p:txBody>
      </p:sp>
      <p:sp>
        <p:nvSpPr>
          <p:cNvPr id="11" name="Rechthoek 10">
            <a:extLst>
              <a:ext uri="{FF2B5EF4-FFF2-40B4-BE49-F238E27FC236}">
                <a16:creationId xmlns:a16="http://schemas.microsoft.com/office/drawing/2014/main" id="{F660741C-D2EA-B1FD-9E48-5F8EA6358303}"/>
              </a:ext>
            </a:extLst>
          </p:cNvPr>
          <p:cNvSpPr/>
          <p:nvPr/>
        </p:nvSpPr>
        <p:spPr>
          <a:xfrm>
            <a:off x="1402420" y="1741089"/>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Eigenschaptype</a:t>
            </a:r>
            <a:r>
              <a:rPr lang="nl-NL" sz="1600" dirty="0"/>
              <a:t> 2</a:t>
            </a:r>
          </a:p>
        </p:txBody>
      </p:sp>
      <p:cxnSp>
        <p:nvCxnSpPr>
          <p:cNvPr id="13" name="Rechte verbindingslijn 12">
            <a:extLst>
              <a:ext uri="{FF2B5EF4-FFF2-40B4-BE49-F238E27FC236}">
                <a16:creationId xmlns:a16="http://schemas.microsoft.com/office/drawing/2014/main" id="{C4D93238-E421-B493-9177-ADF242C16C5C}"/>
              </a:ext>
            </a:extLst>
          </p:cNvPr>
          <p:cNvCxnSpPr>
            <a:cxnSpLocks/>
          </p:cNvCxnSpPr>
          <p:nvPr/>
        </p:nvCxnSpPr>
        <p:spPr>
          <a:xfrm flipV="1">
            <a:off x="3836718" y="1539330"/>
            <a:ext cx="3" cy="8441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Rechte verbindingslijn 13">
            <a:extLst>
              <a:ext uri="{FF2B5EF4-FFF2-40B4-BE49-F238E27FC236}">
                <a16:creationId xmlns:a16="http://schemas.microsoft.com/office/drawing/2014/main" id="{58DA1247-D3E4-80B4-E8B0-C02EC89B7580}"/>
              </a:ext>
            </a:extLst>
          </p:cNvPr>
          <p:cNvCxnSpPr>
            <a:cxnSpLocks/>
            <a:stCxn id="9" idx="3"/>
          </p:cNvCxnSpPr>
          <p:nvPr/>
        </p:nvCxnSpPr>
        <p:spPr>
          <a:xfrm>
            <a:off x="3470469" y="2383445"/>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Rechte verbindingslijn met pijl 19">
            <a:extLst>
              <a:ext uri="{FF2B5EF4-FFF2-40B4-BE49-F238E27FC236}">
                <a16:creationId xmlns:a16="http://schemas.microsoft.com/office/drawing/2014/main" id="{F1A47052-A2EC-6B63-DBB9-7614EE150F98}"/>
              </a:ext>
            </a:extLst>
          </p:cNvPr>
          <p:cNvCxnSpPr>
            <a:cxnSpLocks/>
            <a:endCxn id="10" idx="3"/>
          </p:cNvCxnSpPr>
          <p:nvPr/>
        </p:nvCxnSpPr>
        <p:spPr>
          <a:xfrm flipH="1">
            <a:off x="3470469" y="1539330"/>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Rechte verbindingslijn met pijl 21">
            <a:extLst>
              <a:ext uri="{FF2B5EF4-FFF2-40B4-BE49-F238E27FC236}">
                <a16:creationId xmlns:a16="http://schemas.microsoft.com/office/drawing/2014/main" id="{BAA939CD-8640-242A-6044-EB6015A516FC}"/>
              </a:ext>
            </a:extLst>
          </p:cNvPr>
          <p:cNvCxnSpPr>
            <a:cxnSpLocks/>
          </p:cNvCxnSpPr>
          <p:nvPr/>
        </p:nvCxnSpPr>
        <p:spPr>
          <a:xfrm flipH="1">
            <a:off x="3470469" y="1880706"/>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Rechte verbindingslijn met pijl 41">
            <a:extLst>
              <a:ext uri="{FF2B5EF4-FFF2-40B4-BE49-F238E27FC236}">
                <a16:creationId xmlns:a16="http://schemas.microsoft.com/office/drawing/2014/main" id="{CBF5B3A8-8287-4DA2-9370-545AC85BA870}"/>
              </a:ext>
            </a:extLst>
          </p:cNvPr>
          <p:cNvCxnSpPr>
            <a:cxnSpLocks/>
          </p:cNvCxnSpPr>
          <p:nvPr/>
        </p:nvCxnSpPr>
        <p:spPr>
          <a:xfrm>
            <a:off x="852622" y="1131676"/>
            <a:ext cx="549795" cy="124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echte verbindingslijn 42">
            <a:extLst>
              <a:ext uri="{FF2B5EF4-FFF2-40B4-BE49-F238E27FC236}">
                <a16:creationId xmlns:a16="http://schemas.microsoft.com/office/drawing/2014/main" id="{65C9D5AE-9539-A5EF-4287-CC68BC269016}"/>
              </a:ext>
            </a:extLst>
          </p:cNvPr>
          <p:cNvCxnSpPr>
            <a:cxnSpLocks/>
          </p:cNvCxnSpPr>
          <p:nvPr/>
        </p:nvCxnSpPr>
        <p:spPr>
          <a:xfrm>
            <a:off x="860900" y="1150439"/>
            <a:ext cx="36191" cy="2328565"/>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Rechte verbindingslijn 43">
            <a:extLst>
              <a:ext uri="{FF2B5EF4-FFF2-40B4-BE49-F238E27FC236}">
                <a16:creationId xmlns:a16="http://schemas.microsoft.com/office/drawing/2014/main" id="{A02DB687-07B2-A1B7-A65A-05B129EE8FD6}"/>
              </a:ext>
            </a:extLst>
          </p:cNvPr>
          <p:cNvCxnSpPr>
            <a:cxnSpLocks/>
          </p:cNvCxnSpPr>
          <p:nvPr/>
        </p:nvCxnSpPr>
        <p:spPr>
          <a:xfrm>
            <a:off x="888814" y="3479004"/>
            <a:ext cx="513603"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Tekstvak 44">
            <a:extLst>
              <a:ext uri="{FF2B5EF4-FFF2-40B4-BE49-F238E27FC236}">
                <a16:creationId xmlns:a16="http://schemas.microsoft.com/office/drawing/2014/main" id="{E76C52FE-1EF5-C08C-D6FD-B88E29AC6C3A}"/>
              </a:ext>
            </a:extLst>
          </p:cNvPr>
          <p:cNvSpPr txBox="1"/>
          <p:nvPr/>
        </p:nvSpPr>
        <p:spPr>
          <a:xfrm rot="16200000">
            <a:off x="-193967" y="2427309"/>
            <a:ext cx="1829340" cy="369332"/>
          </a:xfrm>
          <a:prstGeom prst="rect">
            <a:avLst/>
          </a:prstGeom>
          <a:noFill/>
        </p:spPr>
        <p:txBody>
          <a:bodyPr wrap="square" rtlCol="0">
            <a:spAutoFit/>
          </a:bodyPr>
          <a:lstStyle/>
          <a:p>
            <a:r>
              <a:rPr lang="nl-NL" dirty="0">
                <a:solidFill>
                  <a:schemeClr val="accent3">
                    <a:lumMod val="60000"/>
                    <a:lumOff val="40000"/>
                  </a:schemeClr>
                </a:solidFill>
              </a:rPr>
              <a:t>hoofdonderwerp</a:t>
            </a:r>
          </a:p>
        </p:txBody>
      </p:sp>
      <p:sp>
        <p:nvSpPr>
          <p:cNvPr id="50" name="Rechthoek 49">
            <a:extLst>
              <a:ext uri="{FF2B5EF4-FFF2-40B4-BE49-F238E27FC236}">
                <a16:creationId xmlns:a16="http://schemas.microsoft.com/office/drawing/2014/main" id="{A3268193-39FA-8E1C-1E25-A3F087781267}"/>
              </a:ext>
            </a:extLst>
          </p:cNvPr>
          <p:cNvSpPr/>
          <p:nvPr/>
        </p:nvSpPr>
        <p:spPr>
          <a:xfrm>
            <a:off x="1387669" y="4087968"/>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2</a:t>
            </a:r>
          </a:p>
        </p:txBody>
      </p:sp>
      <p:sp>
        <p:nvSpPr>
          <p:cNvPr id="51" name="Rechthoek 50">
            <a:extLst>
              <a:ext uri="{FF2B5EF4-FFF2-40B4-BE49-F238E27FC236}">
                <a16:creationId xmlns:a16="http://schemas.microsoft.com/office/drawing/2014/main" id="{4B519F23-1E4B-E773-5A16-7C0222367A54}"/>
              </a:ext>
            </a:extLst>
          </p:cNvPr>
          <p:cNvSpPr/>
          <p:nvPr/>
        </p:nvSpPr>
        <p:spPr>
          <a:xfrm>
            <a:off x="1387669" y="4439123"/>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3</a:t>
            </a:r>
          </a:p>
        </p:txBody>
      </p:sp>
      <p:sp>
        <p:nvSpPr>
          <p:cNvPr id="53" name="Rechthoek 52">
            <a:extLst>
              <a:ext uri="{FF2B5EF4-FFF2-40B4-BE49-F238E27FC236}">
                <a16:creationId xmlns:a16="http://schemas.microsoft.com/office/drawing/2014/main" id="{8BD135E8-2048-E7D3-1FE8-4BE04B8CA9E9}"/>
              </a:ext>
            </a:extLst>
          </p:cNvPr>
          <p:cNvSpPr/>
          <p:nvPr/>
        </p:nvSpPr>
        <p:spPr>
          <a:xfrm>
            <a:off x="1387669" y="5165698"/>
            <a:ext cx="2082800" cy="5879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domeinobject</a:t>
            </a:r>
          </a:p>
        </p:txBody>
      </p:sp>
      <p:cxnSp>
        <p:nvCxnSpPr>
          <p:cNvPr id="54" name="Rechte verbindingslijn 53">
            <a:extLst>
              <a:ext uri="{FF2B5EF4-FFF2-40B4-BE49-F238E27FC236}">
                <a16:creationId xmlns:a16="http://schemas.microsoft.com/office/drawing/2014/main" id="{1E33945F-D4C9-7C1E-D1BF-054E142AA7CF}"/>
              </a:ext>
            </a:extLst>
          </p:cNvPr>
          <p:cNvCxnSpPr>
            <a:cxnSpLocks/>
          </p:cNvCxnSpPr>
          <p:nvPr/>
        </p:nvCxnSpPr>
        <p:spPr>
          <a:xfrm>
            <a:off x="3470469" y="3875985"/>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56" name="Rechte verbindingslijn 55">
            <a:extLst>
              <a:ext uri="{FF2B5EF4-FFF2-40B4-BE49-F238E27FC236}">
                <a16:creationId xmlns:a16="http://schemas.microsoft.com/office/drawing/2014/main" id="{D56F2603-5036-BD67-3316-40B9857D625A}"/>
              </a:ext>
            </a:extLst>
          </p:cNvPr>
          <p:cNvCxnSpPr>
            <a:cxnSpLocks/>
          </p:cNvCxnSpPr>
          <p:nvPr/>
        </p:nvCxnSpPr>
        <p:spPr>
          <a:xfrm flipH="1" flipV="1">
            <a:off x="3353253" y="1597522"/>
            <a:ext cx="369333" cy="2309562"/>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1" name="Rechte verbindingslijn 60">
            <a:extLst>
              <a:ext uri="{FF2B5EF4-FFF2-40B4-BE49-F238E27FC236}">
                <a16:creationId xmlns:a16="http://schemas.microsoft.com/office/drawing/2014/main" id="{18B3FF16-4131-B065-8C0E-A352725E6EBC}"/>
              </a:ext>
            </a:extLst>
          </p:cNvPr>
          <p:cNvCxnSpPr>
            <a:cxnSpLocks/>
          </p:cNvCxnSpPr>
          <p:nvPr/>
        </p:nvCxnSpPr>
        <p:spPr>
          <a:xfrm flipH="1" flipV="1">
            <a:off x="3284266" y="1880706"/>
            <a:ext cx="438323" cy="2343195"/>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5" name="Rechte verbindingslijn 64">
            <a:extLst>
              <a:ext uri="{FF2B5EF4-FFF2-40B4-BE49-F238E27FC236}">
                <a16:creationId xmlns:a16="http://schemas.microsoft.com/office/drawing/2014/main" id="{4913F80B-CC7D-729A-A1F7-A1E76593729F}"/>
              </a:ext>
            </a:extLst>
          </p:cNvPr>
          <p:cNvCxnSpPr>
            <a:cxnSpLocks/>
          </p:cNvCxnSpPr>
          <p:nvPr/>
        </p:nvCxnSpPr>
        <p:spPr>
          <a:xfrm>
            <a:off x="3470469" y="4212457"/>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8" name="Rechte verbindingslijn 67">
            <a:extLst>
              <a:ext uri="{FF2B5EF4-FFF2-40B4-BE49-F238E27FC236}">
                <a16:creationId xmlns:a16="http://schemas.microsoft.com/office/drawing/2014/main" id="{8E8EE838-B9CE-27D7-5D51-739C07B1A369}"/>
              </a:ext>
            </a:extLst>
          </p:cNvPr>
          <p:cNvCxnSpPr>
            <a:cxnSpLocks/>
          </p:cNvCxnSpPr>
          <p:nvPr/>
        </p:nvCxnSpPr>
        <p:spPr>
          <a:xfrm flipV="1">
            <a:off x="1032176" y="4580649"/>
            <a:ext cx="0" cy="871793"/>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Rechte verbindingslijn 68">
            <a:extLst>
              <a:ext uri="{FF2B5EF4-FFF2-40B4-BE49-F238E27FC236}">
                <a16:creationId xmlns:a16="http://schemas.microsoft.com/office/drawing/2014/main" id="{F5A20767-4793-E7BC-DFDE-A294D06CA325}"/>
              </a:ext>
            </a:extLst>
          </p:cNvPr>
          <p:cNvCxnSpPr>
            <a:cxnSpLocks/>
          </p:cNvCxnSpPr>
          <p:nvPr/>
        </p:nvCxnSpPr>
        <p:spPr>
          <a:xfrm>
            <a:off x="1032176" y="5452442"/>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Rechte verbindingslijn met pijl 69">
            <a:extLst>
              <a:ext uri="{FF2B5EF4-FFF2-40B4-BE49-F238E27FC236}">
                <a16:creationId xmlns:a16="http://schemas.microsoft.com/office/drawing/2014/main" id="{F5BFB485-259E-6163-999A-F7DACB7B75C6}"/>
              </a:ext>
            </a:extLst>
          </p:cNvPr>
          <p:cNvCxnSpPr>
            <a:cxnSpLocks/>
          </p:cNvCxnSpPr>
          <p:nvPr/>
        </p:nvCxnSpPr>
        <p:spPr>
          <a:xfrm>
            <a:off x="1022651" y="4578296"/>
            <a:ext cx="3554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2" name="Rechthoek 71">
            <a:extLst>
              <a:ext uri="{FF2B5EF4-FFF2-40B4-BE49-F238E27FC236}">
                <a16:creationId xmlns:a16="http://schemas.microsoft.com/office/drawing/2014/main" id="{A69E60CE-67AD-393E-D411-10F931D2B38F}"/>
              </a:ext>
            </a:extLst>
          </p:cNvPr>
          <p:cNvSpPr/>
          <p:nvPr/>
        </p:nvSpPr>
        <p:spPr>
          <a:xfrm>
            <a:off x="1387669" y="5886101"/>
            <a:ext cx="2082800" cy="60249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een versie</a:t>
            </a:r>
          </a:p>
        </p:txBody>
      </p:sp>
      <p:cxnSp>
        <p:nvCxnSpPr>
          <p:cNvPr id="79" name="Rechte verbindingslijn 78">
            <a:extLst>
              <a:ext uri="{FF2B5EF4-FFF2-40B4-BE49-F238E27FC236}">
                <a16:creationId xmlns:a16="http://schemas.microsoft.com/office/drawing/2014/main" id="{EA11767A-E7FE-2E84-67A7-0D4486EE1C2F}"/>
              </a:ext>
            </a:extLst>
          </p:cNvPr>
          <p:cNvCxnSpPr>
            <a:cxnSpLocks/>
          </p:cNvCxnSpPr>
          <p:nvPr/>
        </p:nvCxnSpPr>
        <p:spPr>
          <a:xfrm flipV="1">
            <a:off x="3836721" y="4567325"/>
            <a:ext cx="0" cy="1605521"/>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Rechte verbindingslijn 79">
            <a:extLst>
              <a:ext uri="{FF2B5EF4-FFF2-40B4-BE49-F238E27FC236}">
                <a16:creationId xmlns:a16="http://schemas.microsoft.com/office/drawing/2014/main" id="{1A75E965-48AC-7F30-08CD-FF3C837B173B}"/>
              </a:ext>
            </a:extLst>
          </p:cNvPr>
          <p:cNvCxnSpPr>
            <a:cxnSpLocks/>
          </p:cNvCxnSpPr>
          <p:nvPr/>
        </p:nvCxnSpPr>
        <p:spPr>
          <a:xfrm>
            <a:off x="3459962" y="6172846"/>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1" name="Rechte verbindingslijn met pijl 80">
            <a:extLst>
              <a:ext uri="{FF2B5EF4-FFF2-40B4-BE49-F238E27FC236}">
                <a16:creationId xmlns:a16="http://schemas.microsoft.com/office/drawing/2014/main" id="{4F066839-6357-17BD-AB41-1C57F278246C}"/>
              </a:ext>
            </a:extLst>
          </p:cNvPr>
          <p:cNvCxnSpPr>
            <a:cxnSpLocks/>
          </p:cNvCxnSpPr>
          <p:nvPr/>
        </p:nvCxnSpPr>
        <p:spPr>
          <a:xfrm flipH="1">
            <a:off x="3470469" y="4567325"/>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Rechte verbindingslijn met pijl 81">
            <a:extLst>
              <a:ext uri="{FF2B5EF4-FFF2-40B4-BE49-F238E27FC236}">
                <a16:creationId xmlns:a16="http://schemas.microsoft.com/office/drawing/2014/main" id="{838135C3-94B2-395E-EF24-3DD49253CE13}"/>
              </a:ext>
            </a:extLst>
          </p:cNvPr>
          <p:cNvCxnSpPr>
            <a:cxnSpLocks/>
          </p:cNvCxnSpPr>
          <p:nvPr/>
        </p:nvCxnSpPr>
        <p:spPr>
          <a:xfrm flipH="1">
            <a:off x="3470469" y="4908701"/>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ijdelijke aanduiding voor inhoud 48">
            <a:extLst>
              <a:ext uri="{FF2B5EF4-FFF2-40B4-BE49-F238E27FC236}">
                <a16:creationId xmlns:a16="http://schemas.microsoft.com/office/drawing/2014/main" id="{B671EFDC-BE82-C90E-DD6C-4475BEADA05D}"/>
              </a:ext>
            </a:extLst>
          </p:cNvPr>
          <p:cNvSpPr>
            <a:spLocks noGrp="1"/>
          </p:cNvSpPr>
          <p:nvPr>
            <p:ph idx="1"/>
          </p:nvPr>
        </p:nvSpPr>
        <p:spPr>
          <a:xfrm>
            <a:off x="4297825" y="3389830"/>
            <a:ext cx="7405224" cy="3309413"/>
          </a:xfrm>
        </p:spPr>
        <p:txBody>
          <a:bodyPr>
            <a:normAutofit lnSpcReduction="10000"/>
          </a:bodyPr>
          <a:lstStyle/>
          <a:p>
            <a:pPr marL="0" indent="0">
              <a:buNone/>
            </a:pPr>
            <a:r>
              <a:rPr lang="nl-NL" sz="1600" dirty="0"/>
              <a:t>In een logisch gegevensmodel</a:t>
            </a:r>
          </a:p>
          <a:p>
            <a:r>
              <a:rPr lang="nl-NL" sz="1600" dirty="0"/>
              <a:t>Gegevenstype 1 en 2 zijn gegevens over attribuuttype 1 en 2 zijn wel gemodelleerd, maar niet als </a:t>
            </a:r>
            <a:r>
              <a:rPr lang="nl-NL" sz="1600" dirty="0" err="1"/>
              <a:t>Id</a:t>
            </a:r>
            <a:r>
              <a:rPr lang="nl-NL" sz="1600" dirty="0"/>
              <a:t> op logisch niveau. </a:t>
            </a:r>
          </a:p>
          <a:p>
            <a:r>
              <a:rPr lang="nl-NL" sz="1600" dirty="0"/>
              <a:t>In plaats daarvan is er een nieuwe </a:t>
            </a:r>
            <a:r>
              <a:rPr lang="nl-NL" sz="1600" dirty="0" err="1"/>
              <a:t>Id</a:t>
            </a:r>
            <a:r>
              <a:rPr lang="nl-NL" sz="1600" dirty="0"/>
              <a:t> gemodelleerd op logisch niveau, die wel een representatie is van een domein object. Bv. een NEN3610 Id. </a:t>
            </a:r>
          </a:p>
          <a:p>
            <a:r>
              <a:rPr lang="nl-NL" sz="1600" dirty="0"/>
              <a:t>Gegevenstype 1 en 2 borgen dat dit gegevensobject niet los raakt van de werkelijkheid, deze hadden ook als alternatieve </a:t>
            </a:r>
            <a:r>
              <a:rPr lang="nl-NL" sz="1600" dirty="0" err="1"/>
              <a:t>Id</a:t>
            </a:r>
            <a:r>
              <a:rPr lang="nl-NL" sz="1600" dirty="0"/>
              <a:t> gemodelleerd kunnen worden, dit maakt het model veel helderder, zeker als deze een relatie heeft met de </a:t>
            </a:r>
            <a:r>
              <a:rPr lang="nl-NL" sz="1600" dirty="0" err="1"/>
              <a:t>Id</a:t>
            </a:r>
            <a:r>
              <a:rPr lang="nl-NL" sz="1600" dirty="0"/>
              <a:t> op conceptueel niveau. </a:t>
            </a:r>
          </a:p>
          <a:p>
            <a:r>
              <a:rPr lang="nl-NL" sz="1600" dirty="0"/>
              <a:t>Er worden versies/voorkomens/verschijningsvormen van het gegevensobject uitgewisseld. Elke versie bevat gegevens over het domein object, met een begin en eind geldigheid, te weten de periode dat deze gegevens gelijk zijn gebleven (niet gemuteerd, want dan ontstaan een nieuwe versie/voorkomen). </a:t>
            </a:r>
            <a:endParaRPr lang="nl-NL" sz="2000" dirty="0"/>
          </a:p>
        </p:txBody>
      </p:sp>
      <p:sp>
        <p:nvSpPr>
          <p:cNvPr id="55" name="Tijdelijke aanduiding voor inhoud 48">
            <a:extLst>
              <a:ext uri="{FF2B5EF4-FFF2-40B4-BE49-F238E27FC236}">
                <a16:creationId xmlns:a16="http://schemas.microsoft.com/office/drawing/2014/main" id="{1972E935-449B-7A33-B6A9-043D945F4DED}"/>
              </a:ext>
            </a:extLst>
          </p:cNvPr>
          <p:cNvSpPr txBox="1">
            <a:spLocks/>
          </p:cNvSpPr>
          <p:nvPr/>
        </p:nvSpPr>
        <p:spPr>
          <a:xfrm>
            <a:off x="4297824" y="1718165"/>
            <a:ext cx="7462376" cy="15711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sz="1600" dirty="0"/>
              <a:t>In een conceptueel gegevensmodel:</a:t>
            </a:r>
          </a:p>
          <a:p>
            <a:r>
              <a:rPr lang="nl-NL" sz="1600" dirty="0" err="1"/>
              <a:t>Eigenschaptype</a:t>
            </a:r>
            <a:r>
              <a:rPr lang="nl-NL" sz="1600" dirty="0"/>
              <a:t> 1 en 2 zijn gemodelleerd</a:t>
            </a:r>
          </a:p>
          <a:p>
            <a:r>
              <a:rPr lang="nl-NL" sz="1600" dirty="0"/>
              <a:t>De eigenschappen waarmee elk domeinobject van dit objecttype te identificeren is, zijn gemodelleerd als een op zichzelf staande </a:t>
            </a:r>
            <a:r>
              <a:rPr lang="nl-NL" sz="1600" dirty="0" err="1"/>
              <a:t>Id</a:t>
            </a:r>
            <a:r>
              <a:rPr lang="nl-NL" sz="1600" dirty="0"/>
              <a:t> (een op zichzelf staand benoemd setje, en niet per </a:t>
            </a:r>
            <a:r>
              <a:rPr lang="nl-NL" sz="1600" dirty="0" err="1"/>
              <a:t>eigenschaptype</a:t>
            </a:r>
            <a:r>
              <a:rPr lang="nl-NL" sz="1600" dirty="0"/>
              <a:t> een metagegeven ‘is identificerend’).  </a:t>
            </a:r>
            <a:endParaRPr lang="nl-NL" sz="2000" dirty="0"/>
          </a:p>
        </p:txBody>
      </p:sp>
    </p:spTree>
    <p:extLst>
      <p:ext uri="{BB962C8B-B14F-4D97-AF65-F5344CB8AC3E}">
        <p14:creationId xmlns:p14="http://schemas.microsoft.com/office/powerpoint/2010/main" val="1544900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DFBC35-CCAF-717B-14D7-7709C8812002}"/>
              </a:ext>
            </a:extLst>
          </p:cNvPr>
          <p:cNvSpPr>
            <a:spLocks noGrp="1"/>
          </p:cNvSpPr>
          <p:nvPr>
            <p:ph type="title"/>
          </p:nvPr>
        </p:nvSpPr>
        <p:spPr>
          <a:xfrm>
            <a:off x="838200" y="770965"/>
            <a:ext cx="10515600" cy="1325563"/>
          </a:xfrm>
        </p:spPr>
        <p:txBody>
          <a:bodyPr/>
          <a:lstStyle/>
          <a:p>
            <a:pPr algn="ctr"/>
            <a:r>
              <a:rPr lang="nl-NL" dirty="0"/>
              <a:t>Onderling relateren van gegevensobjecten</a:t>
            </a:r>
            <a:br>
              <a:rPr lang="nl-NL" dirty="0"/>
            </a:br>
            <a:r>
              <a:rPr lang="nl-NL" dirty="0" err="1"/>
              <a:t>Id</a:t>
            </a:r>
            <a:r>
              <a:rPr lang="nl-NL" dirty="0"/>
              <a:t> en versie patroon</a:t>
            </a:r>
          </a:p>
        </p:txBody>
      </p:sp>
      <p:sp>
        <p:nvSpPr>
          <p:cNvPr id="33" name="Rechthoek 32">
            <a:extLst>
              <a:ext uri="{FF2B5EF4-FFF2-40B4-BE49-F238E27FC236}">
                <a16:creationId xmlns:a16="http://schemas.microsoft.com/office/drawing/2014/main" id="{D36D620D-1C32-5768-BF66-6B23DCF10DDE}"/>
              </a:ext>
            </a:extLst>
          </p:cNvPr>
          <p:cNvSpPr/>
          <p:nvPr/>
        </p:nvSpPr>
        <p:spPr>
          <a:xfrm>
            <a:off x="838200" y="2279420"/>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a:p>
            <a:pPr algn="ctr"/>
            <a:r>
              <a:rPr lang="nl-NL" sz="1600" dirty="0"/>
              <a:t>ID </a:t>
            </a:r>
          </a:p>
        </p:txBody>
      </p:sp>
      <p:sp>
        <p:nvSpPr>
          <p:cNvPr id="35" name="Rechthoek 34">
            <a:extLst>
              <a:ext uri="{FF2B5EF4-FFF2-40B4-BE49-F238E27FC236}">
                <a16:creationId xmlns:a16="http://schemas.microsoft.com/office/drawing/2014/main" id="{94383A70-41C4-8AED-D987-4C812774484E}"/>
              </a:ext>
            </a:extLst>
          </p:cNvPr>
          <p:cNvSpPr/>
          <p:nvPr/>
        </p:nvSpPr>
        <p:spPr>
          <a:xfrm>
            <a:off x="838200" y="2925944"/>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sp>
        <p:nvSpPr>
          <p:cNvPr id="36" name="Rechthoek 35">
            <a:extLst>
              <a:ext uri="{FF2B5EF4-FFF2-40B4-BE49-F238E27FC236}">
                <a16:creationId xmlns:a16="http://schemas.microsoft.com/office/drawing/2014/main" id="{5DAA3CF7-0670-545E-FE7A-B984B4E2F2B2}"/>
              </a:ext>
            </a:extLst>
          </p:cNvPr>
          <p:cNvSpPr/>
          <p:nvPr/>
        </p:nvSpPr>
        <p:spPr>
          <a:xfrm>
            <a:off x="838200" y="5034309"/>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gegevensobject</a:t>
            </a:r>
          </a:p>
        </p:txBody>
      </p:sp>
      <p:sp>
        <p:nvSpPr>
          <p:cNvPr id="40" name="Rechthoek 39">
            <a:extLst>
              <a:ext uri="{FF2B5EF4-FFF2-40B4-BE49-F238E27FC236}">
                <a16:creationId xmlns:a16="http://schemas.microsoft.com/office/drawing/2014/main" id="{0ADD1318-1E52-0782-7F22-C8C983EC7300}"/>
              </a:ext>
            </a:extLst>
          </p:cNvPr>
          <p:cNvSpPr/>
          <p:nvPr/>
        </p:nvSpPr>
        <p:spPr>
          <a:xfrm>
            <a:off x="838200" y="4321959"/>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a:p>
            <a:pPr algn="ctr"/>
            <a:r>
              <a:rPr lang="nl-NL" sz="1600" dirty="0"/>
              <a:t>Versie </a:t>
            </a:r>
          </a:p>
        </p:txBody>
      </p:sp>
      <p:sp>
        <p:nvSpPr>
          <p:cNvPr id="41" name="Rechthoek 40">
            <a:extLst>
              <a:ext uri="{FF2B5EF4-FFF2-40B4-BE49-F238E27FC236}">
                <a16:creationId xmlns:a16="http://schemas.microsoft.com/office/drawing/2014/main" id="{B787E908-4E2E-CAEA-EA7A-BB3B6F455818}"/>
              </a:ext>
            </a:extLst>
          </p:cNvPr>
          <p:cNvSpPr/>
          <p:nvPr/>
        </p:nvSpPr>
        <p:spPr>
          <a:xfrm>
            <a:off x="9298864" y="2279420"/>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a:p>
            <a:pPr algn="ctr"/>
            <a:r>
              <a:rPr lang="nl-NL" sz="1600" dirty="0"/>
              <a:t>ID </a:t>
            </a:r>
          </a:p>
        </p:txBody>
      </p:sp>
      <p:sp>
        <p:nvSpPr>
          <p:cNvPr id="42" name="Rechthoek 41">
            <a:extLst>
              <a:ext uri="{FF2B5EF4-FFF2-40B4-BE49-F238E27FC236}">
                <a16:creationId xmlns:a16="http://schemas.microsoft.com/office/drawing/2014/main" id="{8870E150-EAB1-310C-46A1-8BB3DA31672D}"/>
              </a:ext>
            </a:extLst>
          </p:cNvPr>
          <p:cNvSpPr/>
          <p:nvPr/>
        </p:nvSpPr>
        <p:spPr>
          <a:xfrm>
            <a:off x="9298864" y="2925944"/>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sp>
        <p:nvSpPr>
          <p:cNvPr id="43" name="Rechthoek 42">
            <a:extLst>
              <a:ext uri="{FF2B5EF4-FFF2-40B4-BE49-F238E27FC236}">
                <a16:creationId xmlns:a16="http://schemas.microsoft.com/office/drawing/2014/main" id="{23A6E310-3E20-DFD1-7215-3DB56603C323}"/>
              </a:ext>
            </a:extLst>
          </p:cNvPr>
          <p:cNvSpPr/>
          <p:nvPr/>
        </p:nvSpPr>
        <p:spPr>
          <a:xfrm>
            <a:off x="9298864" y="5034309"/>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gegevensobject</a:t>
            </a:r>
          </a:p>
        </p:txBody>
      </p:sp>
      <p:sp>
        <p:nvSpPr>
          <p:cNvPr id="44" name="Rechthoek 43">
            <a:extLst>
              <a:ext uri="{FF2B5EF4-FFF2-40B4-BE49-F238E27FC236}">
                <a16:creationId xmlns:a16="http://schemas.microsoft.com/office/drawing/2014/main" id="{AF2CB964-2865-BF10-2182-DA64580BF066}"/>
              </a:ext>
            </a:extLst>
          </p:cNvPr>
          <p:cNvSpPr/>
          <p:nvPr/>
        </p:nvSpPr>
        <p:spPr>
          <a:xfrm>
            <a:off x="9298864" y="4321959"/>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a:p>
            <a:pPr algn="ctr"/>
            <a:r>
              <a:rPr lang="nl-NL" sz="1600" dirty="0"/>
              <a:t>Versie </a:t>
            </a:r>
          </a:p>
        </p:txBody>
      </p:sp>
      <p:cxnSp>
        <p:nvCxnSpPr>
          <p:cNvPr id="46" name="Rechte verbindingslijn met pijl 45">
            <a:extLst>
              <a:ext uri="{FF2B5EF4-FFF2-40B4-BE49-F238E27FC236}">
                <a16:creationId xmlns:a16="http://schemas.microsoft.com/office/drawing/2014/main" id="{2BEECA0B-7BF5-A7E2-56D6-7E2219F919AD}"/>
              </a:ext>
            </a:extLst>
          </p:cNvPr>
          <p:cNvCxnSpPr>
            <a:stCxn id="40" idx="0"/>
            <a:endCxn id="35" idx="2"/>
          </p:cNvCxnSpPr>
          <p:nvPr/>
        </p:nvCxnSpPr>
        <p:spPr>
          <a:xfrm flipV="1">
            <a:off x="1879600" y="3499435"/>
            <a:ext cx="0" cy="8225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Rechte verbindingslijn met pijl 46">
            <a:extLst>
              <a:ext uri="{FF2B5EF4-FFF2-40B4-BE49-F238E27FC236}">
                <a16:creationId xmlns:a16="http://schemas.microsoft.com/office/drawing/2014/main" id="{31C11528-4938-F469-085F-0E0F503970DC}"/>
              </a:ext>
            </a:extLst>
          </p:cNvPr>
          <p:cNvCxnSpPr>
            <a:cxnSpLocks/>
            <a:endCxn id="41" idx="1"/>
          </p:cNvCxnSpPr>
          <p:nvPr/>
        </p:nvCxnSpPr>
        <p:spPr>
          <a:xfrm flipV="1">
            <a:off x="8347594" y="2566166"/>
            <a:ext cx="951270" cy="4256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Rechthoek 48">
            <a:extLst>
              <a:ext uri="{FF2B5EF4-FFF2-40B4-BE49-F238E27FC236}">
                <a16:creationId xmlns:a16="http://schemas.microsoft.com/office/drawing/2014/main" id="{413B6FF6-876F-E630-8BA5-47D946509C0E}"/>
              </a:ext>
            </a:extLst>
          </p:cNvPr>
          <p:cNvSpPr/>
          <p:nvPr/>
        </p:nvSpPr>
        <p:spPr>
          <a:xfrm>
            <a:off x="838200" y="5717974"/>
            <a:ext cx="2082800" cy="573491"/>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relatie naar ander gegevensobject</a:t>
            </a:r>
          </a:p>
        </p:txBody>
      </p:sp>
      <p:cxnSp>
        <p:nvCxnSpPr>
          <p:cNvPr id="53" name="Rechte verbindingslijn met pijl 52">
            <a:extLst>
              <a:ext uri="{FF2B5EF4-FFF2-40B4-BE49-F238E27FC236}">
                <a16:creationId xmlns:a16="http://schemas.microsoft.com/office/drawing/2014/main" id="{530807E3-9D9A-10BE-3A40-B6E5B4D80EAB}"/>
              </a:ext>
            </a:extLst>
          </p:cNvPr>
          <p:cNvCxnSpPr>
            <a:cxnSpLocks/>
            <a:endCxn id="42" idx="1"/>
          </p:cNvCxnSpPr>
          <p:nvPr/>
        </p:nvCxnSpPr>
        <p:spPr>
          <a:xfrm>
            <a:off x="8347594" y="2991770"/>
            <a:ext cx="951270" cy="2209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Rechte verbindingslijn met pijl 55">
            <a:extLst>
              <a:ext uri="{FF2B5EF4-FFF2-40B4-BE49-F238E27FC236}">
                <a16:creationId xmlns:a16="http://schemas.microsoft.com/office/drawing/2014/main" id="{1B2AADBA-0640-6325-1388-8B9AE6C586EB}"/>
              </a:ext>
            </a:extLst>
          </p:cNvPr>
          <p:cNvCxnSpPr>
            <a:cxnSpLocks/>
            <a:stCxn id="44" idx="0"/>
            <a:endCxn id="42" idx="2"/>
          </p:cNvCxnSpPr>
          <p:nvPr/>
        </p:nvCxnSpPr>
        <p:spPr>
          <a:xfrm flipV="1">
            <a:off x="10340264" y="3499435"/>
            <a:ext cx="0" cy="8225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Rechte verbindingslijn 58">
            <a:extLst>
              <a:ext uri="{FF2B5EF4-FFF2-40B4-BE49-F238E27FC236}">
                <a16:creationId xmlns:a16="http://schemas.microsoft.com/office/drawing/2014/main" id="{7739266B-D6CE-DDB4-6BA8-60B65039711E}"/>
              </a:ext>
            </a:extLst>
          </p:cNvPr>
          <p:cNvCxnSpPr>
            <a:cxnSpLocks/>
          </p:cNvCxnSpPr>
          <p:nvPr/>
        </p:nvCxnSpPr>
        <p:spPr>
          <a:xfrm flipH="1">
            <a:off x="3460952" y="2991770"/>
            <a:ext cx="48866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Rechte verbindingslijn 62">
            <a:extLst>
              <a:ext uri="{FF2B5EF4-FFF2-40B4-BE49-F238E27FC236}">
                <a16:creationId xmlns:a16="http://schemas.microsoft.com/office/drawing/2014/main" id="{1F4CA31F-FEB7-AEF4-B10E-1A16D73806A7}"/>
              </a:ext>
            </a:extLst>
          </p:cNvPr>
          <p:cNvCxnSpPr>
            <a:cxnSpLocks/>
          </p:cNvCxnSpPr>
          <p:nvPr/>
        </p:nvCxnSpPr>
        <p:spPr>
          <a:xfrm flipV="1">
            <a:off x="3460955" y="2991770"/>
            <a:ext cx="0" cy="3025572"/>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Rechte verbindingslijn 65">
            <a:extLst>
              <a:ext uri="{FF2B5EF4-FFF2-40B4-BE49-F238E27FC236}">
                <a16:creationId xmlns:a16="http://schemas.microsoft.com/office/drawing/2014/main" id="{3AC9AE08-3143-9861-7515-2CE1EE7EB587}"/>
              </a:ext>
            </a:extLst>
          </p:cNvPr>
          <p:cNvCxnSpPr>
            <a:cxnSpLocks/>
            <a:endCxn id="49" idx="3"/>
          </p:cNvCxnSpPr>
          <p:nvPr/>
        </p:nvCxnSpPr>
        <p:spPr>
          <a:xfrm flipH="1">
            <a:off x="2921000" y="6004720"/>
            <a:ext cx="539955" cy="0"/>
          </a:xfrm>
          <a:prstGeom prst="line">
            <a:avLst/>
          </a:prstGeom>
        </p:spPr>
        <p:style>
          <a:lnRef idx="2">
            <a:schemeClr val="accent1"/>
          </a:lnRef>
          <a:fillRef idx="0">
            <a:schemeClr val="accent1"/>
          </a:fillRef>
          <a:effectRef idx="1">
            <a:schemeClr val="accent1"/>
          </a:effectRef>
          <a:fontRef idx="minor">
            <a:schemeClr val="tx1"/>
          </a:fontRef>
        </p:style>
      </p:cxnSp>
      <p:sp>
        <p:nvSpPr>
          <p:cNvPr id="69" name="Tekstvak 68">
            <a:extLst>
              <a:ext uri="{FF2B5EF4-FFF2-40B4-BE49-F238E27FC236}">
                <a16:creationId xmlns:a16="http://schemas.microsoft.com/office/drawing/2014/main" id="{918AACF1-3B24-DA86-F12D-78605396F127}"/>
              </a:ext>
            </a:extLst>
          </p:cNvPr>
          <p:cNvSpPr txBox="1"/>
          <p:nvPr/>
        </p:nvSpPr>
        <p:spPr>
          <a:xfrm>
            <a:off x="3640388" y="3178792"/>
            <a:ext cx="5434779" cy="3139321"/>
          </a:xfrm>
          <a:prstGeom prst="rect">
            <a:avLst/>
          </a:prstGeom>
          <a:noFill/>
        </p:spPr>
        <p:txBody>
          <a:bodyPr wrap="square" rtlCol="0">
            <a:spAutoFit/>
          </a:bodyPr>
          <a:lstStyle/>
          <a:p>
            <a:r>
              <a:rPr lang="nl-NL" dirty="0"/>
              <a:t>Er wordt bij een relatie naar een gerelateerd object meestal niet rechtstreeks naar een Versie verwezen, maar meestal naar het algemene ID (versie-onafhankelijk, voor alle versies gelijk) van het gegevensobject. </a:t>
            </a:r>
          </a:p>
          <a:p>
            <a:endParaRPr lang="nl-NL" dirty="0"/>
          </a:p>
          <a:p>
            <a:r>
              <a:rPr lang="nl-NL" dirty="0"/>
              <a:t>Dit is een gangbaar patroon bij administraties en gegevensuitwisselingen die tijdslijnen en versies ondersteunen. Hiervoor wordt meestal een generieke aanpak gehanteerd, die los staat van de gegevens over de </a:t>
            </a:r>
            <a:r>
              <a:rPr lang="nl-NL" dirty="0" err="1"/>
              <a:t>Íd’s</a:t>
            </a:r>
            <a:r>
              <a:rPr lang="nl-NL" dirty="0"/>
              <a:t> van domeinobjecten. </a:t>
            </a:r>
          </a:p>
        </p:txBody>
      </p:sp>
    </p:spTree>
    <p:extLst>
      <p:ext uri="{BB962C8B-B14F-4D97-AF65-F5344CB8AC3E}">
        <p14:creationId xmlns:p14="http://schemas.microsoft.com/office/powerpoint/2010/main" val="1917778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73D39B-D160-318C-9407-D9BD88E6A16E}"/>
              </a:ext>
            </a:extLst>
          </p:cNvPr>
          <p:cNvSpPr>
            <a:spLocks noGrp="1"/>
          </p:cNvSpPr>
          <p:nvPr>
            <p:ph type="title"/>
          </p:nvPr>
        </p:nvSpPr>
        <p:spPr>
          <a:xfrm>
            <a:off x="512956" y="401197"/>
            <a:ext cx="10515600" cy="1325563"/>
          </a:xfrm>
        </p:spPr>
        <p:txBody>
          <a:bodyPr>
            <a:normAutofit/>
          </a:bodyPr>
          <a:lstStyle/>
          <a:p>
            <a:r>
              <a:rPr lang="nl-NL" sz="4000" dirty="0"/>
              <a:t>Relaties tussen </a:t>
            </a:r>
            <a:r>
              <a:rPr lang="nl-NL" sz="4000" dirty="0" err="1"/>
              <a:t>Id’s</a:t>
            </a:r>
            <a:r>
              <a:rPr lang="nl-NL" sz="4000" dirty="0"/>
              <a:t> modelleren</a:t>
            </a:r>
          </a:p>
        </p:txBody>
      </p:sp>
      <p:sp>
        <p:nvSpPr>
          <p:cNvPr id="5" name="Tijdelijke aanduiding voor inhoud 4">
            <a:extLst>
              <a:ext uri="{FF2B5EF4-FFF2-40B4-BE49-F238E27FC236}">
                <a16:creationId xmlns:a16="http://schemas.microsoft.com/office/drawing/2014/main" id="{8CF15E09-8E3B-4D5F-C8CB-535DB37D0630}"/>
              </a:ext>
            </a:extLst>
          </p:cNvPr>
          <p:cNvSpPr>
            <a:spLocks noGrp="1"/>
          </p:cNvSpPr>
          <p:nvPr>
            <p:ph idx="1"/>
          </p:nvPr>
        </p:nvSpPr>
        <p:spPr>
          <a:xfrm>
            <a:off x="512956" y="1504335"/>
            <a:ext cx="7903694" cy="4672628"/>
          </a:xfrm>
        </p:spPr>
        <p:txBody>
          <a:bodyPr>
            <a:normAutofit/>
          </a:bodyPr>
          <a:lstStyle/>
          <a:p>
            <a:pPr marL="0" indent="0">
              <a:buNone/>
            </a:pPr>
            <a:r>
              <a:rPr lang="nl-NL" sz="1600" dirty="0"/>
              <a:t>De </a:t>
            </a:r>
            <a:r>
              <a:rPr lang="nl-NL" sz="1600" dirty="0" err="1"/>
              <a:t>Id</a:t>
            </a:r>
            <a:r>
              <a:rPr lang="nl-NL" sz="1600" dirty="0"/>
              <a:t> </a:t>
            </a:r>
            <a:r>
              <a:rPr lang="nl-NL" sz="1600" u="sng" dirty="0"/>
              <a:t>in</a:t>
            </a:r>
            <a:r>
              <a:rPr lang="nl-NL" sz="1600" dirty="0"/>
              <a:t> een gegevensobject die over versies gaat (LGM gebruiksdoel 3), heeft een sterke relatie met de </a:t>
            </a:r>
            <a:r>
              <a:rPr lang="nl-NL" sz="1600" dirty="0" err="1"/>
              <a:t>Id</a:t>
            </a:r>
            <a:r>
              <a:rPr lang="nl-NL" sz="1600" dirty="0"/>
              <a:t> in een gegevensobject die voor alle versies gelijk is (LGM gebruiksdoel 1 of 2). Tussen deze twee soorten </a:t>
            </a:r>
            <a:r>
              <a:rPr lang="nl-NL" sz="1600" dirty="0" err="1"/>
              <a:t>Id’s</a:t>
            </a:r>
            <a:r>
              <a:rPr lang="nl-NL" sz="1600" dirty="0"/>
              <a:t> zit een N op 1 relatie. </a:t>
            </a:r>
          </a:p>
          <a:p>
            <a:pPr marL="0" indent="0">
              <a:buNone/>
            </a:pPr>
            <a:r>
              <a:rPr lang="nl-NL" sz="1600" dirty="0"/>
              <a:t>De </a:t>
            </a:r>
            <a:r>
              <a:rPr lang="nl-NL" sz="1600" dirty="0" err="1"/>
              <a:t>Id</a:t>
            </a:r>
            <a:r>
              <a:rPr lang="nl-NL" sz="1600" dirty="0"/>
              <a:t> </a:t>
            </a:r>
            <a:r>
              <a:rPr lang="nl-NL" sz="1600" u="sng" dirty="0"/>
              <a:t>in</a:t>
            </a:r>
            <a:r>
              <a:rPr lang="nl-NL" sz="1600" dirty="0"/>
              <a:t> een gegevensobject die voor alle versies gelijk is (LGM gebruiksdoel 2), is altijd gerelateerd aan 1 </a:t>
            </a:r>
            <a:r>
              <a:rPr lang="nl-NL" sz="1600" dirty="0" err="1"/>
              <a:t>Id</a:t>
            </a:r>
            <a:r>
              <a:rPr lang="nl-NL" sz="1600" dirty="0"/>
              <a:t> van een domeinobject op conceptueel niveau, zoals gemodelleerd in een CIM. Deze laatste verwijst naar het hoofdonderwerp van het </a:t>
            </a:r>
            <a:r>
              <a:rPr lang="nl-NL" sz="1600" dirty="0" err="1"/>
              <a:t>gegevensobjectype</a:t>
            </a:r>
            <a:r>
              <a:rPr lang="nl-NL" sz="1600" dirty="0"/>
              <a:t>. Tussen deze twee soorten </a:t>
            </a:r>
            <a:r>
              <a:rPr lang="nl-NL" sz="1600" dirty="0" err="1"/>
              <a:t>Id’s</a:t>
            </a:r>
            <a:r>
              <a:rPr lang="nl-NL" sz="1600" dirty="0"/>
              <a:t> zit een 1 op 1 relatie. </a:t>
            </a:r>
          </a:p>
          <a:p>
            <a:pPr marL="0" indent="0">
              <a:buNone/>
            </a:pPr>
            <a:r>
              <a:rPr lang="nl-NL" sz="1600" dirty="0"/>
              <a:t>Er kunnen ook gegevenstypen in een </a:t>
            </a:r>
            <a:r>
              <a:rPr lang="nl-NL" sz="1600" dirty="0" err="1"/>
              <a:t>gegevensobjecttype</a:t>
            </a:r>
            <a:r>
              <a:rPr lang="nl-NL" sz="1600" dirty="0"/>
              <a:t> aanwezig zijn die iets te maken hebben met een ander (domein) objecttype, die niet het hoofdonderwerp is van het </a:t>
            </a:r>
            <a:r>
              <a:rPr lang="nl-NL" sz="1600" dirty="0" err="1"/>
              <a:t>gegevensobjecttype</a:t>
            </a:r>
            <a:r>
              <a:rPr lang="nl-NL" sz="1600" dirty="0"/>
              <a:t>, bv. de woonplaatscode van de plaats waar een werknemer woont. Tussen deze twee soorten </a:t>
            </a:r>
            <a:r>
              <a:rPr lang="nl-NL" sz="1600" dirty="0" err="1"/>
              <a:t>Id’s</a:t>
            </a:r>
            <a:r>
              <a:rPr lang="nl-NL" sz="1600" dirty="0"/>
              <a:t> zit een 1 op 1 relatie. </a:t>
            </a:r>
          </a:p>
          <a:p>
            <a:pPr marL="0" indent="0">
              <a:buNone/>
            </a:pPr>
            <a:r>
              <a:rPr lang="nl-NL" sz="1600" dirty="0"/>
              <a:t>Tot slot kan een gegevensobject gegevens bevatten die een verwijzing zijn naar een </a:t>
            </a:r>
            <a:r>
              <a:rPr lang="nl-NL" sz="1600" dirty="0" err="1"/>
              <a:t>Id</a:t>
            </a:r>
            <a:r>
              <a:rPr lang="nl-NL" sz="1600" dirty="0"/>
              <a:t> op logisch niveau (gebruiksdoel 1 of 2) van een domeinobject. </a:t>
            </a:r>
          </a:p>
          <a:p>
            <a:pPr marL="0" indent="0">
              <a:buNone/>
            </a:pPr>
            <a:r>
              <a:rPr lang="nl-NL" sz="1600" dirty="0"/>
              <a:t>Merk op: deze relaties tussen </a:t>
            </a:r>
            <a:r>
              <a:rPr lang="nl-NL" sz="1600" dirty="0" err="1"/>
              <a:t>Id’s</a:t>
            </a:r>
            <a:r>
              <a:rPr lang="nl-NL" sz="1600" dirty="0"/>
              <a:t> gaan niet over relaties tussen gegevenstypen, maar over relaties tussen </a:t>
            </a:r>
            <a:r>
              <a:rPr lang="nl-NL" sz="1600" dirty="0" err="1"/>
              <a:t>Id’s</a:t>
            </a:r>
            <a:r>
              <a:rPr lang="nl-NL" sz="1600" dirty="0"/>
              <a:t>! Soms wordt de specificatie van de inhoud van een </a:t>
            </a:r>
            <a:r>
              <a:rPr lang="nl-NL" sz="1600" dirty="0" err="1"/>
              <a:t>Id</a:t>
            </a:r>
            <a:r>
              <a:rPr lang="nl-NL" sz="1600" dirty="0"/>
              <a:t> ook samengesteld uit een ander </a:t>
            </a:r>
            <a:r>
              <a:rPr lang="nl-NL" sz="1600" dirty="0" err="1"/>
              <a:t>Id</a:t>
            </a:r>
            <a:r>
              <a:rPr lang="nl-NL" sz="1600" dirty="0"/>
              <a:t> + nog iets. Het lijkt dus zinvol dat </a:t>
            </a:r>
            <a:r>
              <a:rPr lang="nl-NL" sz="1600" dirty="0" err="1"/>
              <a:t>Id’s</a:t>
            </a:r>
            <a:r>
              <a:rPr lang="nl-NL" sz="1600" dirty="0"/>
              <a:t> naar elkaar kunnen verwijzen of op enige wijze hergebruik van elkaar kunnen maken. </a:t>
            </a:r>
          </a:p>
          <a:p>
            <a:pPr marL="0" indent="0">
              <a:buNone/>
            </a:pPr>
            <a:endParaRPr lang="nl-NL" sz="1600" dirty="0"/>
          </a:p>
        </p:txBody>
      </p:sp>
      <p:sp>
        <p:nvSpPr>
          <p:cNvPr id="6" name="Rechthoek 5">
            <a:extLst>
              <a:ext uri="{FF2B5EF4-FFF2-40B4-BE49-F238E27FC236}">
                <a16:creationId xmlns:a16="http://schemas.microsoft.com/office/drawing/2014/main" id="{CD470C4A-278F-F427-4B0E-44957A7362A9}"/>
              </a:ext>
            </a:extLst>
          </p:cNvPr>
          <p:cNvSpPr/>
          <p:nvPr/>
        </p:nvSpPr>
        <p:spPr>
          <a:xfrm>
            <a:off x="9472983" y="2774663"/>
            <a:ext cx="2082800" cy="4572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p:txBody>
      </p:sp>
      <p:sp>
        <p:nvSpPr>
          <p:cNvPr id="7" name="Rechthoek 6">
            <a:extLst>
              <a:ext uri="{FF2B5EF4-FFF2-40B4-BE49-F238E27FC236}">
                <a16:creationId xmlns:a16="http://schemas.microsoft.com/office/drawing/2014/main" id="{2C4EFFA4-D928-442B-2008-4963321A895B}"/>
              </a:ext>
            </a:extLst>
          </p:cNvPr>
          <p:cNvSpPr/>
          <p:nvPr/>
        </p:nvSpPr>
        <p:spPr>
          <a:xfrm>
            <a:off x="9472983" y="3276312"/>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1</a:t>
            </a:r>
          </a:p>
        </p:txBody>
      </p:sp>
      <p:sp>
        <p:nvSpPr>
          <p:cNvPr id="8" name="Rechthoek 7">
            <a:extLst>
              <a:ext uri="{FF2B5EF4-FFF2-40B4-BE49-F238E27FC236}">
                <a16:creationId xmlns:a16="http://schemas.microsoft.com/office/drawing/2014/main" id="{A2B6D22A-52AA-7A1F-CB6F-6FD00627D320}"/>
              </a:ext>
            </a:extLst>
          </p:cNvPr>
          <p:cNvSpPr/>
          <p:nvPr/>
        </p:nvSpPr>
        <p:spPr>
          <a:xfrm>
            <a:off x="9472983" y="4342415"/>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versienummer </a:t>
            </a:r>
          </a:p>
        </p:txBody>
      </p:sp>
      <p:sp>
        <p:nvSpPr>
          <p:cNvPr id="9" name="Rechthoek 8">
            <a:extLst>
              <a:ext uri="{FF2B5EF4-FFF2-40B4-BE49-F238E27FC236}">
                <a16:creationId xmlns:a16="http://schemas.microsoft.com/office/drawing/2014/main" id="{9309A18E-A7DD-173A-EDF2-571E9AD20F31}"/>
              </a:ext>
            </a:extLst>
          </p:cNvPr>
          <p:cNvSpPr/>
          <p:nvPr/>
        </p:nvSpPr>
        <p:spPr>
          <a:xfrm>
            <a:off x="9472983" y="498896"/>
            <a:ext cx="2082800" cy="4572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Objecttype</a:t>
            </a:r>
          </a:p>
        </p:txBody>
      </p:sp>
      <p:sp>
        <p:nvSpPr>
          <p:cNvPr id="10" name="Rechthoek 9">
            <a:extLst>
              <a:ext uri="{FF2B5EF4-FFF2-40B4-BE49-F238E27FC236}">
                <a16:creationId xmlns:a16="http://schemas.microsoft.com/office/drawing/2014/main" id="{5B2A2E1D-DC55-AD38-4E9F-080605F70D4F}"/>
              </a:ext>
            </a:extLst>
          </p:cNvPr>
          <p:cNvSpPr/>
          <p:nvPr/>
        </p:nvSpPr>
        <p:spPr>
          <a:xfrm>
            <a:off x="9472983" y="1738249"/>
            <a:ext cx="2082800" cy="57218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Identificator</a:t>
            </a:r>
            <a:r>
              <a:rPr lang="nl-NL" sz="1600" dirty="0"/>
              <a:t> domeinobject</a:t>
            </a:r>
          </a:p>
        </p:txBody>
      </p:sp>
      <p:sp>
        <p:nvSpPr>
          <p:cNvPr id="11" name="Rechthoek 10">
            <a:extLst>
              <a:ext uri="{FF2B5EF4-FFF2-40B4-BE49-F238E27FC236}">
                <a16:creationId xmlns:a16="http://schemas.microsoft.com/office/drawing/2014/main" id="{79BD73A7-33D8-402D-4EFC-59F56D6D1C31}"/>
              </a:ext>
            </a:extLst>
          </p:cNvPr>
          <p:cNvSpPr/>
          <p:nvPr/>
        </p:nvSpPr>
        <p:spPr>
          <a:xfrm>
            <a:off x="9472983" y="1032939"/>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Eigenschaptype</a:t>
            </a:r>
            <a:r>
              <a:rPr lang="nl-NL" sz="1600" dirty="0"/>
              <a:t> 1</a:t>
            </a:r>
          </a:p>
        </p:txBody>
      </p:sp>
      <p:sp>
        <p:nvSpPr>
          <p:cNvPr id="12" name="Rechthoek 11">
            <a:extLst>
              <a:ext uri="{FF2B5EF4-FFF2-40B4-BE49-F238E27FC236}">
                <a16:creationId xmlns:a16="http://schemas.microsoft.com/office/drawing/2014/main" id="{A72E93A9-2E02-91D7-43E1-02F510F44CC7}"/>
              </a:ext>
            </a:extLst>
          </p:cNvPr>
          <p:cNvSpPr/>
          <p:nvPr/>
        </p:nvSpPr>
        <p:spPr>
          <a:xfrm>
            <a:off x="9487734" y="1381983"/>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Eigenschaptype</a:t>
            </a:r>
            <a:r>
              <a:rPr lang="nl-NL" sz="1600" dirty="0"/>
              <a:t> 2</a:t>
            </a:r>
          </a:p>
        </p:txBody>
      </p:sp>
      <p:cxnSp>
        <p:nvCxnSpPr>
          <p:cNvPr id="13" name="Rechte verbindingslijn 12">
            <a:extLst>
              <a:ext uri="{FF2B5EF4-FFF2-40B4-BE49-F238E27FC236}">
                <a16:creationId xmlns:a16="http://schemas.microsoft.com/office/drawing/2014/main" id="{93F4152F-1FC4-996A-FD7F-9B0DFFBC0AB2}"/>
              </a:ext>
            </a:extLst>
          </p:cNvPr>
          <p:cNvCxnSpPr>
            <a:cxnSpLocks/>
          </p:cNvCxnSpPr>
          <p:nvPr/>
        </p:nvCxnSpPr>
        <p:spPr>
          <a:xfrm flipV="1">
            <a:off x="11922032" y="1180224"/>
            <a:ext cx="3" cy="8441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Rechte verbindingslijn 13">
            <a:extLst>
              <a:ext uri="{FF2B5EF4-FFF2-40B4-BE49-F238E27FC236}">
                <a16:creationId xmlns:a16="http://schemas.microsoft.com/office/drawing/2014/main" id="{5FFE4A63-E3D0-3504-65C2-586FF1AA89AD}"/>
              </a:ext>
            </a:extLst>
          </p:cNvPr>
          <p:cNvCxnSpPr>
            <a:cxnSpLocks/>
            <a:stCxn id="10" idx="3"/>
          </p:cNvCxnSpPr>
          <p:nvPr/>
        </p:nvCxnSpPr>
        <p:spPr>
          <a:xfrm>
            <a:off x="11555783" y="2024339"/>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Rechte verbindingslijn met pijl 14">
            <a:extLst>
              <a:ext uri="{FF2B5EF4-FFF2-40B4-BE49-F238E27FC236}">
                <a16:creationId xmlns:a16="http://schemas.microsoft.com/office/drawing/2014/main" id="{F456FE0F-61AB-994C-1684-4151D6E2088D}"/>
              </a:ext>
            </a:extLst>
          </p:cNvPr>
          <p:cNvCxnSpPr>
            <a:cxnSpLocks/>
            <a:endCxn id="11" idx="3"/>
          </p:cNvCxnSpPr>
          <p:nvPr/>
        </p:nvCxnSpPr>
        <p:spPr>
          <a:xfrm flipH="1">
            <a:off x="11555783" y="1180224"/>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Rechte verbindingslijn met pijl 15">
            <a:extLst>
              <a:ext uri="{FF2B5EF4-FFF2-40B4-BE49-F238E27FC236}">
                <a16:creationId xmlns:a16="http://schemas.microsoft.com/office/drawing/2014/main" id="{CEFB9FF6-18D0-2AD9-FB7E-05C5A05BB0C2}"/>
              </a:ext>
            </a:extLst>
          </p:cNvPr>
          <p:cNvCxnSpPr>
            <a:cxnSpLocks/>
          </p:cNvCxnSpPr>
          <p:nvPr/>
        </p:nvCxnSpPr>
        <p:spPr>
          <a:xfrm flipH="1">
            <a:off x="11555783" y="1521600"/>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Rechte verbindingslijn met pijl 16">
            <a:extLst>
              <a:ext uri="{FF2B5EF4-FFF2-40B4-BE49-F238E27FC236}">
                <a16:creationId xmlns:a16="http://schemas.microsoft.com/office/drawing/2014/main" id="{1D36F8A8-F553-AF34-CD74-E43E1179BEA8}"/>
              </a:ext>
            </a:extLst>
          </p:cNvPr>
          <p:cNvCxnSpPr>
            <a:cxnSpLocks/>
          </p:cNvCxnSpPr>
          <p:nvPr/>
        </p:nvCxnSpPr>
        <p:spPr>
          <a:xfrm>
            <a:off x="9102453" y="784983"/>
            <a:ext cx="38527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Rechte verbindingslijn 17">
            <a:extLst>
              <a:ext uri="{FF2B5EF4-FFF2-40B4-BE49-F238E27FC236}">
                <a16:creationId xmlns:a16="http://schemas.microsoft.com/office/drawing/2014/main" id="{7447FD69-AEE5-1E1B-5CC6-0BB4D1117A77}"/>
              </a:ext>
            </a:extLst>
          </p:cNvPr>
          <p:cNvCxnSpPr>
            <a:cxnSpLocks/>
          </p:cNvCxnSpPr>
          <p:nvPr/>
        </p:nvCxnSpPr>
        <p:spPr>
          <a:xfrm>
            <a:off x="9102453" y="791333"/>
            <a:ext cx="0" cy="223352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Rechte verbindingslijn 18">
            <a:extLst>
              <a:ext uri="{FF2B5EF4-FFF2-40B4-BE49-F238E27FC236}">
                <a16:creationId xmlns:a16="http://schemas.microsoft.com/office/drawing/2014/main" id="{11C6D30D-64D1-A349-350A-A5E3422FE6D8}"/>
              </a:ext>
            </a:extLst>
          </p:cNvPr>
          <p:cNvCxnSpPr>
            <a:cxnSpLocks/>
          </p:cNvCxnSpPr>
          <p:nvPr/>
        </p:nvCxnSpPr>
        <p:spPr>
          <a:xfrm>
            <a:off x="9102453" y="3024853"/>
            <a:ext cx="370241"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kstvak 19">
            <a:extLst>
              <a:ext uri="{FF2B5EF4-FFF2-40B4-BE49-F238E27FC236}">
                <a16:creationId xmlns:a16="http://schemas.microsoft.com/office/drawing/2014/main" id="{3B46EBEF-50B2-36D2-77F7-12D33CE4FC5E}"/>
              </a:ext>
            </a:extLst>
          </p:cNvPr>
          <p:cNvSpPr txBox="1"/>
          <p:nvPr/>
        </p:nvSpPr>
        <p:spPr>
          <a:xfrm rot="16200000">
            <a:off x="7961090" y="925002"/>
            <a:ext cx="1829340" cy="369332"/>
          </a:xfrm>
          <a:prstGeom prst="rect">
            <a:avLst/>
          </a:prstGeom>
          <a:noFill/>
        </p:spPr>
        <p:txBody>
          <a:bodyPr wrap="square" rtlCol="0">
            <a:spAutoFit/>
          </a:bodyPr>
          <a:lstStyle/>
          <a:p>
            <a:r>
              <a:rPr lang="nl-NL" dirty="0">
                <a:solidFill>
                  <a:schemeClr val="accent3">
                    <a:lumMod val="60000"/>
                    <a:lumOff val="40000"/>
                  </a:schemeClr>
                </a:solidFill>
              </a:rPr>
              <a:t>hoofdonderwerp</a:t>
            </a:r>
          </a:p>
        </p:txBody>
      </p:sp>
      <p:sp>
        <p:nvSpPr>
          <p:cNvPr id="21" name="Rechthoek 20">
            <a:extLst>
              <a:ext uri="{FF2B5EF4-FFF2-40B4-BE49-F238E27FC236}">
                <a16:creationId xmlns:a16="http://schemas.microsoft.com/office/drawing/2014/main" id="{F203406D-8C1D-B76F-F12B-8995BB03E0B0}"/>
              </a:ext>
            </a:extLst>
          </p:cNvPr>
          <p:cNvSpPr/>
          <p:nvPr/>
        </p:nvSpPr>
        <p:spPr>
          <a:xfrm>
            <a:off x="9472983" y="3627467"/>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2</a:t>
            </a:r>
          </a:p>
        </p:txBody>
      </p:sp>
      <p:sp>
        <p:nvSpPr>
          <p:cNvPr id="22" name="Rechthoek 21">
            <a:extLst>
              <a:ext uri="{FF2B5EF4-FFF2-40B4-BE49-F238E27FC236}">
                <a16:creationId xmlns:a16="http://schemas.microsoft.com/office/drawing/2014/main" id="{69A43A0A-C7B5-0C18-2624-A19C5B552976}"/>
              </a:ext>
            </a:extLst>
          </p:cNvPr>
          <p:cNvSpPr/>
          <p:nvPr/>
        </p:nvSpPr>
        <p:spPr>
          <a:xfrm>
            <a:off x="9472983" y="3978622"/>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3</a:t>
            </a:r>
          </a:p>
        </p:txBody>
      </p:sp>
      <p:sp>
        <p:nvSpPr>
          <p:cNvPr id="23" name="Rechthoek 22">
            <a:extLst>
              <a:ext uri="{FF2B5EF4-FFF2-40B4-BE49-F238E27FC236}">
                <a16:creationId xmlns:a16="http://schemas.microsoft.com/office/drawing/2014/main" id="{540C700A-6158-398F-7C6C-9097F0EF5CA2}"/>
              </a:ext>
            </a:extLst>
          </p:cNvPr>
          <p:cNvSpPr/>
          <p:nvPr/>
        </p:nvSpPr>
        <p:spPr>
          <a:xfrm>
            <a:off x="9472983" y="4705196"/>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cxnSp>
        <p:nvCxnSpPr>
          <p:cNvPr id="24" name="Rechte verbindingslijn 23">
            <a:extLst>
              <a:ext uri="{FF2B5EF4-FFF2-40B4-BE49-F238E27FC236}">
                <a16:creationId xmlns:a16="http://schemas.microsoft.com/office/drawing/2014/main" id="{9D792A82-590F-4FCB-2036-D938FA33BE26}"/>
              </a:ext>
            </a:extLst>
          </p:cNvPr>
          <p:cNvCxnSpPr>
            <a:cxnSpLocks/>
          </p:cNvCxnSpPr>
          <p:nvPr/>
        </p:nvCxnSpPr>
        <p:spPr>
          <a:xfrm>
            <a:off x="11555783" y="3415484"/>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5" name="Rechte verbindingslijn 24">
            <a:extLst>
              <a:ext uri="{FF2B5EF4-FFF2-40B4-BE49-F238E27FC236}">
                <a16:creationId xmlns:a16="http://schemas.microsoft.com/office/drawing/2014/main" id="{B49CA883-4A2F-470D-FE15-D2D1C403CAA6}"/>
              </a:ext>
            </a:extLst>
          </p:cNvPr>
          <p:cNvCxnSpPr>
            <a:cxnSpLocks/>
          </p:cNvCxnSpPr>
          <p:nvPr/>
        </p:nvCxnSpPr>
        <p:spPr>
          <a:xfrm flipH="1" flipV="1">
            <a:off x="11353800" y="1180224"/>
            <a:ext cx="461478" cy="2243807"/>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6" name="Rechte verbindingslijn 25">
            <a:extLst>
              <a:ext uri="{FF2B5EF4-FFF2-40B4-BE49-F238E27FC236}">
                <a16:creationId xmlns:a16="http://schemas.microsoft.com/office/drawing/2014/main" id="{F3333473-C7F5-7214-B020-75A945066522}"/>
              </a:ext>
            </a:extLst>
          </p:cNvPr>
          <p:cNvCxnSpPr>
            <a:cxnSpLocks/>
          </p:cNvCxnSpPr>
          <p:nvPr/>
        </p:nvCxnSpPr>
        <p:spPr>
          <a:xfrm flipH="1" flipV="1">
            <a:off x="11303000" y="1579313"/>
            <a:ext cx="497524" cy="2174322"/>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7" name="Rechte verbindingslijn 26">
            <a:extLst>
              <a:ext uri="{FF2B5EF4-FFF2-40B4-BE49-F238E27FC236}">
                <a16:creationId xmlns:a16="http://schemas.microsoft.com/office/drawing/2014/main" id="{C97C48C0-E36D-D7ED-D1B3-F153AB50DE21}"/>
              </a:ext>
            </a:extLst>
          </p:cNvPr>
          <p:cNvCxnSpPr>
            <a:cxnSpLocks/>
          </p:cNvCxnSpPr>
          <p:nvPr/>
        </p:nvCxnSpPr>
        <p:spPr>
          <a:xfrm>
            <a:off x="11555783" y="3761481"/>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8" name="Rechte verbindingslijn 27">
            <a:extLst>
              <a:ext uri="{FF2B5EF4-FFF2-40B4-BE49-F238E27FC236}">
                <a16:creationId xmlns:a16="http://schemas.microsoft.com/office/drawing/2014/main" id="{BF964582-FABA-2BB3-FEE9-2827C33CEFD3}"/>
              </a:ext>
            </a:extLst>
          </p:cNvPr>
          <p:cNvCxnSpPr>
            <a:cxnSpLocks/>
          </p:cNvCxnSpPr>
          <p:nvPr/>
        </p:nvCxnSpPr>
        <p:spPr>
          <a:xfrm flipV="1">
            <a:off x="9117490" y="4120148"/>
            <a:ext cx="0" cy="871793"/>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Rechte verbindingslijn 28">
            <a:extLst>
              <a:ext uri="{FF2B5EF4-FFF2-40B4-BE49-F238E27FC236}">
                <a16:creationId xmlns:a16="http://schemas.microsoft.com/office/drawing/2014/main" id="{28916690-C75A-0F85-8C79-F8098465EE05}"/>
              </a:ext>
            </a:extLst>
          </p:cNvPr>
          <p:cNvCxnSpPr>
            <a:cxnSpLocks/>
          </p:cNvCxnSpPr>
          <p:nvPr/>
        </p:nvCxnSpPr>
        <p:spPr>
          <a:xfrm>
            <a:off x="9117490" y="4991941"/>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Rechte verbindingslijn met pijl 29">
            <a:extLst>
              <a:ext uri="{FF2B5EF4-FFF2-40B4-BE49-F238E27FC236}">
                <a16:creationId xmlns:a16="http://schemas.microsoft.com/office/drawing/2014/main" id="{15754FD8-E91E-274F-410A-2C927742437E}"/>
              </a:ext>
            </a:extLst>
          </p:cNvPr>
          <p:cNvCxnSpPr>
            <a:cxnSpLocks/>
            <a:endCxn id="22" idx="1"/>
          </p:cNvCxnSpPr>
          <p:nvPr/>
        </p:nvCxnSpPr>
        <p:spPr>
          <a:xfrm>
            <a:off x="9106732" y="4106824"/>
            <a:ext cx="366251" cy="109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Rechthoek 30">
            <a:extLst>
              <a:ext uri="{FF2B5EF4-FFF2-40B4-BE49-F238E27FC236}">
                <a16:creationId xmlns:a16="http://schemas.microsoft.com/office/drawing/2014/main" id="{AB8AB234-11BA-754F-5504-5578ECA68CE0}"/>
              </a:ext>
            </a:extLst>
          </p:cNvPr>
          <p:cNvSpPr/>
          <p:nvPr/>
        </p:nvSpPr>
        <p:spPr>
          <a:xfrm>
            <a:off x="9472982" y="5363123"/>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gegevensobject</a:t>
            </a:r>
          </a:p>
        </p:txBody>
      </p:sp>
      <p:cxnSp>
        <p:nvCxnSpPr>
          <p:cNvPr id="32" name="Rechte verbindingslijn 31">
            <a:extLst>
              <a:ext uri="{FF2B5EF4-FFF2-40B4-BE49-F238E27FC236}">
                <a16:creationId xmlns:a16="http://schemas.microsoft.com/office/drawing/2014/main" id="{BCB37AB6-5ECF-ACF8-DCDF-CC01343F3D60}"/>
              </a:ext>
            </a:extLst>
          </p:cNvPr>
          <p:cNvCxnSpPr>
            <a:cxnSpLocks/>
          </p:cNvCxnSpPr>
          <p:nvPr/>
        </p:nvCxnSpPr>
        <p:spPr>
          <a:xfrm flipV="1">
            <a:off x="11922035" y="4106824"/>
            <a:ext cx="0" cy="1538618"/>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Rechte verbindingslijn 32">
            <a:extLst>
              <a:ext uri="{FF2B5EF4-FFF2-40B4-BE49-F238E27FC236}">
                <a16:creationId xmlns:a16="http://schemas.microsoft.com/office/drawing/2014/main" id="{C90E280F-8C48-6F2B-F9D9-567CECB662A6}"/>
              </a:ext>
            </a:extLst>
          </p:cNvPr>
          <p:cNvCxnSpPr>
            <a:cxnSpLocks/>
          </p:cNvCxnSpPr>
          <p:nvPr/>
        </p:nvCxnSpPr>
        <p:spPr>
          <a:xfrm>
            <a:off x="11555782" y="5645442"/>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Rechte verbindingslijn met pijl 33">
            <a:extLst>
              <a:ext uri="{FF2B5EF4-FFF2-40B4-BE49-F238E27FC236}">
                <a16:creationId xmlns:a16="http://schemas.microsoft.com/office/drawing/2014/main" id="{CE68F000-3C89-45B9-0F2E-9760D2E1B8F1}"/>
              </a:ext>
            </a:extLst>
          </p:cNvPr>
          <p:cNvCxnSpPr>
            <a:cxnSpLocks/>
          </p:cNvCxnSpPr>
          <p:nvPr/>
        </p:nvCxnSpPr>
        <p:spPr>
          <a:xfrm flipH="1">
            <a:off x="11555783" y="4106824"/>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Rechte verbindingslijn met pijl 34">
            <a:extLst>
              <a:ext uri="{FF2B5EF4-FFF2-40B4-BE49-F238E27FC236}">
                <a16:creationId xmlns:a16="http://schemas.microsoft.com/office/drawing/2014/main" id="{2F8A2807-E7CD-5E5A-5442-F6F157A598D8}"/>
              </a:ext>
            </a:extLst>
          </p:cNvPr>
          <p:cNvCxnSpPr>
            <a:cxnSpLocks/>
          </p:cNvCxnSpPr>
          <p:nvPr/>
        </p:nvCxnSpPr>
        <p:spPr>
          <a:xfrm flipH="1">
            <a:off x="11555783" y="4448200"/>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Rechte verbindingslijn 35">
            <a:extLst>
              <a:ext uri="{FF2B5EF4-FFF2-40B4-BE49-F238E27FC236}">
                <a16:creationId xmlns:a16="http://schemas.microsoft.com/office/drawing/2014/main" id="{89ED4D1F-8453-8AD1-44F9-EE0727416F36}"/>
              </a:ext>
            </a:extLst>
          </p:cNvPr>
          <p:cNvCxnSpPr>
            <a:cxnSpLocks/>
          </p:cNvCxnSpPr>
          <p:nvPr/>
        </p:nvCxnSpPr>
        <p:spPr>
          <a:xfrm flipV="1">
            <a:off x="8676058" y="2024338"/>
            <a:ext cx="0" cy="3154255"/>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5" name="Rechte verbindingslijn 44">
            <a:extLst>
              <a:ext uri="{FF2B5EF4-FFF2-40B4-BE49-F238E27FC236}">
                <a16:creationId xmlns:a16="http://schemas.microsoft.com/office/drawing/2014/main" id="{4CA3C83A-F4A7-A777-58CA-B184DF2E8A2B}"/>
              </a:ext>
            </a:extLst>
          </p:cNvPr>
          <p:cNvCxnSpPr>
            <a:cxnSpLocks/>
            <a:stCxn id="10" idx="1"/>
          </p:cNvCxnSpPr>
          <p:nvPr/>
        </p:nvCxnSpPr>
        <p:spPr>
          <a:xfrm flipH="1" flipV="1">
            <a:off x="8676058" y="2024338"/>
            <a:ext cx="796925" cy="1"/>
          </a:xfrm>
          <a:prstGeom prst="line">
            <a:avLst/>
          </a:prstGeom>
          <a:ln w="34925">
            <a:solidFill>
              <a:srgbClr val="FF0000"/>
            </a:solidFill>
            <a:headEnd type="stealth"/>
          </a:ln>
        </p:spPr>
        <p:style>
          <a:lnRef idx="2">
            <a:schemeClr val="accent1"/>
          </a:lnRef>
          <a:fillRef idx="0">
            <a:schemeClr val="accent1"/>
          </a:fillRef>
          <a:effectRef idx="1">
            <a:schemeClr val="accent1"/>
          </a:effectRef>
          <a:fontRef idx="minor">
            <a:schemeClr val="tx1"/>
          </a:fontRef>
        </p:style>
      </p:cxnSp>
      <p:cxnSp>
        <p:nvCxnSpPr>
          <p:cNvPr id="46" name="Rechte verbindingslijn 45">
            <a:extLst>
              <a:ext uri="{FF2B5EF4-FFF2-40B4-BE49-F238E27FC236}">
                <a16:creationId xmlns:a16="http://schemas.microsoft.com/office/drawing/2014/main" id="{148183B5-4B31-3EB2-8389-AA8957F577C5}"/>
              </a:ext>
            </a:extLst>
          </p:cNvPr>
          <p:cNvCxnSpPr>
            <a:cxnSpLocks/>
          </p:cNvCxnSpPr>
          <p:nvPr/>
        </p:nvCxnSpPr>
        <p:spPr>
          <a:xfrm flipH="1">
            <a:off x="8676058" y="5178593"/>
            <a:ext cx="796924" cy="0"/>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 name="Rechte verbindingslijn 47">
            <a:extLst>
              <a:ext uri="{FF2B5EF4-FFF2-40B4-BE49-F238E27FC236}">
                <a16:creationId xmlns:a16="http://schemas.microsoft.com/office/drawing/2014/main" id="{A479BD89-6CD8-C1AF-AC92-3C8DFF63D183}"/>
              </a:ext>
            </a:extLst>
          </p:cNvPr>
          <p:cNvCxnSpPr>
            <a:cxnSpLocks/>
          </p:cNvCxnSpPr>
          <p:nvPr/>
        </p:nvCxnSpPr>
        <p:spPr>
          <a:xfrm flipV="1">
            <a:off x="11788702" y="4998342"/>
            <a:ext cx="0" cy="524495"/>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5" name="Rechte verbindingslijn 64">
            <a:extLst>
              <a:ext uri="{FF2B5EF4-FFF2-40B4-BE49-F238E27FC236}">
                <a16:creationId xmlns:a16="http://schemas.microsoft.com/office/drawing/2014/main" id="{BE36128C-DFE7-F6DD-2CDC-7E5DCD862480}"/>
              </a:ext>
            </a:extLst>
          </p:cNvPr>
          <p:cNvCxnSpPr>
            <a:cxnSpLocks/>
            <a:endCxn id="23" idx="3"/>
          </p:cNvCxnSpPr>
          <p:nvPr/>
        </p:nvCxnSpPr>
        <p:spPr>
          <a:xfrm flipH="1" flipV="1">
            <a:off x="11555783" y="4991942"/>
            <a:ext cx="252120" cy="6400"/>
          </a:xfrm>
          <a:prstGeom prst="line">
            <a:avLst/>
          </a:prstGeom>
          <a:ln w="34925">
            <a:solidFill>
              <a:srgbClr val="FF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69" name="Rechte verbindingslijn 68">
            <a:extLst>
              <a:ext uri="{FF2B5EF4-FFF2-40B4-BE49-F238E27FC236}">
                <a16:creationId xmlns:a16="http://schemas.microsoft.com/office/drawing/2014/main" id="{55DB8636-062F-6284-4352-CA0EF0FF93CF}"/>
              </a:ext>
            </a:extLst>
          </p:cNvPr>
          <p:cNvCxnSpPr>
            <a:cxnSpLocks/>
          </p:cNvCxnSpPr>
          <p:nvPr/>
        </p:nvCxnSpPr>
        <p:spPr>
          <a:xfrm flipH="1" flipV="1">
            <a:off x="11548666" y="5499346"/>
            <a:ext cx="252120" cy="6400"/>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sp>
        <p:nvSpPr>
          <p:cNvPr id="3" name="Rechthoek 2">
            <a:extLst>
              <a:ext uri="{FF2B5EF4-FFF2-40B4-BE49-F238E27FC236}">
                <a16:creationId xmlns:a16="http://schemas.microsoft.com/office/drawing/2014/main" id="{C9C37391-961E-A514-CA70-DE8F937B6DD3}"/>
              </a:ext>
            </a:extLst>
          </p:cNvPr>
          <p:cNvSpPr/>
          <p:nvPr/>
        </p:nvSpPr>
        <p:spPr>
          <a:xfrm>
            <a:off x="3471806" y="6007283"/>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Ander </a:t>
            </a:r>
            <a:r>
              <a:rPr lang="nl-NL" sz="1600" dirty="0" err="1"/>
              <a:t>Gegevensobjecttype</a:t>
            </a:r>
            <a:endParaRPr lang="nl-NL" sz="1600" dirty="0"/>
          </a:p>
        </p:txBody>
      </p:sp>
      <p:sp>
        <p:nvSpPr>
          <p:cNvPr id="4" name="Rechthoek 3">
            <a:extLst>
              <a:ext uri="{FF2B5EF4-FFF2-40B4-BE49-F238E27FC236}">
                <a16:creationId xmlns:a16="http://schemas.microsoft.com/office/drawing/2014/main" id="{D5961497-2F2D-AAA4-C4B1-42C7189E53F8}"/>
              </a:ext>
            </a:extLst>
          </p:cNvPr>
          <p:cNvSpPr/>
          <p:nvPr/>
        </p:nvSpPr>
        <p:spPr>
          <a:xfrm>
            <a:off x="5736924" y="6008058"/>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cxnSp>
        <p:nvCxnSpPr>
          <p:cNvPr id="37" name="Rechte verbindingslijn 36">
            <a:extLst>
              <a:ext uri="{FF2B5EF4-FFF2-40B4-BE49-F238E27FC236}">
                <a16:creationId xmlns:a16="http://schemas.microsoft.com/office/drawing/2014/main" id="{24AF7C49-7B97-14D6-1196-B5708B34BDA5}"/>
              </a:ext>
            </a:extLst>
          </p:cNvPr>
          <p:cNvCxnSpPr>
            <a:cxnSpLocks/>
            <a:stCxn id="40" idx="1"/>
            <a:endCxn id="4" idx="3"/>
          </p:cNvCxnSpPr>
          <p:nvPr/>
        </p:nvCxnSpPr>
        <p:spPr>
          <a:xfrm flipH="1">
            <a:off x="7819724" y="6294804"/>
            <a:ext cx="1653258" cy="0"/>
          </a:xfrm>
          <a:prstGeom prst="line">
            <a:avLst/>
          </a:prstGeom>
          <a:ln w="34925">
            <a:solidFill>
              <a:srgbClr val="FF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40" name="Rechthoek 39">
            <a:extLst>
              <a:ext uri="{FF2B5EF4-FFF2-40B4-BE49-F238E27FC236}">
                <a16:creationId xmlns:a16="http://schemas.microsoft.com/office/drawing/2014/main" id="{C2CBA96E-E305-1C14-D36C-4E910EF6BC25}"/>
              </a:ext>
            </a:extLst>
          </p:cNvPr>
          <p:cNvSpPr/>
          <p:nvPr/>
        </p:nvSpPr>
        <p:spPr>
          <a:xfrm>
            <a:off x="9472982" y="6008058"/>
            <a:ext cx="2082800" cy="57349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relatie naar ander gegevensobject</a:t>
            </a:r>
          </a:p>
        </p:txBody>
      </p:sp>
      <p:sp>
        <p:nvSpPr>
          <p:cNvPr id="38" name="Ovaal 37">
            <a:extLst>
              <a:ext uri="{FF2B5EF4-FFF2-40B4-BE49-F238E27FC236}">
                <a16:creationId xmlns:a16="http://schemas.microsoft.com/office/drawing/2014/main" id="{B8B0E608-B047-DA75-E31A-31EDF29CAF00}"/>
              </a:ext>
            </a:extLst>
          </p:cNvPr>
          <p:cNvSpPr/>
          <p:nvPr/>
        </p:nvSpPr>
        <p:spPr>
          <a:xfrm>
            <a:off x="5660289" y="1997179"/>
            <a:ext cx="153269" cy="170127"/>
          </a:xfrm>
          <a:prstGeom prst="ellipse">
            <a:avLst/>
          </a:prstGeom>
          <a:no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bg1">
                    <a:lumMod val="65000"/>
                  </a:schemeClr>
                </a:solidFill>
              </a:rPr>
              <a:t>1</a:t>
            </a:r>
          </a:p>
        </p:txBody>
      </p:sp>
      <p:sp>
        <p:nvSpPr>
          <p:cNvPr id="39" name="Ovaal 38">
            <a:extLst>
              <a:ext uri="{FF2B5EF4-FFF2-40B4-BE49-F238E27FC236}">
                <a16:creationId xmlns:a16="http://schemas.microsoft.com/office/drawing/2014/main" id="{E7D325BB-4DD7-8980-AD2C-587E58B35847}"/>
              </a:ext>
            </a:extLst>
          </p:cNvPr>
          <p:cNvSpPr/>
          <p:nvPr/>
        </p:nvSpPr>
        <p:spPr>
          <a:xfrm>
            <a:off x="11596841" y="5136731"/>
            <a:ext cx="153269" cy="170127"/>
          </a:xfrm>
          <a:prstGeom prst="ellipse">
            <a:avLst/>
          </a:prstGeom>
          <a:no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bg1">
                    <a:lumMod val="65000"/>
                  </a:schemeClr>
                </a:solidFill>
              </a:rPr>
              <a:t>1</a:t>
            </a:r>
          </a:p>
        </p:txBody>
      </p:sp>
      <p:sp>
        <p:nvSpPr>
          <p:cNvPr id="41" name="Ovaal 40">
            <a:extLst>
              <a:ext uri="{FF2B5EF4-FFF2-40B4-BE49-F238E27FC236}">
                <a16:creationId xmlns:a16="http://schemas.microsoft.com/office/drawing/2014/main" id="{566F3756-D1DE-9040-A9F2-6C5630072C7B}"/>
              </a:ext>
            </a:extLst>
          </p:cNvPr>
          <p:cNvSpPr/>
          <p:nvPr/>
        </p:nvSpPr>
        <p:spPr>
          <a:xfrm>
            <a:off x="5134261" y="3003263"/>
            <a:ext cx="153269" cy="170127"/>
          </a:xfrm>
          <a:prstGeom prst="ellipse">
            <a:avLst/>
          </a:prstGeom>
          <a:no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bg1">
                    <a:lumMod val="65000"/>
                  </a:schemeClr>
                </a:solidFill>
              </a:rPr>
              <a:t>2</a:t>
            </a:r>
          </a:p>
        </p:txBody>
      </p:sp>
      <p:sp>
        <p:nvSpPr>
          <p:cNvPr id="42" name="Ovaal 41">
            <a:extLst>
              <a:ext uri="{FF2B5EF4-FFF2-40B4-BE49-F238E27FC236}">
                <a16:creationId xmlns:a16="http://schemas.microsoft.com/office/drawing/2014/main" id="{7C6C1971-AD41-8C79-E450-EC18609F828F}"/>
              </a:ext>
            </a:extLst>
          </p:cNvPr>
          <p:cNvSpPr/>
          <p:nvPr/>
        </p:nvSpPr>
        <p:spPr>
          <a:xfrm>
            <a:off x="8722491" y="3384530"/>
            <a:ext cx="153269" cy="170127"/>
          </a:xfrm>
          <a:prstGeom prst="ellipse">
            <a:avLst/>
          </a:prstGeom>
          <a:no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bg1">
                    <a:lumMod val="65000"/>
                  </a:schemeClr>
                </a:solidFill>
              </a:rPr>
              <a:t>2</a:t>
            </a:r>
          </a:p>
        </p:txBody>
      </p:sp>
      <p:sp>
        <p:nvSpPr>
          <p:cNvPr id="43" name="Ovaal 42">
            <a:extLst>
              <a:ext uri="{FF2B5EF4-FFF2-40B4-BE49-F238E27FC236}">
                <a16:creationId xmlns:a16="http://schemas.microsoft.com/office/drawing/2014/main" id="{3BD80EF9-4FF1-EF5B-7AE0-1B5E4824E3C4}"/>
              </a:ext>
            </a:extLst>
          </p:cNvPr>
          <p:cNvSpPr/>
          <p:nvPr/>
        </p:nvSpPr>
        <p:spPr>
          <a:xfrm>
            <a:off x="5134261" y="4021760"/>
            <a:ext cx="153269" cy="170127"/>
          </a:xfrm>
          <a:prstGeom prst="ellipse">
            <a:avLst/>
          </a:prstGeom>
          <a:no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bg1">
                    <a:lumMod val="65000"/>
                  </a:schemeClr>
                </a:solidFill>
              </a:rPr>
              <a:t>3</a:t>
            </a:r>
          </a:p>
        </p:txBody>
      </p:sp>
      <p:sp>
        <p:nvSpPr>
          <p:cNvPr id="44" name="Ovaal 43">
            <a:extLst>
              <a:ext uri="{FF2B5EF4-FFF2-40B4-BE49-F238E27FC236}">
                <a16:creationId xmlns:a16="http://schemas.microsoft.com/office/drawing/2014/main" id="{1C5F4E49-A678-FEC5-7779-EF867095C4DB}"/>
              </a:ext>
            </a:extLst>
          </p:cNvPr>
          <p:cNvSpPr/>
          <p:nvPr/>
        </p:nvSpPr>
        <p:spPr>
          <a:xfrm>
            <a:off x="8556238" y="6059153"/>
            <a:ext cx="153269" cy="170127"/>
          </a:xfrm>
          <a:prstGeom prst="ellipse">
            <a:avLst/>
          </a:prstGeom>
          <a:no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bg1">
                    <a:lumMod val="65000"/>
                  </a:schemeClr>
                </a:solidFill>
              </a:rPr>
              <a:t>3</a:t>
            </a:r>
          </a:p>
        </p:txBody>
      </p:sp>
    </p:spTree>
    <p:extLst>
      <p:ext uri="{BB962C8B-B14F-4D97-AF65-F5344CB8AC3E}">
        <p14:creationId xmlns:p14="http://schemas.microsoft.com/office/powerpoint/2010/main" val="1199617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27FD2D-7709-A295-1A34-52C57E910F7B}"/>
              </a:ext>
            </a:extLst>
          </p:cNvPr>
          <p:cNvSpPr>
            <a:spLocks noGrp="1"/>
          </p:cNvSpPr>
          <p:nvPr>
            <p:ph type="title"/>
          </p:nvPr>
        </p:nvSpPr>
        <p:spPr>
          <a:xfrm>
            <a:off x="822246" y="446553"/>
            <a:ext cx="7817043" cy="1325563"/>
          </a:xfrm>
        </p:spPr>
        <p:txBody>
          <a:bodyPr>
            <a:normAutofit/>
          </a:bodyPr>
          <a:lstStyle/>
          <a:p>
            <a:r>
              <a:rPr lang="nl-NL" sz="3600" dirty="0"/>
              <a:t>Conclusies m.b.t. modellering</a:t>
            </a:r>
          </a:p>
        </p:txBody>
      </p:sp>
      <p:sp>
        <p:nvSpPr>
          <p:cNvPr id="64" name="Tijdelijke aanduiding voor inhoud 63">
            <a:extLst>
              <a:ext uri="{FF2B5EF4-FFF2-40B4-BE49-F238E27FC236}">
                <a16:creationId xmlns:a16="http://schemas.microsoft.com/office/drawing/2014/main" id="{EAFA6522-DC0C-1FBB-F46E-E0BBDD81B72A}"/>
              </a:ext>
            </a:extLst>
          </p:cNvPr>
          <p:cNvSpPr>
            <a:spLocks noGrp="1"/>
          </p:cNvSpPr>
          <p:nvPr>
            <p:ph idx="1"/>
          </p:nvPr>
        </p:nvSpPr>
        <p:spPr>
          <a:xfrm>
            <a:off x="822246" y="1526637"/>
            <a:ext cx="10851823" cy="4297655"/>
          </a:xfrm>
        </p:spPr>
        <p:txBody>
          <a:bodyPr>
            <a:noAutofit/>
          </a:bodyPr>
          <a:lstStyle/>
          <a:p>
            <a:pPr marL="0" indent="0">
              <a:buNone/>
            </a:pPr>
            <a:r>
              <a:rPr lang="nl-NL" sz="1400" dirty="0"/>
              <a:t>We constateren het volgende over </a:t>
            </a:r>
            <a:r>
              <a:rPr lang="nl-NL" sz="1400" dirty="0" err="1"/>
              <a:t>Id’s</a:t>
            </a:r>
            <a:r>
              <a:rPr lang="nl-NL" sz="1400" dirty="0"/>
              <a:t>, voor zover van belang voor informatie- en gegevensmodellering: </a:t>
            </a:r>
          </a:p>
          <a:p>
            <a:pPr marL="342900" indent="-342900">
              <a:buFont typeface="+mj-lt"/>
              <a:buAutoNum type="arabicPeriod"/>
            </a:pPr>
            <a:r>
              <a:rPr lang="nl-NL" sz="1400" dirty="0"/>
              <a:t>We onderkennen </a:t>
            </a:r>
            <a:r>
              <a:rPr lang="nl-NL" sz="1400" dirty="0" err="1"/>
              <a:t>Id’s</a:t>
            </a:r>
            <a:r>
              <a:rPr lang="nl-NL" sz="1400" dirty="0"/>
              <a:t> op conceptueel niveau en </a:t>
            </a:r>
            <a:r>
              <a:rPr lang="nl-NL" sz="1400" dirty="0" err="1"/>
              <a:t>Id’s</a:t>
            </a:r>
            <a:r>
              <a:rPr lang="nl-NL" sz="1400" dirty="0"/>
              <a:t> op logisch niveau</a:t>
            </a:r>
          </a:p>
          <a:p>
            <a:pPr marL="342900" indent="-342900">
              <a:buFont typeface="+mj-lt"/>
              <a:buAutoNum type="arabicPeriod"/>
            </a:pPr>
            <a:r>
              <a:rPr lang="nl-NL" sz="1400" dirty="0"/>
              <a:t>Het moet mogelijk zijn om meer dan 1 </a:t>
            </a:r>
            <a:r>
              <a:rPr lang="nl-NL" sz="1400" dirty="0" err="1"/>
              <a:t>Id</a:t>
            </a:r>
            <a:r>
              <a:rPr lang="nl-NL" sz="1400" dirty="0"/>
              <a:t> te modelleren voor 1 domein objecttype. </a:t>
            </a:r>
          </a:p>
          <a:p>
            <a:pPr marL="342900" indent="-342900">
              <a:buFont typeface="+mj-lt"/>
              <a:buAutoNum type="arabicPeriod"/>
            </a:pPr>
            <a:r>
              <a:rPr lang="nl-NL" sz="1400" dirty="0"/>
              <a:t>Het moet mogelijk zijn om meer dan 1 </a:t>
            </a:r>
            <a:r>
              <a:rPr lang="nl-NL" sz="1400" dirty="0" err="1"/>
              <a:t>Id</a:t>
            </a:r>
            <a:r>
              <a:rPr lang="nl-NL" sz="1400" dirty="0"/>
              <a:t> te modelleren in 1 </a:t>
            </a:r>
            <a:r>
              <a:rPr lang="nl-NL" sz="1400" dirty="0" err="1"/>
              <a:t>gegevensobjecttype</a:t>
            </a:r>
            <a:endParaRPr lang="nl-NL" sz="1400" dirty="0"/>
          </a:p>
          <a:p>
            <a:pPr marL="342900" indent="-342900">
              <a:buFont typeface="+mj-lt"/>
              <a:buAutoNum type="arabicPeriod"/>
            </a:pPr>
            <a:r>
              <a:rPr lang="nl-NL" sz="1400" dirty="0"/>
              <a:t>Een </a:t>
            </a:r>
            <a:r>
              <a:rPr lang="nl-NL" sz="1400" dirty="0" err="1"/>
              <a:t>Id</a:t>
            </a:r>
            <a:r>
              <a:rPr lang="nl-NL" sz="1400" dirty="0"/>
              <a:t> kan enkelvoudig en samengesteld zijn. </a:t>
            </a:r>
          </a:p>
          <a:p>
            <a:pPr marL="342900" indent="-342900">
              <a:buFont typeface="+mj-lt"/>
              <a:buAutoNum type="arabicPeriod"/>
            </a:pPr>
            <a:r>
              <a:rPr lang="nl-NL" sz="1400" dirty="0"/>
              <a:t>Elk </a:t>
            </a:r>
            <a:r>
              <a:rPr lang="nl-NL" sz="1400" dirty="0" err="1"/>
              <a:t>Id</a:t>
            </a:r>
            <a:r>
              <a:rPr lang="nl-NL" sz="1400" dirty="0"/>
              <a:t> heeft een doel. Deze doelen verschillen. Het doel kunnen aangeven op de een of andere manier is gewenst. </a:t>
            </a:r>
          </a:p>
          <a:p>
            <a:pPr marL="342900" indent="-342900">
              <a:buFont typeface="+mj-lt"/>
              <a:buAutoNum type="arabicPeriod"/>
            </a:pPr>
            <a:r>
              <a:rPr lang="nl-NL" sz="1400" dirty="0"/>
              <a:t>Je kan niet echt spreken over DE </a:t>
            </a:r>
            <a:r>
              <a:rPr lang="nl-NL" sz="1400" dirty="0" err="1"/>
              <a:t>Id</a:t>
            </a:r>
            <a:r>
              <a:rPr lang="nl-NL" sz="1400" dirty="0"/>
              <a:t> van een gegevensobject, omdat het er meerdere kunnen zijn. Je kan wel spreken over een gegevensobject waarin maar 1 </a:t>
            </a:r>
            <a:r>
              <a:rPr lang="nl-NL" sz="1400" dirty="0" err="1"/>
              <a:t>Id</a:t>
            </a:r>
            <a:r>
              <a:rPr lang="nl-NL" sz="1400" dirty="0"/>
              <a:t> is gemodelleerd (die dan “de” </a:t>
            </a:r>
            <a:r>
              <a:rPr lang="nl-NL" sz="1400" dirty="0" err="1"/>
              <a:t>Id</a:t>
            </a:r>
            <a:r>
              <a:rPr lang="nl-NL" sz="1400" dirty="0"/>
              <a:t> is, maar zolang het gebruiksdoel of het soort </a:t>
            </a:r>
            <a:r>
              <a:rPr lang="nl-NL" sz="1400" dirty="0" err="1"/>
              <a:t>Id</a:t>
            </a:r>
            <a:r>
              <a:rPr lang="nl-NL" sz="1400" dirty="0"/>
              <a:t> niet helder is aangegeven is het niet duidelijk om wat voor soort het gaat). </a:t>
            </a:r>
          </a:p>
          <a:p>
            <a:pPr marL="0" indent="0">
              <a:buNone/>
            </a:pPr>
            <a:endParaRPr lang="nl-NL" sz="1400" dirty="0"/>
          </a:p>
          <a:p>
            <a:pPr marL="0" indent="0">
              <a:buNone/>
            </a:pPr>
            <a:r>
              <a:rPr lang="nl-NL" sz="1400" dirty="0"/>
              <a:t>Voorstel voor uitwerking: </a:t>
            </a:r>
          </a:p>
          <a:p>
            <a:pPr>
              <a:buFont typeface="Wingdings" panose="05000000000000000000" pitchFamily="2" charset="2"/>
              <a:buChar char="à"/>
            </a:pPr>
            <a:r>
              <a:rPr lang="nl-NL" sz="1400" dirty="0"/>
              <a:t>Er zijn definities nodig om onderscheid te kunnen maken tussen conceptueel en logisch</a:t>
            </a:r>
          </a:p>
          <a:p>
            <a:pPr>
              <a:buFont typeface="Wingdings" panose="05000000000000000000" pitchFamily="2" charset="2"/>
              <a:buChar char="à"/>
            </a:pPr>
            <a:r>
              <a:rPr lang="nl-NL" sz="1400" dirty="0"/>
              <a:t>Modelleer in het metamodel een conceptueel </a:t>
            </a:r>
            <a:r>
              <a:rPr lang="nl-NL" sz="1400" dirty="0" err="1"/>
              <a:t>Id</a:t>
            </a:r>
            <a:r>
              <a:rPr lang="nl-NL" sz="1400" dirty="0"/>
              <a:t> los/op zichzelf, en geef hierin aan welke eigenschappen hierin zitten (op enige wijze). </a:t>
            </a:r>
          </a:p>
          <a:p>
            <a:pPr>
              <a:buFont typeface="Wingdings" panose="05000000000000000000" pitchFamily="2" charset="2"/>
              <a:buChar char="à"/>
            </a:pPr>
            <a:r>
              <a:rPr lang="nl-NL" sz="1400" dirty="0"/>
              <a:t>Modelleer in het metamodel een logisch </a:t>
            </a:r>
            <a:r>
              <a:rPr lang="nl-NL" sz="1400" dirty="0" err="1"/>
              <a:t>Id</a:t>
            </a:r>
            <a:r>
              <a:rPr lang="nl-NL" sz="1400" dirty="0"/>
              <a:t> los/op zichzelf, en geef hierin aan welke gegevenstypen hierin zitten (op enige wijze) </a:t>
            </a:r>
          </a:p>
          <a:p>
            <a:pPr>
              <a:buFont typeface="Wingdings" panose="05000000000000000000" pitchFamily="2" charset="2"/>
              <a:buChar char="à"/>
            </a:pPr>
            <a:r>
              <a:rPr lang="nl-NL" sz="1400" dirty="0"/>
              <a:t>Maak het mogelijk om bij elk </a:t>
            </a:r>
            <a:r>
              <a:rPr lang="nl-NL" sz="1400" dirty="0" err="1"/>
              <a:t>Id</a:t>
            </a:r>
            <a:r>
              <a:rPr lang="nl-NL" sz="1400" dirty="0"/>
              <a:t> het doel aan te geven. Bv. een stereotype of met een apart metagegeven, afhankelijk of we op  metamodel niveau dit een apart modelelement vinden (een apart type) of een beschrijvend aspect van een </a:t>
            </a:r>
            <a:r>
              <a:rPr lang="nl-NL" sz="1400" dirty="0" err="1"/>
              <a:t>Id</a:t>
            </a:r>
            <a:r>
              <a:rPr lang="nl-NL" sz="1400" dirty="0"/>
              <a:t> (zelfde type, andere classificatie).</a:t>
            </a:r>
          </a:p>
          <a:p>
            <a:pPr>
              <a:buFont typeface="Wingdings" panose="05000000000000000000" pitchFamily="2" charset="2"/>
              <a:buChar char="à"/>
            </a:pPr>
            <a:r>
              <a:rPr lang="nl-NL" sz="1400" dirty="0"/>
              <a:t>Onderzoek hoe </a:t>
            </a:r>
            <a:r>
              <a:rPr lang="nl-NL" sz="1400" dirty="0" err="1"/>
              <a:t>Id’s</a:t>
            </a:r>
            <a:r>
              <a:rPr lang="nl-NL" sz="1400" dirty="0"/>
              <a:t> met elkaar gerelateerd kunnen worden, of dat dit afleidbaar is en of dit bij semantische herleidbaarheid hoort.  </a:t>
            </a:r>
          </a:p>
        </p:txBody>
      </p:sp>
    </p:spTree>
    <p:extLst>
      <p:ext uri="{BB962C8B-B14F-4D97-AF65-F5344CB8AC3E}">
        <p14:creationId xmlns:p14="http://schemas.microsoft.com/office/powerpoint/2010/main" val="2799738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DAF88-FF16-F737-7BAB-23B1F475D9B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3264CC6-72E7-AAA0-3A2D-FB65A422851E}"/>
              </a:ext>
            </a:extLst>
          </p:cNvPr>
          <p:cNvSpPr>
            <a:spLocks noGrp="1"/>
          </p:cNvSpPr>
          <p:nvPr>
            <p:ph type="title"/>
          </p:nvPr>
        </p:nvSpPr>
        <p:spPr>
          <a:xfrm>
            <a:off x="822246" y="446553"/>
            <a:ext cx="7817043" cy="1325563"/>
          </a:xfrm>
        </p:spPr>
        <p:txBody>
          <a:bodyPr>
            <a:normAutofit/>
          </a:bodyPr>
          <a:lstStyle/>
          <a:p>
            <a:r>
              <a:rPr lang="nl-NL" sz="3600" dirty="0"/>
              <a:t>Voorstel</a:t>
            </a:r>
          </a:p>
        </p:txBody>
      </p:sp>
      <p:sp>
        <p:nvSpPr>
          <p:cNvPr id="64" name="Tijdelijke aanduiding voor inhoud 63">
            <a:extLst>
              <a:ext uri="{FF2B5EF4-FFF2-40B4-BE49-F238E27FC236}">
                <a16:creationId xmlns:a16="http://schemas.microsoft.com/office/drawing/2014/main" id="{BA309350-3447-0B52-B141-FEDB672CA696}"/>
              </a:ext>
            </a:extLst>
          </p:cNvPr>
          <p:cNvSpPr>
            <a:spLocks noGrp="1"/>
          </p:cNvSpPr>
          <p:nvPr>
            <p:ph idx="1"/>
          </p:nvPr>
        </p:nvSpPr>
        <p:spPr>
          <a:xfrm>
            <a:off x="822246" y="1526637"/>
            <a:ext cx="10851823" cy="4297655"/>
          </a:xfrm>
        </p:spPr>
        <p:txBody>
          <a:bodyPr>
            <a:noAutofit/>
          </a:bodyPr>
          <a:lstStyle/>
          <a:p>
            <a:pPr marL="0" indent="0">
              <a:buNone/>
            </a:pPr>
            <a:r>
              <a:rPr lang="nl-NL" sz="1400" dirty="0"/>
              <a:t>Vanaf hier worden de begripsvorming rondom </a:t>
            </a:r>
            <a:r>
              <a:rPr lang="nl-NL" sz="1400" dirty="0" err="1"/>
              <a:t>Id’s</a:t>
            </a:r>
            <a:r>
              <a:rPr lang="nl-NL" sz="1400" dirty="0"/>
              <a:t> omgezet naar een voorstel voor het MIM metamodel. </a:t>
            </a:r>
          </a:p>
        </p:txBody>
      </p:sp>
    </p:spTree>
    <p:extLst>
      <p:ext uri="{BB962C8B-B14F-4D97-AF65-F5344CB8AC3E}">
        <p14:creationId xmlns:p14="http://schemas.microsoft.com/office/powerpoint/2010/main" val="604858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A810D6-CB1B-8109-7127-EC2E4C2DDF27}"/>
              </a:ext>
            </a:extLst>
          </p:cNvPr>
          <p:cNvSpPr>
            <a:spLocks noGrp="1"/>
          </p:cNvSpPr>
          <p:nvPr>
            <p:ph type="title"/>
          </p:nvPr>
        </p:nvSpPr>
        <p:spPr/>
        <p:txBody>
          <a:bodyPr/>
          <a:lstStyle/>
          <a:p>
            <a:r>
              <a:rPr lang="nl-NL" dirty="0"/>
              <a:t>Samenvatting </a:t>
            </a:r>
            <a:r>
              <a:rPr lang="nl-NL" dirty="0" err="1"/>
              <a:t>Id</a:t>
            </a:r>
            <a:r>
              <a:rPr lang="nl-NL" dirty="0"/>
              <a:t> van objecttype in CIM</a:t>
            </a:r>
          </a:p>
        </p:txBody>
      </p:sp>
      <p:sp>
        <p:nvSpPr>
          <p:cNvPr id="3" name="Tijdelijke aanduiding voor inhoud 2">
            <a:extLst>
              <a:ext uri="{FF2B5EF4-FFF2-40B4-BE49-F238E27FC236}">
                <a16:creationId xmlns:a16="http://schemas.microsoft.com/office/drawing/2014/main" id="{62F7C5AE-4D30-FA6E-F558-B051D8AFC901}"/>
              </a:ext>
            </a:extLst>
          </p:cNvPr>
          <p:cNvSpPr>
            <a:spLocks noGrp="1"/>
          </p:cNvSpPr>
          <p:nvPr>
            <p:ph idx="1"/>
          </p:nvPr>
        </p:nvSpPr>
        <p:spPr>
          <a:xfrm>
            <a:off x="838200" y="1530350"/>
            <a:ext cx="10515600" cy="4889500"/>
          </a:xfrm>
        </p:spPr>
        <p:txBody>
          <a:bodyPr>
            <a:normAutofit fontScale="70000" lnSpcReduction="20000"/>
          </a:bodyPr>
          <a:lstStyle/>
          <a:p>
            <a:pPr marL="0" indent="0">
              <a:buNone/>
            </a:pPr>
            <a:r>
              <a:rPr lang="nl-NL" dirty="0"/>
              <a:t>Een </a:t>
            </a:r>
            <a:r>
              <a:rPr lang="nl-NL" dirty="0" err="1"/>
              <a:t>Id</a:t>
            </a:r>
            <a:r>
              <a:rPr lang="nl-NL" dirty="0"/>
              <a:t> bestaat in de kern uit het kiezen van het/de attribuuttype(n) die tot de </a:t>
            </a:r>
            <a:r>
              <a:rPr lang="nl-NL" dirty="0" err="1"/>
              <a:t>Id</a:t>
            </a:r>
            <a:r>
              <a:rPr lang="nl-NL" dirty="0"/>
              <a:t> behoren.</a:t>
            </a:r>
          </a:p>
          <a:p>
            <a:pPr marL="0" indent="0">
              <a:buNone/>
            </a:pPr>
            <a:endParaRPr lang="nl-NL" dirty="0"/>
          </a:p>
          <a:p>
            <a:pPr marL="0" indent="0">
              <a:buNone/>
            </a:pPr>
            <a:r>
              <a:rPr lang="nl-NL" dirty="0"/>
              <a:t>Een objecttype heeft 1 of meer </a:t>
            </a:r>
            <a:r>
              <a:rPr lang="nl-NL" dirty="0" err="1"/>
              <a:t>Id’s</a:t>
            </a:r>
            <a:endParaRPr lang="nl-NL" dirty="0"/>
          </a:p>
          <a:p>
            <a:r>
              <a:rPr lang="nl-NL" dirty="0"/>
              <a:t>Een attribuuttype kan gebruikt worden in 0, 1 of meer </a:t>
            </a:r>
            <a:r>
              <a:rPr lang="nl-NL" dirty="0" err="1"/>
              <a:t>Id’s</a:t>
            </a:r>
            <a:r>
              <a:rPr lang="nl-NL" dirty="0"/>
              <a:t> </a:t>
            </a:r>
          </a:p>
          <a:p>
            <a:r>
              <a:rPr lang="nl-NL" dirty="0"/>
              <a:t>Een </a:t>
            </a:r>
            <a:r>
              <a:rPr lang="nl-NL" dirty="0" err="1"/>
              <a:t>Id</a:t>
            </a:r>
            <a:r>
              <a:rPr lang="nl-NL" dirty="0"/>
              <a:t> kan gebaseerd zijn op eigenschappen uit werkelijkheid/intrinsiek</a:t>
            </a:r>
          </a:p>
          <a:p>
            <a:r>
              <a:rPr lang="nl-NL" dirty="0"/>
              <a:t>Een </a:t>
            </a:r>
            <a:r>
              <a:rPr lang="nl-NL" dirty="0" err="1"/>
              <a:t>Id</a:t>
            </a:r>
            <a:r>
              <a:rPr lang="nl-NL" dirty="0"/>
              <a:t> kan gebaseerd zijn op een (1) toegekende administratieve eigenschap</a:t>
            </a:r>
          </a:p>
          <a:p>
            <a:endParaRPr lang="nl-NL" dirty="0"/>
          </a:p>
          <a:p>
            <a:pPr marL="0" indent="0">
              <a:buNone/>
            </a:pPr>
            <a:r>
              <a:rPr lang="nl-NL" dirty="0"/>
              <a:t>Bijzonderheden:</a:t>
            </a:r>
          </a:p>
          <a:p>
            <a:r>
              <a:rPr lang="nl-NL" dirty="0"/>
              <a:t>Een abstract objecttype hoeft geen </a:t>
            </a:r>
            <a:r>
              <a:rPr lang="nl-NL" dirty="0" err="1"/>
              <a:t>Id</a:t>
            </a:r>
            <a:r>
              <a:rPr lang="nl-NL" dirty="0"/>
              <a:t> te hebben (geen eigen exemplaren, alle in subtype) </a:t>
            </a:r>
          </a:p>
          <a:p>
            <a:r>
              <a:rPr lang="nl-NL" dirty="0"/>
              <a:t>Een </a:t>
            </a:r>
            <a:r>
              <a:rPr lang="nl-NL" dirty="0" err="1"/>
              <a:t>Id</a:t>
            </a:r>
            <a:r>
              <a:rPr lang="nl-NL" dirty="0"/>
              <a:t> kan hergebruik maken van een </a:t>
            </a:r>
            <a:r>
              <a:rPr lang="nl-NL" dirty="0" err="1"/>
              <a:t>Id</a:t>
            </a:r>
            <a:r>
              <a:rPr lang="nl-NL" dirty="0"/>
              <a:t> van een ander objecttype</a:t>
            </a:r>
          </a:p>
          <a:p>
            <a:pPr marL="0" indent="0">
              <a:buNone/>
            </a:pPr>
            <a:endParaRPr lang="nl-NL" dirty="0"/>
          </a:p>
          <a:p>
            <a:pPr marL="0" indent="0">
              <a:buNone/>
            </a:pPr>
            <a:r>
              <a:rPr lang="nl-NL" dirty="0"/>
              <a:t>Wat niet kan: </a:t>
            </a:r>
          </a:p>
          <a:p>
            <a:r>
              <a:rPr lang="nl-NL" dirty="0"/>
              <a:t>Een attribuuttype kan niet tegelijk intrinsiek en toegekend administratief zijn</a:t>
            </a:r>
          </a:p>
          <a:p>
            <a:r>
              <a:rPr lang="nl-NL" dirty="0"/>
              <a:t>Een </a:t>
            </a:r>
            <a:r>
              <a:rPr lang="nl-NL" dirty="0" err="1"/>
              <a:t>Id</a:t>
            </a:r>
            <a:r>
              <a:rPr lang="nl-NL" dirty="0"/>
              <a:t> zal geen mix van intrinsiek en </a:t>
            </a:r>
            <a:r>
              <a:rPr lang="nl-NL" dirty="0" err="1"/>
              <a:t>adm</a:t>
            </a:r>
            <a:r>
              <a:rPr lang="nl-NL" dirty="0"/>
              <a:t> bevatten</a:t>
            </a:r>
          </a:p>
        </p:txBody>
      </p:sp>
    </p:spTree>
    <p:extLst>
      <p:ext uri="{BB962C8B-B14F-4D97-AF65-F5344CB8AC3E}">
        <p14:creationId xmlns:p14="http://schemas.microsoft.com/office/powerpoint/2010/main" val="897016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FBF0CFA6-E375-975B-F46F-13ABC2EB3C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918" y="452898"/>
            <a:ext cx="8854274" cy="6247069"/>
          </a:xfrm>
          <a:prstGeom prst="rect">
            <a:avLst/>
          </a:prstGeom>
        </p:spPr>
      </p:pic>
      <p:sp>
        <p:nvSpPr>
          <p:cNvPr id="2" name="Titel 1">
            <a:extLst>
              <a:ext uri="{FF2B5EF4-FFF2-40B4-BE49-F238E27FC236}">
                <a16:creationId xmlns:a16="http://schemas.microsoft.com/office/drawing/2014/main" id="{29BBE325-D294-1F64-727D-FE59AAE0C23C}"/>
              </a:ext>
            </a:extLst>
          </p:cNvPr>
          <p:cNvSpPr>
            <a:spLocks noGrp="1"/>
          </p:cNvSpPr>
          <p:nvPr>
            <p:ph type="title"/>
          </p:nvPr>
        </p:nvSpPr>
        <p:spPr>
          <a:xfrm>
            <a:off x="234950" y="158033"/>
            <a:ext cx="2832100" cy="1325563"/>
          </a:xfrm>
        </p:spPr>
        <p:txBody>
          <a:bodyPr/>
          <a:lstStyle/>
          <a:p>
            <a:r>
              <a:rPr lang="nl-NL" dirty="0"/>
              <a:t>CIM en </a:t>
            </a:r>
            <a:r>
              <a:rPr lang="nl-NL" dirty="0" err="1"/>
              <a:t>ID’s</a:t>
            </a:r>
            <a:endParaRPr lang="nl-NL" dirty="0"/>
          </a:p>
        </p:txBody>
      </p:sp>
      <p:sp>
        <p:nvSpPr>
          <p:cNvPr id="4" name="Tekstvak 3">
            <a:extLst>
              <a:ext uri="{FF2B5EF4-FFF2-40B4-BE49-F238E27FC236}">
                <a16:creationId xmlns:a16="http://schemas.microsoft.com/office/drawing/2014/main" id="{657FB01C-1991-392F-5EBC-45783B2504FA}"/>
              </a:ext>
            </a:extLst>
          </p:cNvPr>
          <p:cNvSpPr txBox="1"/>
          <p:nvPr/>
        </p:nvSpPr>
        <p:spPr>
          <a:xfrm>
            <a:off x="7086600" y="5189046"/>
            <a:ext cx="5105400" cy="1600438"/>
          </a:xfrm>
          <a:prstGeom prst="rect">
            <a:avLst/>
          </a:prstGeom>
          <a:noFill/>
        </p:spPr>
        <p:txBody>
          <a:bodyPr wrap="square" rtlCol="0">
            <a:spAutoFit/>
          </a:bodyPr>
          <a:lstStyle/>
          <a:p>
            <a:r>
              <a:rPr lang="nl-NL" sz="1400" dirty="0"/>
              <a:t>Merk op dat een rol niet op directe wijze een identificatie aanwijst, omdat een objecttype meer dan 1 </a:t>
            </a:r>
            <a:r>
              <a:rPr lang="nl-NL" sz="1400" dirty="0" err="1"/>
              <a:t>Id</a:t>
            </a:r>
            <a:r>
              <a:rPr lang="nl-NL" sz="1400" dirty="0"/>
              <a:t> kan hebben.</a:t>
            </a:r>
          </a:p>
          <a:p>
            <a:endParaRPr lang="nl-NL" sz="1400" dirty="0"/>
          </a:p>
          <a:p>
            <a:r>
              <a:rPr lang="nl-NL" sz="1400" dirty="0"/>
              <a:t>Maar misschien is elke </a:t>
            </a:r>
            <a:r>
              <a:rPr lang="nl-NL" sz="1400" dirty="0" err="1"/>
              <a:t>Id</a:t>
            </a:r>
            <a:r>
              <a:rPr lang="nl-NL" sz="1400" dirty="0"/>
              <a:t> van het objecttype waar de rol naar verwijst wel geschikt en maakt de precieze </a:t>
            </a:r>
            <a:r>
              <a:rPr lang="nl-NL" sz="1400" dirty="0" err="1"/>
              <a:t>Id</a:t>
            </a:r>
            <a:r>
              <a:rPr lang="nl-NL" sz="1400" dirty="0"/>
              <a:t> eigenlijk niet uit. Op CIM niveau althans, op LGM niveau maakt dat wel uit (en willen we dit uniform houden op CIM en LGM niveau).  </a:t>
            </a:r>
          </a:p>
        </p:txBody>
      </p:sp>
    </p:spTree>
    <p:extLst>
      <p:ext uri="{BB962C8B-B14F-4D97-AF65-F5344CB8AC3E}">
        <p14:creationId xmlns:p14="http://schemas.microsoft.com/office/powerpoint/2010/main" val="2648171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7944C1-8D15-6232-F9BB-30B06973ABE1}"/>
              </a:ext>
            </a:extLst>
          </p:cNvPr>
          <p:cNvSpPr>
            <a:spLocks noGrp="1"/>
          </p:cNvSpPr>
          <p:nvPr>
            <p:ph type="title"/>
          </p:nvPr>
        </p:nvSpPr>
        <p:spPr>
          <a:xfrm>
            <a:off x="485674" y="656700"/>
            <a:ext cx="10515600" cy="798488"/>
          </a:xfrm>
        </p:spPr>
        <p:txBody>
          <a:bodyPr/>
          <a:lstStyle/>
          <a:p>
            <a:r>
              <a:rPr lang="nl-NL" dirty="0"/>
              <a:t>Definities (aanzet) – CIM, objecttype</a:t>
            </a:r>
          </a:p>
        </p:txBody>
      </p:sp>
      <p:graphicFrame>
        <p:nvGraphicFramePr>
          <p:cNvPr id="4" name="Tabel 3">
            <a:extLst>
              <a:ext uri="{FF2B5EF4-FFF2-40B4-BE49-F238E27FC236}">
                <a16:creationId xmlns:a16="http://schemas.microsoft.com/office/drawing/2014/main" id="{04C2150E-9E62-E5E7-1C18-F473FFFD1A40}"/>
              </a:ext>
            </a:extLst>
          </p:cNvPr>
          <p:cNvGraphicFramePr>
            <a:graphicFrameLocks noGrp="1"/>
          </p:cNvGraphicFramePr>
          <p:nvPr>
            <p:extLst>
              <p:ext uri="{D42A27DB-BD31-4B8C-83A1-F6EECF244321}">
                <p14:modId xmlns:p14="http://schemas.microsoft.com/office/powerpoint/2010/main" val="2546338887"/>
              </p:ext>
            </p:extLst>
          </p:nvPr>
        </p:nvGraphicFramePr>
        <p:xfrm>
          <a:off x="540774" y="1388260"/>
          <a:ext cx="11378176" cy="5247640"/>
        </p:xfrm>
        <a:graphic>
          <a:graphicData uri="http://schemas.openxmlformats.org/drawingml/2006/table">
            <a:tbl>
              <a:tblPr firstRow="1" bandRow="1">
                <a:tableStyleId>{5C22544A-7EE6-4342-B048-85BDC9FD1C3A}</a:tableStyleId>
              </a:tblPr>
              <a:tblGrid>
                <a:gridCol w="8669146">
                  <a:extLst>
                    <a:ext uri="{9D8B030D-6E8A-4147-A177-3AD203B41FA5}">
                      <a16:colId xmlns:a16="http://schemas.microsoft.com/office/drawing/2014/main" val="3945013391"/>
                    </a:ext>
                  </a:extLst>
                </a:gridCol>
                <a:gridCol w="2709030">
                  <a:extLst>
                    <a:ext uri="{9D8B030D-6E8A-4147-A177-3AD203B41FA5}">
                      <a16:colId xmlns:a16="http://schemas.microsoft.com/office/drawing/2014/main" val="3590454583"/>
                    </a:ext>
                  </a:extLst>
                </a:gridCol>
              </a:tblGrid>
              <a:tr h="370840">
                <a:tc>
                  <a:txBody>
                    <a:bodyPr/>
                    <a:lstStyle/>
                    <a:p>
                      <a:r>
                        <a:rPr lang="nl-NL" sz="1400" dirty="0"/>
                        <a:t>Definitie</a:t>
                      </a:r>
                    </a:p>
                  </a:txBody>
                  <a:tcPr/>
                </a:tc>
                <a:tc>
                  <a:txBody>
                    <a:bodyPr/>
                    <a:lstStyle/>
                    <a:p>
                      <a:r>
                        <a:rPr lang="nl-NL" sz="1400" dirty="0"/>
                        <a:t>Werkterm voor begrip</a:t>
                      </a:r>
                    </a:p>
                  </a:txBody>
                  <a:tcPr/>
                </a:tc>
                <a:extLst>
                  <a:ext uri="{0D108BD9-81ED-4DB2-BD59-A6C34878D82A}">
                    <a16:rowId xmlns:a16="http://schemas.microsoft.com/office/drawing/2014/main" val="2529945190"/>
                  </a:ext>
                </a:extLst>
              </a:tr>
              <a:tr h="370840">
                <a:tc>
                  <a:txBody>
                    <a:bodyPr/>
                    <a:lstStyle/>
                    <a:p>
                      <a:r>
                        <a:rPr lang="nl-NL" sz="1400" dirty="0"/>
                        <a:t>De vastgestelde set van kenmerken (eigenschap en/of rol, 1 of meer) waarmee een object (exemplaar) van een bepaald objecttype (uniek) geïdentificeerd kan worden (het is die ene). Deze wordt gemodelleerd in een CIM. Een objecttype in een CIM </a:t>
                      </a:r>
                      <a:r>
                        <a:rPr lang="nl-NL" sz="1400" u="sng" dirty="0"/>
                        <a:t>kan</a:t>
                      </a:r>
                      <a:r>
                        <a:rPr lang="nl-NL" sz="1400" dirty="0"/>
                        <a:t> meerdere object </a:t>
                      </a:r>
                      <a:r>
                        <a:rPr lang="nl-NL" sz="1400" dirty="0" err="1"/>
                        <a:t>identificatoren</a:t>
                      </a:r>
                      <a:r>
                        <a:rPr lang="nl-NL" sz="1400" dirty="0"/>
                        <a:t> hebben.</a:t>
                      </a:r>
                    </a:p>
                    <a:p>
                      <a:endParaRPr lang="nl-NL" sz="1400" dirty="0"/>
                    </a:p>
                    <a:p>
                      <a:pPr marL="285750" indent="-285750">
                        <a:buFontTx/>
                        <a:buChar char="-"/>
                      </a:pPr>
                      <a:r>
                        <a:rPr lang="nl-NL" sz="1400" dirty="0" err="1"/>
                        <a:t>Vb</a:t>
                      </a:r>
                      <a:r>
                        <a:rPr lang="nl-NL" sz="1400" dirty="0"/>
                        <a:t> 1: Voornaam, achternaam, geboortedatum, geboorteplaats (betekenis gericht)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nl-NL" sz="1400" dirty="0" err="1"/>
                        <a:t>Vb</a:t>
                      </a:r>
                      <a:r>
                        <a:rPr lang="nl-NL" sz="1400" dirty="0"/>
                        <a:t> 2: Een </a:t>
                      </a:r>
                      <a:r>
                        <a:rPr lang="nl-NL" sz="1400" dirty="0" err="1"/>
                        <a:t>bsn</a:t>
                      </a:r>
                      <a:r>
                        <a:rPr lang="nl-NL" sz="1400" dirty="0"/>
                        <a:t> (enkelvoudig, administratief van aard)</a:t>
                      </a:r>
                      <a:br>
                        <a:rPr lang="nl-NL" sz="1400" dirty="0"/>
                      </a:br>
                      <a:endParaRPr lang="nl-NL" sz="1400" dirty="0"/>
                    </a:p>
                    <a:p>
                      <a:r>
                        <a:rPr lang="nl-NL" sz="1400" dirty="0"/>
                        <a:t>Regels: </a:t>
                      </a:r>
                    </a:p>
                    <a:p>
                      <a:r>
                        <a:rPr lang="nl-NL" sz="1400" dirty="0"/>
                        <a:t>- Een objecttype in het CIM kan hier 1 of meer van hebben. 0 is niet toegestaan, 2 of meer wel. Geef dan ook aan welke ervan de voorkeur heeft in het gebruik, in logische gegevensmodellen. </a:t>
                      </a:r>
                    </a:p>
                    <a:p>
                      <a:r>
                        <a:rPr lang="nl-NL" sz="1400" dirty="0"/>
                        <a:t>- Een abstract objecttype of zuivere generalisaties hoeven deze </a:t>
                      </a:r>
                      <a:r>
                        <a:rPr lang="nl-NL" sz="1400" dirty="0" err="1"/>
                        <a:t>Id</a:t>
                      </a:r>
                      <a:r>
                        <a:rPr lang="nl-NL" sz="1400" dirty="0"/>
                        <a:t> niet te hebben. </a:t>
                      </a:r>
                    </a:p>
                    <a:p>
                      <a:endParaRPr lang="nl-NL"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In de definitie van de eigenschap kan je lezen dat deze administratief van aard is en toegekend is, dit hoef je niet ook nog in de </a:t>
                      </a:r>
                      <a:r>
                        <a:rPr lang="nl-NL" sz="1400" dirty="0" err="1"/>
                        <a:t>Id</a:t>
                      </a:r>
                      <a:r>
                        <a:rPr lang="nl-NL" sz="1400" dirty="0"/>
                        <a:t> te vermelden, ditzelfde geldt ook voor of een eigenschap toegekend is of intrinsiek eigen is aan een object. </a:t>
                      </a:r>
                    </a:p>
                  </a:txBody>
                  <a:tcPr/>
                </a:tc>
                <a:tc>
                  <a:txBody>
                    <a:bodyPr/>
                    <a:lstStyle/>
                    <a:p>
                      <a:r>
                        <a:rPr lang="nl-NL" sz="1400" dirty="0"/>
                        <a:t>(Domein) object </a:t>
                      </a:r>
                      <a:r>
                        <a:rPr lang="nl-NL" sz="1400" dirty="0" err="1"/>
                        <a:t>identificator</a:t>
                      </a:r>
                      <a:endParaRPr lang="nl-NL" sz="1400" dirty="0"/>
                    </a:p>
                    <a:p>
                      <a:endParaRPr lang="nl-NL" sz="1400" i="1" dirty="0"/>
                    </a:p>
                    <a:p>
                      <a:r>
                        <a:rPr lang="nl-NL" sz="1400" i="1" dirty="0"/>
                        <a:t>Object </a:t>
                      </a:r>
                      <a:r>
                        <a:rPr lang="nl-NL" sz="1400" i="1" dirty="0" err="1"/>
                        <a:t>identificator</a:t>
                      </a:r>
                      <a:r>
                        <a:rPr lang="nl-NL" sz="1400" dirty="0"/>
                        <a:t>, </a:t>
                      </a:r>
                    </a:p>
                    <a:p>
                      <a:endParaRPr lang="nl-NL" sz="1400" dirty="0"/>
                    </a:p>
                    <a:p>
                      <a:r>
                        <a:rPr lang="nl-NL" sz="1400" dirty="0"/>
                        <a:t>de </a:t>
                      </a:r>
                      <a:r>
                        <a:rPr lang="nl-NL" sz="1400" dirty="0" err="1"/>
                        <a:t>identificator</a:t>
                      </a:r>
                      <a:r>
                        <a:rPr lang="nl-NL" sz="1400" dirty="0"/>
                        <a:t> van een object van een objecttype in een CIM</a:t>
                      </a:r>
                    </a:p>
                    <a:p>
                      <a:endParaRPr lang="nl-NL"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Omdat we vooralsnog maar 1 type object </a:t>
                      </a:r>
                      <a:r>
                        <a:rPr lang="nl-NL" sz="1400" dirty="0" err="1"/>
                        <a:t>identificator</a:t>
                      </a:r>
                      <a:r>
                        <a:rPr lang="nl-NL" sz="1400" dirty="0"/>
                        <a:t> onderkennen in een CIM hoeft deze geen stereotype te krijgen, en niet nader geclassificeerd of </a:t>
                      </a:r>
                      <a:r>
                        <a:rPr lang="nl-NL" sz="1400" dirty="0" err="1"/>
                        <a:t>gesubtypeerd</a:t>
                      </a:r>
                      <a:r>
                        <a:rPr lang="nl-NL" sz="1400" dirty="0"/>
                        <a:t> te worden.</a:t>
                      </a:r>
                    </a:p>
                  </a:txBody>
                  <a:tcPr/>
                </a:tc>
                <a:extLst>
                  <a:ext uri="{0D108BD9-81ED-4DB2-BD59-A6C34878D82A}">
                    <a16:rowId xmlns:a16="http://schemas.microsoft.com/office/drawing/2014/main" val="24526743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enkelvoudige </a:t>
                      </a:r>
                      <a:r>
                        <a:rPr lang="nl-NL" sz="1400" dirty="0" err="1"/>
                        <a:t>Id</a:t>
                      </a:r>
                      <a:r>
                        <a:rPr lang="nl-NL" sz="1400" dirty="0"/>
                        <a:t> van een domeinobject, die gebaseerd is op een toegekende/administratieve eigenschap.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Het </a:t>
                      </a:r>
                      <a:r>
                        <a:rPr lang="nl-NL" sz="1400" dirty="0" err="1"/>
                        <a:t>Id</a:t>
                      </a:r>
                      <a:r>
                        <a:rPr lang="nl-NL" sz="1400" dirty="0"/>
                        <a:t> is administratief van aard en de </a:t>
                      </a:r>
                      <a:r>
                        <a:rPr lang="nl-NL" sz="1400" dirty="0" err="1"/>
                        <a:t>Id</a:t>
                      </a:r>
                      <a:r>
                        <a:rPr lang="nl-NL" sz="1400" dirty="0"/>
                        <a:t> is officieel uitgegeven, vaak gegenereerd, door een hiertoe officieel aangewezen bevoegde instantie. Vaak is deze instantie ook de bronhouder van de bijbehorende officiële (basis)registratie.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Opm. Hiermee is een domeinobject niet te identificeren, maar nadat identificatie correct heeft plaatsgevonden is deze in het hele gegevensverwerkingsdomein wel betrouwbaar te gebruiken.  </a:t>
                      </a:r>
                    </a:p>
                  </a:txBody>
                  <a:tcPr/>
                </a:tc>
                <a:tc>
                  <a:txBody>
                    <a:bodyPr/>
                    <a:lstStyle/>
                    <a:p>
                      <a:r>
                        <a:rPr lang="nl-NL" sz="1400" dirty="0"/>
                        <a:t>Administratieve (domein) object </a:t>
                      </a:r>
                      <a:r>
                        <a:rPr lang="nl-NL" sz="1400" dirty="0" err="1"/>
                        <a:t>identificator</a:t>
                      </a:r>
                      <a:endParaRPr lang="nl-NL" sz="1400" dirty="0"/>
                    </a:p>
                    <a:p>
                      <a:endParaRPr lang="nl-NL"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Dit hoeft niet perse een metamodel ding te zijn, omdat dit af te leiden is uit de attribuuttypen die betrokken zijn.  </a:t>
                      </a:r>
                    </a:p>
                  </a:txBody>
                  <a:tcPr/>
                </a:tc>
                <a:extLst>
                  <a:ext uri="{0D108BD9-81ED-4DB2-BD59-A6C34878D82A}">
                    <a16:rowId xmlns:a16="http://schemas.microsoft.com/office/drawing/2014/main" val="3770486689"/>
                  </a:ext>
                </a:extLst>
              </a:tr>
            </a:tbl>
          </a:graphicData>
        </a:graphic>
      </p:graphicFrame>
    </p:spTree>
    <p:extLst>
      <p:ext uri="{BB962C8B-B14F-4D97-AF65-F5344CB8AC3E}">
        <p14:creationId xmlns:p14="http://schemas.microsoft.com/office/powerpoint/2010/main" val="209943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4A32D-7F2F-2F3E-F4FA-8198BBFB942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784B945-8F08-D4A8-2FDD-587ECE7A9FBC}"/>
              </a:ext>
            </a:extLst>
          </p:cNvPr>
          <p:cNvSpPr>
            <a:spLocks noGrp="1"/>
          </p:cNvSpPr>
          <p:nvPr>
            <p:ph type="title"/>
          </p:nvPr>
        </p:nvSpPr>
        <p:spPr/>
        <p:txBody>
          <a:bodyPr/>
          <a:lstStyle/>
          <a:p>
            <a:r>
              <a:rPr lang="nl-NL" dirty="0"/>
              <a:t>Samenvatting </a:t>
            </a:r>
            <a:r>
              <a:rPr lang="nl-NL" dirty="0" err="1"/>
              <a:t>Id</a:t>
            </a:r>
            <a:r>
              <a:rPr lang="nl-NL" dirty="0"/>
              <a:t> van objecttype in LGM</a:t>
            </a:r>
          </a:p>
        </p:txBody>
      </p:sp>
      <p:sp>
        <p:nvSpPr>
          <p:cNvPr id="3" name="Tijdelijke aanduiding voor inhoud 2">
            <a:extLst>
              <a:ext uri="{FF2B5EF4-FFF2-40B4-BE49-F238E27FC236}">
                <a16:creationId xmlns:a16="http://schemas.microsoft.com/office/drawing/2014/main" id="{088FD285-1E40-01AA-9B98-26E49A21E3E1}"/>
              </a:ext>
            </a:extLst>
          </p:cNvPr>
          <p:cNvSpPr>
            <a:spLocks noGrp="1"/>
          </p:cNvSpPr>
          <p:nvPr>
            <p:ph idx="1"/>
          </p:nvPr>
        </p:nvSpPr>
        <p:spPr>
          <a:xfrm>
            <a:off x="838200" y="1530349"/>
            <a:ext cx="10636250" cy="4962525"/>
          </a:xfrm>
        </p:spPr>
        <p:txBody>
          <a:bodyPr>
            <a:normAutofit fontScale="70000" lnSpcReduction="20000"/>
          </a:bodyPr>
          <a:lstStyle/>
          <a:p>
            <a:pPr marL="0" indent="0">
              <a:buNone/>
            </a:pPr>
            <a:r>
              <a:rPr lang="nl-NL" dirty="0"/>
              <a:t>Een gegevensobjecttype heeft 1 of meer </a:t>
            </a:r>
            <a:r>
              <a:rPr lang="nl-NL" dirty="0" err="1"/>
              <a:t>Id’s</a:t>
            </a:r>
            <a:endParaRPr lang="nl-NL" dirty="0"/>
          </a:p>
          <a:p>
            <a:r>
              <a:rPr lang="nl-NL" dirty="0"/>
              <a:t>Een </a:t>
            </a:r>
            <a:r>
              <a:rPr lang="nl-NL" dirty="0" err="1"/>
              <a:t>Id</a:t>
            </a:r>
            <a:r>
              <a:rPr lang="nl-NL" dirty="0"/>
              <a:t> bestaat in de kern uit het kiezen van het/de gegevenstype(n) die tot de </a:t>
            </a:r>
            <a:r>
              <a:rPr lang="nl-NL" dirty="0" err="1"/>
              <a:t>Id</a:t>
            </a:r>
            <a:r>
              <a:rPr lang="nl-NL" dirty="0"/>
              <a:t> behoren</a:t>
            </a:r>
          </a:p>
          <a:p>
            <a:r>
              <a:rPr lang="nl-NL" dirty="0"/>
              <a:t>Een gegevenstype kan gebruikt worden in 0, 1 of meer </a:t>
            </a:r>
            <a:r>
              <a:rPr lang="nl-NL" dirty="0" err="1"/>
              <a:t>Id’s</a:t>
            </a:r>
            <a:r>
              <a:rPr lang="nl-NL" dirty="0"/>
              <a:t> </a:t>
            </a:r>
          </a:p>
          <a:p>
            <a:r>
              <a:rPr lang="nl-NL" dirty="0"/>
              <a:t>Een </a:t>
            </a:r>
            <a:r>
              <a:rPr lang="nl-NL" dirty="0" err="1"/>
              <a:t>Id</a:t>
            </a:r>
            <a:r>
              <a:rPr lang="nl-NL" dirty="0"/>
              <a:t> bestaat uit een setje gegevens, die gaat over (een aparte type </a:t>
            </a:r>
            <a:r>
              <a:rPr lang="nl-NL" dirty="0" err="1"/>
              <a:t>Id</a:t>
            </a:r>
            <a:r>
              <a:rPr lang="nl-NL" dirty="0"/>
              <a:t> zijn): </a:t>
            </a:r>
          </a:p>
          <a:p>
            <a:pPr lvl="1"/>
            <a:r>
              <a:rPr lang="nl-NL" sz="2600" dirty="0"/>
              <a:t>Versie </a:t>
            </a:r>
            <a:r>
              <a:rPr lang="nl-NL" sz="2600" b="1" u="sng" dirty="0"/>
              <a:t>on</a:t>
            </a:r>
            <a:r>
              <a:rPr lang="nl-NL" sz="2600" dirty="0"/>
              <a:t>afhankelijk: </a:t>
            </a:r>
          </a:p>
          <a:p>
            <a:pPr lvl="2"/>
            <a:r>
              <a:rPr lang="nl-NL" sz="2600" dirty="0" err="1"/>
              <a:t>Id</a:t>
            </a:r>
            <a:r>
              <a:rPr lang="nl-NL" sz="2600" dirty="0"/>
              <a:t> van objecttype uit CIM – die het onderwerp van gesprek is </a:t>
            </a:r>
            <a:r>
              <a:rPr lang="nl-NL" sz="2600" dirty="0" err="1"/>
              <a:t>vh</a:t>
            </a:r>
            <a:r>
              <a:rPr lang="nl-NL" sz="2600" dirty="0"/>
              <a:t> gegevensobjecttype (op 1 moment in tijd)</a:t>
            </a:r>
          </a:p>
          <a:p>
            <a:pPr lvl="2"/>
            <a:r>
              <a:rPr lang="nl-NL" sz="2600" dirty="0"/>
              <a:t>Enkelvoudige </a:t>
            </a:r>
            <a:r>
              <a:rPr lang="nl-NL" sz="2600" dirty="0" err="1"/>
              <a:t>Id</a:t>
            </a:r>
            <a:r>
              <a:rPr lang="nl-NL" sz="2600" dirty="0"/>
              <a:t> die pas op logisch niveau ontstaat (en niet naar CIM getild is)</a:t>
            </a:r>
          </a:p>
          <a:p>
            <a:pPr lvl="1"/>
            <a:r>
              <a:rPr lang="nl-NL" sz="2600" dirty="0"/>
              <a:t>Versie </a:t>
            </a:r>
            <a:r>
              <a:rPr lang="nl-NL" sz="2600" b="1" u="sng" dirty="0"/>
              <a:t>af</a:t>
            </a:r>
            <a:r>
              <a:rPr lang="nl-NL" sz="2600" dirty="0"/>
              <a:t>hankelijke:</a:t>
            </a:r>
          </a:p>
          <a:p>
            <a:pPr lvl="2"/>
            <a:r>
              <a:rPr lang="nl-NL" sz="2600" dirty="0"/>
              <a:t>uniek op de tijdslijn registratie, </a:t>
            </a:r>
            <a:r>
              <a:rPr lang="nl-NL" sz="2600" dirty="0" err="1"/>
              <a:t>dwz</a:t>
            </a:r>
            <a:r>
              <a:rPr lang="nl-NL" sz="2600" dirty="0"/>
              <a:t> op </a:t>
            </a:r>
            <a:r>
              <a:rPr lang="nl-NL" sz="2600" b="1" dirty="0"/>
              <a:t>elk moment </a:t>
            </a:r>
            <a:r>
              <a:rPr lang="nl-NL" sz="2600" dirty="0"/>
              <a:t>in de tijd, bv. </a:t>
            </a:r>
            <a:r>
              <a:rPr lang="nl-NL" sz="2600" dirty="0" err="1"/>
              <a:t>bsn</a:t>
            </a:r>
            <a:r>
              <a:rPr lang="nl-NL" sz="2600" dirty="0"/>
              <a:t>, registratietijdstip</a:t>
            </a:r>
          </a:p>
          <a:p>
            <a:pPr lvl="2"/>
            <a:r>
              <a:rPr lang="nl-NL" sz="2600" dirty="0"/>
              <a:t>uniek op de tijdslijn geldigheid, </a:t>
            </a:r>
            <a:r>
              <a:rPr lang="nl-NL" sz="2600" dirty="0" err="1"/>
              <a:t>dwz</a:t>
            </a:r>
            <a:r>
              <a:rPr lang="nl-NL" sz="2600" dirty="0"/>
              <a:t> welke geldigheidsperiodes, bv. </a:t>
            </a:r>
            <a:r>
              <a:rPr lang="nl-NL" sz="2600" dirty="0" err="1"/>
              <a:t>bsn</a:t>
            </a:r>
            <a:r>
              <a:rPr lang="nl-NL" sz="2600" dirty="0"/>
              <a:t>, begin geldigheid en een indicatie dat gegevens over een geldigheidsperiode fout zijn en dus niet geldig</a:t>
            </a:r>
          </a:p>
          <a:p>
            <a:pPr marL="0" indent="0">
              <a:buNone/>
            </a:pPr>
            <a:endParaRPr lang="nl-NL" dirty="0"/>
          </a:p>
          <a:p>
            <a:pPr marL="0" indent="0">
              <a:buNone/>
            </a:pPr>
            <a:r>
              <a:rPr lang="nl-NL" dirty="0"/>
              <a:t>Bijzonderheden:</a:t>
            </a:r>
          </a:p>
          <a:p>
            <a:r>
              <a:rPr lang="nl-NL" dirty="0"/>
              <a:t>1 </a:t>
            </a:r>
            <a:r>
              <a:rPr lang="nl-NL" dirty="0" err="1"/>
              <a:t>Id</a:t>
            </a:r>
            <a:r>
              <a:rPr lang="nl-NL" dirty="0"/>
              <a:t> is degene die in de keten afgesproken is als de officiële die gebruikt moet worden</a:t>
            </a:r>
          </a:p>
          <a:p>
            <a:r>
              <a:rPr lang="nl-NL" dirty="0"/>
              <a:t>Een </a:t>
            </a:r>
            <a:r>
              <a:rPr lang="nl-NL" dirty="0" err="1"/>
              <a:t>Id</a:t>
            </a:r>
            <a:r>
              <a:rPr lang="nl-NL" dirty="0"/>
              <a:t> kan hergebruik maken van een </a:t>
            </a:r>
            <a:r>
              <a:rPr lang="nl-NL" dirty="0" err="1"/>
              <a:t>Id</a:t>
            </a:r>
            <a:r>
              <a:rPr lang="nl-NL" dirty="0"/>
              <a:t> van een ander gegevensobjecttype</a:t>
            </a:r>
          </a:p>
          <a:p>
            <a:endParaRPr lang="nl-NL" dirty="0"/>
          </a:p>
        </p:txBody>
      </p:sp>
    </p:spTree>
    <p:extLst>
      <p:ext uri="{BB962C8B-B14F-4D97-AF65-F5344CB8AC3E}">
        <p14:creationId xmlns:p14="http://schemas.microsoft.com/office/powerpoint/2010/main" val="381394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048B56B6-FA97-A1CF-A522-67DF5D3EFCBD}"/>
              </a:ext>
            </a:extLst>
          </p:cNvPr>
          <p:cNvSpPr>
            <a:spLocks noGrp="1"/>
          </p:cNvSpPr>
          <p:nvPr>
            <p:ph type="title"/>
          </p:nvPr>
        </p:nvSpPr>
        <p:spPr>
          <a:xfrm>
            <a:off x="189271" y="148816"/>
            <a:ext cx="3201629" cy="1325563"/>
          </a:xfrm>
        </p:spPr>
        <p:txBody>
          <a:bodyPr/>
          <a:lstStyle/>
          <a:p>
            <a:r>
              <a:rPr lang="nl-NL" dirty="0"/>
              <a:t>LGM en </a:t>
            </a:r>
            <a:r>
              <a:rPr lang="nl-NL" dirty="0" err="1"/>
              <a:t>ID’s</a:t>
            </a:r>
            <a:endParaRPr lang="nl-NL" dirty="0"/>
          </a:p>
        </p:txBody>
      </p:sp>
      <p:pic>
        <p:nvPicPr>
          <p:cNvPr id="6" name="Afbeelding 5">
            <a:extLst>
              <a:ext uri="{FF2B5EF4-FFF2-40B4-BE49-F238E27FC236}">
                <a16:creationId xmlns:a16="http://schemas.microsoft.com/office/drawing/2014/main" id="{85A74E7F-A8E1-DD66-2BC6-B082F604148D}"/>
              </a:ext>
            </a:extLst>
          </p:cNvPr>
          <p:cNvPicPr>
            <a:picLocks noChangeAspect="1"/>
          </p:cNvPicPr>
          <p:nvPr/>
        </p:nvPicPr>
        <p:blipFill>
          <a:blip r:embed="rId2">
            <a:extLst>
              <a:ext uri="{28A0092B-C50C-407E-A947-70E740481C1C}">
                <a14:useLocalDpi xmlns:a14="http://schemas.microsoft.com/office/drawing/2010/main" val="0"/>
              </a:ext>
            </a:extLst>
          </a:blip>
          <a:srcRect t="34194"/>
          <a:stretch>
            <a:fillRect/>
          </a:stretch>
        </p:blipFill>
        <p:spPr>
          <a:xfrm>
            <a:off x="457538" y="2109379"/>
            <a:ext cx="7472101" cy="4415042"/>
          </a:xfrm>
          <a:prstGeom prst="rect">
            <a:avLst/>
          </a:prstGeom>
        </p:spPr>
      </p:pic>
      <p:sp>
        <p:nvSpPr>
          <p:cNvPr id="7" name="Tekstvak 6">
            <a:extLst>
              <a:ext uri="{FF2B5EF4-FFF2-40B4-BE49-F238E27FC236}">
                <a16:creationId xmlns:a16="http://schemas.microsoft.com/office/drawing/2014/main" id="{D5116277-5516-F6DB-142A-491E6BCFA4B3}"/>
              </a:ext>
            </a:extLst>
          </p:cNvPr>
          <p:cNvSpPr txBox="1"/>
          <p:nvPr/>
        </p:nvSpPr>
        <p:spPr>
          <a:xfrm>
            <a:off x="5081229" y="317413"/>
            <a:ext cx="6921500" cy="2031325"/>
          </a:xfrm>
          <a:prstGeom prst="rect">
            <a:avLst/>
          </a:prstGeom>
          <a:noFill/>
        </p:spPr>
        <p:txBody>
          <a:bodyPr wrap="square" rtlCol="0">
            <a:spAutoFit/>
          </a:bodyPr>
          <a:lstStyle/>
          <a:p>
            <a:r>
              <a:rPr lang="nl-NL" sz="1400" dirty="0"/>
              <a:t>Op LGM niveau maakt het wel uit om welke </a:t>
            </a:r>
            <a:r>
              <a:rPr lang="nl-NL" sz="1400" dirty="0" err="1"/>
              <a:t>Id</a:t>
            </a:r>
            <a:r>
              <a:rPr lang="nl-NL" sz="1400" dirty="0"/>
              <a:t> het gaat:</a:t>
            </a:r>
          </a:p>
          <a:p>
            <a:pPr marL="342900" indent="-342900">
              <a:buAutoNum type="arabicParenR"/>
            </a:pPr>
            <a:r>
              <a:rPr lang="nl-NL" sz="1400" dirty="0"/>
              <a:t>Van welke domein object </a:t>
            </a:r>
            <a:r>
              <a:rPr lang="nl-NL" sz="1400" dirty="0" err="1"/>
              <a:t>identificator</a:t>
            </a:r>
            <a:r>
              <a:rPr lang="nl-NL" sz="1400" dirty="0"/>
              <a:t> zitten er gegevens in mijn gegevensobject</a:t>
            </a:r>
          </a:p>
          <a:p>
            <a:pPr marL="342900" indent="-342900">
              <a:buAutoNum type="arabicParenR"/>
            </a:pPr>
            <a:r>
              <a:rPr lang="nl-NL" sz="1400" dirty="0"/>
              <a:t> logische </a:t>
            </a:r>
            <a:r>
              <a:rPr lang="nl-NL" sz="1400" dirty="0" err="1"/>
              <a:t>Id</a:t>
            </a:r>
            <a:r>
              <a:rPr lang="nl-NL" sz="1400" dirty="0"/>
              <a:t> gebruikt wordt in de verbinding tussen twee </a:t>
            </a:r>
            <a:r>
              <a:rPr lang="nl-NL" sz="1400" dirty="0" err="1"/>
              <a:t>gegevensobjecttypen</a:t>
            </a:r>
            <a:endParaRPr lang="nl-NL" sz="1400" dirty="0"/>
          </a:p>
          <a:p>
            <a:endParaRPr lang="nl-NL" sz="1400" dirty="0"/>
          </a:p>
          <a:p>
            <a:r>
              <a:rPr lang="nl-NL" sz="1400" dirty="0"/>
              <a:t>De gegevens in gegevensobject A:</a:t>
            </a:r>
          </a:p>
          <a:p>
            <a:pPr marL="285750" indent="-285750">
              <a:buFont typeface="Arial" panose="020B0604020202020204" pitchFamily="34" charset="0"/>
              <a:buChar char="•"/>
            </a:pPr>
            <a:r>
              <a:rPr lang="nl-NL" sz="1400" dirty="0"/>
              <a:t>mijnGegevenA2, </a:t>
            </a:r>
            <a:r>
              <a:rPr lang="nl-NL" sz="1400" i="1" dirty="0"/>
              <a:t>over</a:t>
            </a:r>
            <a:r>
              <a:rPr lang="nl-NL" sz="1400" dirty="0"/>
              <a:t> </a:t>
            </a:r>
            <a:r>
              <a:rPr lang="nl-NL" sz="1400" u="sng" dirty="0"/>
              <a:t>specifieke</a:t>
            </a:r>
            <a:r>
              <a:rPr lang="nl-NL" sz="1400" dirty="0"/>
              <a:t> </a:t>
            </a:r>
            <a:r>
              <a:rPr lang="nl-NL" sz="1400" dirty="0" err="1"/>
              <a:t>Identificator</a:t>
            </a:r>
            <a:r>
              <a:rPr lang="nl-NL" sz="1400" dirty="0"/>
              <a:t> uit een CIM</a:t>
            </a:r>
          </a:p>
          <a:p>
            <a:pPr marL="285750" indent="-285750">
              <a:buFont typeface="Arial" panose="020B0604020202020204" pitchFamily="34" charset="0"/>
              <a:buChar char="•"/>
            </a:pPr>
            <a:r>
              <a:rPr lang="nl-NL" sz="1400" dirty="0"/>
              <a:t>mijnGegevenA1, een tijd-gegeven, onderdeel van eigen </a:t>
            </a:r>
            <a:r>
              <a:rPr lang="nl-NL" sz="1400" dirty="0" err="1"/>
              <a:t>Id</a:t>
            </a:r>
            <a:endParaRPr lang="nl-NL" sz="1400" dirty="0"/>
          </a:p>
          <a:p>
            <a:pPr marL="285750" indent="-285750">
              <a:buFont typeface="Arial" panose="020B0604020202020204" pitchFamily="34" charset="0"/>
              <a:buChar char="•"/>
            </a:pPr>
            <a:r>
              <a:rPr lang="nl-NL" sz="1400" dirty="0" err="1"/>
              <a:t>verwijzingNaarGegevensobjectB</a:t>
            </a:r>
            <a:r>
              <a:rPr lang="nl-NL" sz="1400" dirty="0"/>
              <a:t> naar </a:t>
            </a:r>
            <a:r>
              <a:rPr lang="nl-NL" sz="1400" u="sng" dirty="0"/>
              <a:t>specifieke</a:t>
            </a:r>
            <a:r>
              <a:rPr lang="nl-NL" sz="1400" dirty="0"/>
              <a:t> </a:t>
            </a:r>
            <a:r>
              <a:rPr lang="nl-NL" sz="1400" dirty="0" err="1"/>
              <a:t>Id</a:t>
            </a:r>
            <a:r>
              <a:rPr lang="nl-NL" sz="1400" dirty="0"/>
              <a:t> van </a:t>
            </a:r>
            <a:r>
              <a:rPr lang="nl-NL" sz="1400" dirty="0" err="1"/>
              <a:t>gegevensobjectB</a:t>
            </a:r>
            <a:endParaRPr lang="nl-NL" sz="1400" dirty="0"/>
          </a:p>
          <a:p>
            <a:endParaRPr lang="nl-NL" sz="1400" dirty="0"/>
          </a:p>
        </p:txBody>
      </p:sp>
      <p:sp>
        <p:nvSpPr>
          <p:cNvPr id="10" name="Tekstvak 9">
            <a:extLst>
              <a:ext uri="{FF2B5EF4-FFF2-40B4-BE49-F238E27FC236}">
                <a16:creationId xmlns:a16="http://schemas.microsoft.com/office/drawing/2014/main" id="{352C7D63-C44A-4A66-2CC9-8CB15297BB40}"/>
              </a:ext>
            </a:extLst>
          </p:cNvPr>
          <p:cNvSpPr txBox="1"/>
          <p:nvPr/>
        </p:nvSpPr>
        <p:spPr>
          <a:xfrm>
            <a:off x="6669110" y="4074908"/>
            <a:ext cx="4865821" cy="2462213"/>
          </a:xfrm>
          <a:prstGeom prst="rect">
            <a:avLst/>
          </a:prstGeom>
          <a:noFill/>
        </p:spPr>
        <p:txBody>
          <a:bodyPr wrap="square" rtlCol="0">
            <a:spAutoFit/>
          </a:bodyPr>
          <a:lstStyle/>
          <a:p>
            <a:r>
              <a:rPr lang="nl-NL" sz="1400" dirty="0"/>
              <a:t>In UML is gebruikelijk om de logische </a:t>
            </a:r>
            <a:r>
              <a:rPr lang="nl-NL" sz="1400" dirty="0" err="1"/>
              <a:t>Id</a:t>
            </a:r>
            <a:r>
              <a:rPr lang="nl-NL" sz="1400" dirty="0"/>
              <a:t> met daarin gegevens over een domeinobject-</a:t>
            </a:r>
            <a:r>
              <a:rPr lang="nl-NL" sz="1400" dirty="0" err="1"/>
              <a:t>identificator</a:t>
            </a:r>
            <a:r>
              <a:rPr lang="nl-NL" sz="1400" dirty="0"/>
              <a:t> als {</a:t>
            </a:r>
            <a:r>
              <a:rPr lang="nl-NL" sz="1400" dirty="0" err="1"/>
              <a:t>id</a:t>
            </a:r>
            <a:r>
              <a:rPr lang="nl-NL" sz="1400" dirty="0"/>
              <a:t>} te modelleren, </a:t>
            </a:r>
          </a:p>
          <a:p>
            <a:r>
              <a:rPr lang="nl-NL" sz="1400" dirty="0"/>
              <a:t>(en willen we dit uniform houden op CIM en LGM niveau?).  </a:t>
            </a:r>
          </a:p>
          <a:p>
            <a:endParaRPr lang="nl-NL" sz="1400" dirty="0"/>
          </a:p>
          <a:p>
            <a:r>
              <a:rPr lang="nl-NL" sz="1400" dirty="0"/>
              <a:t>In ER is het een eis om de versieafhankelijke </a:t>
            </a:r>
            <a:r>
              <a:rPr lang="nl-NL" sz="1400" dirty="0" err="1"/>
              <a:t>Id</a:t>
            </a:r>
            <a:r>
              <a:rPr lang="nl-NL" sz="1400" dirty="0"/>
              <a:t> te gebruiken als pi.</a:t>
            </a:r>
          </a:p>
          <a:p>
            <a:endParaRPr lang="nl-NL" sz="1400" dirty="0"/>
          </a:p>
          <a:p>
            <a:r>
              <a:rPr lang="nl-NL" sz="1400" dirty="0"/>
              <a:t>In FBM is …</a:t>
            </a:r>
          </a:p>
          <a:p>
            <a:endParaRPr lang="nl-NL" sz="1400" dirty="0"/>
          </a:p>
          <a:p>
            <a:r>
              <a:rPr lang="nl-NL" sz="1400" dirty="0"/>
              <a:t>In </a:t>
            </a:r>
            <a:r>
              <a:rPr lang="nl-NL" sz="1400" dirty="0" err="1"/>
              <a:t>linked</a:t>
            </a:r>
            <a:r>
              <a:rPr lang="nl-NL" sz="1400" dirty="0"/>
              <a:t> data is …</a:t>
            </a:r>
          </a:p>
          <a:p>
            <a:endParaRPr lang="nl-NL" sz="1400" dirty="0"/>
          </a:p>
        </p:txBody>
      </p:sp>
    </p:spTree>
    <p:extLst>
      <p:ext uri="{BB962C8B-B14F-4D97-AF65-F5344CB8AC3E}">
        <p14:creationId xmlns:p14="http://schemas.microsoft.com/office/powerpoint/2010/main" val="1439878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85574-E003-3DAF-C471-95BCFA60C3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D441675-44D6-6C20-6B48-4CD50A223FA4}"/>
              </a:ext>
            </a:extLst>
          </p:cNvPr>
          <p:cNvSpPr>
            <a:spLocks noGrp="1"/>
          </p:cNvSpPr>
          <p:nvPr>
            <p:ph type="title"/>
          </p:nvPr>
        </p:nvSpPr>
        <p:spPr>
          <a:xfrm>
            <a:off x="472256" y="261962"/>
            <a:ext cx="10515600" cy="1325563"/>
          </a:xfrm>
        </p:spPr>
        <p:txBody>
          <a:bodyPr>
            <a:normAutofit/>
          </a:bodyPr>
          <a:lstStyle/>
          <a:p>
            <a:r>
              <a:rPr lang="nl-NL" sz="4000" dirty="0"/>
              <a:t>Definities (aanzet) – LGM, gegevensobjecttype</a:t>
            </a:r>
          </a:p>
        </p:txBody>
      </p:sp>
      <p:graphicFrame>
        <p:nvGraphicFramePr>
          <p:cNvPr id="4" name="Tabel 3">
            <a:extLst>
              <a:ext uri="{FF2B5EF4-FFF2-40B4-BE49-F238E27FC236}">
                <a16:creationId xmlns:a16="http://schemas.microsoft.com/office/drawing/2014/main" id="{EC03E2DE-9B4D-63F9-68EB-AC63DEF6D5AD}"/>
              </a:ext>
            </a:extLst>
          </p:cNvPr>
          <p:cNvGraphicFramePr>
            <a:graphicFrameLocks noGrp="1"/>
          </p:cNvGraphicFramePr>
          <p:nvPr>
            <p:extLst>
              <p:ext uri="{D42A27DB-BD31-4B8C-83A1-F6EECF244321}">
                <p14:modId xmlns:p14="http://schemas.microsoft.com/office/powerpoint/2010/main" val="2737247871"/>
              </p:ext>
            </p:extLst>
          </p:nvPr>
        </p:nvGraphicFramePr>
        <p:xfrm>
          <a:off x="495300" y="1388260"/>
          <a:ext cx="11287125" cy="4800600"/>
        </p:xfrm>
        <a:graphic>
          <a:graphicData uri="http://schemas.openxmlformats.org/drawingml/2006/table">
            <a:tbl>
              <a:tblPr firstRow="1" bandRow="1">
                <a:tableStyleId>{5C22544A-7EE6-4342-B048-85BDC9FD1C3A}</a:tableStyleId>
              </a:tblPr>
              <a:tblGrid>
                <a:gridCol w="8610600">
                  <a:extLst>
                    <a:ext uri="{9D8B030D-6E8A-4147-A177-3AD203B41FA5}">
                      <a16:colId xmlns:a16="http://schemas.microsoft.com/office/drawing/2014/main" val="3945013391"/>
                    </a:ext>
                  </a:extLst>
                </a:gridCol>
                <a:gridCol w="2676525">
                  <a:extLst>
                    <a:ext uri="{9D8B030D-6E8A-4147-A177-3AD203B41FA5}">
                      <a16:colId xmlns:a16="http://schemas.microsoft.com/office/drawing/2014/main" val="3590454583"/>
                    </a:ext>
                  </a:extLst>
                </a:gridCol>
              </a:tblGrid>
              <a:tr h="370840">
                <a:tc>
                  <a:txBody>
                    <a:bodyPr/>
                    <a:lstStyle/>
                    <a:p>
                      <a:r>
                        <a:rPr lang="nl-NL" sz="1400" dirty="0"/>
                        <a:t>Definitie</a:t>
                      </a:r>
                    </a:p>
                  </a:txBody>
                  <a:tcPr/>
                </a:tc>
                <a:tc>
                  <a:txBody>
                    <a:bodyPr/>
                    <a:lstStyle/>
                    <a:p>
                      <a:r>
                        <a:rPr lang="nl-NL" sz="1400" dirty="0"/>
                        <a:t>Werkterm</a:t>
                      </a:r>
                    </a:p>
                  </a:txBody>
                  <a:tcPr/>
                </a:tc>
                <a:extLst>
                  <a:ext uri="{0D108BD9-81ED-4DB2-BD59-A6C34878D82A}">
                    <a16:rowId xmlns:a16="http://schemas.microsoft.com/office/drawing/2014/main" val="25299451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a:t>
                      </a:r>
                      <a:r>
                        <a:rPr lang="nl-NL" sz="1400" dirty="0" err="1"/>
                        <a:t>Id</a:t>
                      </a:r>
                      <a:r>
                        <a:rPr lang="nl-NL" sz="1400" dirty="0"/>
                        <a:t> op logisch niveau, die aanwezig is in een gegevensobject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Logische </a:t>
                      </a:r>
                      <a:r>
                        <a:rPr lang="nl-NL" sz="1400" dirty="0" err="1"/>
                        <a:t>Id</a:t>
                      </a:r>
                      <a:r>
                        <a:rPr lang="nl-NL" sz="1400" dirty="0"/>
                        <a:t> </a:t>
                      </a:r>
                    </a:p>
                  </a:txBody>
                  <a:tcPr/>
                </a:tc>
                <a:extLst>
                  <a:ext uri="{0D108BD9-81ED-4DB2-BD59-A6C34878D82A}">
                    <a16:rowId xmlns:a16="http://schemas.microsoft.com/office/drawing/2014/main" val="11695860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logische </a:t>
                      </a:r>
                      <a:r>
                        <a:rPr lang="nl-NL" sz="1400" dirty="0" err="1"/>
                        <a:t>Id</a:t>
                      </a:r>
                      <a:r>
                        <a:rPr lang="nl-NL" sz="1400" dirty="0"/>
                        <a:t> die een logische representatie is van een </a:t>
                      </a:r>
                      <a:r>
                        <a:rPr lang="nl-NL" sz="1400" dirty="0" err="1"/>
                        <a:t>objectidentificator</a:t>
                      </a:r>
                      <a:r>
                        <a:rPr lang="nl-NL" sz="1400" dirty="0"/>
                        <a:t> van een domein object.</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a:t>
                      </a:r>
                      <a:r>
                        <a:rPr lang="nl-NL" sz="1400" dirty="0" err="1"/>
                        <a:t>Id</a:t>
                      </a:r>
                      <a:r>
                        <a:rPr lang="nl-NL" sz="1400" dirty="0"/>
                        <a:t> </a:t>
                      </a:r>
                      <a:r>
                        <a:rPr lang="nl-NL" sz="1400" i="1" dirty="0"/>
                        <a:t>in de logische laag </a:t>
                      </a:r>
                      <a:r>
                        <a:rPr lang="nl-NL" sz="1400" dirty="0"/>
                        <a:t>die enkel en alleen gegevenstypen bevat die horen bij eigenschappen (of kenmerken) die ook gemodelleerd zijn als een object </a:t>
                      </a:r>
                      <a:r>
                        <a:rPr lang="nl-NL" sz="1400" dirty="0" err="1"/>
                        <a:t>identificator</a:t>
                      </a:r>
                      <a:r>
                        <a:rPr lang="nl-NL" sz="1400" dirty="0"/>
                        <a:t> uit het CIM.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Regel: dit objecttype is ook het onderwerp van gesprek van het gegevensobjecttype </a:t>
                      </a:r>
                      <a:br>
                        <a:rPr lang="nl-NL" sz="1400" dirty="0"/>
                      </a:br>
                      <a:r>
                        <a:rPr lang="nl-NL" sz="1400" dirty="0"/>
                        <a:t>(en andere objecttypen die noemen we niet, of noemen we anders)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Bv. in een gegevensobject zie je dan staan: gemeente 123 en naam Apeldoorn.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Id</a:t>
                      </a:r>
                      <a:r>
                        <a:rPr lang="nl-NL" sz="1400" dirty="0"/>
                        <a:t>-Type onderwerp van gesprek</a:t>
                      </a:r>
                    </a:p>
                    <a:p>
                      <a:endParaRPr lang="nl-NL" sz="1400" dirty="0"/>
                    </a:p>
                    <a:p>
                      <a:r>
                        <a:rPr lang="nl-NL" sz="1400" dirty="0"/>
                        <a:t>Logisch </a:t>
                      </a:r>
                      <a:r>
                        <a:rPr lang="nl-NL" sz="1400" dirty="0" err="1"/>
                        <a:t>Id</a:t>
                      </a:r>
                      <a:r>
                        <a:rPr lang="nl-NL" sz="1400" dirty="0"/>
                        <a:t> van het object die het onderwerp van gesprek is</a:t>
                      </a:r>
                    </a:p>
                    <a:p>
                      <a:endParaRPr lang="nl-NL" sz="1400" dirty="0"/>
                    </a:p>
                    <a:p>
                      <a:r>
                        <a:rPr lang="nl-NL" sz="1400" dirty="0"/>
                        <a:t>Afkorting: OID</a:t>
                      </a:r>
                    </a:p>
                  </a:txBody>
                  <a:tcPr/>
                </a:tc>
                <a:extLst>
                  <a:ext uri="{0D108BD9-81ED-4DB2-BD59-A6C34878D82A}">
                    <a16:rowId xmlns:a16="http://schemas.microsoft.com/office/drawing/2014/main" val="3766577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logische </a:t>
                      </a:r>
                      <a:r>
                        <a:rPr lang="nl-NL" sz="1400" dirty="0" err="1"/>
                        <a:t>Id</a:t>
                      </a:r>
                      <a:r>
                        <a:rPr lang="nl-NL" sz="1400" dirty="0"/>
                        <a:t> van een gegevensobject bestaande uit een setje gegevens die is opgenomen in het gegevensobject en waarmee een gegevensobject uniek is aan te wijzen.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Regel: de gegevens in dit </a:t>
                      </a:r>
                      <a:r>
                        <a:rPr lang="nl-NL" sz="1400" dirty="0" err="1"/>
                        <a:t>Id</a:t>
                      </a:r>
                      <a:r>
                        <a:rPr lang="nl-NL" sz="1400" dirty="0"/>
                        <a:t> zijn een unieke combinatie van gegevens op </a:t>
                      </a:r>
                      <a:r>
                        <a:rPr lang="nl-NL" sz="1400" b="1" dirty="0"/>
                        <a:t>elk moment in de tijd</a:t>
                      </a:r>
                      <a:r>
                        <a:rPr lang="nl-NL" sz="1400" dirty="0"/>
                        <a:t>. Deze zijn over  alle gegevensobjecten van dit gegevensobjecttype in de registratie uniek.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Id</a:t>
                      </a:r>
                      <a:r>
                        <a:rPr lang="nl-NL" sz="1400" dirty="0"/>
                        <a:t>-Type registratie tijd</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Afkorting: UID</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Uniek op elk moment </a:t>
                      </a:r>
                    </a:p>
                  </a:txBody>
                  <a:tcPr/>
                </a:tc>
                <a:extLst>
                  <a:ext uri="{0D108BD9-81ED-4DB2-BD59-A6C34878D82A}">
                    <a16:rowId xmlns:a16="http://schemas.microsoft.com/office/drawing/2014/main" val="20450021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logische </a:t>
                      </a:r>
                      <a:r>
                        <a:rPr lang="nl-NL" sz="1400" dirty="0" err="1"/>
                        <a:t>Id</a:t>
                      </a:r>
                      <a:r>
                        <a:rPr lang="nl-NL" sz="1400" dirty="0"/>
                        <a:t> waarmee een geldigheidsperiode uniek aangewezen kan worden.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Id</a:t>
                      </a:r>
                      <a:r>
                        <a:rPr lang="nl-NL" sz="1400" dirty="0"/>
                        <a:t>-type geldigheid tijd</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NNE3610 term: voorkomen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Afkorting: VID</a:t>
                      </a:r>
                    </a:p>
                  </a:txBody>
                  <a:tcPr/>
                </a:tc>
                <a:extLst>
                  <a:ext uri="{0D108BD9-81ED-4DB2-BD59-A6C34878D82A}">
                    <a16:rowId xmlns:a16="http://schemas.microsoft.com/office/drawing/2014/main" val="33120127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Optioneel: een </a:t>
                      </a:r>
                      <a:r>
                        <a:rPr lang="nl-NL" sz="1400" dirty="0" err="1"/>
                        <a:t>Id</a:t>
                      </a:r>
                      <a:r>
                        <a:rPr lang="nl-NL" sz="1400" dirty="0"/>
                        <a:t> uit de techniek die er wel is als data maar die je niet moet gebruiken in gegevensuitwisseling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Id</a:t>
                      </a:r>
                      <a:r>
                        <a:rPr lang="nl-NL" sz="1400" dirty="0"/>
                        <a:t>-type technisch</a:t>
                      </a:r>
                    </a:p>
                  </a:txBody>
                  <a:tcPr/>
                </a:tc>
                <a:extLst>
                  <a:ext uri="{0D108BD9-81ED-4DB2-BD59-A6C34878D82A}">
                    <a16:rowId xmlns:a16="http://schemas.microsoft.com/office/drawing/2014/main" val="1894765242"/>
                  </a:ext>
                </a:extLst>
              </a:tr>
            </a:tbl>
          </a:graphicData>
        </a:graphic>
      </p:graphicFrame>
    </p:spTree>
    <p:extLst>
      <p:ext uri="{BB962C8B-B14F-4D97-AF65-F5344CB8AC3E}">
        <p14:creationId xmlns:p14="http://schemas.microsoft.com/office/powerpoint/2010/main" val="392120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B59B6A-1774-E996-B069-C40C58B647A3}"/>
              </a:ext>
            </a:extLst>
          </p:cNvPr>
          <p:cNvSpPr>
            <a:spLocks noGrp="1"/>
          </p:cNvSpPr>
          <p:nvPr>
            <p:ph type="title"/>
          </p:nvPr>
        </p:nvSpPr>
        <p:spPr>
          <a:xfrm>
            <a:off x="0" y="119319"/>
            <a:ext cx="5769077" cy="1325563"/>
          </a:xfrm>
        </p:spPr>
        <p:txBody>
          <a:bodyPr/>
          <a:lstStyle/>
          <a:p>
            <a:r>
              <a:rPr lang="nl-NL" dirty="0"/>
              <a:t>CIM en LGM </a:t>
            </a:r>
            <a:r>
              <a:rPr lang="nl-NL" dirty="0" err="1"/>
              <a:t>ID’s</a:t>
            </a:r>
            <a:endParaRPr lang="nl-NL" dirty="0"/>
          </a:p>
        </p:txBody>
      </p:sp>
      <p:pic>
        <p:nvPicPr>
          <p:cNvPr id="5" name="Afbeelding 4">
            <a:extLst>
              <a:ext uri="{FF2B5EF4-FFF2-40B4-BE49-F238E27FC236}">
                <a16:creationId xmlns:a16="http://schemas.microsoft.com/office/drawing/2014/main" id="{A5CE3943-445C-83AE-D903-06A6C9D2A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28160"/>
            <a:ext cx="12192000" cy="5310521"/>
          </a:xfrm>
          <a:prstGeom prst="rect">
            <a:avLst/>
          </a:prstGeom>
        </p:spPr>
      </p:pic>
    </p:spTree>
    <p:extLst>
      <p:ext uri="{BB962C8B-B14F-4D97-AF65-F5344CB8AC3E}">
        <p14:creationId xmlns:p14="http://schemas.microsoft.com/office/powerpoint/2010/main" val="2620445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EF4DC7-80EA-ED75-1703-38C1F2D6935C}"/>
              </a:ext>
            </a:extLst>
          </p:cNvPr>
          <p:cNvSpPr>
            <a:spLocks noGrp="1"/>
          </p:cNvSpPr>
          <p:nvPr>
            <p:ph type="title"/>
          </p:nvPr>
        </p:nvSpPr>
        <p:spPr/>
        <p:txBody>
          <a:bodyPr/>
          <a:lstStyle/>
          <a:p>
            <a:endParaRPr lang="nl-NL" dirty="0"/>
          </a:p>
        </p:txBody>
      </p:sp>
      <p:sp>
        <p:nvSpPr>
          <p:cNvPr id="3" name="Tijdelijke aanduiding voor inhoud 2">
            <a:extLst>
              <a:ext uri="{FF2B5EF4-FFF2-40B4-BE49-F238E27FC236}">
                <a16:creationId xmlns:a16="http://schemas.microsoft.com/office/drawing/2014/main" id="{FAA4FEDB-5DFE-BA6E-6594-490569CA9F9C}"/>
              </a:ext>
            </a:extLst>
          </p:cNvPr>
          <p:cNvSpPr>
            <a:spLocks noGrp="1"/>
          </p:cNvSpPr>
          <p:nvPr>
            <p:ph idx="1"/>
          </p:nvPr>
        </p:nvSpPr>
        <p:spPr/>
        <p:txBody>
          <a:bodyPr/>
          <a:lstStyle/>
          <a:p>
            <a:pPr marL="0" indent="0">
              <a:buNone/>
            </a:pPr>
            <a:r>
              <a:rPr lang="nl-NL" dirty="0"/>
              <a:t>Hierna volgen wat teksten die bruikbaar zijn om:</a:t>
            </a:r>
          </a:p>
          <a:p>
            <a:pPr>
              <a:buFontTx/>
              <a:buChar char="-"/>
            </a:pPr>
            <a:r>
              <a:rPr lang="nl-NL" dirty="0"/>
              <a:t>er leesbaar verhaal van te maken</a:t>
            </a:r>
          </a:p>
          <a:p>
            <a:pPr>
              <a:buFontTx/>
              <a:buChar char="-"/>
            </a:pPr>
            <a:r>
              <a:rPr lang="nl-NL" dirty="0"/>
              <a:t>Te controleren of bepaalde concerns afgedekt zijn</a:t>
            </a:r>
          </a:p>
          <a:p>
            <a:pPr>
              <a:buFontTx/>
              <a:buChar char="-"/>
            </a:pPr>
            <a:r>
              <a:rPr lang="nl-NL" dirty="0"/>
              <a:t>Te controleren of </a:t>
            </a:r>
            <a:r>
              <a:rPr lang="nl-NL" dirty="0" err="1"/>
              <a:t>use</a:t>
            </a:r>
            <a:r>
              <a:rPr lang="nl-NL" dirty="0"/>
              <a:t> cases / </a:t>
            </a:r>
            <a:r>
              <a:rPr lang="nl-NL" dirty="0" err="1"/>
              <a:t>gebruikscenario’s</a:t>
            </a:r>
            <a:r>
              <a:rPr lang="nl-NL" dirty="0"/>
              <a:t> zijn afgedekt</a:t>
            </a:r>
          </a:p>
          <a:p>
            <a:pPr>
              <a:buFontTx/>
              <a:buChar char="-"/>
            </a:pPr>
            <a:endParaRPr lang="nl-NL" dirty="0"/>
          </a:p>
          <a:p>
            <a:pPr marL="0" indent="0">
              <a:buNone/>
            </a:pPr>
            <a:r>
              <a:rPr lang="nl-NL" dirty="0"/>
              <a:t>De status hiervan is nog rijp en groen door elkaar.</a:t>
            </a:r>
          </a:p>
        </p:txBody>
      </p:sp>
    </p:spTree>
    <p:extLst>
      <p:ext uri="{BB962C8B-B14F-4D97-AF65-F5344CB8AC3E}">
        <p14:creationId xmlns:p14="http://schemas.microsoft.com/office/powerpoint/2010/main" val="2071528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B2D72-255E-E411-09B2-97F8D674B0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6CC7520-8185-B102-7E81-C36EEA5CF4AA}"/>
              </a:ext>
            </a:extLst>
          </p:cNvPr>
          <p:cNvSpPr>
            <a:spLocks noGrp="1"/>
          </p:cNvSpPr>
          <p:nvPr>
            <p:ph type="title"/>
          </p:nvPr>
        </p:nvSpPr>
        <p:spPr/>
        <p:txBody>
          <a:bodyPr/>
          <a:lstStyle/>
          <a:p>
            <a:r>
              <a:rPr lang="nl-NL" dirty="0"/>
              <a:t>Voorbeelden – om nader uit te werken</a:t>
            </a:r>
          </a:p>
        </p:txBody>
      </p:sp>
      <p:sp>
        <p:nvSpPr>
          <p:cNvPr id="5" name="Tijdelijke aanduiding voor inhoud 4">
            <a:extLst>
              <a:ext uri="{FF2B5EF4-FFF2-40B4-BE49-F238E27FC236}">
                <a16:creationId xmlns:a16="http://schemas.microsoft.com/office/drawing/2014/main" id="{FED87F20-7A1A-7C79-09D2-A560236227B2}"/>
              </a:ext>
            </a:extLst>
          </p:cNvPr>
          <p:cNvSpPr>
            <a:spLocks noGrp="1"/>
          </p:cNvSpPr>
          <p:nvPr>
            <p:ph idx="1"/>
          </p:nvPr>
        </p:nvSpPr>
        <p:spPr>
          <a:xfrm>
            <a:off x="838200" y="1504157"/>
            <a:ext cx="10634663" cy="4351338"/>
          </a:xfrm>
        </p:spPr>
        <p:txBody>
          <a:bodyPr>
            <a:noAutofit/>
          </a:bodyPr>
          <a:lstStyle/>
          <a:p>
            <a:pPr marL="0" indent="0">
              <a:buNone/>
            </a:pPr>
            <a:r>
              <a:rPr lang="nl-NL" sz="1800" i="1" dirty="0" err="1"/>
              <a:t>Id</a:t>
            </a:r>
            <a:r>
              <a:rPr lang="nl-NL" sz="1800" i="1" dirty="0"/>
              <a:t> in de conceptuele laag (MIM-2) die gespiegeld uitgewerkt is in de logische laag (MIM-3):</a:t>
            </a:r>
            <a:r>
              <a:rPr lang="nl-NL" sz="1800" dirty="0"/>
              <a:t> </a:t>
            </a:r>
          </a:p>
          <a:p>
            <a:r>
              <a:rPr lang="nl-NL" sz="1800" dirty="0"/>
              <a:t>een domeinobject </a:t>
            </a:r>
            <a:r>
              <a:rPr lang="nl-NL" sz="1800" dirty="0" err="1"/>
              <a:t>id</a:t>
            </a:r>
            <a:r>
              <a:rPr lang="nl-NL" sz="1800" dirty="0"/>
              <a:t> die gebaseerd is op intrinsieke kenmerken</a:t>
            </a:r>
          </a:p>
          <a:p>
            <a:r>
              <a:rPr lang="nl-NL" sz="1800" dirty="0"/>
              <a:t>een domeinobject </a:t>
            </a:r>
            <a:r>
              <a:rPr lang="nl-NL" sz="1800" dirty="0" err="1"/>
              <a:t>id</a:t>
            </a:r>
            <a:r>
              <a:rPr lang="nl-NL" sz="1800" dirty="0"/>
              <a:t> die gebaseerd is op een toegekend kenmerk</a:t>
            </a:r>
          </a:p>
          <a:p>
            <a:r>
              <a:rPr lang="nl-NL" sz="1800" dirty="0"/>
              <a:t>een domeinobject </a:t>
            </a:r>
            <a:r>
              <a:rPr lang="nl-NL" sz="1800" dirty="0" err="1"/>
              <a:t>id</a:t>
            </a:r>
            <a:r>
              <a:rPr lang="nl-NL" sz="1800" dirty="0"/>
              <a:t> die gebaseerd is de </a:t>
            </a:r>
            <a:r>
              <a:rPr lang="nl-NL" sz="1800" dirty="0" err="1"/>
              <a:t>id</a:t>
            </a:r>
            <a:r>
              <a:rPr lang="nl-NL" sz="1800" dirty="0"/>
              <a:t> van een ander domeinobject </a:t>
            </a:r>
          </a:p>
          <a:p>
            <a:pPr marL="0" indent="0">
              <a:buNone/>
            </a:pPr>
            <a:r>
              <a:rPr lang="nl-NL" sz="1800" dirty="0"/>
              <a:t>N.B. in de logische laag wordt vaak maar 1 van bovenstaande conceptuele </a:t>
            </a:r>
            <a:r>
              <a:rPr lang="nl-NL" sz="1800" dirty="0" err="1"/>
              <a:t>id’s</a:t>
            </a:r>
            <a:r>
              <a:rPr lang="nl-NL" sz="1800" dirty="0"/>
              <a:t> gebruikt (niet allemaal)</a:t>
            </a:r>
          </a:p>
          <a:p>
            <a:pPr marL="0" indent="0">
              <a:buNone/>
            </a:pPr>
            <a:endParaRPr lang="nl-NL" sz="1800" i="1" dirty="0"/>
          </a:p>
          <a:p>
            <a:pPr marL="0" indent="0">
              <a:buNone/>
            </a:pPr>
            <a:r>
              <a:rPr lang="nl-NL" sz="1800" i="1" dirty="0" err="1"/>
              <a:t>Id’s</a:t>
            </a:r>
            <a:r>
              <a:rPr lang="nl-NL" sz="1800" i="1" dirty="0"/>
              <a:t> in de logische laag (MIM-3) </a:t>
            </a:r>
            <a:r>
              <a:rPr lang="nl-NL" sz="1800" dirty="0"/>
              <a:t>die niet gebaseerd zijn op een </a:t>
            </a:r>
            <a:r>
              <a:rPr lang="nl-NL" sz="1800" dirty="0" err="1"/>
              <a:t>id</a:t>
            </a:r>
            <a:r>
              <a:rPr lang="nl-NL" sz="1800" dirty="0"/>
              <a:t> uit de conceptuele laag: </a:t>
            </a:r>
            <a:r>
              <a:rPr lang="nl-NL" sz="1800" i="1" dirty="0"/>
              <a:t> </a:t>
            </a:r>
          </a:p>
          <a:p>
            <a:r>
              <a:rPr lang="nl-NL" sz="1800" dirty="0"/>
              <a:t>enkelvoudig, gegenereerd en vooral ook gestandaardiseerd, met een 1 op 1 relatie met 1 conceptuele id. Een voorbeeld hiervan: een ‘identificatie’ die voldoet aan de NEN3610ID eisen, zodat </a:t>
            </a:r>
            <a:r>
              <a:rPr lang="nl-NL" sz="1800" dirty="0" err="1"/>
              <a:t>id’s</a:t>
            </a:r>
            <a:r>
              <a:rPr lang="nl-NL" sz="1800" dirty="0"/>
              <a:t> in de logische laag ook in bredere context uniek worden (inclusief een domein aanduiding waarbinnen de </a:t>
            </a:r>
            <a:r>
              <a:rPr lang="nl-NL" sz="1800" dirty="0" err="1"/>
              <a:t>id</a:t>
            </a:r>
            <a:r>
              <a:rPr lang="nl-NL" sz="1800" dirty="0"/>
              <a:t> uniek is).  </a:t>
            </a:r>
          </a:p>
          <a:p>
            <a:r>
              <a:rPr lang="nl-NL" sz="1800" dirty="0"/>
              <a:t>extra </a:t>
            </a:r>
            <a:r>
              <a:rPr lang="nl-NL" sz="1800" dirty="0" err="1"/>
              <a:t>id’s</a:t>
            </a:r>
            <a:r>
              <a:rPr lang="nl-NL" sz="1800" dirty="0"/>
              <a:t> in de logische laag, met een 1 op 1 relatie met een andere </a:t>
            </a:r>
            <a:r>
              <a:rPr lang="nl-NL" sz="1800" dirty="0" err="1"/>
              <a:t>id</a:t>
            </a:r>
            <a:r>
              <a:rPr lang="nl-NL" sz="1800" dirty="0"/>
              <a:t> in de logische laag</a:t>
            </a:r>
          </a:p>
          <a:p>
            <a:pPr marL="0" indent="0">
              <a:buNone/>
            </a:pPr>
            <a:endParaRPr lang="nl-NL" sz="1800" i="1" dirty="0"/>
          </a:p>
          <a:p>
            <a:pPr marL="0" indent="0">
              <a:buNone/>
            </a:pPr>
            <a:r>
              <a:rPr lang="nl-NL" sz="1800" i="1" dirty="0" err="1"/>
              <a:t>Id’s</a:t>
            </a:r>
            <a:r>
              <a:rPr lang="nl-NL" sz="1800" i="1" dirty="0"/>
              <a:t> in de technische laag (MIM-4), </a:t>
            </a:r>
            <a:r>
              <a:rPr lang="nl-NL" sz="1800" dirty="0"/>
              <a:t>die niet gebaseerd zijn op een </a:t>
            </a:r>
            <a:r>
              <a:rPr lang="nl-NL" sz="1800" dirty="0" err="1"/>
              <a:t>id</a:t>
            </a:r>
            <a:r>
              <a:rPr lang="nl-NL" sz="1800" dirty="0"/>
              <a:t> uit de logische of conceptuele laag</a:t>
            </a:r>
            <a:r>
              <a:rPr lang="nl-NL" sz="1800" i="1" dirty="0"/>
              <a:t>: </a:t>
            </a:r>
          </a:p>
          <a:p>
            <a:r>
              <a:rPr lang="nl-NL" sz="1800" dirty="0"/>
              <a:t>vaak van tijdelijke of interne aard zijn, en niet bedoeld zijn om als officiële </a:t>
            </a:r>
            <a:r>
              <a:rPr lang="nl-NL" sz="1800" dirty="0" err="1"/>
              <a:t>id</a:t>
            </a:r>
            <a:r>
              <a:rPr lang="nl-NL" sz="1800" dirty="0"/>
              <a:t> te gebruiken.  </a:t>
            </a:r>
          </a:p>
          <a:p>
            <a:pPr marL="0" indent="0">
              <a:buNone/>
            </a:pPr>
            <a:endParaRPr lang="nl-NL" sz="1800" dirty="0"/>
          </a:p>
          <a:p>
            <a:pPr marL="0" indent="0">
              <a:buNone/>
            </a:pPr>
            <a:endParaRPr lang="nl-NL" sz="1800" dirty="0"/>
          </a:p>
        </p:txBody>
      </p:sp>
    </p:spTree>
    <p:extLst>
      <p:ext uri="{BB962C8B-B14F-4D97-AF65-F5344CB8AC3E}">
        <p14:creationId xmlns:p14="http://schemas.microsoft.com/office/powerpoint/2010/main" val="3932282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D520FF-83A4-4D5F-9626-C9DBC96302C8}"/>
              </a:ext>
            </a:extLst>
          </p:cNvPr>
          <p:cNvSpPr>
            <a:spLocks noGrp="1"/>
          </p:cNvSpPr>
          <p:nvPr>
            <p:ph type="title"/>
          </p:nvPr>
        </p:nvSpPr>
        <p:spPr/>
        <p:txBody>
          <a:bodyPr>
            <a:normAutofit/>
          </a:bodyPr>
          <a:lstStyle/>
          <a:p>
            <a:r>
              <a:rPr lang="nl-NL" sz="3200" dirty="0"/>
              <a:t>Onderwerp van gesprek en een </a:t>
            </a:r>
            <a:r>
              <a:rPr lang="nl-NL" sz="3200" dirty="0" err="1"/>
              <a:t>Id</a:t>
            </a:r>
            <a:r>
              <a:rPr lang="nl-NL" sz="3200" dirty="0"/>
              <a:t> in het gegevensobjecttype</a:t>
            </a:r>
          </a:p>
        </p:txBody>
      </p:sp>
      <p:sp>
        <p:nvSpPr>
          <p:cNvPr id="3" name="Tijdelijke aanduiding voor inhoud 2">
            <a:extLst>
              <a:ext uri="{FF2B5EF4-FFF2-40B4-BE49-F238E27FC236}">
                <a16:creationId xmlns:a16="http://schemas.microsoft.com/office/drawing/2014/main" id="{3FBD682A-2525-F8DF-55FF-6FB43FD911B1}"/>
              </a:ext>
            </a:extLst>
          </p:cNvPr>
          <p:cNvSpPr>
            <a:spLocks noGrp="1"/>
          </p:cNvSpPr>
          <p:nvPr>
            <p:ph idx="1"/>
          </p:nvPr>
        </p:nvSpPr>
        <p:spPr>
          <a:xfrm>
            <a:off x="838200" y="1492250"/>
            <a:ext cx="10515600" cy="4684713"/>
          </a:xfrm>
        </p:spPr>
        <p:txBody>
          <a:bodyPr>
            <a:noAutofit/>
          </a:bodyPr>
          <a:lstStyle/>
          <a:p>
            <a:pPr marL="0" indent="0">
              <a:buNone/>
            </a:pPr>
            <a:r>
              <a:rPr lang="nl-NL" sz="1800" dirty="0"/>
              <a:t>Elk gegevensobjecttype heeft 1 onderwerp van gesprek, zijnde een domein object (van een bepaald objecttype zoals bedoeld in een CIM). Alle gegevens in het gegevensobject gaan over dit onderwerp van gesprek, hoewel dit wel gegevens kunnen zijn over domein objecten waarmee het onderwerp een relatie heeft (direct of indirect). Deze laatste noemen we niet ook onderwerp van gesprek. </a:t>
            </a:r>
          </a:p>
          <a:p>
            <a:pPr marL="0" indent="0">
              <a:buNone/>
            </a:pPr>
            <a:r>
              <a:rPr lang="nl-NL" sz="1800" dirty="0"/>
              <a:t>Het betrouwbaar kunnen herleiden naar het onderwerp van gesprek loopt via 2 specificaties: </a:t>
            </a:r>
          </a:p>
          <a:p>
            <a:pPr marL="457200" indent="-457200">
              <a:buAutoNum type="arabicPeriod"/>
            </a:pPr>
            <a:r>
              <a:rPr lang="nl-NL" sz="1800" dirty="0"/>
              <a:t>Bij het gegevensobjecttype: aanduiding van het onderwerp van gesprek. </a:t>
            </a:r>
          </a:p>
          <a:p>
            <a:pPr marL="457200" indent="-457200">
              <a:buFont typeface="Arial" panose="020B0604020202020204" pitchFamily="34" charset="0"/>
              <a:buAutoNum type="arabicPeriod"/>
            </a:pPr>
            <a:r>
              <a:rPr lang="nl-NL" sz="1800" dirty="0"/>
              <a:t>De modellering van een OID gemodelleerd. Meestal 1, maar soms ook 2 of meer. De OID in het gegevensobjecttype is gebaseerd op gegevenstypen die verwijzen naar getypeerde eigenschappen (attribuutsoort in MIM 1.2 in CIM) waarop een </a:t>
            </a:r>
            <a:r>
              <a:rPr lang="nl-NL" sz="1800" dirty="0" err="1"/>
              <a:t>objectidentificator</a:t>
            </a:r>
            <a:r>
              <a:rPr lang="nl-NL" sz="1800" dirty="0"/>
              <a:t> (pi of ai) van een objecttype in het CIM. Dit is nodig om identificatie uit te kunnen voeren.</a:t>
            </a:r>
          </a:p>
          <a:p>
            <a:pPr marL="0" indent="0">
              <a:buNone/>
            </a:pPr>
            <a:r>
              <a:rPr lang="nl-NL" sz="1800" dirty="0"/>
              <a:t>OID = </a:t>
            </a:r>
            <a:r>
              <a:rPr lang="nl-NL" sz="1800" dirty="0" err="1"/>
              <a:t>Id</a:t>
            </a:r>
            <a:r>
              <a:rPr lang="nl-NL" sz="1800" dirty="0"/>
              <a:t> op logisch niveau van het onderwerp van gesprek. Deze wordt gevuld met de gegevens over de eigenschappen die de </a:t>
            </a:r>
            <a:r>
              <a:rPr lang="nl-NL" sz="1800" dirty="0" err="1"/>
              <a:t>objectidentificator</a:t>
            </a:r>
            <a:r>
              <a:rPr lang="nl-NL" sz="1800" dirty="0"/>
              <a:t> vormen van het objecttype de het onderwerp van gesprek is.</a:t>
            </a:r>
          </a:p>
          <a:p>
            <a:pPr marL="0" indent="0">
              <a:buNone/>
            </a:pPr>
            <a:r>
              <a:rPr lang="nl-NL" sz="1800" dirty="0"/>
              <a:t>Als er niet een dergelijke OID in het gegevensobjecttype aanwezig is, dan wordt dit uitgelegd en er wordt ook aangegeven hoe toch betrouwbaar tot identificatie van het (bedrijfs-/domein) object zoals bedoeld in het CIM gekomen kan worden (dit hoort dan ook beschreven te zijn). Bv. via een door een administratie uitgegeven </a:t>
            </a:r>
            <a:r>
              <a:rPr lang="nl-NL" sz="1800" dirty="0" err="1"/>
              <a:t>Id</a:t>
            </a:r>
            <a:r>
              <a:rPr lang="nl-NL" sz="1800" dirty="0"/>
              <a:t> die betrouwbaar te herleiden is naar de </a:t>
            </a:r>
            <a:r>
              <a:rPr lang="nl-NL" sz="1800" dirty="0" err="1"/>
              <a:t>identicator</a:t>
            </a:r>
            <a:r>
              <a:rPr lang="nl-NL" sz="1800" dirty="0"/>
              <a:t> van het objecttype uit het CIM (die het onderwerp van gesprek is van het gegevensobjecttype).</a:t>
            </a:r>
          </a:p>
        </p:txBody>
      </p:sp>
    </p:spTree>
    <p:extLst>
      <p:ext uri="{BB962C8B-B14F-4D97-AF65-F5344CB8AC3E}">
        <p14:creationId xmlns:p14="http://schemas.microsoft.com/office/powerpoint/2010/main" val="3958061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afgeronde hoeken 3">
            <a:extLst>
              <a:ext uri="{FF2B5EF4-FFF2-40B4-BE49-F238E27FC236}">
                <a16:creationId xmlns:a16="http://schemas.microsoft.com/office/drawing/2014/main" id="{785375B2-ECAB-4755-697B-3211D714D2B0}"/>
              </a:ext>
            </a:extLst>
          </p:cNvPr>
          <p:cNvSpPr/>
          <p:nvPr/>
        </p:nvSpPr>
        <p:spPr>
          <a:xfrm>
            <a:off x="838200" y="1872062"/>
            <a:ext cx="240792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err="1"/>
              <a:t>gegevensobjecttype</a:t>
            </a:r>
            <a:endParaRPr lang="nl-NL" dirty="0"/>
          </a:p>
        </p:txBody>
      </p:sp>
      <p:sp>
        <p:nvSpPr>
          <p:cNvPr id="5" name="Rechthoek: afgeronde hoeken 4">
            <a:extLst>
              <a:ext uri="{FF2B5EF4-FFF2-40B4-BE49-F238E27FC236}">
                <a16:creationId xmlns:a16="http://schemas.microsoft.com/office/drawing/2014/main" id="{AB347337-4A2E-E5A1-9BE4-926AA8619926}"/>
              </a:ext>
            </a:extLst>
          </p:cNvPr>
          <p:cNvSpPr/>
          <p:nvPr/>
        </p:nvSpPr>
        <p:spPr>
          <a:xfrm>
            <a:off x="4655820" y="1872062"/>
            <a:ext cx="240792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logische </a:t>
            </a:r>
            <a:r>
              <a:rPr lang="nl-NL" dirty="0" err="1"/>
              <a:t>Id</a:t>
            </a:r>
            <a:endParaRPr lang="nl-NL" dirty="0"/>
          </a:p>
        </p:txBody>
      </p:sp>
      <p:sp>
        <p:nvSpPr>
          <p:cNvPr id="6" name="Rechthoek: afgeronde hoeken 5">
            <a:extLst>
              <a:ext uri="{FF2B5EF4-FFF2-40B4-BE49-F238E27FC236}">
                <a16:creationId xmlns:a16="http://schemas.microsoft.com/office/drawing/2014/main" id="{A07370AD-3408-A6A1-12B3-C261EDAF8F5D}"/>
              </a:ext>
            </a:extLst>
          </p:cNvPr>
          <p:cNvSpPr/>
          <p:nvPr/>
        </p:nvSpPr>
        <p:spPr>
          <a:xfrm>
            <a:off x="6560086" y="2626686"/>
            <a:ext cx="3901440" cy="31546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bg1">
                    <a:lumMod val="50000"/>
                  </a:schemeClr>
                </a:solidFill>
              </a:rPr>
              <a:t>UUID?</a:t>
            </a:r>
            <a:br>
              <a:rPr lang="nl-NL" dirty="0"/>
            </a:br>
            <a:r>
              <a:rPr lang="nl-NL" dirty="0"/>
              <a:t>naam</a:t>
            </a:r>
          </a:p>
          <a:p>
            <a:pPr algn="ctr"/>
            <a:r>
              <a:rPr lang="nl-NL" strike="sngStrike" dirty="0"/>
              <a:t>beschrijving</a:t>
            </a:r>
          </a:p>
          <a:p>
            <a:pPr algn="ctr"/>
            <a:r>
              <a:rPr lang="nl-NL" dirty="0"/>
              <a:t>gegevenstype 1..*</a:t>
            </a:r>
          </a:p>
          <a:p>
            <a:pPr algn="ctr"/>
            <a:r>
              <a:rPr lang="nl-NL" dirty="0"/>
              <a:t>functie: OID, VID</a:t>
            </a:r>
          </a:p>
          <a:p>
            <a:pPr algn="ctr"/>
            <a:r>
              <a:rPr lang="nl-NL" dirty="0"/>
              <a:t>administratie: </a:t>
            </a:r>
            <a:br>
              <a:rPr lang="nl-NL" dirty="0"/>
            </a:br>
            <a:r>
              <a:rPr lang="nl-NL" dirty="0"/>
              <a:t>enkel logisch: 0/1</a:t>
            </a:r>
          </a:p>
          <a:p>
            <a:pPr algn="ctr"/>
            <a:r>
              <a:rPr lang="nl-NL" dirty="0"/>
              <a:t>onderwerp van gesprek: 0/1</a:t>
            </a:r>
          </a:p>
          <a:p>
            <a:pPr algn="ctr"/>
            <a:r>
              <a:rPr lang="nl-NL" dirty="0"/>
              <a:t>voorkeur: 0/1</a:t>
            </a:r>
          </a:p>
          <a:p>
            <a:pPr algn="ctr"/>
            <a:r>
              <a:rPr lang="nl-NL" dirty="0">
                <a:solidFill>
                  <a:schemeClr val="bg1">
                    <a:lumMod val="50000"/>
                  </a:schemeClr>
                </a:solidFill>
              </a:rPr>
              <a:t>Relatie met andere Logische </a:t>
            </a:r>
            <a:r>
              <a:rPr lang="nl-NL" dirty="0" err="1">
                <a:solidFill>
                  <a:schemeClr val="bg1">
                    <a:lumMod val="50000"/>
                  </a:schemeClr>
                </a:solidFill>
              </a:rPr>
              <a:t>Id</a:t>
            </a:r>
            <a:r>
              <a:rPr lang="nl-NL" dirty="0">
                <a:solidFill>
                  <a:schemeClr val="bg1">
                    <a:lumMod val="50000"/>
                  </a:schemeClr>
                </a:solidFill>
              </a:rPr>
              <a:t> </a:t>
            </a:r>
          </a:p>
          <a:p>
            <a:pPr algn="ctr"/>
            <a:r>
              <a:rPr lang="nl-NL" dirty="0">
                <a:solidFill>
                  <a:schemeClr val="bg1">
                    <a:lumMod val="50000"/>
                  </a:schemeClr>
                </a:solidFill>
              </a:rPr>
              <a:t>+CIM objecttype verwijzing (SH)</a:t>
            </a:r>
          </a:p>
        </p:txBody>
      </p:sp>
      <p:cxnSp>
        <p:nvCxnSpPr>
          <p:cNvPr id="8" name="Rechte verbindingslijn 7">
            <a:extLst>
              <a:ext uri="{FF2B5EF4-FFF2-40B4-BE49-F238E27FC236}">
                <a16:creationId xmlns:a16="http://schemas.microsoft.com/office/drawing/2014/main" id="{637CBAA1-2709-7717-9502-771FB9A31381}"/>
              </a:ext>
            </a:extLst>
          </p:cNvPr>
          <p:cNvCxnSpPr>
            <a:stCxn id="4" idx="3"/>
            <a:endCxn id="5" idx="1"/>
          </p:cNvCxnSpPr>
          <p:nvPr/>
        </p:nvCxnSpPr>
        <p:spPr>
          <a:xfrm>
            <a:off x="3246120" y="2329262"/>
            <a:ext cx="140970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Tekstvak 8">
            <a:extLst>
              <a:ext uri="{FF2B5EF4-FFF2-40B4-BE49-F238E27FC236}">
                <a16:creationId xmlns:a16="http://schemas.microsoft.com/office/drawing/2014/main" id="{DD6DE120-D4B8-B4A4-10B9-19C22C56AA59}"/>
              </a:ext>
            </a:extLst>
          </p:cNvPr>
          <p:cNvSpPr txBox="1"/>
          <p:nvPr/>
        </p:nvSpPr>
        <p:spPr>
          <a:xfrm>
            <a:off x="4013439" y="2373196"/>
            <a:ext cx="566181" cy="369332"/>
          </a:xfrm>
          <a:prstGeom prst="rect">
            <a:avLst/>
          </a:prstGeom>
          <a:noFill/>
        </p:spPr>
        <p:txBody>
          <a:bodyPr wrap="none" rtlCol="0">
            <a:spAutoFit/>
          </a:bodyPr>
          <a:lstStyle/>
          <a:p>
            <a:r>
              <a:rPr lang="nl-NL" dirty="0"/>
              <a:t>1..n</a:t>
            </a:r>
          </a:p>
        </p:txBody>
      </p:sp>
      <p:sp>
        <p:nvSpPr>
          <p:cNvPr id="11" name="Rechthoek: afgeronde hoeken 10">
            <a:extLst>
              <a:ext uri="{FF2B5EF4-FFF2-40B4-BE49-F238E27FC236}">
                <a16:creationId xmlns:a16="http://schemas.microsoft.com/office/drawing/2014/main" id="{3F5E09FE-5B5B-64AB-4137-40753857E365}"/>
              </a:ext>
            </a:extLst>
          </p:cNvPr>
          <p:cNvSpPr/>
          <p:nvPr/>
        </p:nvSpPr>
        <p:spPr>
          <a:xfrm>
            <a:off x="838200" y="411561"/>
            <a:ext cx="2407920" cy="10033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&lt;&lt;constructie&gt;&gt;</a:t>
            </a:r>
          </a:p>
          <a:p>
            <a:pPr algn="ctr"/>
            <a:r>
              <a:rPr lang="nl-NL" dirty="0"/>
              <a:t>/ abstract “objecttype”</a:t>
            </a:r>
          </a:p>
        </p:txBody>
      </p:sp>
      <p:sp>
        <p:nvSpPr>
          <p:cNvPr id="20" name="Tekstvak 19">
            <a:extLst>
              <a:ext uri="{FF2B5EF4-FFF2-40B4-BE49-F238E27FC236}">
                <a16:creationId xmlns:a16="http://schemas.microsoft.com/office/drawing/2014/main" id="{2DE69555-E51B-76C6-D1B6-973CB6D72D33}"/>
              </a:ext>
            </a:extLst>
          </p:cNvPr>
          <p:cNvSpPr txBox="1"/>
          <p:nvPr/>
        </p:nvSpPr>
        <p:spPr>
          <a:xfrm>
            <a:off x="7352809" y="136138"/>
            <a:ext cx="4709160" cy="646331"/>
          </a:xfrm>
          <a:prstGeom prst="rect">
            <a:avLst/>
          </a:prstGeom>
          <a:noFill/>
        </p:spPr>
        <p:txBody>
          <a:bodyPr wrap="square" rtlCol="0">
            <a:spAutoFit/>
          </a:bodyPr>
          <a:lstStyle/>
          <a:p>
            <a:r>
              <a:rPr lang="nl-NL" dirty="0"/>
              <a:t>Zou je andere onderwerpen ook nog willen modelleren met een </a:t>
            </a:r>
            <a:r>
              <a:rPr lang="nl-NL" dirty="0" err="1"/>
              <a:t>Id</a:t>
            </a:r>
            <a:r>
              <a:rPr lang="nl-NL" dirty="0"/>
              <a:t>? Nee.</a:t>
            </a:r>
          </a:p>
        </p:txBody>
      </p:sp>
      <p:sp>
        <p:nvSpPr>
          <p:cNvPr id="22" name="Tekstvak 21">
            <a:extLst>
              <a:ext uri="{FF2B5EF4-FFF2-40B4-BE49-F238E27FC236}">
                <a16:creationId xmlns:a16="http://schemas.microsoft.com/office/drawing/2014/main" id="{3DAD4F82-B6DD-D1A5-F93C-8B0EC6C7AAAC}"/>
              </a:ext>
            </a:extLst>
          </p:cNvPr>
          <p:cNvSpPr txBox="1"/>
          <p:nvPr/>
        </p:nvSpPr>
        <p:spPr>
          <a:xfrm>
            <a:off x="3314700" y="378849"/>
            <a:ext cx="3243819" cy="923330"/>
          </a:xfrm>
          <a:prstGeom prst="rect">
            <a:avLst/>
          </a:prstGeom>
          <a:noFill/>
        </p:spPr>
        <p:txBody>
          <a:bodyPr wrap="square" rtlCol="0">
            <a:spAutoFit/>
          </a:bodyPr>
          <a:lstStyle/>
          <a:p>
            <a:r>
              <a:rPr lang="nl-NL" dirty="0"/>
              <a:t>Is geen instantie van dus geen gegevensobjecttype en dus geen eisen m</a:t>
            </a:r>
          </a:p>
        </p:txBody>
      </p:sp>
      <p:sp>
        <p:nvSpPr>
          <p:cNvPr id="3" name="Tekstvak 2">
            <a:extLst>
              <a:ext uri="{FF2B5EF4-FFF2-40B4-BE49-F238E27FC236}">
                <a16:creationId xmlns:a16="http://schemas.microsoft.com/office/drawing/2014/main" id="{9B8E4681-592B-E281-3586-452F45EAAABE}"/>
              </a:ext>
            </a:extLst>
          </p:cNvPr>
          <p:cNvSpPr txBox="1"/>
          <p:nvPr/>
        </p:nvSpPr>
        <p:spPr>
          <a:xfrm>
            <a:off x="838200" y="3081950"/>
            <a:ext cx="10446099" cy="3785652"/>
          </a:xfrm>
          <a:prstGeom prst="rect">
            <a:avLst/>
          </a:prstGeom>
          <a:noFill/>
        </p:spPr>
        <p:txBody>
          <a:bodyPr wrap="square" rtlCol="0">
            <a:spAutoFit/>
          </a:bodyPr>
          <a:lstStyle/>
          <a:p>
            <a:r>
              <a:rPr lang="nl-NL" sz="1600" dirty="0"/>
              <a:t>Voorkeur: als er meerdere </a:t>
            </a:r>
            <a:r>
              <a:rPr lang="nl-NL" sz="1600" dirty="0" err="1"/>
              <a:t>Id’s</a:t>
            </a:r>
            <a:r>
              <a:rPr lang="nl-NL" sz="1600" dirty="0"/>
              <a:t> zijn van dezelfde </a:t>
            </a:r>
            <a:r>
              <a:rPr lang="nl-NL" sz="1600" dirty="0" err="1"/>
              <a:t>Id</a:t>
            </a:r>
            <a:r>
              <a:rPr lang="nl-NL" sz="1600" dirty="0"/>
              <a:t>,</a:t>
            </a:r>
          </a:p>
          <a:p>
            <a:r>
              <a:rPr lang="nl-NL" sz="1600" dirty="0"/>
              <a:t>dan kan je aangeven welke bij voorkeur gebruikt </a:t>
            </a:r>
            <a:br>
              <a:rPr lang="nl-NL" sz="1600" dirty="0"/>
            </a:br>
            <a:r>
              <a:rPr lang="nl-NL" sz="1600" dirty="0"/>
              <a:t>wordt als de primaire </a:t>
            </a:r>
            <a:r>
              <a:rPr lang="nl-NL" sz="1600" dirty="0" err="1"/>
              <a:t>Id</a:t>
            </a:r>
            <a:r>
              <a:rPr lang="nl-NL" sz="1600" dirty="0"/>
              <a:t> in de administratie. </a:t>
            </a:r>
            <a:br>
              <a:rPr lang="nl-NL" sz="1600" dirty="0"/>
            </a:br>
            <a:r>
              <a:rPr lang="nl-NL" sz="1600" dirty="0"/>
              <a:t>Dit is aan te geven bij zowel de OID als de VID.</a:t>
            </a:r>
          </a:p>
          <a:p>
            <a:endParaRPr lang="nl-NL" sz="1600" dirty="0"/>
          </a:p>
          <a:p>
            <a:r>
              <a:rPr lang="nl-NL" sz="1600" dirty="0"/>
              <a:t>Administratie = degene die de </a:t>
            </a:r>
            <a:r>
              <a:rPr lang="nl-NL" sz="1600" dirty="0" err="1"/>
              <a:t>Id</a:t>
            </a:r>
            <a:r>
              <a:rPr lang="nl-NL" sz="1600" dirty="0"/>
              <a:t> officieel uitgeeft.</a:t>
            </a:r>
            <a:br>
              <a:rPr lang="nl-NL" sz="1600" dirty="0"/>
            </a:br>
            <a:r>
              <a:rPr lang="nl-NL" sz="1600" dirty="0"/>
              <a:t>Enkel logisch: leeft alleen in de logische laag, is afleidbaar</a:t>
            </a:r>
            <a:br>
              <a:rPr lang="nl-NL" sz="1600" dirty="0"/>
            </a:br>
            <a:r>
              <a:rPr lang="nl-NL" sz="1600" dirty="0"/>
              <a:t>van het gegevenstype waar de </a:t>
            </a:r>
            <a:r>
              <a:rPr lang="nl-NL" sz="1600" dirty="0" err="1"/>
              <a:t>Id</a:t>
            </a:r>
            <a:r>
              <a:rPr lang="nl-NL" sz="1600" dirty="0"/>
              <a:t> over gaat, die geen </a:t>
            </a:r>
            <a:br>
              <a:rPr lang="nl-NL" sz="1600" dirty="0"/>
            </a:br>
            <a:r>
              <a:rPr lang="nl-NL" sz="1600" dirty="0"/>
              <a:t>semantische herleidbaarheid heeft.</a:t>
            </a:r>
            <a:br>
              <a:rPr lang="nl-NL" sz="1600" dirty="0"/>
            </a:br>
            <a:endParaRPr lang="nl-NL" sz="1600" dirty="0"/>
          </a:p>
          <a:p>
            <a:r>
              <a:rPr lang="nl-NL" sz="1600" dirty="0"/>
              <a:t>Als een OID en VID in hetzelfde </a:t>
            </a:r>
            <a:r>
              <a:rPr lang="nl-NL" sz="1600" dirty="0" err="1"/>
              <a:t>gegevensobjecttype</a:t>
            </a:r>
            <a:r>
              <a:rPr lang="nl-NL" sz="1600" dirty="0"/>
              <a:t> gemodelleerd </a:t>
            </a:r>
            <a:br>
              <a:rPr lang="nl-NL" sz="1600" dirty="0"/>
            </a:br>
            <a:r>
              <a:rPr lang="nl-NL" sz="1600" dirty="0"/>
              <a:t>zijn dan is het VID identificerend voor de instanties van dit </a:t>
            </a:r>
            <a:r>
              <a:rPr lang="nl-NL" sz="1600" dirty="0" err="1"/>
              <a:t>gegevensobjecttype</a:t>
            </a:r>
            <a:r>
              <a:rPr lang="nl-NL" sz="1600" dirty="0"/>
              <a:t> en niet de OID. </a:t>
            </a:r>
          </a:p>
          <a:p>
            <a:endParaRPr lang="nl-NL" sz="1600" dirty="0"/>
          </a:p>
          <a:p>
            <a:r>
              <a:rPr lang="nl-NL" sz="1600" dirty="0"/>
              <a:t>Welke administratie of organisatie een administratieve </a:t>
            </a:r>
            <a:r>
              <a:rPr lang="nl-NL" sz="1600" dirty="0" err="1"/>
              <a:t>Id</a:t>
            </a:r>
            <a:r>
              <a:rPr lang="nl-NL" sz="1600" dirty="0"/>
              <a:t> uitgeeft of de OID van een administratieve eigenschap uitgeeft moeten we nog specificeren. </a:t>
            </a:r>
          </a:p>
        </p:txBody>
      </p:sp>
      <p:sp>
        <p:nvSpPr>
          <p:cNvPr id="12" name="Tekstvak 11">
            <a:extLst>
              <a:ext uri="{FF2B5EF4-FFF2-40B4-BE49-F238E27FC236}">
                <a16:creationId xmlns:a16="http://schemas.microsoft.com/office/drawing/2014/main" id="{97A3ADCB-E8C7-D031-D9EE-016EB88BA5C8}"/>
              </a:ext>
            </a:extLst>
          </p:cNvPr>
          <p:cNvSpPr txBox="1"/>
          <p:nvPr/>
        </p:nvSpPr>
        <p:spPr>
          <a:xfrm>
            <a:off x="7352809" y="707630"/>
            <a:ext cx="4839191" cy="646331"/>
          </a:xfrm>
          <a:prstGeom prst="rect">
            <a:avLst/>
          </a:prstGeom>
          <a:noFill/>
        </p:spPr>
        <p:txBody>
          <a:bodyPr wrap="square">
            <a:spAutoFit/>
          </a:bodyPr>
          <a:lstStyle/>
          <a:p>
            <a:r>
              <a:rPr lang="nl-NL" sz="1800" dirty="0"/>
              <a:t>Beschrijving: elke </a:t>
            </a:r>
            <a:r>
              <a:rPr lang="nl-NL" sz="1800" dirty="0" err="1"/>
              <a:t>Id</a:t>
            </a:r>
            <a:r>
              <a:rPr lang="nl-NL" sz="1800" dirty="0"/>
              <a:t> is in principe </a:t>
            </a:r>
            <a:br>
              <a:rPr lang="nl-NL" sz="1800" dirty="0"/>
            </a:br>
            <a:r>
              <a:rPr lang="nl-NL" sz="1800" dirty="0" err="1"/>
              <a:t>zelfverklarend</a:t>
            </a:r>
            <a:r>
              <a:rPr lang="nl-NL" dirty="0"/>
              <a:t> en heeft geen beschrijving nodig. </a:t>
            </a:r>
          </a:p>
        </p:txBody>
      </p:sp>
      <p:sp>
        <p:nvSpPr>
          <p:cNvPr id="2" name="Tekstvak 1">
            <a:extLst>
              <a:ext uri="{FF2B5EF4-FFF2-40B4-BE49-F238E27FC236}">
                <a16:creationId xmlns:a16="http://schemas.microsoft.com/office/drawing/2014/main" id="{840D45C7-4288-F5B0-8415-4C989A55CFE8}"/>
              </a:ext>
            </a:extLst>
          </p:cNvPr>
          <p:cNvSpPr txBox="1"/>
          <p:nvPr/>
        </p:nvSpPr>
        <p:spPr>
          <a:xfrm>
            <a:off x="7352809" y="1346491"/>
            <a:ext cx="4796891" cy="1200329"/>
          </a:xfrm>
          <a:prstGeom prst="rect">
            <a:avLst/>
          </a:prstGeom>
          <a:noFill/>
        </p:spPr>
        <p:txBody>
          <a:bodyPr wrap="none" rtlCol="0">
            <a:spAutoFit/>
          </a:bodyPr>
          <a:lstStyle/>
          <a:p>
            <a:r>
              <a:rPr lang="nl-NL" dirty="0"/>
              <a:t>2 </a:t>
            </a:r>
            <a:r>
              <a:rPr lang="nl-NL" dirty="0" err="1"/>
              <a:t>OID’s</a:t>
            </a:r>
            <a:r>
              <a:rPr lang="nl-NL" dirty="0"/>
              <a:t> kan, de ene rechtstreeks aan CIM en </a:t>
            </a:r>
          </a:p>
          <a:p>
            <a:r>
              <a:rPr lang="nl-NL" dirty="0"/>
              <a:t>de ander gegenereerd. Uit </a:t>
            </a:r>
            <a:r>
              <a:rPr lang="nl-NL" dirty="0" err="1"/>
              <a:t>SemHer</a:t>
            </a:r>
            <a:r>
              <a:rPr lang="nl-NL" dirty="0"/>
              <a:t> blijkt welke </a:t>
            </a:r>
          </a:p>
          <a:p>
            <a:r>
              <a:rPr lang="nl-NL" dirty="0"/>
              <a:t>direct te koppelen is aan CIM en welke niet, </a:t>
            </a:r>
          </a:p>
          <a:p>
            <a:r>
              <a:rPr lang="nl-NL" dirty="0"/>
              <a:t>en dus door de </a:t>
            </a:r>
            <a:r>
              <a:rPr lang="nl-NL" dirty="0" err="1"/>
              <a:t>adm</a:t>
            </a:r>
            <a:r>
              <a:rPr lang="nl-NL" dirty="0"/>
              <a:t> is uitgegeven. </a:t>
            </a:r>
          </a:p>
        </p:txBody>
      </p:sp>
      <p:sp>
        <p:nvSpPr>
          <p:cNvPr id="7" name="Gelijkbenige driehoek 6">
            <a:extLst>
              <a:ext uri="{FF2B5EF4-FFF2-40B4-BE49-F238E27FC236}">
                <a16:creationId xmlns:a16="http://schemas.microsoft.com/office/drawing/2014/main" id="{0543B9D2-D9D5-142A-8ECB-A57397F01BDF}"/>
              </a:ext>
            </a:extLst>
          </p:cNvPr>
          <p:cNvSpPr/>
          <p:nvPr/>
        </p:nvSpPr>
        <p:spPr>
          <a:xfrm>
            <a:off x="1902460" y="1414862"/>
            <a:ext cx="279400" cy="213819"/>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3" name="Rechte verbindingslijn 12">
            <a:extLst>
              <a:ext uri="{FF2B5EF4-FFF2-40B4-BE49-F238E27FC236}">
                <a16:creationId xmlns:a16="http://schemas.microsoft.com/office/drawing/2014/main" id="{B262E7E1-04B8-B0CA-25DA-E697F326A815}"/>
              </a:ext>
            </a:extLst>
          </p:cNvPr>
          <p:cNvCxnSpPr>
            <a:stCxn id="7" idx="3"/>
            <a:endCxn id="4" idx="0"/>
          </p:cNvCxnSpPr>
          <p:nvPr/>
        </p:nvCxnSpPr>
        <p:spPr>
          <a:xfrm>
            <a:off x="2042160" y="1628681"/>
            <a:ext cx="0" cy="24338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0961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E1F90-CCF5-AF5D-DFFF-06550958AEF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5F24902-8039-AE81-5D78-C24C2AF9FE60}"/>
              </a:ext>
            </a:extLst>
          </p:cNvPr>
          <p:cNvSpPr>
            <a:spLocks noGrp="1"/>
          </p:cNvSpPr>
          <p:nvPr>
            <p:ph type="title"/>
          </p:nvPr>
        </p:nvSpPr>
        <p:spPr>
          <a:xfrm>
            <a:off x="472256" y="261962"/>
            <a:ext cx="10515600" cy="1325563"/>
          </a:xfrm>
        </p:spPr>
        <p:txBody>
          <a:bodyPr/>
          <a:lstStyle/>
          <a:p>
            <a:r>
              <a:rPr lang="nl-NL" dirty="0"/>
              <a:t>Definities overig (aanzet, minder relevant)</a:t>
            </a:r>
          </a:p>
        </p:txBody>
      </p:sp>
      <p:graphicFrame>
        <p:nvGraphicFramePr>
          <p:cNvPr id="4" name="Tabel 3">
            <a:extLst>
              <a:ext uri="{FF2B5EF4-FFF2-40B4-BE49-F238E27FC236}">
                <a16:creationId xmlns:a16="http://schemas.microsoft.com/office/drawing/2014/main" id="{3D29F74D-CA80-3567-CB0B-92F80E4CBAA5}"/>
              </a:ext>
            </a:extLst>
          </p:cNvPr>
          <p:cNvGraphicFramePr>
            <a:graphicFrameLocks noGrp="1"/>
          </p:cNvGraphicFramePr>
          <p:nvPr>
            <p:extLst>
              <p:ext uri="{D42A27DB-BD31-4B8C-83A1-F6EECF244321}">
                <p14:modId xmlns:p14="http://schemas.microsoft.com/office/powerpoint/2010/main" val="4214539581"/>
              </p:ext>
            </p:extLst>
          </p:nvPr>
        </p:nvGraphicFramePr>
        <p:xfrm>
          <a:off x="525104" y="1388260"/>
          <a:ext cx="11257321" cy="3530600"/>
        </p:xfrm>
        <a:graphic>
          <a:graphicData uri="http://schemas.openxmlformats.org/drawingml/2006/table">
            <a:tbl>
              <a:tblPr firstRow="1" bandRow="1">
                <a:tableStyleId>{5C22544A-7EE6-4342-B048-85BDC9FD1C3A}</a:tableStyleId>
              </a:tblPr>
              <a:tblGrid>
                <a:gridCol w="8485546">
                  <a:extLst>
                    <a:ext uri="{9D8B030D-6E8A-4147-A177-3AD203B41FA5}">
                      <a16:colId xmlns:a16="http://schemas.microsoft.com/office/drawing/2014/main" val="3945013391"/>
                    </a:ext>
                  </a:extLst>
                </a:gridCol>
                <a:gridCol w="2771775">
                  <a:extLst>
                    <a:ext uri="{9D8B030D-6E8A-4147-A177-3AD203B41FA5}">
                      <a16:colId xmlns:a16="http://schemas.microsoft.com/office/drawing/2014/main" val="3590454583"/>
                    </a:ext>
                  </a:extLst>
                </a:gridCol>
              </a:tblGrid>
              <a:tr h="370840">
                <a:tc>
                  <a:txBody>
                    <a:bodyPr/>
                    <a:lstStyle/>
                    <a:p>
                      <a:r>
                        <a:rPr lang="nl-NL" sz="1400" dirty="0"/>
                        <a:t>Definitie</a:t>
                      </a:r>
                    </a:p>
                  </a:txBody>
                  <a:tcPr/>
                </a:tc>
                <a:tc>
                  <a:txBody>
                    <a:bodyPr/>
                    <a:lstStyle/>
                    <a:p>
                      <a:r>
                        <a:rPr lang="nl-NL" sz="1400" dirty="0"/>
                        <a:t>Werkterm</a:t>
                      </a:r>
                    </a:p>
                  </a:txBody>
                  <a:tcPr/>
                </a:tc>
                <a:extLst>
                  <a:ext uri="{0D108BD9-81ED-4DB2-BD59-A6C34878D82A}">
                    <a16:rowId xmlns:a16="http://schemas.microsoft.com/office/drawing/2014/main" val="25299451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a:t>
                      </a:r>
                      <a:r>
                        <a:rPr lang="nl-NL" sz="1400" dirty="0" err="1"/>
                        <a:t>Id</a:t>
                      </a:r>
                      <a:r>
                        <a:rPr lang="nl-NL" sz="1400" dirty="0"/>
                        <a:t> met set lengte 1. </a:t>
                      </a:r>
                    </a:p>
                  </a:txBody>
                  <a:tcPr/>
                </a:tc>
                <a:tc>
                  <a:txBody>
                    <a:bodyPr/>
                    <a:lstStyle/>
                    <a:p>
                      <a:r>
                        <a:rPr lang="nl-NL" sz="1400" dirty="0"/>
                        <a:t>Enkelvoudige </a:t>
                      </a:r>
                      <a:r>
                        <a:rPr lang="nl-NL" sz="1400" dirty="0" err="1"/>
                        <a:t>Id</a:t>
                      </a:r>
                      <a:endParaRPr lang="nl-NL" sz="1400" dirty="0"/>
                    </a:p>
                  </a:txBody>
                  <a:tcPr/>
                </a:tc>
                <a:extLst>
                  <a:ext uri="{0D108BD9-81ED-4DB2-BD59-A6C34878D82A}">
                    <a16:rowId xmlns:a16="http://schemas.microsoft.com/office/drawing/2014/main" val="37704866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a:t>
                      </a:r>
                      <a:r>
                        <a:rPr lang="nl-NL" sz="1400" dirty="0" err="1"/>
                        <a:t>Id</a:t>
                      </a:r>
                      <a:r>
                        <a:rPr lang="nl-NL" sz="1400" dirty="0"/>
                        <a:t> met set lengte 2 of meer. </a:t>
                      </a:r>
                    </a:p>
                  </a:txBody>
                  <a:tcPr/>
                </a:tc>
                <a:tc>
                  <a:txBody>
                    <a:bodyPr/>
                    <a:lstStyle/>
                    <a:p>
                      <a:r>
                        <a:rPr lang="nl-NL" sz="1400" dirty="0"/>
                        <a:t>Samengestelde </a:t>
                      </a:r>
                      <a:r>
                        <a:rPr lang="nl-NL" sz="1400" dirty="0" err="1"/>
                        <a:t>Id</a:t>
                      </a:r>
                      <a:endParaRPr lang="nl-NL" sz="1400" dirty="0"/>
                    </a:p>
                  </a:txBody>
                  <a:tcPr/>
                </a:tc>
                <a:extLst>
                  <a:ext uri="{0D108BD9-81ED-4DB2-BD59-A6C34878D82A}">
                    <a16:rowId xmlns:a16="http://schemas.microsoft.com/office/drawing/2014/main" val="38271327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a:t>
                      </a:r>
                      <a:r>
                        <a:rPr lang="nl-NL" sz="1400" dirty="0" err="1"/>
                        <a:t>Id</a:t>
                      </a:r>
                      <a:r>
                        <a:rPr lang="nl-NL" sz="1400" dirty="0"/>
                        <a:t> van een domeinobject, waarbij elk attribuut in de set intrinsiek is, en waarmee het domeinobject geïdentificeerd kan worden. Deze kan enkelvoudig of samengesteld zijn.</a:t>
                      </a:r>
                    </a:p>
                  </a:txBody>
                  <a:tcPr/>
                </a:tc>
                <a:tc>
                  <a:txBody>
                    <a:bodyPr/>
                    <a:lstStyle/>
                    <a:p>
                      <a:r>
                        <a:rPr lang="nl-NL" sz="1400" dirty="0"/>
                        <a:t>Identificerende domein </a:t>
                      </a:r>
                      <a:r>
                        <a:rPr lang="nl-NL" sz="1400" dirty="0" err="1"/>
                        <a:t>objectId</a:t>
                      </a:r>
                      <a:endParaRPr lang="nl-NL" sz="1400" dirty="0"/>
                    </a:p>
                  </a:txBody>
                  <a:tcPr/>
                </a:tc>
                <a:extLst>
                  <a:ext uri="{0D108BD9-81ED-4DB2-BD59-A6C34878D82A}">
                    <a16:rowId xmlns:a16="http://schemas.microsoft.com/office/drawing/2014/main" val="16670589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Een enkelvoudige </a:t>
                      </a:r>
                      <a:r>
                        <a:rPr lang="nl-NL" sz="1400" dirty="0" err="1"/>
                        <a:t>Id</a:t>
                      </a:r>
                      <a:r>
                        <a:rPr lang="nl-NL" sz="1400" dirty="0"/>
                        <a:t> van een domeinobject, </a:t>
                      </a:r>
                      <a:r>
                        <a:rPr lang="nl-NL" sz="1400" dirty="0" err="1"/>
                        <a:t>obv</a:t>
                      </a:r>
                      <a:r>
                        <a:rPr lang="nl-NL" sz="1400" dirty="0"/>
                        <a:t> een toegekend attribuut. Het </a:t>
                      </a:r>
                      <a:r>
                        <a:rPr lang="nl-NL" sz="1400" dirty="0" err="1"/>
                        <a:t>Id</a:t>
                      </a:r>
                      <a:r>
                        <a:rPr lang="nl-NL" sz="1400" dirty="0"/>
                        <a:t> is administratief van aard en de </a:t>
                      </a:r>
                      <a:r>
                        <a:rPr lang="nl-NL" sz="1400" dirty="0" err="1"/>
                        <a:t>Id</a:t>
                      </a:r>
                      <a:r>
                        <a:rPr lang="nl-NL" sz="1400" dirty="0"/>
                        <a:t> is officieel uitgegeven, vaak gegenereerd, door een hiertoe officieel aangewezen bevoegde instantie. Vaak is deze instantie ook de bronhouder van de bijbehorende officiële (basis)registratie.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Opm. Hiermee is een domeinobject niet te identificeren, maar nadat identificatie correct heeft plaatsgevonden is deze in het hele gegevensverwerkingsdomein wel betrouwbaar te gebruiken.  </a:t>
                      </a:r>
                    </a:p>
                  </a:txBody>
                  <a:tcPr/>
                </a:tc>
                <a:tc>
                  <a:txBody>
                    <a:bodyPr/>
                    <a:lstStyle/>
                    <a:p>
                      <a:r>
                        <a:rPr lang="nl-NL" sz="1400" dirty="0"/>
                        <a:t>Administratieve domein </a:t>
                      </a:r>
                      <a:r>
                        <a:rPr lang="nl-NL" sz="1400" dirty="0" err="1"/>
                        <a:t>objectId</a:t>
                      </a:r>
                      <a:r>
                        <a:rPr lang="nl-NL" sz="1400" dirty="0"/>
                        <a:t> *</a:t>
                      </a:r>
                    </a:p>
                  </a:txBody>
                  <a:tcPr/>
                </a:tc>
                <a:extLst>
                  <a:ext uri="{0D108BD9-81ED-4DB2-BD59-A6C34878D82A}">
                    <a16:rowId xmlns:a16="http://schemas.microsoft.com/office/drawing/2014/main" val="27655683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txBody>
                  <a:tcPr/>
                </a:tc>
                <a:tc>
                  <a:txBody>
                    <a:bodyPr/>
                    <a:lstStyle/>
                    <a:p>
                      <a:endParaRPr lang="nl-NL" sz="1400" dirty="0"/>
                    </a:p>
                  </a:txBody>
                  <a:tcPr/>
                </a:tc>
                <a:extLst>
                  <a:ext uri="{0D108BD9-81ED-4DB2-BD59-A6C34878D82A}">
                    <a16:rowId xmlns:a16="http://schemas.microsoft.com/office/drawing/2014/main" val="25057936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txBody>
                  <a:tcPr/>
                </a:tc>
                <a:tc>
                  <a:txBody>
                    <a:bodyPr/>
                    <a:lstStyle/>
                    <a:p>
                      <a:endParaRPr lang="nl-NL" sz="1400" dirty="0"/>
                    </a:p>
                  </a:txBody>
                  <a:tcPr/>
                </a:tc>
                <a:extLst>
                  <a:ext uri="{0D108BD9-81ED-4DB2-BD59-A6C34878D82A}">
                    <a16:rowId xmlns:a16="http://schemas.microsoft.com/office/drawing/2014/main" val="1173295806"/>
                  </a:ext>
                </a:extLst>
              </a:tr>
            </a:tbl>
          </a:graphicData>
        </a:graphic>
      </p:graphicFrame>
      <p:sp>
        <p:nvSpPr>
          <p:cNvPr id="5" name="Tekstvak 4">
            <a:extLst>
              <a:ext uri="{FF2B5EF4-FFF2-40B4-BE49-F238E27FC236}">
                <a16:creationId xmlns:a16="http://schemas.microsoft.com/office/drawing/2014/main" id="{1F5309FB-AB4A-E144-33E1-505FDFB23128}"/>
              </a:ext>
            </a:extLst>
          </p:cNvPr>
          <p:cNvSpPr txBox="1"/>
          <p:nvPr/>
        </p:nvSpPr>
        <p:spPr>
          <a:xfrm>
            <a:off x="472256" y="6371740"/>
            <a:ext cx="9214670" cy="307777"/>
          </a:xfrm>
          <a:prstGeom prst="rect">
            <a:avLst/>
          </a:prstGeom>
          <a:noFill/>
        </p:spPr>
        <p:txBody>
          <a:bodyPr wrap="square">
            <a:spAutoFit/>
          </a:bodyPr>
          <a:lstStyle/>
          <a:p>
            <a:r>
              <a:rPr lang="nl-NL" sz="1400" dirty="0"/>
              <a:t>*: soms kan er voor “dezelfde” worden gekozen. Een </a:t>
            </a:r>
            <a:r>
              <a:rPr lang="nl-NL" sz="1400" dirty="0" err="1"/>
              <a:t>bsn</a:t>
            </a:r>
            <a:r>
              <a:rPr lang="nl-NL" sz="1400" dirty="0"/>
              <a:t> op conceptueel niveau en een </a:t>
            </a:r>
            <a:r>
              <a:rPr lang="nl-NL" sz="1400" dirty="0" err="1"/>
              <a:t>bsn</a:t>
            </a:r>
            <a:r>
              <a:rPr lang="nl-NL" sz="1400" dirty="0"/>
              <a:t> op het logische niveau. </a:t>
            </a:r>
          </a:p>
        </p:txBody>
      </p:sp>
    </p:spTree>
    <p:extLst>
      <p:ext uri="{BB962C8B-B14F-4D97-AF65-F5344CB8AC3E}">
        <p14:creationId xmlns:p14="http://schemas.microsoft.com/office/powerpoint/2010/main" val="2930477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DCAEFC-67B9-7286-CE15-58F81D9717E6}"/>
              </a:ext>
            </a:extLst>
          </p:cNvPr>
          <p:cNvSpPr>
            <a:spLocks noGrp="1"/>
          </p:cNvSpPr>
          <p:nvPr>
            <p:ph type="title"/>
          </p:nvPr>
        </p:nvSpPr>
        <p:spPr/>
        <p:txBody>
          <a:bodyPr/>
          <a:lstStyle/>
          <a:p>
            <a:endParaRPr lang="nl-NL" dirty="0"/>
          </a:p>
        </p:txBody>
      </p:sp>
      <p:sp>
        <p:nvSpPr>
          <p:cNvPr id="3" name="Tijdelijke aanduiding voor inhoud 2">
            <a:extLst>
              <a:ext uri="{FF2B5EF4-FFF2-40B4-BE49-F238E27FC236}">
                <a16:creationId xmlns:a16="http://schemas.microsoft.com/office/drawing/2014/main" id="{07B5DF27-11BF-CFB1-DE44-6E2F63FE2EB3}"/>
              </a:ext>
            </a:extLst>
          </p:cNvPr>
          <p:cNvSpPr>
            <a:spLocks noGrp="1"/>
          </p:cNvSpPr>
          <p:nvPr>
            <p:ph idx="1"/>
          </p:nvPr>
        </p:nvSpPr>
        <p:spPr/>
        <p:txBody>
          <a:bodyPr>
            <a:normAutofit fontScale="92500" lnSpcReduction="20000"/>
          </a:bodyPr>
          <a:lstStyle/>
          <a:p>
            <a:pPr marL="0" indent="0">
              <a:buNone/>
            </a:pPr>
            <a:r>
              <a:rPr lang="nl-NL" dirty="0" err="1"/>
              <a:t>Id</a:t>
            </a:r>
            <a:r>
              <a:rPr lang="nl-NL" dirty="0"/>
              <a:t> met een O: onderwerp ID (functie) versus Object </a:t>
            </a:r>
            <a:r>
              <a:rPr lang="nl-NL" dirty="0" err="1"/>
              <a:t>Id</a:t>
            </a:r>
            <a:r>
              <a:rPr lang="nl-NL" dirty="0"/>
              <a:t> als classificatie.</a:t>
            </a:r>
          </a:p>
          <a:p>
            <a:pPr marL="0" indent="0">
              <a:buNone/>
            </a:pPr>
            <a:endParaRPr lang="nl-NL" dirty="0"/>
          </a:p>
          <a:p>
            <a:pPr marL="0" indent="0">
              <a:buNone/>
            </a:pPr>
            <a:r>
              <a:rPr lang="nl-NL" dirty="0"/>
              <a:t>Metagegeven bij OID, Voorkeur in het gebruik </a:t>
            </a:r>
          </a:p>
          <a:p>
            <a:pPr marL="0" indent="0">
              <a:buNone/>
            </a:pPr>
            <a:r>
              <a:rPr lang="nl-NL" dirty="0"/>
              <a:t>OID hanteren als afkorting, bij andere voorkeursterm?</a:t>
            </a:r>
          </a:p>
          <a:p>
            <a:pPr marL="0" indent="0">
              <a:buNone/>
            </a:pPr>
            <a:r>
              <a:rPr lang="nl-NL" dirty="0"/>
              <a:t>Rol </a:t>
            </a:r>
            <a:r>
              <a:rPr lang="nl-NL" dirty="0" err="1"/>
              <a:t>vs</a:t>
            </a:r>
            <a:r>
              <a:rPr lang="nl-NL" dirty="0"/>
              <a:t> eigenschappen uit de </a:t>
            </a:r>
            <a:r>
              <a:rPr lang="nl-NL" dirty="0" err="1"/>
              <a:t>Id</a:t>
            </a:r>
            <a:r>
              <a:rPr lang="nl-NL" dirty="0"/>
              <a:t> van het gerelateerde objecttype). Het doel is om de verwijzen naar het specifieke gerelateerde object die meedoet in de identificatie (en daar de typering van, het gaat niet enkel om de typering). Verder kan een gerelateerd objecttype meer dan 1 object </a:t>
            </a:r>
            <a:r>
              <a:rPr lang="nl-NL" dirty="0" err="1"/>
              <a:t>identificator</a:t>
            </a:r>
            <a:r>
              <a:rPr lang="nl-NL" dirty="0"/>
              <a:t> hebben en in beginsel is het vrij om te kiezen welke gebruikt wordt). Logisch zal er een keuze moeten worden gemaakt.  </a:t>
            </a:r>
          </a:p>
          <a:p>
            <a:pPr marL="0" indent="0">
              <a:buNone/>
            </a:pPr>
            <a:r>
              <a:rPr lang="nl-NL" dirty="0"/>
              <a:t>Bewuste keuze om bij </a:t>
            </a:r>
            <a:r>
              <a:rPr lang="nl-NL" dirty="0" err="1"/>
              <a:t>Id’s</a:t>
            </a:r>
            <a:r>
              <a:rPr lang="nl-NL" dirty="0"/>
              <a:t> niet ER te volgen (het gaat om de rol, niet om de </a:t>
            </a:r>
            <a:r>
              <a:rPr lang="nl-NL" dirty="0" err="1"/>
              <a:t>atributes</a:t>
            </a:r>
            <a:r>
              <a:rPr lang="nl-NL" dirty="0"/>
              <a:t> die in de </a:t>
            </a:r>
            <a:r>
              <a:rPr lang="nl-NL" dirty="0" err="1"/>
              <a:t>objectidentificator</a:t>
            </a:r>
            <a:r>
              <a:rPr lang="nl-NL" dirty="0"/>
              <a:t> zitten van het gerelateerde objecttype en daar de pi is). </a:t>
            </a:r>
          </a:p>
          <a:p>
            <a:pPr marL="0" indent="0">
              <a:buNone/>
            </a:pPr>
            <a:endParaRPr lang="nl-NL" dirty="0"/>
          </a:p>
        </p:txBody>
      </p:sp>
    </p:spTree>
    <p:extLst>
      <p:ext uri="{BB962C8B-B14F-4D97-AF65-F5344CB8AC3E}">
        <p14:creationId xmlns:p14="http://schemas.microsoft.com/office/powerpoint/2010/main" val="1240326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C4B79E-F6B2-D835-CB9B-843D4E58384E}"/>
              </a:ext>
            </a:extLst>
          </p:cNvPr>
          <p:cNvSpPr>
            <a:spLocks noGrp="1"/>
          </p:cNvSpPr>
          <p:nvPr>
            <p:ph type="title"/>
          </p:nvPr>
        </p:nvSpPr>
        <p:spPr>
          <a:xfrm>
            <a:off x="838201" y="403225"/>
            <a:ext cx="10515600" cy="1325563"/>
          </a:xfrm>
        </p:spPr>
        <p:txBody>
          <a:bodyPr>
            <a:normAutofit/>
          </a:bodyPr>
          <a:lstStyle/>
          <a:p>
            <a:r>
              <a:rPr lang="nl-NL" sz="2400" dirty="0"/>
              <a:t>Overige punten waarover mogelijk een ontwerpbeslissing genomen moet worden</a:t>
            </a:r>
          </a:p>
        </p:txBody>
      </p:sp>
      <p:sp>
        <p:nvSpPr>
          <p:cNvPr id="3" name="Tijdelijke aanduiding voor inhoud 2">
            <a:extLst>
              <a:ext uri="{FF2B5EF4-FFF2-40B4-BE49-F238E27FC236}">
                <a16:creationId xmlns:a16="http://schemas.microsoft.com/office/drawing/2014/main" id="{5D5B523F-4F25-462C-A6C0-8673F6898D08}"/>
              </a:ext>
            </a:extLst>
          </p:cNvPr>
          <p:cNvSpPr>
            <a:spLocks noGrp="1"/>
          </p:cNvSpPr>
          <p:nvPr>
            <p:ph idx="1"/>
          </p:nvPr>
        </p:nvSpPr>
        <p:spPr>
          <a:xfrm>
            <a:off x="838199" y="1409700"/>
            <a:ext cx="10642601" cy="5381625"/>
          </a:xfrm>
        </p:spPr>
        <p:txBody>
          <a:bodyPr>
            <a:noAutofit/>
          </a:bodyPr>
          <a:lstStyle/>
          <a:p>
            <a:r>
              <a:rPr lang="nl-NL" sz="1400" dirty="0"/>
              <a:t>Het is zinvol om van alk gegevenstype te weten of dat gegevenstype over het hoofdonderwerp gaat, of juist over het gegevensobject zelf of alle gegevenstypen erin. Dit laatste is het geval bij metagegevens zoals begin geldigheid. Dit zijn bijzondere gegevenstypen, ze gaan niet over een eigenschap van een domein object. Voorstel is om dit stereotype ‘metagegeven’ toe te voegen, dan is ook duidelijk dat hier geen semantische herleidbaarheid voor hoeft te worden aangebracht. Deze metagegevens kunnen ook voorkomen in een </a:t>
            </a:r>
            <a:r>
              <a:rPr lang="nl-NL" sz="1400" dirty="0" err="1"/>
              <a:t>Id</a:t>
            </a:r>
            <a:r>
              <a:rPr lang="nl-NL" sz="1400" dirty="0"/>
              <a:t> die je kan aantreffen in een gegevensobject. Deze kunnen we als definitie geven: een speciaal soort gegevenstype die … met een eigen stereotype: &lt;&lt;metagegeven&gt;&gt;,</a:t>
            </a:r>
          </a:p>
          <a:p>
            <a:r>
              <a:rPr lang="nl-NL" sz="1400" dirty="0"/>
              <a:t>Een gegevensobject kan ook een technische </a:t>
            </a:r>
            <a:r>
              <a:rPr lang="nl-NL" sz="1400" dirty="0" err="1"/>
              <a:t>Id</a:t>
            </a:r>
            <a:r>
              <a:rPr lang="nl-NL" sz="1400" dirty="0"/>
              <a:t> gegeven worden. Bv. een </a:t>
            </a:r>
            <a:r>
              <a:rPr lang="nl-NL" sz="1400" dirty="0" err="1"/>
              <a:t>hash</a:t>
            </a:r>
            <a:r>
              <a:rPr lang="nl-NL" sz="1400" dirty="0"/>
              <a:t> van het gegevensobject. Dit is op zich geschikt als verwijzingsmechanisme, maar hieraan is niet te zien om welke domein object het gaat. Dit moet dan blijken uit de inhoud van het gegevensobject zelf, waar dan wel een </a:t>
            </a:r>
            <a:r>
              <a:rPr lang="nl-NL" sz="1400" dirty="0" err="1"/>
              <a:t>Id</a:t>
            </a:r>
            <a:r>
              <a:rPr lang="nl-NL" sz="1400" dirty="0"/>
              <a:t> te vinden is die een representatie is van een domeinobject op het gegevensverwerkingsniveau. </a:t>
            </a:r>
          </a:p>
          <a:p>
            <a:r>
              <a:rPr lang="nl-NL" sz="1400" dirty="0"/>
              <a:t>Technische concerns modelleren in een logisch model. Er worden soms op logisch niveau ook </a:t>
            </a:r>
            <a:r>
              <a:rPr lang="nl-NL" sz="1400" dirty="0" err="1"/>
              <a:t>uniqueness</a:t>
            </a:r>
            <a:r>
              <a:rPr lang="nl-NL" sz="1400" dirty="0"/>
              <a:t> </a:t>
            </a:r>
            <a:r>
              <a:rPr lang="nl-NL" sz="1400" dirty="0" err="1"/>
              <a:t>constraints</a:t>
            </a:r>
            <a:r>
              <a:rPr lang="nl-NL" sz="1400" dirty="0"/>
              <a:t> gemodelleerd om data integriteit te borgen, die verder uitgewerkt worden naar records in een database en </a:t>
            </a:r>
            <a:r>
              <a:rPr lang="nl-NL" sz="1400" dirty="0" err="1"/>
              <a:t>constraints</a:t>
            </a:r>
            <a:r>
              <a:rPr lang="nl-NL" sz="1400" dirty="0"/>
              <a:t> daar. Of om technische </a:t>
            </a:r>
            <a:r>
              <a:rPr lang="nl-NL" sz="1400" dirty="0" err="1"/>
              <a:t>id’s</a:t>
            </a:r>
            <a:r>
              <a:rPr lang="nl-NL" sz="1400" dirty="0"/>
              <a:t> uit te geven die in de black box van een applicatie of database spelen of om in een bericht bepaalde correlatie gegevens te gebruiken om gegevensobjecten aan elkaar te koppelen. Over deze technische </a:t>
            </a:r>
            <a:r>
              <a:rPr lang="nl-NL" sz="1400" dirty="0" err="1"/>
              <a:t>id’s</a:t>
            </a:r>
            <a:r>
              <a:rPr lang="nl-NL" sz="1400" dirty="0"/>
              <a:t> daar hebben we het nu niet over. We hebben het over conceptueel en logisch.</a:t>
            </a:r>
          </a:p>
          <a:p>
            <a:r>
              <a:rPr lang="nl-NL" sz="1400" dirty="0"/>
              <a:t>Het komt voor dat hetzelfde domein object in een gegevensverwerkingsdomein vanuit gebruiksdoel 2 precies 1 </a:t>
            </a:r>
            <a:r>
              <a:rPr lang="nl-NL" sz="1400" dirty="0" err="1"/>
              <a:t>Id</a:t>
            </a:r>
            <a:r>
              <a:rPr lang="nl-NL" sz="1400" dirty="0"/>
              <a:t> krijgt en dat geldt: zelfde ID = zelfde domeinobject, ander ID = ander domeinobject. Maar het komt ook wel eens voor dat hetzelfde domein object meer dan 1 </a:t>
            </a:r>
            <a:r>
              <a:rPr lang="nl-NL" sz="1400" dirty="0" err="1"/>
              <a:t>Id</a:t>
            </a:r>
            <a:r>
              <a:rPr lang="nl-NL" sz="1400" dirty="0"/>
              <a:t> krijgt en dat geldt: zelfde </a:t>
            </a:r>
            <a:r>
              <a:rPr lang="nl-NL" sz="1400" dirty="0" err="1"/>
              <a:t>Id</a:t>
            </a:r>
            <a:r>
              <a:rPr lang="nl-NL" sz="1400" dirty="0"/>
              <a:t> = zelfde domeinobject, maar dat niet geldt: ander </a:t>
            </a:r>
            <a:r>
              <a:rPr lang="nl-NL" sz="1400" dirty="0" err="1"/>
              <a:t>Id</a:t>
            </a:r>
            <a:r>
              <a:rPr lang="nl-NL" sz="1400" dirty="0"/>
              <a:t> = altijd ander domein object (al zou je dit ook kunnen zien als een apart verwerkingsdomein). Voor de modellering van </a:t>
            </a:r>
            <a:r>
              <a:rPr lang="nl-NL" sz="1400" dirty="0" err="1"/>
              <a:t>Id’s</a:t>
            </a:r>
            <a:r>
              <a:rPr lang="nl-NL" sz="1400" dirty="0"/>
              <a:t> maakt dit niet perse veel uit, maar je er zijn dan mogelijk wel meer dan 1 van dit soort </a:t>
            </a:r>
            <a:r>
              <a:rPr lang="nl-NL" sz="1400" dirty="0" err="1"/>
              <a:t>Id’s</a:t>
            </a:r>
            <a:r>
              <a:rPr lang="nl-NL" sz="1400" dirty="0"/>
              <a:t> bij hetzelfde gegevensobject aanwezig. Bv. een NEN3610 </a:t>
            </a:r>
            <a:r>
              <a:rPr lang="nl-NL" sz="1400" dirty="0" err="1"/>
              <a:t>Id</a:t>
            </a:r>
            <a:r>
              <a:rPr lang="nl-NL" sz="1400" dirty="0"/>
              <a:t> en een woonplaatscode. </a:t>
            </a:r>
          </a:p>
          <a:p>
            <a:r>
              <a:rPr lang="nl-NL" sz="1400" dirty="0"/>
              <a:t>Je wil aan een </a:t>
            </a:r>
            <a:r>
              <a:rPr lang="nl-NL" sz="1400" dirty="0" err="1"/>
              <a:t>Id</a:t>
            </a:r>
            <a:r>
              <a:rPr lang="nl-NL" sz="1400" dirty="0"/>
              <a:t> in een </a:t>
            </a:r>
            <a:r>
              <a:rPr lang="nl-NL" sz="1400" dirty="0" err="1"/>
              <a:t>gegevensobjecttype</a:t>
            </a:r>
            <a:r>
              <a:rPr lang="nl-NL" sz="1400" dirty="0"/>
              <a:t> kunnen zien over welk CIM objecttype deze gaat. We kunnen hier twee kanten op: 1) modelleer alleen de </a:t>
            </a:r>
            <a:r>
              <a:rPr lang="nl-NL" sz="1400" dirty="0" err="1"/>
              <a:t>Id</a:t>
            </a:r>
            <a:r>
              <a:rPr lang="nl-NL" sz="1400" dirty="0"/>
              <a:t> van het hoofdonderwerp en breng semantische herleidbaarheid aan bij de gegevenstypen, waarbij je dan daaraan kan zien dat deze uitkomen bij andere objecttypen in een CIM, of 2) modelleer per apart </a:t>
            </a:r>
            <a:r>
              <a:rPr lang="nl-NL" sz="1400" dirty="0" err="1"/>
              <a:t>Id</a:t>
            </a:r>
            <a:r>
              <a:rPr lang="nl-NL" sz="1400" dirty="0"/>
              <a:t> expliciet bij de </a:t>
            </a:r>
            <a:r>
              <a:rPr lang="nl-NL" sz="1400" dirty="0" err="1"/>
              <a:t>Id</a:t>
            </a:r>
            <a:r>
              <a:rPr lang="nl-NL" sz="1400" dirty="0"/>
              <a:t> zelf om welke CIM objecttype het gaat. </a:t>
            </a:r>
          </a:p>
        </p:txBody>
      </p:sp>
    </p:spTree>
    <p:extLst>
      <p:ext uri="{BB962C8B-B14F-4D97-AF65-F5344CB8AC3E}">
        <p14:creationId xmlns:p14="http://schemas.microsoft.com/office/powerpoint/2010/main" val="3905322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FAB6ED-0096-C7F9-B45B-418A65528FAC}"/>
              </a:ext>
            </a:extLst>
          </p:cNvPr>
          <p:cNvSpPr>
            <a:spLocks noGrp="1"/>
          </p:cNvSpPr>
          <p:nvPr>
            <p:ph type="title"/>
          </p:nvPr>
        </p:nvSpPr>
        <p:spPr/>
        <p:txBody>
          <a:bodyPr/>
          <a:lstStyle/>
          <a:p>
            <a:r>
              <a:rPr lang="nl-NL" dirty="0"/>
              <a:t>Passages om een plek te geven</a:t>
            </a:r>
          </a:p>
        </p:txBody>
      </p:sp>
      <p:sp>
        <p:nvSpPr>
          <p:cNvPr id="3" name="Tijdelijke aanduiding voor inhoud 2">
            <a:extLst>
              <a:ext uri="{FF2B5EF4-FFF2-40B4-BE49-F238E27FC236}">
                <a16:creationId xmlns:a16="http://schemas.microsoft.com/office/drawing/2014/main" id="{378DB807-9873-CD87-46DC-68BC315E8748}"/>
              </a:ext>
            </a:extLst>
          </p:cNvPr>
          <p:cNvSpPr>
            <a:spLocks noGrp="1"/>
          </p:cNvSpPr>
          <p:nvPr>
            <p:ph idx="1"/>
          </p:nvPr>
        </p:nvSpPr>
        <p:spPr>
          <a:xfrm>
            <a:off x="923925" y="1530350"/>
            <a:ext cx="10515600" cy="4351338"/>
          </a:xfrm>
        </p:spPr>
        <p:txBody>
          <a:bodyPr>
            <a:normAutofit/>
          </a:bodyPr>
          <a:lstStyle/>
          <a:p>
            <a:r>
              <a:rPr lang="nl-NL" sz="1600" dirty="0"/>
              <a:t>Bij definitie van een Id. De wens om een individu (een domeinobject, behorend bij een objecttype, in de beschouwde werkelijkheid) te kunnen aanwijzen, is inderdaad noodzakelijk binnen de context van het MIM. Het idee dat dit aanwijzen kan op basis van te duiden unieke kenmerken zoals die in de werkelijkheid kunnen worden gemeten, is soms lastig. Er zijn altijd voorbeelden te noemen waarbij de “identificerende kenmerken” toch niet absoluut identificerend zijn in dat specifieke voorbeeld. Dit is niet altijd sluitend te krijgen, daarom is er vaak sprake van een bevoegd gezag die dit mag oplossen, of er wordt gewerkt met voldoende goed. Dit modelleren we dan in een CIM. Aandachtspunt is om de definitie van een </a:t>
            </a:r>
            <a:r>
              <a:rPr lang="nl-NL" sz="1600" dirty="0" err="1"/>
              <a:t>Id</a:t>
            </a:r>
            <a:r>
              <a:rPr lang="nl-NL" sz="1600" dirty="0"/>
              <a:t> niet te strak te zetten, en deze opmerking mee te nemen.</a:t>
            </a:r>
          </a:p>
          <a:p>
            <a:r>
              <a:rPr lang="nl-NL" sz="1600" dirty="0"/>
              <a:t>Bij definitie van een </a:t>
            </a:r>
            <a:r>
              <a:rPr lang="nl-NL" sz="1600" dirty="0" err="1"/>
              <a:t>Id</a:t>
            </a:r>
            <a:r>
              <a:rPr lang="nl-NL" sz="1600" dirty="0"/>
              <a:t> als het gaat om een </a:t>
            </a:r>
            <a:r>
              <a:rPr lang="nl-NL" sz="1600" dirty="0" err="1"/>
              <a:t>Id</a:t>
            </a:r>
            <a:r>
              <a:rPr lang="nl-NL" sz="1600" dirty="0"/>
              <a:t> op conceptueel niveau die een administratieve herkomst heeft en geen intrinsiek kenmerk is. Dit gaat over de relatie tussen de administratieve identiteit zoals die in het CIM is gemodelleerd als abstractie van de domeinwerkelijkheid, en de logische gegevensstructuur op MIM-3 die de optimale aansluiting op de gegevensverwerking van administratieve identiteiten consolideert. Ik kan niet met zekerheid zeggen of het MIM de plek is waar een administratieve identiteit moet worden gestandaardiseerd. Mocht je ertoe besluiten omdat in overheidskringen de (administratieve) identiteit altijd wel ergens aanwezig is, dan moet je je realiseren dat je een stuk domeinmodel en systeemmodel aan het canoniseren bent. In dat geval is het nuttig het verschil tussen het specifieke objecttype en het specifieke gegevenstype te formaliseren en hier dan ook verschillende termen voor te gebruiken. In dit kader zou ik ook willen wijzen op W3C’s standaard en definitie van </a:t>
            </a:r>
            <a:r>
              <a:rPr lang="nl-NL" sz="1600" i="1" dirty="0"/>
              <a:t>non-information resource</a:t>
            </a:r>
            <a:r>
              <a:rPr lang="nl-NL" sz="1600" dirty="0"/>
              <a:t> en </a:t>
            </a:r>
            <a:r>
              <a:rPr lang="nl-NL" sz="1600" i="1" dirty="0"/>
              <a:t>information resource</a:t>
            </a:r>
            <a:r>
              <a:rPr lang="nl-NL" sz="1600" dirty="0"/>
              <a:t>, en hiervan waar mogelijk gebruik van maken. </a:t>
            </a:r>
          </a:p>
          <a:p>
            <a:endParaRPr lang="nl-NL" sz="1600" dirty="0"/>
          </a:p>
        </p:txBody>
      </p:sp>
    </p:spTree>
    <p:extLst>
      <p:ext uri="{BB962C8B-B14F-4D97-AF65-F5344CB8AC3E}">
        <p14:creationId xmlns:p14="http://schemas.microsoft.com/office/powerpoint/2010/main" val="233204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6F16D8F4-84D8-D78D-C6B3-49E64FC3FDBA}"/>
              </a:ext>
            </a:extLst>
          </p:cNvPr>
          <p:cNvSpPr>
            <a:spLocks noGrp="1"/>
          </p:cNvSpPr>
          <p:nvPr>
            <p:ph idx="1"/>
          </p:nvPr>
        </p:nvSpPr>
        <p:spPr/>
        <p:txBody>
          <a:bodyPr/>
          <a:lstStyle/>
          <a:p>
            <a:pPr marL="0" indent="0">
              <a:buNone/>
            </a:pPr>
            <a:r>
              <a:rPr lang="nl-NL" dirty="0"/>
              <a:t>“(setje van) identificerende kenmerken” </a:t>
            </a:r>
          </a:p>
          <a:p>
            <a:pPr marL="0" indent="0">
              <a:buNone/>
            </a:pPr>
            <a:r>
              <a:rPr lang="nl-NL" dirty="0"/>
              <a:t>“setjes van gegevenstypen die als ID voor een specifiek gebruiksdoel worden ingezet”</a:t>
            </a:r>
          </a:p>
          <a:p>
            <a:pPr marL="0" indent="0">
              <a:buNone/>
            </a:pPr>
            <a:endParaRPr lang="nl-NL" dirty="0"/>
          </a:p>
        </p:txBody>
      </p:sp>
    </p:spTree>
    <p:extLst>
      <p:ext uri="{BB962C8B-B14F-4D97-AF65-F5344CB8AC3E}">
        <p14:creationId xmlns:p14="http://schemas.microsoft.com/office/powerpoint/2010/main" val="1227105618"/>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8090</Words>
  <Application>Microsoft Office PowerPoint</Application>
  <PresentationFormat>Breedbeeld</PresentationFormat>
  <Paragraphs>517</Paragraphs>
  <Slides>35</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35</vt:i4>
      </vt:variant>
    </vt:vector>
  </HeadingPairs>
  <TitlesOfParts>
    <vt:vector size="40" baseType="lpstr">
      <vt:lpstr>Aptos</vt:lpstr>
      <vt:lpstr>Aptos Display</vt:lpstr>
      <vt:lpstr>Arial</vt:lpstr>
      <vt:lpstr>Wingdings</vt:lpstr>
      <vt:lpstr>Kantoorthema</vt:lpstr>
      <vt:lpstr>MIM 2.0 bespreeknotitie: Id’s op conceptueel en logisch niveau</vt:lpstr>
      <vt:lpstr>Leeswijzer</vt:lpstr>
      <vt:lpstr>Inleiding</vt:lpstr>
      <vt:lpstr>Even inkomen: voorbeeld van een domein object</vt:lpstr>
      <vt:lpstr>Even inkomen: voorbeelden van gegevensobjecten,  en gegevens die je hierin kan aantreffen over een domein object</vt:lpstr>
      <vt:lpstr>Samenhang beschouwde werkelijkheid en gegevensverwerkingsdomein(en)</vt:lpstr>
      <vt:lpstr>Waar hebben we het over als we het over Id’s hebben bij domein objecten op de conceptuele laag (MIM-2)</vt:lpstr>
      <vt:lpstr>Waar hebben we het over als we het over Id’s hebben  bij gegevensobjecten op de gegevens laag (MIM-3)</vt:lpstr>
      <vt:lpstr>PowerPoint-presentatie</vt:lpstr>
      <vt:lpstr>PowerPoint-presentatie</vt:lpstr>
      <vt:lpstr>Structurering van Id’s 1/3</vt:lpstr>
      <vt:lpstr>Structurering van Id’s 2/3</vt:lpstr>
      <vt:lpstr>Structurering van Id’s 3/3</vt:lpstr>
      <vt:lpstr>Uitwerking modellering </vt:lpstr>
      <vt:lpstr>Modellering patroon die je vaak ziet rondom (basis) registraties</vt:lpstr>
      <vt:lpstr>Onderling relateren van gegevensobjecten Id en versie patroon</vt:lpstr>
      <vt:lpstr>Relaties tussen Id’s modelleren</vt:lpstr>
      <vt:lpstr>Conclusies m.b.t. modellering</vt:lpstr>
      <vt:lpstr>Voorstel</vt:lpstr>
      <vt:lpstr>Samenvatting Id van objecttype in CIM</vt:lpstr>
      <vt:lpstr>CIM en ID’s</vt:lpstr>
      <vt:lpstr>Definities (aanzet) – CIM, objecttype</vt:lpstr>
      <vt:lpstr>Samenvatting Id van objecttype in LGM</vt:lpstr>
      <vt:lpstr>LGM en ID’s</vt:lpstr>
      <vt:lpstr>Definities (aanzet) – LGM, gegevensobjecttype</vt:lpstr>
      <vt:lpstr>CIM en LGM ID’s</vt:lpstr>
      <vt:lpstr>PowerPoint-presentatie</vt:lpstr>
      <vt:lpstr>Voorbeelden – om nader uit te werken</vt:lpstr>
      <vt:lpstr>Onderwerp van gesprek en een Id in het gegevensobjecttype</vt:lpstr>
      <vt:lpstr>PowerPoint-presentatie</vt:lpstr>
      <vt:lpstr>Definities overig (aanzet, minder relevant)</vt:lpstr>
      <vt:lpstr>PowerPoint-presentatie</vt:lpstr>
      <vt:lpstr>Overige punten waarover mogelijk een ontwerpbeslissing genomen moet worden</vt:lpstr>
      <vt:lpstr>Passages om een plek te geven</vt:lpstr>
      <vt:lpstr>PowerPoint-presentatie</vt:lpstr>
    </vt:vector>
  </TitlesOfParts>
  <Company>Ministerie van Financien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Lennart L. van Bergen</dc:creator>
  <cp:lastModifiedBy>Lennart L. van Bergen</cp:lastModifiedBy>
  <cp:revision>1061</cp:revision>
  <dcterms:created xsi:type="dcterms:W3CDTF">2026-04-04T08:17:24Z</dcterms:created>
  <dcterms:modified xsi:type="dcterms:W3CDTF">2026-10-09T10:42:15Z</dcterms:modified>
</cp:coreProperties>
</file>