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docMetadata/LabelInfo.xml" ContentType="application/vnd.ms-office.classificationlabel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6" Type="http://schemas.microsoft.com/office/2020/02/relationships/classificationlabels" Target="docMetadata/LabelInfo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62" r:id="rId3"/>
    <p:sldId id="257" r:id="rId4"/>
    <p:sldId id="261" r:id="rId5"/>
    <p:sldId id="258" r:id="rId6"/>
    <p:sldId id="263" r:id="rId7"/>
    <p:sldId id="264" r:id="rId8"/>
    <p:sldId id="259" r:id="rId9"/>
    <p:sldId id="260" r:id="rId10"/>
  </p:sldIdLst>
  <p:sldSz cx="12192000" cy="6858000"/>
  <p:notesSz cx="6858000" cy="9144000"/>
  <p:defaultTextStyle>
    <a:defPPr>
      <a:defRPr lang="en-NL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1"/>
    <p:restoredTop sz="94658"/>
  </p:normalViewPr>
  <p:slideViewPr>
    <p:cSldViewPr snapToGrid="0">
      <p:cViewPr varScale="1">
        <p:scale>
          <a:sx n="102" d="100"/>
          <a:sy n="102" d="100"/>
        </p:scale>
        <p:origin x="192" y="47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viewProps" Target="view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presProps" Target="presProps.xml"/><Relationship Id="rId5" Type="http://schemas.openxmlformats.org/officeDocument/2006/relationships/slide" Target="slides/slide4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ableStyles" Target="tableStyle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C41524A-C6D8-82E5-CD2E-EA907F8B00A2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GB"/>
              <a:t>Click to edit Master title style</a:t>
            </a:r>
            <a:endParaRPr lang="en-NL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B7C5B1D8-A911-A3BB-1E25-4AAD46AE2AAD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GB"/>
              <a:t>Click to edit Master subtitle style</a:t>
            </a:r>
            <a:endParaRPr lang="en-NL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4B1EAA0-09AF-D4E5-FE3F-E7E6A72E457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C634AAC-F929-794D-9D03-D362D65357EB}" type="datetimeFigureOut">
              <a:rPr lang="en-NL" smtClean="0"/>
              <a:t>10/10/2026</a:t>
            </a:fld>
            <a:endParaRPr lang="en-NL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C1820F1-0111-AA68-D5C6-45294A27B75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NL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216B44E-C8FC-5501-CE3E-E0F8EE458E1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43E6955-A5DD-784A-A20A-5279E49A8B30}" type="slidenum">
              <a:rPr lang="en-NL" smtClean="0"/>
              <a:t>‹#›</a:t>
            </a:fld>
            <a:endParaRPr lang="en-NL"/>
          </a:p>
        </p:txBody>
      </p:sp>
    </p:spTree>
    <p:extLst>
      <p:ext uri="{BB962C8B-B14F-4D97-AF65-F5344CB8AC3E}">
        <p14:creationId xmlns:p14="http://schemas.microsoft.com/office/powerpoint/2010/main" val="151699086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79D8E32-A51F-A236-5B28-5C1AD7A73C2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NL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328DC9A-B401-E881-1B3D-1981F85762C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NL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8E9F780-D40C-5A7E-D10D-8829A2BC1C2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C634AAC-F929-794D-9D03-D362D65357EB}" type="datetimeFigureOut">
              <a:rPr lang="en-NL" smtClean="0"/>
              <a:t>10/10/2026</a:t>
            </a:fld>
            <a:endParaRPr lang="en-NL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5EF4B16-247C-FD01-3F24-3156E58B3F2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NL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E17F621-54F1-02A6-C583-B918E8A5B60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43E6955-A5DD-784A-A20A-5279E49A8B30}" type="slidenum">
              <a:rPr lang="en-NL" smtClean="0"/>
              <a:t>‹#›</a:t>
            </a:fld>
            <a:endParaRPr lang="en-NL"/>
          </a:p>
        </p:txBody>
      </p:sp>
    </p:spTree>
    <p:extLst>
      <p:ext uri="{BB962C8B-B14F-4D97-AF65-F5344CB8AC3E}">
        <p14:creationId xmlns:p14="http://schemas.microsoft.com/office/powerpoint/2010/main" val="40933547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0FEBB80-BD54-D986-36BF-7C81B5D32DF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GB"/>
              <a:t>Click to edit Master title style</a:t>
            </a:r>
            <a:endParaRPr lang="en-NL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CFEE239F-47E0-04DC-63CA-BD195D44A56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4D4FC48-A168-A4EE-3FDE-5A21713FDA9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C634AAC-F929-794D-9D03-D362D65357EB}" type="datetimeFigureOut">
              <a:rPr lang="en-NL" smtClean="0"/>
              <a:t>10/10/2026</a:t>
            </a:fld>
            <a:endParaRPr lang="en-NL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86CEA6A-9E71-343E-BABB-064053FBD51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NL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D98D877-7A52-3327-5C1B-2BEAE696E3F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43E6955-A5DD-784A-A20A-5279E49A8B30}" type="slidenum">
              <a:rPr lang="en-NL" smtClean="0"/>
              <a:t>‹#›</a:t>
            </a:fld>
            <a:endParaRPr lang="en-NL"/>
          </a:p>
        </p:txBody>
      </p:sp>
    </p:spTree>
    <p:extLst>
      <p:ext uri="{BB962C8B-B14F-4D97-AF65-F5344CB8AC3E}">
        <p14:creationId xmlns:p14="http://schemas.microsoft.com/office/powerpoint/2010/main" val="26931233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CDCCBF0-FA19-B53A-15F2-1F331CDF30F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NL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288C7D9-663B-C26D-6ABA-C3F58C66F572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NL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D2D810CB-4832-5E85-10B0-77A6C19CC898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NL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708420A7-BFC8-A455-A133-8D45A4400A0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C634AAC-F929-794D-9D03-D362D65357EB}" type="datetimeFigureOut">
              <a:rPr lang="en-NL" smtClean="0"/>
              <a:t>10/10/2026</a:t>
            </a:fld>
            <a:endParaRPr lang="en-NL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A333354-278B-735F-9AF3-470107D726B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NL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F33CBEA9-2608-BB78-5ED4-BB9CE027322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43E6955-A5DD-784A-A20A-5279E49A8B30}" type="slidenum">
              <a:rPr lang="en-NL" smtClean="0"/>
              <a:t>‹#›</a:t>
            </a:fld>
            <a:endParaRPr lang="en-NL"/>
          </a:p>
        </p:txBody>
      </p:sp>
    </p:spTree>
    <p:extLst>
      <p:ext uri="{BB962C8B-B14F-4D97-AF65-F5344CB8AC3E}">
        <p14:creationId xmlns:p14="http://schemas.microsoft.com/office/powerpoint/2010/main" val="3449335664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EDC87D3-774C-6F77-CA39-92737593AB5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GB"/>
              <a:t>Click to edit Master title style</a:t>
            </a:r>
            <a:endParaRPr lang="en-NL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1339C001-9B36-1660-3559-51DAB403B69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146ADE72-6589-73B2-E031-1243BF488D70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NL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A6B85397-DB6F-9A23-D256-B2D177563D7D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48340BA5-8C6B-BD74-C303-11F4DE8EB31D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NL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FFF3E891-63B3-CA5F-CE1F-BA60B3B5413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C634AAC-F929-794D-9D03-D362D65357EB}" type="datetimeFigureOut">
              <a:rPr lang="en-NL" smtClean="0"/>
              <a:t>10/10/2026</a:t>
            </a:fld>
            <a:endParaRPr lang="en-NL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D5A33A0D-F78B-2E69-E4D3-063679C3BD4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NL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0475E99C-CA12-807D-00B6-F0109DAADDE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43E6955-A5DD-784A-A20A-5279E49A8B30}" type="slidenum">
              <a:rPr lang="en-NL" smtClean="0"/>
              <a:t>‹#›</a:t>
            </a:fld>
            <a:endParaRPr lang="en-NL"/>
          </a:p>
        </p:txBody>
      </p:sp>
    </p:spTree>
    <p:extLst>
      <p:ext uri="{BB962C8B-B14F-4D97-AF65-F5344CB8AC3E}">
        <p14:creationId xmlns:p14="http://schemas.microsoft.com/office/powerpoint/2010/main" val="287109704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E3A3FC6-FFCB-EE60-05A2-A8B032DEB4E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NL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C2FB6774-7176-276C-ACC5-88DC7A67D33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C634AAC-F929-794D-9D03-D362D65357EB}" type="datetimeFigureOut">
              <a:rPr lang="en-NL" smtClean="0"/>
              <a:t>10/10/2026</a:t>
            </a:fld>
            <a:endParaRPr lang="en-NL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1AF0685F-CEC9-916B-3CA2-4BF81C2CB3F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NL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9C7816B7-585E-32BB-5F3F-64A8EC56C09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43E6955-A5DD-784A-A20A-5279E49A8B30}" type="slidenum">
              <a:rPr lang="en-NL" smtClean="0"/>
              <a:t>‹#›</a:t>
            </a:fld>
            <a:endParaRPr lang="en-NL"/>
          </a:p>
        </p:txBody>
      </p:sp>
    </p:spTree>
    <p:extLst>
      <p:ext uri="{BB962C8B-B14F-4D97-AF65-F5344CB8AC3E}">
        <p14:creationId xmlns:p14="http://schemas.microsoft.com/office/powerpoint/2010/main" val="408139975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A778A341-3839-6BD3-A8AC-C1EE3B9E6AA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C634AAC-F929-794D-9D03-D362D65357EB}" type="datetimeFigureOut">
              <a:rPr lang="en-NL" smtClean="0"/>
              <a:t>10/10/2026</a:t>
            </a:fld>
            <a:endParaRPr lang="en-NL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334FB290-2859-074C-315D-311338C0918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NL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299D713-FE4C-7EDE-1690-8EDD618EB40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43E6955-A5DD-784A-A20A-5279E49A8B30}" type="slidenum">
              <a:rPr lang="en-NL" smtClean="0"/>
              <a:t>‹#›</a:t>
            </a:fld>
            <a:endParaRPr lang="en-NL"/>
          </a:p>
        </p:txBody>
      </p:sp>
    </p:spTree>
    <p:extLst>
      <p:ext uri="{BB962C8B-B14F-4D97-AF65-F5344CB8AC3E}">
        <p14:creationId xmlns:p14="http://schemas.microsoft.com/office/powerpoint/2010/main" val="2516332471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A46B450-2241-E413-A87F-A3138E2C395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GB"/>
              <a:t>Click to edit Master title style</a:t>
            </a:r>
            <a:endParaRPr lang="en-NL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907E726-777A-B103-EBCA-569462DD931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NL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9D96B18A-4E0A-B356-9D68-A80F3C2F665B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FC3B2BAC-CC04-ECCF-427C-9176A8898E9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C634AAC-F929-794D-9D03-D362D65357EB}" type="datetimeFigureOut">
              <a:rPr lang="en-NL" smtClean="0"/>
              <a:t>10/10/2026</a:t>
            </a:fld>
            <a:endParaRPr lang="en-NL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84C17055-165A-372B-567B-37CC0033ED1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NL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1F5F9A1C-C4B0-AADA-CD0A-A1007F7A189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43E6955-A5DD-784A-A20A-5279E49A8B30}" type="slidenum">
              <a:rPr lang="en-NL" smtClean="0"/>
              <a:t>‹#›</a:t>
            </a:fld>
            <a:endParaRPr lang="en-NL"/>
          </a:p>
        </p:txBody>
      </p:sp>
    </p:spTree>
    <p:extLst>
      <p:ext uri="{BB962C8B-B14F-4D97-AF65-F5344CB8AC3E}">
        <p14:creationId xmlns:p14="http://schemas.microsoft.com/office/powerpoint/2010/main" val="18930141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246171B-2A55-E754-5F4F-304BAA97B2C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GB"/>
              <a:t>Click to edit Master title style</a:t>
            </a:r>
            <a:endParaRPr lang="en-NL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435D1FCF-5F31-A7B8-8370-5AC72D245273}"/>
              </a:ext>
            </a:extLst>
          </p:cNvPr>
          <p:cNvSpPr>
            <a:spLocks noGrp="1" noChangeAspect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NL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82B3F6BB-B05A-8073-E3E7-7BBE799AB15A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3CAF7639-B9D2-6BA2-5CD9-0650F18D9AF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C634AAC-F929-794D-9D03-D362D65357EB}" type="datetimeFigureOut">
              <a:rPr lang="en-NL" smtClean="0"/>
              <a:t>10/10/2026</a:t>
            </a:fld>
            <a:endParaRPr lang="en-NL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F6BB9CD-2ABB-AA16-29BE-C15F148B4D0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NL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9B845C80-0D1C-1A08-4123-77877132CDC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43E6955-A5DD-784A-A20A-5279E49A8B30}" type="slidenum">
              <a:rPr lang="en-NL" smtClean="0"/>
              <a:t>‹#›</a:t>
            </a:fld>
            <a:endParaRPr lang="en-NL"/>
          </a:p>
        </p:txBody>
      </p:sp>
    </p:spTree>
    <p:extLst>
      <p:ext uri="{BB962C8B-B14F-4D97-AF65-F5344CB8AC3E}">
        <p14:creationId xmlns:p14="http://schemas.microsoft.com/office/powerpoint/2010/main" val="418875633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092F917-F775-7168-32FB-9BA2F71F1EB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NL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FEF8EBF2-CBED-6B65-8B1B-40A86B7477C5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NL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0EE8D41-8319-88AC-0516-6E8C53F462E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C634AAC-F929-794D-9D03-D362D65357EB}" type="datetimeFigureOut">
              <a:rPr lang="en-NL" smtClean="0"/>
              <a:t>10/10/2026</a:t>
            </a:fld>
            <a:endParaRPr lang="en-NL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DD23849-FA99-7060-964C-EC067D2091D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NL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574D74D-EF75-4FF5-1DE0-9A5BC3C8AB8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43E6955-A5DD-784A-A20A-5279E49A8B30}" type="slidenum">
              <a:rPr lang="en-NL" smtClean="0"/>
              <a:t>‹#›</a:t>
            </a:fld>
            <a:endParaRPr lang="en-NL"/>
          </a:p>
        </p:txBody>
      </p:sp>
    </p:spTree>
    <p:extLst>
      <p:ext uri="{BB962C8B-B14F-4D97-AF65-F5344CB8AC3E}">
        <p14:creationId xmlns:p14="http://schemas.microsoft.com/office/powerpoint/2010/main" val="680947871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57A4B8EA-1AD5-FBDA-9541-E85561B28614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GB"/>
              <a:t>Click to edit Master title style</a:t>
            </a:r>
            <a:endParaRPr lang="en-NL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60B32C5E-3CB0-028F-EFBF-6776A21B15E8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NL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2303CDB-88BF-44A0-9DD4-5C5A9394131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C634AAC-F929-794D-9D03-D362D65357EB}" type="datetimeFigureOut">
              <a:rPr lang="en-NL" smtClean="0"/>
              <a:t>10/10/2026</a:t>
            </a:fld>
            <a:endParaRPr lang="en-NL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AD4B498-B56E-C21D-6971-6D663DB4A89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NL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8B06855-8EAB-8764-BB25-9EB90F1A37D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43E6955-A5DD-784A-A20A-5279E49A8B30}" type="slidenum">
              <a:rPr lang="en-NL" smtClean="0"/>
              <a:t>‹#›</a:t>
            </a:fld>
            <a:endParaRPr lang="en-NL"/>
          </a:p>
        </p:txBody>
      </p:sp>
    </p:spTree>
    <p:extLst>
      <p:ext uri="{BB962C8B-B14F-4D97-AF65-F5344CB8AC3E}">
        <p14:creationId xmlns:p14="http://schemas.microsoft.com/office/powerpoint/2010/main" val="3809387383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ED8E45E1-C863-67DE-F80A-2131CCD2E89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GB"/>
              <a:t>Click to edit Master title style</a:t>
            </a:r>
            <a:endParaRPr lang="en-NL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517FE3D-EFAB-BD10-B29D-13E7CB062E0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NL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91372B4-EAEC-47C9-AFA9-47CAB72604C0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5C634AAC-F929-794D-9D03-D362D65357EB}" type="datetimeFigureOut">
              <a:rPr lang="en-NL" smtClean="0"/>
              <a:t>10/10/2026</a:t>
            </a:fld>
            <a:endParaRPr lang="en-NL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9551D18-22A9-EFA0-6D8D-BA5BBA33117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NL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F079DA7-0417-CA3F-761F-AE13808E1C04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A43E6955-A5DD-784A-A20A-5279E49A8B30}" type="slidenum">
              <a:rPr lang="en-NL" smtClean="0"/>
              <a:t>‹#›</a:t>
            </a:fld>
            <a:endParaRPr lang="en-NL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861E4334-B5D8-B2A6-2B1C-1B8D8E283CAB}"/>
              </a:ext>
            </a:extLst>
          </p:cNvPr>
          <p:cNvSpPr txBox="1"/>
          <p:nvPr userDrawn="1">
            <p:extLst>
              <p:ext uri="{1162E1C5-73C7-4A58-AE30-91384D911F3F}">
                <p184:classification xmlns:p184="http://schemas.microsoft.com/office/powerpoint/2018/4/main" val="ftr"/>
              </p:ext>
            </p:extLst>
          </p:nvPr>
        </p:nvSpPr>
        <p:spPr>
          <a:xfrm>
            <a:off x="63500" y="6657340"/>
            <a:ext cx="1030288" cy="137160"/>
          </a:xfrm>
          <a:prstGeom prst="rect">
            <a:avLst/>
          </a:prstGeom>
        </p:spPr>
        <p:txBody>
          <a:bodyPr horzOverflow="overflow" lIns="0" tIns="0" rIns="0" bIns="0">
            <a:spAutoFit/>
          </a:bodyPr>
          <a:lstStyle/>
          <a:p>
            <a:pPr algn="l"/>
            <a:r>
              <a:rPr lang="en-NL" sz="900">
                <a:solidFill>
                  <a:srgbClr val="CF022B">
                    <a:alpha val="50000"/>
                  </a:srgbClr>
                </a:solidFill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C2 - Restricted use </a:t>
            </a:r>
          </a:p>
        </p:txBody>
      </p:sp>
    </p:spTree>
    <p:extLst>
      <p:ext uri="{BB962C8B-B14F-4D97-AF65-F5344CB8AC3E}">
        <p14:creationId xmlns:p14="http://schemas.microsoft.com/office/powerpoint/2010/main" val="80547304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NL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svg"/><Relationship Id="rId1" Type="http://schemas.openxmlformats.org/officeDocument/2006/relationships/slideLayout" Target="../slideLayouts/slideLayout6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svg"/><Relationship Id="rId1" Type="http://schemas.openxmlformats.org/officeDocument/2006/relationships/slideLayout" Target="../slideLayouts/slideLayout6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svg"/><Relationship Id="rId1" Type="http://schemas.openxmlformats.org/officeDocument/2006/relationships/slideLayout" Target="../slideLayouts/slideLayout6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svg"/><Relationship Id="rId1" Type="http://schemas.openxmlformats.org/officeDocument/2006/relationships/slideLayout" Target="../slideLayouts/slideLayout6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svg"/><Relationship Id="rId1" Type="http://schemas.openxmlformats.org/officeDocument/2006/relationships/slideLayout" Target="../slideLayouts/slideLayout6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svg"/><Relationship Id="rId1" Type="http://schemas.openxmlformats.org/officeDocument/2006/relationships/slideLayout" Target="../slideLayouts/slideLayout6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svg"/><Relationship Id="rId1" Type="http://schemas.openxmlformats.org/officeDocument/2006/relationships/slideLayout" Target="../slideLayouts/slideLayout6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svg"/><Relationship Id="rId1" Type="http://schemas.openxmlformats.org/officeDocument/2006/relationships/slideLayout" Target="../slideLayouts/slideLayout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C5ABFAA-AA93-C35B-31B6-801AB4E5F9B3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NL" dirty="0"/>
              <a:t>Dienstbetrekking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C127D394-75B7-2349-82A3-4BB4E9A1DF66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NL" dirty="0"/>
              <a:t>Verkenning van relatieobjecttype</a:t>
            </a:r>
            <a:br>
              <a:rPr lang="en-NL" dirty="0"/>
            </a:br>
            <a:r>
              <a:rPr lang="en-NL" dirty="0"/>
              <a:t>(een relatie die trekjes heeft van een objecttype)</a:t>
            </a:r>
          </a:p>
        </p:txBody>
      </p:sp>
    </p:spTree>
    <p:extLst>
      <p:ext uri="{BB962C8B-B14F-4D97-AF65-F5344CB8AC3E}">
        <p14:creationId xmlns:p14="http://schemas.microsoft.com/office/powerpoint/2010/main" val="218142317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5348B5C-62CF-436F-EC67-AA68C1E03BC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C53674BE-55B7-2534-D23C-5ABEDE46AC9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NL" dirty="0"/>
              <a:t>MIM 2.0 (UML)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A8A7D332-0C97-4562-39E5-F52967C2A528}"/>
              </a:ext>
            </a:extLst>
          </p:cNvPr>
          <p:cNvSpPr txBox="1"/>
          <p:nvPr/>
        </p:nvSpPr>
        <p:spPr>
          <a:xfrm>
            <a:off x="732980" y="4997884"/>
            <a:ext cx="517962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err="1"/>
              <a:t>Reguliere</a:t>
            </a:r>
            <a:r>
              <a:rPr lang="en-US" dirty="0"/>
              <a:t> </a:t>
            </a:r>
            <a:r>
              <a:rPr lang="en-US" dirty="0" err="1"/>
              <a:t>relatie</a:t>
            </a:r>
            <a:r>
              <a:rPr lang="en-US" dirty="0"/>
              <a:t>, </a:t>
            </a:r>
            <a:r>
              <a:rPr lang="en-US" dirty="0" err="1"/>
              <a:t>zonder</a:t>
            </a:r>
            <a:r>
              <a:rPr lang="en-US" dirty="0"/>
              <a:t> </a:t>
            </a:r>
            <a:r>
              <a:rPr lang="en-US" dirty="0" err="1"/>
              <a:t>eigenschappen</a:t>
            </a:r>
            <a:r>
              <a:rPr lang="en-US" dirty="0"/>
              <a:t> of </a:t>
            </a:r>
            <a:r>
              <a:rPr lang="en-US" dirty="0" err="1"/>
              <a:t>relaties</a:t>
            </a:r>
            <a:endParaRPr lang="en-NL" dirty="0"/>
          </a:p>
        </p:txBody>
      </p:sp>
      <p:pic>
        <p:nvPicPr>
          <p:cNvPr id="10" name="Graphic 9">
            <a:extLst>
              <a:ext uri="{FF2B5EF4-FFF2-40B4-BE49-F238E27FC236}">
                <a16:creationId xmlns:a16="http://schemas.microsoft.com/office/drawing/2014/main" id="{C19F2E53-4898-F2F8-C31A-318042BFA4A5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1287136" y="2353314"/>
            <a:ext cx="9250934" cy="156743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0671596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2AB05149-2D0B-D740-2AD3-73E406A158D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NL" dirty="0"/>
              <a:t>Feitmodel</a:t>
            </a:r>
          </a:p>
        </p:txBody>
      </p:sp>
      <p:pic>
        <p:nvPicPr>
          <p:cNvPr id="3" name="Graphic 2">
            <a:extLst>
              <a:ext uri="{FF2B5EF4-FFF2-40B4-BE49-F238E27FC236}">
                <a16:creationId xmlns:a16="http://schemas.microsoft.com/office/drawing/2014/main" id="{B643D238-E73B-23FD-DC43-935BC9E36AFB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432000" y="2492994"/>
            <a:ext cx="11329200" cy="2265840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5F392C25-515C-935F-0436-5D06A78945CB}"/>
              </a:ext>
            </a:extLst>
          </p:cNvPr>
          <p:cNvSpPr txBox="1"/>
          <p:nvPr/>
        </p:nvSpPr>
        <p:spPr>
          <a:xfrm>
            <a:off x="430714" y="5414963"/>
            <a:ext cx="5312862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NL" dirty="0"/>
              <a:t>Dienstbetrekking als regulier feittype tussen twee objecttypen, komt overeen met mim:Relatietype</a:t>
            </a:r>
          </a:p>
        </p:txBody>
      </p:sp>
    </p:spTree>
    <p:extLst>
      <p:ext uri="{BB962C8B-B14F-4D97-AF65-F5344CB8AC3E}">
        <p14:creationId xmlns:p14="http://schemas.microsoft.com/office/powerpoint/2010/main" val="1846609394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CE16F3F-6E0A-0D19-0037-B901C1BE8C3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Graphic 5">
            <a:extLst>
              <a:ext uri="{FF2B5EF4-FFF2-40B4-BE49-F238E27FC236}">
                <a16:creationId xmlns:a16="http://schemas.microsoft.com/office/drawing/2014/main" id="{F80104A9-B103-094C-CB3C-AD973459F3FF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430713" y="683381"/>
            <a:ext cx="11329200" cy="5808790"/>
          </a:xfrm>
          <a:prstGeom prst="rect">
            <a:avLst/>
          </a:prstGeom>
        </p:spPr>
      </p:pic>
      <p:sp>
        <p:nvSpPr>
          <p:cNvPr id="4" name="Title 3">
            <a:extLst>
              <a:ext uri="{FF2B5EF4-FFF2-40B4-BE49-F238E27FC236}">
                <a16:creationId xmlns:a16="http://schemas.microsoft.com/office/drawing/2014/main" id="{2820B5C1-F3B4-D1F3-4A71-B626C80B4CE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NL" dirty="0"/>
              <a:t>Feitmodel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B8534AA7-E612-3CFD-2738-7983D66D1CD3}"/>
              </a:ext>
            </a:extLst>
          </p:cNvPr>
          <p:cNvSpPr txBox="1"/>
          <p:nvPr/>
        </p:nvSpPr>
        <p:spPr>
          <a:xfrm>
            <a:off x="430714" y="5414963"/>
            <a:ext cx="5312862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NL" dirty="0"/>
              <a:t>Opvallen:</a:t>
            </a:r>
          </a:p>
          <a:p>
            <a:pPr marL="285750" indent="-285750">
              <a:buFontTx/>
              <a:buChar char="-"/>
            </a:pPr>
            <a:r>
              <a:rPr lang="en-NL" dirty="0"/>
              <a:t>In FBM is alleen zichtbaar dat “Dienstbetrekking” een relatie is, doordat de identificator volledig wordt bepaald door de rolinvullers</a:t>
            </a:r>
          </a:p>
        </p:txBody>
      </p:sp>
    </p:spTree>
    <p:extLst>
      <p:ext uri="{BB962C8B-B14F-4D97-AF65-F5344CB8AC3E}">
        <p14:creationId xmlns:p14="http://schemas.microsoft.com/office/powerpoint/2010/main" val="717146078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C00F9C9-93E0-BEB9-39F3-7A2A6ABB97D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EB0A7A18-6B0C-6044-777B-2DAD3B85FAC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NL" dirty="0"/>
              <a:t>MIM 2.0 (UML)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064B8CE4-5A8D-C686-D8B4-DA26046FB7DA}"/>
              </a:ext>
            </a:extLst>
          </p:cNvPr>
          <p:cNvSpPr txBox="1"/>
          <p:nvPr/>
        </p:nvSpPr>
        <p:spPr>
          <a:xfrm>
            <a:off x="732980" y="4997884"/>
            <a:ext cx="10608802" cy="175432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err="1"/>
              <a:t>Opvallend</a:t>
            </a:r>
            <a:r>
              <a:rPr lang="en-US" dirty="0"/>
              <a:t>:</a:t>
            </a:r>
          </a:p>
          <a:p>
            <a:pPr marL="285750" indent="-285750">
              <a:buFontTx/>
              <a:buChar char="-"/>
            </a:pPr>
            <a:r>
              <a:rPr lang="en-US" dirty="0" err="1"/>
              <a:t>Rolinvulling</a:t>
            </a:r>
            <a:r>
              <a:rPr lang="en-US" dirty="0"/>
              <a:t> “</a:t>
            </a:r>
            <a:r>
              <a:rPr lang="en-US" dirty="0" err="1"/>
              <a:t>dienstbetrekking</a:t>
            </a:r>
            <a:r>
              <a:rPr lang="en-US" dirty="0"/>
              <a:t>” is </a:t>
            </a:r>
            <a:r>
              <a:rPr lang="en-US" dirty="0" err="1"/>
              <a:t>onderdeel</a:t>
            </a:r>
            <a:r>
              <a:rPr lang="en-US" dirty="0"/>
              <a:t> van de </a:t>
            </a:r>
            <a:r>
              <a:rPr lang="en-US" dirty="0" err="1"/>
              <a:t>identificator</a:t>
            </a:r>
            <a:r>
              <a:rPr lang="en-US" dirty="0"/>
              <a:t> van </a:t>
            </a:r>
            <a:r>
              <a:rPr lang="en-US" dirty="0" err="1"/>
              <a:t>arbeidscontract</a:t>
            </a:r>
            <a:r>
              <a:rPr lang="en-US" dirty="0"/>
              <a:t>, </a:t>
            </a:r>
            <a:r>
              <a:rPr lang="en-US" dirty="0" err="1"/>
              <a:t>zichtbaar</a:t>
            </a:r>
            <a:r>
              <a:rPr lang="en-US" dirty="0"/>
              <a:t> in UML;</a:t>
            </a:r>
          </a:p>
          <a:p>
            <a:pPr marL="285750" indent="-285750">
              <a:buFontTx/>
              <a:buChar char="-"/>
            </a:pPr>
            <a:r>
              <a:rPr lang="en-US" dirty="0"/>
              <a:t>De </a:t>
            </a:r>
            <a:r>
              <a:rPr lang="en-US" dirty="0" err="1"/>
              <a:t>identificator</a:t>
            </a:r>
            <a:r>
              <a:rPr lang="en-US" dirty="0"/>
              <a:t> van «</a:t>
            </a:r>
            <a:r>
              <a:rPr lang="en-US" dirty="0" err="1"/>
              <a:t>Dienstbetrekking</a:t>
            </a:r>
            <a:r>
              <a:rPr lang="en-US" dirty="0"/>
              <a:t>» is </a:t>
            </a:r>
            <a:r>
              <a:rPr lang="en-US" dirty="0" err="1"/>
              <a:t>impliciet</a:t>
            </a:r>
            <a:r>
              <a:rPr lang="en-US" dirty="0"/>
              <a:t>, </a:t>
            </a:r>
            <a:r>
              <a:rPr lang="en-US" dirty="0" err="1"/>
              <a:t>niet</a:t>
            </a:r>
            <a:r>
              <a:rPr lang="en-US" dirty="0"/>
              <a:t> </a:t>
            </a:r>
            <a:r>
              <a:rPr lang="en-US" dirty="0" err="1"/>
              <a:t>zichtbaar</a:t>
            </a:r>
            <a:r>
              <a:rPr lang="en-US" dirty="0"/>
              <a:t> in UML;</a:t>
            </a:r>
          </a:p>
          <a:p>
            <a:pPr marL="285750" indent="-285750">
              <a:buFontTx/>
              <a:buChar char="-"/>
            </a:pPr>
            <a:r>
              <a:rPr lang="en-US" dirty="0"/>
              <a:t>De </a:t>
            </a:r>
            <a:r>
              <a:rPr lang="en-US" dirty="0" err="1"/>
              <a:t>lijn</a:t>
            </a:r>
            <a:r>
              <a:rPr lang="en-US" dirty="0"/>
              <a:t> </a:t>
            </a:r>
            <a:r>
              <a:rPr lang="en-US" dirty="0" err="1"/>
              <a:t>tussen</a:t>
            </a:r>
            <a:r>
              <a:rPr lang="en-US" dirty="0"/>
              <a:t> </a:t>
            </a:r>
            <a:r>
              <a:rPr lang="en-US" dirty="0" err="1"/>
              <a:t>dienstbetrekking</a:t>
            </a:r>
            <a:r>
              <a:rPr lang="en-US" dirty="0"/>
              <a:t> </a:t>
            </a:r>
            <a:r>
              <a:rPr lang="en-US" dirty="0" err="1"/>
              <a:t>en</a:t>
            </a:r>
            <a:r>
              <a:rPr lang="en-US" dirty="0"/>
              <a:t> </a:t>
            </a:r>
            <a:r>
              <a:rPr lang="en-US" dirty="0" err="1"/>
              <a:t>arbeidscontract</a:t>
            </a:r>
            <a:r>
              <a:rPr lang="en-US" dirty="0"/>
              <a:t> is </a:t>
            </a:r>
            <a:r>
              <a:rPr lang="en-US" dirty="0" err="1"/>
              <a:t>geen</a:t>
            </a:r>
            <a:r>
              <a:rPr lang="en-US" dirty="0"/>
              <a:t> </a:t>
            </a:r>
            <a:r>
              <a:rPr lang="en-US" dirty="0" err="1"/>
              <a:t>relatietype</a:t>
            </a:r>
            <a:r>
              <a:rPr lang="en-US" dirty="0"/>
              <a:t>, maar (</a:t>
            </a:r>
            <a:r>
              <a:rPr lang="en-US" dirty="0" err="1"/>
              <a:t>slechts</a:t>
            </a:r>
            <a:r>
              <a:rPr lang="en-US" dirty="0"/>
              <a:t>) </a:t>
            </a:r>
            <a:r>
              <a:rPr lang="en-US" dirty="0" err="1"/>
              <a:t>een</a:t>
            </a:r>
            <a:r>
              <a:rPr lang="en-US" dirty="0"/>
              <a:t> </a:t>
            </a:r>
            <a:r>
              <a:rPr lang="en-US" dirty="0" err="1"/>
              <a:t>rolinvulling</a:t>
            </a:r>
            <a:endParaRPr lang="en-US" dirty="0"/>
          </a:p>
          <a:p>
            <a:pPr marL="742950" lvl="1" indent="-285750">
              <a:buFontTx/>
              <a:buChar char="-"/>
            </a:pPr>
            <a:r>
              <a:rPr lang="en-US" dirty="0"/>
              <a:t>(</a:t>
            </a:r>
            <a:r>
              <a:rPr lang="en-US" dirty="0" err="1"/>
              <a:t>reden</a:t>
            </a:r>
            <a:r>
              <a:rPr lang="en-US" dirty="0"/>
              <a:t> is </a:t>
            </a:r>
            <a:r>
              <a:rPr lang="en-US" dirty="0" err="1"/>
              <a:t>dat</a:t>
            </a:r>
            <a:r>
              <a:rPr lang="en-US" dirty="0"/>
              <a:t> in het </a:t>
            </a:r>
            <a:r>
              <a:rPr lang="en-US" dirty="0" err="1"/>
              <a:t>feitmodel</a:t>
            </a:r>
            <a:r>
              <a:rPr lang="en-US" dirty="0"/>
              <a:t> </a:t>
            </a:r>
            <a:r>
              <a:rPr lang="en-US" dirty="0" err="1"/>
              <a:t>hier</a:t>
            </a:r>
            <a:r>
              <a:rPr lang="en-US" dirty="0"/>
              <a:t> </a:t>
            </a:r>
            <a:r>
              <a:rPr lang="en-US" dirty="0" err="1"/>
              <a:t>geen</a:t>
            </a:r>
            <a:r>
              <a:rPr lang="en-US" dirty="0"/>
              <a:t> </a:t>
            </a:r>
            <a:r>
              <a:rPr lang="en-US" dirty="0" err="1"/>
              <a:t>afzonderlijk</a:t>
            </a:r>
            <a:r>
              <a:rPr lang="en-US" dirty="0"/>
              <a:t> </a:t>
            </a:r>
            <a:r>
              <a:rPr lang="en-US" dirty="0" err="1"/>
              <a:t>feittype</a:t>
            </a:r>
            <a:r>
              <a:rPr lang="en-US" dirty="0"/>
              <a:t> </a:t>
            </a:r>
            <a:r>
              <a:rPr lang="en-US" dirty="0" err="1"/>
              <a:t>voor</a:t>
            </a:r>
            <a:r>
              <a:rPr lang="en-US" dirty="0"/>
              <a:t> </a:t>
            </a:r>
            <a:r>
              <a:rPr lang="en-US" dirty="0" err="1"/>
              <a:t>bestaat</a:t>
            </a:r>
            <a:r>
              <a:rPr lang="en-US" dirty="0"/>
              <a:t>)</a:t>
            </a:r>
          </a:p>
          <a:p>
            <a:pPr marL="285750" indent="-285750">
              <a:buFontTx/>
              <a:buChar char="-"/>
            </a:pPr>
            <a:r>
              <a:rPr lang="en-US" dirty="0"/>
              <a:t>De </a:t>
            </a:r>
            <a:r>
              <a:rPr lang="en-US" dirty="0" err="1"/>
              <a:t>waardetypen</a:t>
            </a:r>
            <a:r>
              <a:rPr lang="en-US" dirty="0"/>
              <a:t> </a:t>
            </a:r>
            <a:r>
              <a:rPr lang="en-US" dirty="0" err="1"/>
              <a:t>zijn</a:t>
            </a:r>
            <a:r>
              <a:rPr lang="en-US" dirty="0"/>
              <a:t> </a:t>
            </a:r>
            <a:r>
              <a:rPr lang="en-US" dirty="0" err="1"/>
              <a:t>vrij</a:t>
            </a:r>
            <a:r>
              <a:rPr lang="en-US" dirty="0"/>
              <a:t> “</a:t>
            </a:r>
            <a:r>
              <a:rPr lang="en-US" dirty="0" err="1"/>
              <a:t>technisch</a:t>
            </a:r>
            <a:r>
              <a:rPr lang="en-US" dirty="0"/>
              <a:t>” van </a:t>
            </a:r>
            <a:r>
              <a:rPr lang="en-US" dirty="0" err="1"/>
              <a:t>aard</a:t>
            </a:r>
            <a:r>
              <a:rPr lang="en-US" dirty="0"/>
              <a:t>, </a:t>
            </a:r>
            <a:r>
              <a:rPr lang="en-US" dirty="0" err="1"/>
              <a:t>eigenlijk</a:t>
            </a:r>
            <a:r>
              <a:rPr lang="en-US" dirty="0"/>
              <a:t> </a:t>
            </a:r>
            <a:r>
              <a:rPr lang="en-US" dirty="0" err="1"/>
              <a:t>meer</a:t>
            </a:r>
            <a:r>
              <a:rPr lang="en-US" dirty="0"/>
              <a:t> </a:t>
            </a:r>
            <a:r>
              <a:rPr lang="en-US" dirty="0" err="1"/>
              <a:t>datatypen</a:t>
            </a:r>
            <a:r>
              <a:rPr lang="en-US" dirty="0"/>
              <a:t> dan </a:t>
            </a:r>
            <a:r>
              <a:rPr lang="en-US" dirty="0" err="1"/>
              <a:t>waardetypen</a:t>
            </a:r>
            <a:r>
              <a:rPr lang="en-US" dirty="0"/>
              <a:t>…</a:t>
            </a:r>
            <a:endParaRPr lang="en-NL" dirty="0"/>
          </a:p>
        </p:txBody>
      </p:sp>
      <p:pic>
        <p:nvPicPr>
          <p:cNvPr id="17" name="Graphic 16">
            <a:extLst>
              <a:ext uri="{FF2B5EF4-FFF2-40B4-BE49-F238E27FC236}">
                <a16:creationId xmlns:a16="http://schemas.microsoft.com/office/drawing/2014/main" id="{B5ED391B-699A-569A-0479-1605B8DFD3A2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16416" y="1490597"/>
            <a:ext cx="12185712" cy="310645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27947508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441A7E8-DA7A-020C-8716-DD96E3D9518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28CAD2E8-BCE2-1EDC-65F3-16A028AFA5F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NL" dirty="0"/>
              <a:t>MIM 2.0 (UML)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8F9B441D-9059-EF46-175D-0C9A84386CB7}"/>
              </a:ext>
            </a:extLst>
          </p:cNvPr>
          <p:cNvSpPr txBox="1"/>
          <p:nvPr/>
        </p:nvSpPr>
        <p:spPr>
          <a:xfrm>
            <a:off x="732980" y="4997884"/>
            <a:ext cx="9141926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err="1"/>
              <a:t>Aanpassing</a:t>
            </a:r>
            <a:r>
              <a:rPr lang="en-US" dirty="0"/>
              <a:t>:</a:t>
            </a:r>
          </a:p>
          <a:p>
            <a:pPr marL="285750" indent="-285750">
              <a:buFontTx/>
              <a:buChar char="-"/>
            </a:pPr>
            <a:r>
              <a:rPr lang="en-US" dirty="0"/>
              <a:t>Een “</a:t>
            </a:r>
            <a:r>
              <a:rPr lang="en-US" dirty="0" err="1"/>
              <a:t>echte</a:t>
            </a:r>
            <a:r>
              <a:rPr lang="en-US" dirty="0"/>
              <a:t>” </a:t>
            </a:r>
            <a:r>
              <a:rPr lang="en-US" dirty="0" err="1"/>
              <a:t>relatie</a:t>
            </a:r>
            <a:r>
              <a:rPr lang="en-US" dirty="0"/>
              <a:t> </a:t>
            </a:r>
            <a:r>
              <a:rPr lang="en-US" dirty="0" err="1"/>
              <a:t>tussen</a:t>
            </a:r>
            <a:r>
              <a:rPr lang="en-US" dirty="0"/>
              <a:t> </a:t>
            </a:r>
            <a:r>
              <a:rPr lang="en-US" dirty="0" err="1"/>
              <a:t>dienstbetrekking</a:t>
            </a:r>
            <a:r>
              <a:rPr lang="en-US" dirty="0"/>
              <a:t> </a:t>
            </a:r>
            <a:r>
              <a:rPr lang="en-US" dirty="0" err="1"/>
              <a:t>en</a:t>
            </a:r>
            <a:r>
              <a:rPr lang="en-US" dirty="0"/>
              <a:t> </a:t>
            </a:r>
            <a:r>
              <a:rPr lang="en-US" dirty="0" err="1"/>
              <a:t>arbeidscontract</a:t>
            </a:r>
            <a:r>
              <a:rPr lang="en-US" dirty="0"/>
              <a:t>;</a:t>
            </a:r>
          </a:p>
          <a:p>
            <a:pPr marL="285750" indent="-285750">
              <a:buFontTx/>
              <a:buChar char="-"/>
            </a:pPr>
            <a:r>
              <a:rPr lang="en-US" dirty="0" err="1"/>
              <a:t>Identificator</a:t>
            </a:r>
            <a:r>
              <a:rPr lang="en-US" dirty="0"/>
              <a:t> van </a:t>
            </a:r>
            <a:r>
              <a:rPr lang="en-US" dirty="0" err="1"/>
              <a:t>arbeidscontract</a:t>
            </a:r>
            <a:r>
              <a:rPr lang="en-US" dirty="0"/>
              <a:t> </a:t>
            </a:r>
            <a:r>
              <a:rPr lang="en-US" dirty="0" err="1"/>
              <a:t>aangepast</a:t>
            </a:r>
            <a:r>
              <a:rPr lang="en-US" dirty="0"/>
              <a:t>: </a:t>
            </a:r>
            <a:r>
              <a:rPr lang="en-US" dirty="0" err="1"/>
              <a:t>arbeidscontract</a:t>
            </a:r>
            <a:r>
              <a:rPr lang="en-US" dirty="0"/>
              <a:t> is nu </a:t>
            </a:r>
            <a:r>
              <a:rPr lang="en-US" dirty="0" err="1"/>
              <a:t>niet</a:t>
            </a:r>
            <a:r>
              <a:rPr lang="en-US" dirty="0"/>
              <a:t> </a:t>
            </a:r>
            <a:r>
              <a:rPr lang="en-US" dirty="0" err="1"/>
              <a:t>meer</a:t>
            </a:r>
            <a:r>
              <a:rPr lang="en-US" dirty="0"/>
              <a:t> </a:t>
            </a:r>
            <a:r>
              <a:rPr lang="en-US" dirty="0" err="1"/>
              <a:t>afhankelijk</a:t>
            </a:r>
            <a:endParaRPr lang="en-NL" dirty="0"/>
          </a:p>
        </p:txBody>
      </p:sp>
      <p:pic>
        <p:nvPicPr>
          <p:cNvPr id="5" name="Graphic 4">
            <a:extLst>
              <a:ext uri="{FF2B5EF4-FFF2-40B4-BE49-F238E27FC236}">
                <a16:creationId xmlns:a16="http://schemas.microsoft.com/office/drawing/2014/main" id="{D69C700D-9AE9-AE8E-7860-5A332BFFDBD1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16416" y="1490597"/>
            <a:ext cx="12185712" cy="310645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38436952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39874CD-C10A-0D01-4407-E1FFBBE5C65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Graphic 4">
            <a:extLst>
              <a:ext uri="{FF2B5EF4-FFF2-40B4-BE49-F238E27FC236}">
                <a16:creationId xmlns:a16="http://schemas.microsoft.com/office/drawing/2014/main" id="{C40728B7-9C23-5398-496B-C8C06F5C9780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527216" y="242708"/>
            <a:ext cx="11232697" cy="6249463"/>
          </a:xfrm>
          <a:prstGeom prst="rect">
            <a:avLst/>
          </a:prstGeom>
        </p:spPr>
      </p:pic>
      <p:sp>
        <p:nvSpPr>
          <p:cNvPr id="4" name="Title 3">
            <a:extLst>
              <a:ext uri="{FF2B5EF4-FFF2-40B4-BE49-F238E27FC236}">
                <a16:creationId xmlns:a16="http://schemas.microsoft.com/office/drawing/2014/main" id="{14E975BE-BEB1-6A10-CC0D-1118D105B6F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NL" dirty="0"/>
              <a:t>Feitmodel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8D0E51DE-7775-E009-4155-815A7CFC1078}"/>
              </a:ext>
            </a:extLst>
          </p:cNvPr>
          <p:cNvSpPr txBox="1"/>
          <p:nvPr/>
        </p:nvSpPr>
        <p:spPr>
          <a:xfrm>
            <a:off x="430714" y="5414963"/>
            <a:ext cx="5312862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NL" dirty="0"/>
              <a:t>Het feitmodel krijgt hierdoor een extra feittype tussen het arbeidscontract (met een eigen identificator) en dienstbetrekking</a:t>
            </a:r>
          </a:p>
        </p:txBody>
      </p:sp>
    </p:spTree>
    <p:extLst>
      <p:ext uri="{BB962C8B-B14F-4D97-AF65-F5344CB8AC3E}">
        <p14:creationId xmlns:p14="http://schemas.microsoft.com/office/powerpoint/2010/main" val="1542906920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9B5E678-8D41-FDB1-4069-F62BAD03862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NL" dirty="0"/>
              <a:t>MIM 2.0 Metamodel</a:t>
            </a:r>
          </a:p>
        </p:txBody>
      </p:sp>
      <p:pic>
        <p:nvPicPr>
          <p:cNvPr id="7" name="Graphic 6">
            <a:extLst>
              <a:ext uri="{FF2B5EF4-FFF2-40B4-BE49-F238E27FC236}">
                <a16:creationId xmlns:a16="http://schemas.microsoft.com/office/drawing/2014/main" id="{92500482-8CA9-0227-6B8B-B65DBB9BDAA2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838200" y="1344743"/>
            <a:ext cx="9985244" cy="5513257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FFA89648-6DA0-BD9E-0940-8E3A50805638}"/>
              </a:ext>
            </a:extLst>
          </p:cNvPr>
          <p:cNvSpPr txBox="1"/>
          <p:nvPr/>
        </p:nvSpPr>
        <p:spPr>
          <a:xfrm>
            <a:off x="7446165" y="144414"/>
            <a:ext cx="4267643" cy="120032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NL" dirty="0"/>
              <a:t>Aanpassingen:</a:t>
            </a:r>
          </a:p>
          <a:p>
            <a:pPr marL="285750" indent="-285750">
              <a:buFontTx/>
              <a:buChar char="-"/>
            </a:pPr>
            <a:r>
              <a:rPr lang="en-GB" dirty="0"/>
              <a:t>Term “r</a:t>
            </a:r>
            <a:r>
              <a:rPr lang="en-NL" dirty="0"/>
              <a:t>olinvuller” ipv “participatierol”</a:t>
            </a:r>
          </a:p>
          <a:p>
            <a:pPr marL="285750" indent="-285750">
              <a:buFontTx/>
              <a:buChar char="-"/>
            </a:pPr>
            <a:r>
              <a:rPr lang="en-GB" dirty="0"/>
              <a:t>Term “k</a:t>
            </a:r>
            <a:r>
              <a:rPr lang="en-NL" dirty="0"/>
              <a:t>ardinaliteit” ipv “cardinaliteit”</a:t>
            </a:r>
          </a:p>
          <a:p>
            <a:pPr marL="285750" indent="-285750">
              <a:buFontTx/>
              <a:buChar char="-"/>
            </a:pPr>
            <a:r>
              <a:rPr lang="en-GB" dirty="0"/>
              <a:t>G</a:t>
            </a:r>
            <a:r>
              <a:rPr lang="en-NL" dirty="0"/>
              <a:t>een subtypering, maar keuze (xone)</a:t>
            </a:r>
          </a:p>
        </p:txBody>
      </p:sp>
    </p:spTree>
    <p:extLst>
      <p:ext uri="{BB962C8B-B14F-4D97-AF65-F5344CB8AC3E}">
        <p14:creationId xmlns:p14="http://schemas.microsoft.com/office/powerpoint/2010/main" val="538705203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Graphic 5">
            <a:extLst>
              <a:ext uri="{FF2B5EF4-FFF2-40B4-BE49-F238E27FC236}">
                <a16:creationId xmlns:a16="http://schemas.microsoft.com/office/drawing/2014/main" id="{9DC665B3-D530-3787-0638-4A7102704DAA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0" y="168616"/>
            <a:ext cx="12192000" cy="6520767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77626013-1292-810C-74A0-CC1E28B84D2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NL" dirty="0"/>
              <a:t>MIM 2.0 LD graaf</a:t>
            </a:r>
          </a:p>
        </p:txBody>
      </p:sp>
    </p:spTree>
    <p:extLst>
      <p:ext uri="{BB962C8B-B14F-4D97-AF65-F5344CB8AC3E}">
        <p14:creationId xmlns:p14="http://schemas.microsoft.com/office/powerpoint/2010/main" val="134254020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Metadata/LabelInfo.xml><?xml version="1.0" encoding="utf-8"?>
<clbl:labelList xmlns:clbl="http://schemas.microsoft.com/office/2020/mipLabelMetadata">
  <clbl:label id="{c5e6e129-f928-4a05-ae32-d838f6b21bdd}" enabled="1" method="Standard" siteId="{8b87af7d-8647-4dc7-8df4-5f69a2011bb5}" contentBits="3" removed="0"/>
</clbl:labelList>
</file>

<file path=docProps/app.xml><?xml version="1.0" encoding="utf-8"?>
<Properties xmlns="http://schemas.openxmlformats.org/officeDocument/2006/extended-properties" xmlns:vt="http://schemas.openxmlformats.org/officeDocument/2006/docPropsVTypes">
  <TotalTime>63</TotalTime>
  <Words>233</Words>
  <Application>Microsoft Macintosh PowerPoint</Application>
  <PresentationFormat>Widescreen</PresentationFormat>
  <Paragraphs>28</Paragraphs>
  <Slides>9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4" baseType="lpstr">
      <vt:lpstr>Aptos</vt:lpstr>
      <vt:lpstr>Aptos Display</vt:lpstr>
      <vt:lpstr>Arial</vt:lpstr>
      <vt:lpstr>Tahoma</vt:lpstr>
      <vt:lpstr>Office Theme</vt:lpstr>
      <vt:lpstr>Dienstbetrekking</vt:lpstr>
      <vt:lpstr>MIM 2.0 (UML)</vt:lpstr>
      <vt:lpstr>Feitmodel</vt:lpstr>
      <vt:lpstr>Feitmodel</vt:lpstr>
      <vt:lpstr>MIM 2.0 (UML)</vt:lpstr>
      <vt:lpstr>MIM 2.0 (UML)</vt:lpstr>
      <vt:lpstr>Feitmodel</vt:lpstr>
      <vt:lpstr>MIM 2.0 Metamodel</vt:lpstr>
      <vt:lpstr>MIM 2.0 LD graaf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BRATTINGA Marco</dc:creator>
  <cp:lastModifiedBy>BRATTINGA Marco</cp:lastModifiedBy>
  <cp:revision>2</cp:revision>
  <dcterms:created xsi:type="dcterms:W3CDTF">2026-10-07T10:12:08Z</dcterms:created>
  <dcterms:modified xsi:type="dcterms:W3CDTF">2026-10-10T13:27:31Z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lassificationContentMarkingFooterLocations">
    <vt:lpwstr>Office Theme:8</vt:lpwstr>
  </property>
  <property fmtid="{D5CDD505-2E9C-101B-9397-08002B2CF9AE}" pid="3" name="ClassificationContentMarkingFooterText">
    <vt:lpwstr>C2 - Restricted use </vt:lpwstr>
  </property>
</Properties>
</file>