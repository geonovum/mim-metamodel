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89" d="100"/>
          <a:sy n="89" d="100"/>
        </p:scale>
        <p:origin x="188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524A-C6D8-82E5-CD2E-EA907F8B0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5B1D8-A911-A3BB-1E25-4AAD46AE2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1EAA0-09AF-D4E5-FE3F-E7E6A72E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820F1-0111-AA68-D5C6-45294A27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B44E-C8FC-5501-CE3E-E0F8EE45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699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8E32-A51F-A236-5B28-5C1AD7A7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8DC9A-B401-E881-1B3D-1981F8576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9F780-D40C-5A7E-D10D-8829A2BC1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F4B16-247C-FD01-3F24-3156E58B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F621-54F1-02A6-C583-B918E8A5B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335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EBB80-BD54-D986-36BF-7C81B5D32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E239F-47E0-04DC-63CA-BD195D44A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FC48-A168-A4EE-3FDE-5A21713F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CEA6A-9E71-343E-BABB-064053FB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8D877-7A52-3327-5C1B-2BEAE696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31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CBF0-FA19-B53A-15F2-1F331CDF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8C7D9-663B-C26D-6ABA-C3F58C66F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810CB-4832-5E85-10B0-77A6C19CC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420A7-BFC8-A455-A133-8D45A440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33354-278B-735F-9AF3-470107D7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CBEA9-2608-BB78-5ED4-BB9CE027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4933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87D3-774C-6F77-CA39-92737593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9C001-9B36-1660-3559-51DAB403B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ADE72-6589-73B2-E031-1243BF488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85397-DB6F-9A23-D256-B2D177563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40BA5-8C6B-BD74-C303-11F4DE8EB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F3E891-63B3-CA5F-CE1F-BA60B3B5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33A0D-F78B-2E69-E4D3-063679C3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5E99C-CA12-807D-00B6-F0109DAA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109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3FC6-FFCB-EE60-05A2-A8B032DE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B6774-7176-276C-ACC5-88DC7A67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0685F-CEC9-916B-3CA2-4BF81C2C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816B7-585E-32BB-5F3F-64A8EC56C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139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8A341-3839-6BD3-A8AC-C1EE3B9E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FB290-2859-074C-315D-311338C0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9D713-FE4C-7EDE-1690-8EDD618E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633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B450-2241-E413-A87F-A3138E2C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7E726-777A-B103-EBCA-569462DD9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B18A-4E0A-B356-9D68-A80F3C2F6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B2BAC-CC04-ECCF-427C-9176A889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17055-165A-372B-567B-37CC0033E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9A1C-C4B0-AADA-CD0A-A1007F7A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30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171B-2A55-E754-5F4F-304BAA97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D1FCF-5F31-A7B8-8370-5AC72D24527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3F6BB-B05A-8073-E3E7-7BBE799AB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F7639-B9D2-6BA2-5CD9-0650F18D9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B9CD-2ABB-AA16-29BE-C15F148B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45C80-0D1C-1A08-4123-77877132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875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F917-F775-7168-32FB-9BA2F71F1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8EBF2-CBED-6B65-8B1B-40A86B74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8D41-8319-88AC-0516-6E8C53F4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23849-FA99-7060-964C-EC067D20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4D74D-EF75-4FF5-1DE0-9A5BC3C8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094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4B8EA-1AD5-FBDA-9541-E85561B28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32C5E-3CB0-028F-EFBF-6776A21B1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3CDB-88BF-44A0-9DD4-5C5A9394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4B498-B56E-C21D-6971-6D663DB4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06855-8EAB-8764-BB25-9EB90F1A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938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E45E1-C863-67DE-F80A-2131CCD2E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7FE3D-EFAB-BD10-B29D-13E7CB062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72B4-EAEC-47C9-AFA9-47CAB7260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34AAC-F929-794D-9D03-D362D65357EB}" type="datetimeFigureOut">
              <a:rPr lang="en-NL" smtClean="0"/>
              <a:t>07/10/2026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51D18-22A9-EFA0-6D8D-BA5BBA331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9DA7-0417-CA3F-761F-AE13808E1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E6955-A5DD-784A-A20A-5279E49A8B30}" type="slidenum">
              <a:rPr lang="en-NL" smtClean="0"/>
              <a:t>‹#›</a:t>
            </a:fld>
            <a:endParaRPr lang="en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E4334-B5D8-B2A6-2B1C-1B8D8E283CA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302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L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C2 - Restricted use </a:t>
            </a:r>
          </a:p>
        </p:txBody>
      </p:sp>
    </p:spTree>
    <p:extLst>
      <p:ext uri="{BB962C8B-B14F-4D97-AF65-F5344CB8AC3E}">
        <p14:creationId xmlns:p14="http://schemas.microsoft.com/office/powerpoint/2010/main" val="80547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BFAA-AA93-C35B-31B6-801AB4E5F9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Dienstbetrekking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7D394-75B7-2349-82A3-4BB4E9A1DF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Verkenning van relatieobjecttype</a:t>
            </a:r>
            <a:br>
              <a:rPr lang="en-NL" dirty="0"/>
            </a:br>
            <a:r>
              <a:rPr lang="en-NL" dirty="0"/>
              <a:t>(een relatie die trekjes heeft van een objecttype)</a:t>
            </a:r>
          </a:p>
        </p:txBody>
      </p:sp>
    </p:spTree>
    <p:extLst>
      <p:ext uri="{BB962C8B-B14F-4D97-AF65-F5344CB8AC3E}">
        <p14:creationId xmlns:p14="http://schemas.microsoft.com/office/powerpoint/2010/main" val="218142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EB9BF84-EB97-0222-0372-23AF667AB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713" y="683381"/>
            <a:ext cx="11330574" cy="580949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B05149-2D0B-D740-2AD3-73E406A1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Feitmodel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02B70-47ED-D576-BCB8-0A051D78EC85}"/>
              </a:ext>
            </a:extLst>
          </p:cNvPr>
          <p:cNvSpPr txBox="1"/>
          <p:nvPr/>
        </p:nvSpPr>
        <p:spPr>
          <a:xfrm>
            <a:off x="430714" y="5414963"/>
            <a:ext cx="5312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dirty="0"/>
              <a:t>Opvallen:</a:t>
            </a:r>
          </a:p>
          <a:p>
            <a:pPr marL="285750" indent="-285750">
              <a:buFontTx/>
              <a:buChar char="-"/>
            </a:pPr>
            <a:r>
              <a:rPr lang="en-NL" dirty="0"/>
              <a:t>In FBM is alleen zichtbaar dat “Dienstbetrekking” een relatie is, doordat de identificator volledig wordt bepaald door de rolinvullers</a:t>
            </a:r>
          </a:p>
        </p:txBody>
      </p:sp>
    </p:spTree>
    <p:extLst>
      <p:ext uri="{BB962C8B-B14F-4D97-AF65-F5344CB8AC3E}">
        <p14:creationId xmlns:p14="http://schemas.microsoft.com/office/powerpoint/2010/main" val="184660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F9C9-93E0-BEB9-39F3-7A2A6ABB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0A7A18-6B0C-6044-777B-2DAD3B85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MIM 2.0 (UML)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B8CE4-5A8D-C686-D8B4-DA26046FB7DA}"/>
              </a:ext>
            </a:extLst>
          </p:cNvPr>
          <p:cNvSpPr txBox="1"/>
          <p:nvPr/>
        </p:nvSpPr>
        <p:spPr>
          <a:xfrm>
            <a:off x="732980" y="4997884"/>
            <a:ext cx="106088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Opvallend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Rolinvulling</a:t>
            </a:r>
            <a:r>
              <a:rPr lang="en-US" dirty="0"/>
              <a:t> “</a:t>
            </a:r>
            <a:r>
              <a:rPr lang="en-US" dirty="0" err="1"/>
              <a:t>dienstbetrekking</a:t>
            </a:r>
            <a:r>
              <a:rPr lang="en-US" dirty="0"/>
              <a:t>” is </a:t>
            </a:r>
            <a:r>
              <a:rPr lang="en-US" dirty="0" err="1"/>
              <a:t>onderdeel</a:t>
            </a:r>
            <a:r>
              <a:rPr lang="en-US" dirty="0"/>
              <a:t> van de </a:t>
            </a:r>
            <a:r>
              <a:rPr lang="en-US" dirty="0" err="1"/>
              <a:t>identificator</a:t>
            </a:r>
            <a:r>
              <a:rPr lang="en-US" dirty="0"/>
              <a:t> van </a:t>
            </a:r>
            <a:r>
              <a:rPr lang="en-US" dirty="0" err="1"/>
              <a:t>arbeidscontract</a:t>
            </a:r>
            <a:r>
              <a:rPr lang="en-US" dirty="0"/>
              <a:t>, </a:t>
            </a:r>
            <a:r>
              <a:rPr lang="en-US" dirty="0" err="1"/>
              <a:t>zichtbaar</a:t>
            </a:r>
            <a:r>
              <a:rPr lang="en-US" dirty="0"/>
              <a:t> in UML;</a:t>
            </a:r>
          </a:p>
          <a:p>
            <a:pPr marL="285750" indent="-285750">
              <a:buFontTx/>
              <a:buChar char="-"/>
            </a:pPr>
            <a:r>
              <a:rPr lang="en-US" dirty="0"/>
              <a:t>De </a:t>
            </a:r>
            <a:r>
              <a:rPr lang="en-US" dirty="0" err="1"/>
              <a:t>identificator</a:t>
            </a:r>
            <a:r>
              <a:rPr lang="en-US" dirty="0"/>
              <a:t> van «</a:t>
            </a:r>
            <a:r>
              <a:rPr lang="en-US" dirty="0" err="1"/>
              <a:t>Dienstbetrekking</a:t>
            </a:r>
            <a:r>
              <a:rPr lang="en-US" dirty="0"/>
              <a:t>» is </a:t>
            </a:r>
            <a:r>
              <a:rPr lang="en-US" dirty="0" err="1"/>
              <a:t>impliciet</a:t>
            </a:r>
            <a:r>
              <a:rPr lang="en-US" dirty="0"/>
              <a:t>,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zichtbaar</a:t>
            </a:r>
            <a:r>
              <a:rPr lang="en-US" dirty="0"/>
              <a:t> in UML;</a:t>
            </a:r>
          </a:p>
          <a:p>
            <a:pPr marL="285750" indent="-285750">
              <a:buFontTx/>
              <a:buChar char="-"/>
            </a:pPr>
            <a:r>
              <a:rPr lang="en-US" dirty="0"/>
              <a:t>De </a:t>
            </a:r>
            <a:r>
              <a:rPr lang="en-US" dirty="0" err="1"/>
              <a:t>lijn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</a:t>
            </a:r>
            <a:r>
              <a:rPr lang="en-US" dirty="0" err="1"/>
              <a:t>dienstbetrekking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arbeidscontract</a:t>
            </a:r>
            <a:r>
              <a:rPr lang="en-US" dirty="0"/>
              <a:t> is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relatietype</a:t>
            </a:r>
            <a:r>
              <a:rPr lang="en-US" dirty="0"/>
              <a:t>, maar (</a:t>
            </a:r>
            <a:r>
              <a:rPr lang="en-US" dirty="0" err="1"/>
              <a:t>slechts</a:t>
            </a:r>
            <a:r>
              <a:rPr lang="en-US" dirty="0"/>
              <a:t>)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rolinvulling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(</a:t>
            </a:r>
            <a:r>
              <a:rPr lang="en-US" dirty="0" err="1"/>
              <a:t>reden</a:t>
            </a:r>
            <a:r>
              <a:rPr lang="en-US" dirty="0"/>
              <a:t> is </a:t>
            </a:r>
            <a:r>
              <a:rPr lang="en-US" dirty="0" err="1"/>
              <a:t>dat</a:t>
            </a:r>
            <a:r>
              <a:rPr lang="en-US" dirty="0"/>
              <a:t> in het </a:t>
            </a:r>
            <a:r>
              <a:rPr lang="en-US" dirty="0" err="1"/>
              <a:t>feitmodel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geen</a:t>
            </a:r>
            <a:r>
              <a:rPr lang="en-US" dirty="0"/>
              <a:t> </a:t>
            </a:r>
            <a:r>
              <a:rPr lang="en-US" dirty="0" err="1"/>
              <a:t>afzonderlijk</a:t>
            </a:r>
            <a:r>
              <a:rPr lang="en-US" dirty="0"/>
              <a:t> </a:t>
            </a:r>
            <a:r>
              <a:rPr lang="en-US" dirty="0" err="1"/>
              <a:t>feittype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bestaat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De </a:t>
            </a:r>
            <a:r>
              <a:rPr lang="en-US" dirty="0" err="1"/>
              <a:t>waardetypen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vrij</a:t>
            </a:r>
            <a:r>
              <a:rPr lang="en-US" dirty="0"/>
              <a:t> “</a:t>
            </a:r>
            <a:r>
              <a:rPr lang="en-US" dirty="0" err="1"/>
              <a:t>technisch</a:t>
            </a:r>
            <a:r>
              <a:rPr lang="en-US" dirty="0"/>
              <a:t>” van </a:t>
            </a:r>
            <a:r>
              <a:rPr lang="en-US" dirty="0" err="1"/>
              <a:t>aard</a:t>
            </a:r>
            <a:r>
              <a:rPr lang="en-US" dirty="0"/>
              <a:t>, </a:t>
            </a:r>
            <a:r>
              <a:rPr lang="en-US" dirty="0" err="1"/>
              <a:t>eigenlijk</a:t>
            </a:r>
            <a:r>
              <a:rPr lang="en-US" dirty="0"/>
              <a:t> </a:t>
            </a:r>
            <a:r>
              <a:rPr lang="en-US" dirty="0" err="1"/>
              <a:t>meer</a:t>
            </a:r>
            <a:r>
              <a:rPr lang="en-US" dirty="0"/>
              <a:t> </a:t>
            </a:r>
            <a:r>
              <a:rPr lang="en-US" dirty="0" err="1"/>
              <a:t>datatypen</a:t>
            </a:r>
            <a:r>
              <a:rPr lang="en-US" dirty="0"/>
              <a:t> dan </a:t>
            </a:r>
            <a:r>
              <a:rPr lang="en-US" dirty="0" err="1"/>
              <a:t>waardetypen</a:t>
            </a:r>
            <a:r>
              <a:rPr lang="en-US" dirty="0"/>
              <a:t>…</a:t>
            </a:r>
            <a:endParaRPr lang="en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EFF5CFF-913D-2BA5-DD5A-A2A2621AE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13" y="1543044"/>
            <a:ext cx="11864937" cy="316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94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E678-8D41-FDB1-4069-F62BAD03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MIM 2.0 Metamodel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500482-8CA9-0227-6B8B-B65DBB9BD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344743"/>
            <a:ext cx="9985244" cy="5513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89648-6DA0-BD9E-0940-8E3A50805638}"/>
              </a:ext>
            </a:extLst>
          </p:cNvPr>
          <p:cNvSpPr txBox="1"/>
          <p:nvPr/>
        </p:nvSpPr>
        <p:spPr>
          <a:xfrm>
            <a:off x="7446165" y="144414"/>
            <a:ext cx="4267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Aanpassingen:</a:t>
            </a:r>
          </a:p>
          <a:p>
            <a:pPr marL="285750" indent="-285750">
              <a:buFontTx/>
              <a:buChar char="-"/>
            </a:pPr>
            <a:r>
              <a:rPr lang="en-GB" dirty="0"/>
              <a:t>Term “r</a:t>
            </a:r>
            <a:r>
              <a:rPr lang="en-NL" dirty="0"/>
              <a:t>olinvuller” ipv “participatierol”</a:t>
            </a:r>
          </a:p>
          <a:p>
            <a:pPr marL="285750" indent="-285750">
              <a:buFontTx/>
              <a:buChar char="-"/>
            </a:pPr>
            <a:r>
              <a:rPr lang="en-GB" dirty="0"/>
              <a:t>Term “k</a:t>
            </a:r>
            <a:r>
              <a:rPr lang="en-NL" dirty="0"/>
              <a:t>ardinaliteit” ipv “cardinaliteit”</a:t>
            </a:r>
          </a:p>
          <a:p>
            <a:pPr marL="285750" indent="-285750">
              <a:buFontTx/>
              <a:buChar char="-"/>
            </a:pPr>
            <a:r>
              <a:rPr lang="en-GB" dirty="0"/>
              <a:t>G</a:t>
            </a:r>
            <a:r>
              <a:rPr lang="en-NL" dirty="0"/>
              <a:t>een subtypering, maar keuze (xone)</a:t>
            </a:r>
          </a:p>
        </p:txBody>
      </p:sp>
    </p:spTree>
    <p:extLst>
      <p:ext uri="{BB962C8B-B14F-4D97-AF65-F5344CB8AC3E}">
        <p14:creationId xmlns:p14="http://schemas.microsoft.com/office/powerpoint/2010/main" val="53870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DC665B3-D530-3787-0638-4A7102704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68616"/>
            <a:ext cx="12192000" cy="6520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626013-1292-810C-74A0-CC1E28B8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MIM 2.0 LD graaf</a:t>
            </a:r>
          </a:p>
        </p:txBody>
      </p:sp>
    </p:spTree>
    <p:extLst>
      <p:ext uri="{BB962C8B-B14F-4D97-AF65-F5344CB8AC3E}">
        <p14:creationId xmlns:p14="http://schemas.microsoft.com/office/powerpoint/2010/main" val="13425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e6e129-f928-4a05-ae32-d838f6b21bdd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Macintosh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Tahoma</vt:lpstr>
      <vt:lpstr>Office Theme</vt:lpstr>
      <vt:lpstr>Dienstbetrekking</vt:lpstr>
      <vt:lpstr>Feitmodel</vt:lpstr>
      <vt:lpstr>MIM 2.0 (UML)</vt:lpstr>
      <vt:lpstr>MIM 2.0 Metamodel</vt:lpstr>
      <vt:lpstr>MIM 2.0 LD graaf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BRATTINGA Marco</dc:creator>
  <cp:lastModifiedBy>BRATTINGA Marco</cp:lastModifiedBy>
  <cp:revision>1</cp:revision>
  <dcterms:created xsi:type="dcterms:W3CDTF">2026-10-07T10:12:08Z</dcterms:created>
  <dcterms:modified xsi:type="dcterms:W3CDTF">2026-10-07T10:33:58Z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C2 - Restricted use </vt:lpwstr>
  </property>
</Properties>
</file>