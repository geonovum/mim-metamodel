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3" d="100"/>
          <a:sy n="103" d="100"/>
        </p:scale>
        <p:origin x="14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A8C7E-7E40-4EF2-7BAA-6790686346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DF2E8-C5A6-12EA-0351-19C20699F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88B05-4ADA-4211-AC4A-D2EF695E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11609-482F-E4E8-F16E-67EEEC021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6692F-491C-F7D7-CFFA-0082031AD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3172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AD88F-1D91-0C25-6051-FF5806C1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FCE27-81B7-FD14-CDF5-2BA1B6872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24C15-A444-1243-0F60-A138A4108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28743-44B4-F5B1-A433-127D9641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813CC-9A28-9B7A-B54D-5F8185AD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5657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2B67-87F3-7500-2730-3D3E97FC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3B6D4-EE4D-90BC-71B9-6C942DC0A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8B0CF-769C-EE4C-9394-1DE6CF03B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C2A4C-5187-6928-B0B7-0DEE2DBA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9367D-FC87-A8C7-9739-9780D6F1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042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1A7B0-C60F-A716-08D5-62FED359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663A7-7791-6E14-5F08-9093D8F0BB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6179C-482B-37BB-7726-64ED35489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2A6EC-0CDA-A9E1-0C96-450B9E73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71A90-7E71-879A-F273-908C8E778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C4A62-5473-8D9F-A9F4-2F908EBEC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98982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6E4F-FAAD-4C0C-E020-5D68E4BB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45C23D-6D27-F554-00B5-19D338504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17F3B-3054-49E3-01DC-A8CA0191C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0F416-67F8-9450-A14C-90976D39F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3BE5F-458A-93DD-B590-759183CAB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E3420-5ED0-D6C8-5134-A5CE5A0EB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1DCF07-BAEA-A390-52E1-C16114850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F49E2-E2F0-F3E9-5E88-DA3948E9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1217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AD917-E2A1-2919-76FB-40DF5CAA0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DB510-F82E-1AB5-AF94-F4F539FCE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AD45D-C76C-A076-CE40-21440746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9EB034-79AB-7741-B9D2-A41228C83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2786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CC6CC5-E73C-4C86-66A5-BEF5C5FF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3CC897-FBC9-FA7E-649A-3ABEBB76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5847B-55ED-85BD-7C4D-D89C65D7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69940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076AB-58A1-88A5-3C2C-3EBFEB2A6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ADF59-A29D-9C51-52A9-FE05A996C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B04F8-40CC-9E7E-0209-5B0447AB0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0E40F-8993-B03D-5C49-42F0FAEDF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C40BD-166F-BF75-5E92-B0FA0331B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46FB1-CF25-4D9B-A106-1970356B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1680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828F-39AF-7FA8-C388-4EE3C30B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873BAD-24CE-4119-315B-7432513D4B7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8B159-6E07-5E86-F79C-1168F4EA7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88B96-1B42-8D8E-87C6-04C2416DD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70146-4B43-9391-7F21-F320656F7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265BA-5EB0-2AE8-158E-316C61664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384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DF419-BCD1-E062-A9F1-1A146BBCE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6BF8B6-3F4E-4F82-C39A-09389EBF6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8F86A-72B7-3A8B-6B23-5F9492FF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2B68E-B591-FB65-FADD-3870BEE7E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2BBC-4474-270A-FBAA-A933012E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82971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93930-CFC6-1FED-39BE-13CA00D790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2EADC-64AC-67A5-FBE4-1CB944B91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D1639-AD5B-A7BA-BD54-CD9A082C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93157-9BA2-A404-16A0-9321B960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56D39-FB2B-F113-45A6-AC2FE4E8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72706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A2BC4A-FEFB-CFD4-8DC1-9592F6CED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E0479-2C5C-923E-3AE5-FA56C668B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C88CA-9149-ACA3-B8B1-8FC3907F2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16178-6575-1345-B61E-BBEFD20A9EB5}" type="datetimeFigureOut">
              <a:rPr lang="en-NL" smtClean="0"/>
              <a:t>23/10/2026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A947D-5951-AFD8-1034-91B9053B60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302-DC75-45A4-3500-B2BF66B92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7B9FE-CD49-3944-B64A-7644783C2FE8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5356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eostandaarden.nl/mim/mim/#metagegeven-indicatie-abstract-object" TargetMode="External"/><Relationship Id="rId2" Type="http://schemas.openxmlformats.org/officeDocument/2006/relationships/hyperlink" Target="https://docs.geostandaarden.nl/mim/mim/#abstracte-objecttypes-en-concrete-objecte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20F6B-249A-D998-21BA-2DB9BE4643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Subtypering &amp; Unions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A77FD-F2FA-BFC5-D144-DD97680B06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..en het begrip “abstracte klasse” op CIM niveau</a:t>
            </a:r>
          </a:p>
        </p:txBody>
      </p:sp>
    </p:spTree>
    <p:extLst>
      <p:ext uri="{BB962C8B-B14F-4D97-AF65-F5344CB8AC3E}">
        <p14:creationId xmlns:p14="http://schemas.microsoft.com/office/powerpoint/2010/main" val="1731679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BA97-0650-16AF-51A5-7767CC7E1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Relatie naar MIM 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DC107-CEBB-3DC2-C0A0-09F99D10F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60865" cy="5032375"/>
          </a:xfrm>
        </p:spPr>
        <p:txBody>
          <a:bodyPr>
            <a:normAutofit fontScale="92500" lnSpcReduction="10000"/>
          </a:bodyPr>
          <a:lstStyle/>
          <a:p>
            <a:r>
              <a:rPr lang="en-NL" dirty="0"/>
              <a:t>MIM 1.2 kent het begrip </a:t>
            </a:r>
            <a:r>
              <a:rPr lang="en-NL" i="1" dirty="0"/>
              <a:t>abstract objecttype</a:t>
            </a:r>
          </a:p>
          <a:p>
            <a:pPr lvl="1"/>
            <a:r>
              <a:rPr lang="en-NL" dirty="0"/>
              <a:t>Zie: </a:t>
            </a:r>
            <a:r>
              <a:rPr lang="en-GB" dirty="0">
                <a:hlinkClick r:id="rId2"/>
              </a:rPr>
              <a:t>https://docs.geostandaarden.nl/mim/mim/#abstracte-objecttypes-en-concrete-objecten</a:t>
            </a:r>
            <a:endParaRPr lang="en-GB" dirty="0"/>
          </a:p>
          <a:p>
            <a:pPr lvl="1"/>
            <a:r>
              <a:rPr lang="en-GB" dirty="0"/>
              <a:t>En </a:t>
            </a:r>
            <a:r>
              <a:rPr lang="en-GB" dirty="0" err="1"/>
              <a:t>ook</a:t>
            </a:r>
            <a:r>
              <a:rPr lang="en-GB" dirty="0"/>
              <a:t>: </a:t>
            </a:r>
            <a:r>
              <a:rPr lang="en-GB" dirty="0">
                <a:hlinkClick r:id="rId3"/>
              </a:rPr>
              <a:t>https://docs.geostandaarden.nl/mim/mim/#metagegeven-indicatie-abstract-object</a:t>
            </a:r>
            <a:endParaRPr lang="en-GB" dirty="0"/>
          </a:p>
          <a:p>
            <a:pPr lvl="1"/>
            <a:r>
              <a:rPr lang="en-GB" dirty="0"/>
              <a:t>Een </a:t>
            </a:r>
            <a:r>
              <a:rPr lang="en-GB" dirty="0" err="1"/>
              <a:t>dergelijk</a:t>
            </a:r>
            <a:r>
              <a:rPr lang="en-GB" dirty="0"/>
              <a:t> </a:t>
            </a:r>
            <a:r>
              <a:rPr lang="en-GB" dirty="0" err="1"/>
              <a:t>objecttype</a:t>
            </a:r>
            <a:r>
              <a:rPr lang="en-GB" dirty="0"/>
              <a:t> is </a:t>
            </a:r>
            <a:r>
              <a:rPr lang="en-GB" u="sng" dirty="0" err="1"/>
              <a:t>altijd</a:t>
            </a:r>
            <a:r>
              <a:rPr lang="en-GB" dirty="0"/>
              <a:t> in MIM 1.2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generalisatie</a:t>
            </a:r>
            <a:endParaRPr lang="en-GB" dirty="0"/>
          </a:p>
          <a:p>
            <a:r>
              <a:rPr lang="en-GB" dirty="0"/>
              <a:t>De </a:t>
            </a:r>
            <a:r>
              <a:rPr lang="en-GB" dirty="0" err="1"/>
              <a:t>toelichting</a:t>
            </a:r>
            <a:r>
              <a:rPr lang="en-GB" dirty="0"/>
              <a:t> die MIM 1.2 </a:t>
            </a:r>
            <a:r>
              <a:rPr lang="en-GB" dirty="0" err="1"/>
              <a:t>geeft</a:t>
            </a:r>
            <a:r>
              <a:rPr lang="en-GB" dirty="0"/>
              <a:t> is:</a:t>
            </a:r>
          </a:p>
          <a:p>
            <a:pPr lvl="1"/>
            <a:r>
              <a:rPr lang="en-GB" dirty="0" err="1"/>
              <a:t>Niet</a:t>
            </a:r>
            <a:r>
              <a:rPr lang="en-GB" dirty="0"/>
              <a:t>-abstract </a:t>
            </a:r>
            <a:r>
              <a:rPr lang="en-GB" dirty="0" err="1"/>
              <a:t>wordt</a:t>
            </a:r>
            <a:r>
              <a:rPr lang="en-GB" dirty="0"/>
              <a:t> </a:t>
            </a:r>
            <a:r>
              <a:rPr lang="en-GB" dirty="0" err="1"/>
              <a:t>ook</a:t>
            </a:r>
            <a:r>
              <a:rPr lang="en-GB" dirty="0"/>
              <a:t> </a:t>
            </a:r>
            <a:r>
              <a:rPr lang="en-GB" dirty="0" err="1"/>
              <a:t>wel</a:t>
            </a:r>
            <a:r>
              <a:rPr lang="en-GB" dirty="0"/>
              <a:t> </a:t>
            </a:r>
            <a:r>
              <a:rPr lang="en-GB" dirty="0" err="1"/>
              <a:t>concreet</a:t>
            </a:r>
            <a:r>
              <a:rPr lang="en-GB" dirty="0"/>
              <a:t> </a:t>
            </a:r>
            <a:r>
              <a:rPr lang="en-GB" dirty="0" err="1"/>
              <a:t>genoemd</a:t>
            </a:r>
            <a:r>
              <a:rPr lang="en-GB" dirty="0"/>
              <a:t>. </a:t>
            </a:r>
            <a:r>
              <a:rPr lang="en-GB" dirty="0" err="1"/>
              <a:t>Bijvoorbeeld</a:t>
            </a:r>
            <a:r>
              <a:rPr lang="en-GB" dirty="0"/>
              <a:t> het </a:t>
            </a:r>
            <a:r>
              <a:rPr lang="en-GB" dirty="0" err="1"/>
              <a:t>abstracte</a:t>
            </a:r>
            <a:r>
              <a:rPr lang="en-GB" dirty="0"/>
              <a:t> «</a:t>
            </a:r>
            <a:r>
              <a:rPr lang="en-GB" dirty="0" err="1"/>
              <a:t>Objecttype</a:t>
            </a:r>
            <a:r>
              <a:rPr lang="en-GB" dirty="0"/>
              <a:t>» "</a:t>
            </a:r>
            <a:r>
              <a:rPr lang="en-GB" dirty="0" err="1"/>
              <a:t>Voertuig</a:t>
            </a:r>
            <a:r>
              <a:rPr lang="en-GB" dirty="0"/>
              <a:t>", met concrete </a:t>
            </a:r>
            <a:r>
              <a:rPr lang="en-GB" dirty="0" err="1"/>
              <a:t>specialisaties</a:t>
            </a:r>
            <a:r>
              <a:rPr lang="en-GB" dirty="0"/>
              <a:t> "Auto", "</a:t>
            </a:r>
            <a:r>
              <a:rPr lang="en-GB" dirty="0" err="1"/>
              <a:t>Fiets</a:t>
            </a:r>
            <a:r>
              <a:rPr lang="en-GB" dirty="0"/>
              <a:t>" </a:t>
            </a:r>
            <a:r>
              <a:rPr lang="en-GB" dirty="0" err="1"/>
              <a:t>en</a:t>
            </a:r>
            <a:r>
              <a:rPr lang="en-GB" dirty="0"/>
              <a:t> "</a:t>
            </a:r>
            <a:r>
              <a:rPr lang="en-GB" dirty="0" err="1"/>
              <a:t>Bromfiets</a:t>
            </a:r>
            <a:r>
              <a:rPr lang="en-GB" dirty="0"/>
              <a:t>". Dit </a:t>
            </a:r>
            <a:r>
              <a:rPr lang="en-GB" dirty="0" err="1"/>
              <a:t>betekent</a:t>
            </a:r>
            <a:r>
              <a:rPr lang="en-GB" dirty="0"/>
              <a:t> </a:t>
            </a:r>
            <a:r>
              <a:rPr lang="en-GB" dirty="0" err="1"/>
              <a:t>dat</a:t>
            </a:r>
            <a:r>
              <a:rPr lang="en-GB" dirty="0"/>
              <a:t> er </a:t>
            </a:r>
            <a:r>
              <a:rPr lang="en-GB" dirty="0" err="1"/>
              <a:t>geen</a:t>
            </a:r>
            <a:r>
              <a:rPr lang="en-GB" dirty="0"/>
              <a:t> </a:t>
            </a:r>
            <a:r>
              <a:rPr lang="en-GB" dirty="0" err="1"/>
              <a:t>voertuigen</a:t>
            </a:r>
            <a:r>
              <a:rPr lang="en-GB" dirty="0"/>
              <a:t> </a:t>
            </a:r>
            <a:r>
              <a:rPr lang="en-GB" dirty="0" err="1"/>
              <a:t>mogen</a:t>
            </a:r>
            <a:r>
              <a:rPr lang="en-GB" dirty="0"/>
              <a:t> </a:t>
            </a:r>
            <a:r>
              <a:rPr lang="en-GB" dirty="0" err="1"/>
              <a:t>bestaan</a:t>
            </a:r>
            <a:r>
              <a:rPr lang="en-GB" dirty="0"/>
              <a:t> die </a:t>
            </a:r>
            <a:r>
              <a:rPr lang="en-GB" dirty="0" err="1"/>
              <a:t>alleen</a:t>
            </a:r>
            <a:r>
              <a:rPr lang="en-GB" dirty="0"/>
              <a:t> maar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voertuig</a:t>
            </a:r>
            <a:r>
              <a:rPr lang="en-GB" dirty="0"/>
              <a:t> </a:t>
            </a:r>
            <a:r>
              <a:rPr lang="en-GB" dirty="0" err="1"/>
              <a:t>zijn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waarbij</a:t>
            </a:r>
            <a:r>
              <a:rPr lang="en-GB" dirty="0"/>
              <a:t> in het midden </a:t>
            </a:r>
            <a:r>
              <a:rPr lang="en-GB" dirty="0" err="1"/>
              <a:t>gelaten</a:t>
            </a:r>
            <a:r>
              <a:rPr lang="en-GB" dirty="0"/>
              <a:t> mag </a:t>
            </a:r>
            <a:r>
              <a:rPr lang="en-GB" dirty="0" err="1"/>
              <a:t>worden</a:t>
            </a:r>
            <a:r>
              <a:rPr lang="en-GB" dirty="0"/>
              <a:t> of het </a:t>
            </a:r>
            <a:r>
              <a:rPr lang="en-GB" dirty="0" err="1"/>
              <a:t>een</a:t>
            </a:r>
            <a:r>
              <a:rPr lang="en-GB" dirty="0"/>
              <a:t> auto, </a:t>
            </a:r>
            <a:r>
              <a:rPr lang="en-GB" dirty="0" err="1"/>
              <a:t>fiets</a:t>
            </a:r>
            <a:r>
              <a:rPr lang="en-GB" dirty="0"/>
              <a:t>, </a:t>
            </a:r>
            <a:r>
              <a:rPr lang="en-GB" dirty="0" err="1"/>
              <a:t>bromfiets</a:t>
            </a:r>
            <a:r>
              <a:rPr lang="en-GB" dirty="0"/>
              <a:t> </a:t>
            </a:r>
            <a:r>
              <a:rPr lang="en-GB" dirty="0" err="1"/>
              <a:t>betreft</a:t>
            </a:r>
            <a:r>
              <a:rPr lang="en-GB" dirty="0"/>
              <a:t>. Als het "</a:t>
            </a:r>
            <a:r>
              <a:rPr lang="en-GB" dirty="0" err="1"/>
              <a:t>Voertuig</a:t>
            </a:r>
            <a:r>
              <a:rPr lang="en-GB" dirty="0"/>
              <a:t>" </a:t>
            </a:r>
            <a:r>
              <a:rPr lang="en-GB" dirty="0" err="1"/>
              <a:t>daarentegen</a:t>
            </a:r>
            <a:r>
              <a:rPr lang="en-GB" dirty="0"/>
              <a:t>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abstract is </a:t>
            </a:r>
            <a:r>
              <a:rPr lang="en-GB" dirty="0" err="1"/>
              <a:t>gemodelleerd</a:t>
            </a:r>
            <a:r>
              <a:rPr lang="en-GB" dirty="0"/>
              <a:t>, dan </a:t>
            </a:r>
            <a:r>
              <a:rPr lang="en-GB" dirty="0" err="1"/>
              <a:t>mogen</a:t>
            </a:r>
            <a:r>
              <a:rPr lang="en-GB" dirty="0"/>
              <a:t> er </a:t>
            </a:r>
            <a:r>
              <a:rPr lang="en-GB" dirty="0" err="1"/>
              <a:t>wel</a:t>
            </a:r>
            <a:r>
              <a:rPr lang="en-GB" dirty="0"/>
              <a:t> </a:t>
            </a:r>
            <a:r>
              <a:rPr lang="en-GB" dirty="0" err="1"/>
              <a:t>voertuigen</a:t>
            </a:r>
            <a:r>
              <a:rPr lang="en-GB" dirty="0"/>
              <a:t> </a:t>
            </a:r>
            <a:r>
              <a:rPr lang="en-GB" dirty="0" err="1"/>
              <a:t>bestaan</a:t>
            </a:r>
            <a:r>
              <a:rPr lang="en-GB" dirty="0"/>
              <a:t> die </a:t>
            </a:r>
            <a:r>
              <a:rPr lang="en-GB" dirty="0" err="1"/>
              <a:t>alleen</a:t>
            </a:r>
            <a:r>
              <a:rPr lang="en-GB" dirty="0"/>
              <a:t> maar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voertuig</a:t>
            </a:r>
            <a:r>
              <a:rPr lang="en-GB" dirty="0"/>
              <a:t> </a:t>
            </a:r>
            <a:r>
              <a:rPr lang="en-GB" dirty="0" err="1"/>
              <a:t>zijn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niet</a:t>
            </a:r>
            <a:r>
              <a:rPr lang="en-GB" dirty="0"/>
              <a:t> </a:t>
            </a:r>
            <a:r>
              <a:rPr lang="en-GB" dirty="0" err="1"/>
              <a:t>specifiek</a:t>
            </a:r>
            <a:r>
              <a:rPr lang="en-GB" dirty="0"/>
              <a:t> </a:t>
            </a:r>
            <a:r>
              <a:rPr lang="en-GB" dirty="0" err="1"/>
              <a:t>herkenbaar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auto, </a:t>
            </a:r>
            <a:r>
              <a:rPr lang="en-GB" dirty="0" err="1"/>
              <a:t>fiets</a:t>
            </a:r>
            <a:r>
              <a:rPr lang="en-GB" dirty="0"/>
              <a:t> of </a:t>
            </a:r>
            <a:r>
              <a:rPr lang="en-GB" dirty="0" err="1"/>
              <a:t>bromfiets</a:t>
            </a:r>
            <a:r>
              <a:rPr lang="en-GB" dirty="0"/>
              <a:t>. In </a:t>
            </a:r>
            <a:r>
              <a:rPr lang="en-GB" dirty="0" err="1"/>
              <a:t>beide</a:t>
            </a:r>
            <a:r>
              <a:rPr lang="en-GB" dirty="0"/>
              <a:t> </a:t>
            </a:r>
            <a:r>
              <a:rPr lang="en-GB" dirty="0" err="1"/>
              <a:t>gevallen</a:t>
            </a:r>
            <a:r>
              <a:rPr lang="en-GB" dirty="0"/>
              <a:t> </a:t>
            </a:r>
            <a:r>
              <a:rPr lang="en-GB" dirty="0" err="1"/>
              <a:t>kan</a:t>
            </a:r>
            <a:r>
              <a:rPr lang="en-GB" dirty="0"/>
              <a:t> er over de </a:t>
            </a:r>
            <a:r>
              <a:rPr lang="en-GB" dirty="0" err="1"/>
              <a:t>objecten</a:t>
            </a:r>
            <a:r>
              <a:rPr lang="en-GB" dirty="0"/>
              <a:t> </a:t>
            </a:r>
            <a:r>
              <a:rPr lang="en-GB" dirty="0" err="1"/>
              <a:t>gesproken</a:t>
            </a:r>
            <a:r>
              <a:rPr lang="en-GB" dirty="0"/>
              <a:t> </a:t>
            </a:r>
            <a:r>
              <a:rPr lang="en-GB" dirty="0" err="1"/>
              <a:t>worden</a:t>
            </a:r>
            <a:r>
              <a:rPr lang="en-GB" dirty="0"/>
              <a:t>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zijnde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voertuig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kunnen</a:t>
            </a:r>
            <a:r>
              <a:rPr lang="en-GB" dirty="0"/>
              <a:t> </a:t>
            </a:r>
            <a:r>
              <a:rPr lang="en-GB" dirty="0" err="1"/>
              <a:t>deze</a:t>
            </a:r>
            <a:r>
              <a:rPr lang="en-GB" dirty="0"/>
              <a:t> </a:t>
            </a:r>
            <a:r>
              <a:rPr lang="en-GB" dirty="0" err="1"/>
              <a:t>objecten</a:t>
            </a:r>
            <a:r>
              <a:rPr lang="en-GB" dirty="0"/>
              <a:t> in </a:t>
            </a:r>
            <a:r>
              <a:rPr lang="en-GB" dirty="0" err="1"/>
              <a:t>algemene</a:t>
            </a:r>
            <a:r>
              <a:rPr lang="en-GB" dirty="0"/>
              <a:t> zin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zodanig</a:t>
            </a:r>
            <a:r>
              <a:rPr lang="en-GB" dirty="0"/>
              <a:t> </a:t>
            </a:r>
            <a:r>
              <a:rPr lang="en-GB" dirty="0" err="1"/>
              <a:t>behandeld</a:t>
            </a:r>
            <a:r>
              <a:rPr lang="en-GB" dirty="0"/>
              <a:t> </a:t>
            </a:r>
            <a:r>
              <a:rPr lang="en-GB" dirty="0" err="1"/>
              <a:t>worden</a:t>
            </a:r>
            <a:r>
              <a:rPr lang="en-GB" dirty="0"/>
              <a:t> (</a:t>
            </a:r>
            <a:r>
              <a:rPr lang="en-GB" dirty="0" err="1"/>
              <a:t>zoals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«</a:t>
            </a:r>
            <a:r>
              <a:rPr lang="en-GB" dirty="0" err="1"/>
              <a:t>Generalisatie</a:t>
            </a:r>
            <a:r>
              <a:rPr lang="en-GB" dirty="0"/>
              <a:t>» </a:t>
            </a:r>
            <a:r>
              <a:rPr lang="en-GB" dirty="0" err="1"/>
              <a:t>bedoeld</a:t>
            </a:r>
            <a:r>
              <a:rPr lang="en-GB" dirty="0"/>
              <a:t> is).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1412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4096-88F8-9A22-48F0-52F1B723C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Subtypering versus generalisatie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C0B3-5CD4-7F7B-E7B2-F028BA9F0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Semantisch gezien kun je twee verschillende zaken duiden:</a:t>
            </a:r>
          </a:p>
          <a:p>
            <a:endParaRPr lang="en-NL" dirty="0"/>
          </a:p>
          <a:p>
            <a:pPr lvl="1"/>
            <a:r>
              <a:rPr lang="en-NL" b="1" dirty="0"/>
              <a:t>Een AB is een A of een B</a:t>
            </a:r>
            <a:br>
              <a:rPr lang="en-NL" b="1" dirty="0"/>
            </a:br>
            <a:r>
              <a:rPr lang="en-NL" dirty="0"/>
              <a:t>Hiermee definieer je een universeel begrip in termen van minder universele begrippen</a:t>
            </a:r>
          </a:p>
          <a:p>
            <a:pPr lvl="1"/>
            <a:endParaRPr lang="en-NL" dirty="0"/>
          </a:p>
          <a:p>
            <a:pPr lvl="1"/>
            <a:r>
              <a:rPr lang="en-NL" b="1" dirty="0"/>
              <a:t>Een A is een AB, een B is een AB</a:t>
            </a:r>
            <a:br>
              <a:rPr lang="en-NL" dirty="0"/>
            </a:br>
            <a:r>
              <a:rPr lang="en-NL" dirty="0"/>
              <a:t>Hiermee definieer je een specifiek begrip in relatie tot een generieker begrip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3452829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79ABD-7647-E8EA-5E85-2DC2D66C8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Verschil in Linked Data (owl/rdfs)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662DB-305A-A9D8-ACD6-39BB5B07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L" dirty="0"/>
              <a:t>Variant A (distinct union):</a:t>
            </a:r>
          </a:p>
          <a:p>
            <a:pPr lvl="1"/>
            <a:r>
              <a:rPr lang="en-GB" dirty="0" err="1"/>
              <a:t>ex:A</a:t>
            </a:r>
            <a:r>
              <a:rPr lang="en-GB" dirty="0"/>
              <a:t> a </a:t>
            </a:r>
            <a:r>
              <a:rPr lang="en-GB" dirty="0" err="1"/>
              <a:t>owl:Class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ex:B</a:t>
            </a:r>
            <a:r>
              <a:rPr lang="en-GB" dirty="0"/>
              <a:t> a </a:t>
            </a:r>
            <a:r>
              <a:rPr lang="en-GB" dirty="0" err="1"/>
              <a:t>owl:Class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ex:AB</a:t>
            </a:r>
            <a:r>
              <a:rPr lang="en-GB" dirty="0"/>
              <a:t> a </a:t>
            </a:r>
            <a:r>
              <a:rPr lang="en-GB" dirty="0" err="1"/>
              <a:t>owl:Class</a:t>
            </a:r>
            <a:r>
              <a:rPr lang="en-GB" dirty="0"/>
              <a:t>; </a:t>
            </a:r>
            <a:r>
              <a:rPr lang="en-GB" dirty="0" err="1"/>
              <a:t>owl:distinctUnionOf</a:t>
            </a:r>
            <a:r>
              <a:rPr lang="en-GB" dirty="0"/>
              <a:t> (</a:t>
            </a:r>
            <a:r>
              <a:rPr lang="en-GB" dirty="0" err="1"/>
              <a:t>ex:A</a:t>
            </a:r>
            <a:r>
              <a:rPr lang="en-GB" dirty="0"/>
              <a:t> </a:t>
            </a:r>
            <a:r>
              <a:rPr lang="en-GB" dirty="0" err="1"/>
              <a:t>ex:B</a:t>
            </a:r>
            <a:r>
              <a:rPr lang="en-GB" dirty="0"/>
              <a:t>).</a:t>
            </a:r>
          </a:p>
          <a:p>
            <a:r>
              <a:rPr lang="en-GB" dirty="0"/>
              <a:t>Variant B (subclasses)</a:t>
            </a:r>
          </a:p>
          <a:p>
            <a:pPr lvl="1"/>
            <a:r>
              <a:rPr lang="en-GB" dirty="0" err="1"/>
              <a:t>ex:AB</a:t>
            </a:r>
            <a:r>
              <a:rPr lang="en-GB" dirty="0"/>
              <a:t> a </a:t>
            </a:r>
            <a:r>
              <a:rPr lang="en-GB" dirty="0" err="1"/>
              <a:t>owl:Class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ex:A</a:t>
            </a:r>
            <a:r>
              <a:rPr lang="en-GB" dirty="0"/>
              <a:t> a </a:t>
            </a:r>
            <a:r>
              <a:rPr lang="en-GB" dirty="0" err="1"/>
              <a:t>owl:Class</a:t>
            </a:r>
            <a:r>
              <a:rPr lang="en-GB" dirty="0"/>
              <a:t>; </a:t>
            </a:r>
            <a:r>
              <a:rPr lang="en-GB" dirty="0" err="1"/>
              <a:t>rdfs:subClassOf</a:t>
            </a:r>
            <a:r>
              <a:rPr lang="en-GB" dirty="0"/>
              <a:t> </a:t>
            </a:r>
            <a:r>
              <a:rPr lang="en-GB" dirty="0" err="1"/>
              <a:t>ex:AB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 err="1"/>
              <a:t>ex:B</a:t>
            </a:r>
            <a:r>
              <a:rPr lang="en-GB" dirty="0"/>
              <a:t> a </a:t>
            </a:r>
            <a:r>
              <a:rPr lang="en-GB" dirty="0" err="1"/>
              <a:t>owl:Class</a:t>
            </a:r>
            <a:r>
              <a:rPr lang="en-GB" dirty="0"/>
              <a:t>; </a:t>
            </a:r>
            <a:r>
              <a:rPr lang="en-GB" dirty="0" err="1"/>
              <a:t>rdfs:subClassOf</a:t>
            </a:r>
            <a:r>
              <a:rPr lang="en-GB" dirty="0"/>
              <a:t> </a:t>
            </a:r>
            <a:r>
              <a:rPr lang="en-GB" dirty="0" err="1"/>
              <a:t>ex:AB</a:t>
            </a:r>
            <a:r>
              <a:rPr lang="en-GB" dirty="0"/>
              <a:t>.</a:t>
            </a:r>
          </a:p>
          <a:p>
            <a:pPr lvl="1"/>
            <a:endParaRPr lang="en-GB" dirty="0"/>
          </a:p>
          <a:p>
            <a:r>
              <a:rPr lang="en-GB" dirty="0"/>
              <a:t>Variant A is </a:t>
            </a:r>
            <a:r>
              <a:rPr lang="en-GB" dirty="0" err="1"/>
              <a:t>strikter</a:t>
            </a:r>
            <a:r>
              <a:rPr lang="en-GB" dirty="0"/>
              <a:t> dan variant B</a:t>
            </a:r>
          </a:p>
          <a:p>
            <a:pPr lvl="1"/>
            <a:r>
              <a:rPr lang="en-GB" dirty="0"/>
              <a:t>In OWL </a:t>
            </a:r>
            <a:r>
              <a:rPr lang="en-GB" dirty="0" err="1"/>
              <a:t>impliceert</a:t>
            </a:r>
            <a:r>
              <a:rPr lang="en-GB" dirty="0"/>
              <a:t> variant A </a:t>
            </a:r>
            <a:r>
              <a:rPr lang="en-GB" dirty="0" err="1"/>
              <a:t>ook</a:t>
            </a:r>
            <a:r>
              <a:rPr lang="en-GB" dirty="0"/>
              <a:t> variant B (!)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5286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D4BB3-80A3-CA65-97D9-4FC186A5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Uitgedrukt in verzamelingen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35E4A3-37E2-5E63-6927-6366E0FCA0E5}"/>
              </a:ext>
            </a:extLst>
          </p:cNvPr>
          <p:cNvSpPr/>
          <p:nvPr/>
        </p:nvSpPr>
        <p:spPr>
          <a:xfrm>
            <a:off x="6557861" y="3518164"/>
            <a:ext cx="4594035" cy="2390661"/>
          </a:xfrm>
          <a:prstGeom prst="ellipse">
            <a:avLst/>
          </a:prstGeom>
          <a:solidFill>
            <a:schemeClr val="bg1"/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AA787A3-64B8-D8F1-08DD-26D76A1FEF9E}"/>
              </a:ext>
            </a:extLst>
          </p:cNvPr>
          <p:cNvSpPr/>
          <p:nvPr/>
        </p:nvSpPr>
        <p:spPr>
          <a:xfrm>
            <a:off x="484867" y="4075357"/>
            <a:ext cx="1434029" cy="1244907"/>
          </a:xfrm>
          <a:prstGeom prst="ellipse">
            <a:avLst/>
          </a:prstGeom>
          <a:solidFill>
            <a:srgbClr val="00B0F0">
              <a:alpha val="70000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4D8896-0FE3-306E-4403-62CF673654FD}"/>
              </a:ext>
            </a:extLst>
          </p:cNvPr>
          <p:cNvSpPr/>
          <p:nvPr/>
        </p:nvSpPr>
        <p:spPr>
          <a:xfrm>
            <a:off x="1918896" y="4075357"/>
            <a:ext cx="1434029" cy="1244907"/>
          </a:xfrm>
          <a:prstGeom prst="ellipse">
            <a:avLst/>
          </a:prstGeom>
          <a:solidFill>
            <a:srgbClr val="0070C0">
              <a:alpha val="70000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4EDA8F-7B6F-5A53-450F-32D217514BA9}"/>
                  </a:ext>
                </a:extLst>
              </p:cNvPr>
              <p:cNvSpPr txBox="1"/>
              <p:nvPr/>
            </p:nvSpPr>
            <p:spPr>
              <a:xfrm>
                <a:off x="3385352" y="4946340"/>
                <a:ext cx="14016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NL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NL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14EDA8F-7B6F-5A53-450F-32D217514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352" y="4946340"/>
                <a:ext cx="140160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C1FD37AC-AA5E-6E8B-5B19-E9A278046E5D}"/>
              </a:ext>
            </a:extLst>
          </p:cNvPr>
          <p:cNvSpPr/>
          <p:nvPr/>
        </p:nvSpPr>
        <p:spPr>
          <a:xfrm>
            <a:off x="7966209" y="4091038"/>
            <a:ext cx="1434029" cy="1244907"/>
          </a:xfrm>
          <a:prstGeom prst="ellipse">
            <a:avLst/>
          </a:prstGeom>
          <a:solidFill>
            <a:srgbClr val="00B0F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21049E-0A88-6F80-46A9-F41DF81FC15D}"/>
              </a:ext>
            </a:extLst>
          </p:cNvPr>
          <p:cNvSpPr/>
          <p:nvPr/>
        </p:nvSpPr>
        <p:spPr>
          <a:xfrm>
            <a:off x="9131219" y="4091039"/>
            <a:ext cx="1434029" cy="1244907"/>
          </a:xfrm>
          <a:prstGeom prst="ellipse">
            <a:avLst/>
          </a:prstGeom>
          <a:solidFill>
            <a:srgbClr val="0070C0">
              <a:alpha val="7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2166D9-21C4-F71C-0913-6DFBA49F02B9}"/>
              </a:ext>
            </a:extLst>
          </p:cNvPr>
          <p:cNvSpPr txBox="1"/>
          <p:nvPr/>
        </p:nvSpPr>
        <p:spPr>
          <a:xfrm>
            <a:off x="2120873" y="3244360"/>
            <a:ext cx="3320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AB bestaat uit A en B</a:t>
            </a:r>
          </a:p>
          <a:p>
            <a:r>
              <a:rPr lang="en-NL" dirty="0"/>
              <a:t>De doorsnede van A en B is leeg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B1848A-5EDD-AF19-A43E-5BC001AF90BF}"/>
                  </a:ext>
                </a:extLst>
              </p:cNvPr>
              <p:cNvSpPr txBox="1"/>
              <p:nvPr/>
            </p:nvSpPr>
            <p:spPr>
              <a:xfrm>
                <a:off x="1120151" y="5530233"/>
                <a:ext cx="7987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NL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B1848A-5EDD-AF19-A43E-5BC001AF9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51" y="5530233"/>
                <a:ext cx="798745" cy="276999"/>
              </a:xfrm>
              <a:prstGeom prst="rect">
                <a:avLst/>
              </a:prstGeom>
              <a:blipFill>
                <a:blip r:embed="rId3"/>
                <a:stretch>
                  <a:fillRect l="-6250" r="-4688" b="-434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BBF5D6-3D4B-2B03-D00F-E38EB95C6D0A}"/>
                  </a:ext>
                </a:extLst>
              </p:cNvPr>
              <p:cNvSpPr txBox="1"/>
              <p:nvPr/>
            </p:nvSpPr>
            <p:spPr>
              <a:xfrm>
                <a:off x="2216022" y="5530233"/>
                <a:ext cx="809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BBF5D6-3D4B-2B03-D00F-E38EB95C6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022" y="5530233"/>
                <a:ext cx="809132" cy="276999"/>
              </a:xfrm>
              <a:prstGeom prst="rect">
                <a:avLst/>
              </a:prstGeom>
              <a:blipFill>
                <a:blip r:embed="rId4"/>
                <a:stretch>
                  <a:fillRect l="-6154" r="-4615" b="-434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96EFDC-85C3-5F01-777D-EC13ADA8A461}"/>
                  </a:ext>
                </a:extLst>
              </p:cNvPr>
              <p:cNvSpPr txBox="1"/>
              <p:nvPr/>
            </p:nvSpPr>
            <p:spPr>
              <a:xfrm>
                <a:off x="8197630" y="6056765"/>
                <a:ext cx="7987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NL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E96EFDC-85C3-5F01-777D-EC13ADA8A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630" y="6056765"/>
                <a:ext cx="798745" cy="276999"/>
              </a:xfrm>
              <a:prstGeom prst="rect">
                <a:avLst/>
              </a:prstGeom>
              <a:blipFill>
                <a:blip r:embed="rId5"/>
                <a:stretch>
                  <a:fillRect l="-6250" r="-4688" b="-909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7E21CE-154E-64E3-620D-CC09D9BCEFC6}"/>
                  </a:ext>
                </a:extLst>
              </p:cNvPr>
              <p:cNvSpPr txBox="1"/>
              <p:nvPr/>
            </p:nvSpPr>
            <p:spPr>
              <a:xfrm>
                <a:off x="9293501" y="6056765"/>
                <a:ext cx="8091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NL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7E21CE-154E-64E3-620D-CC09D9BCE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3501" y="6056765"/>
                <a:ext cx="809132" cy="276999"/>
              </a:xfrm>
              <a:prstGeom prst="rect">
                <a:avLst/>
              </a:prstGeom>
              <a:blipFill>
                <a:blip r:embed="rId6"/>
                <a:stretch>
                  <a:fillRect l="-7813" r="-6250" b="-909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8474D406-2649-9DA3-ABDE-AFA1F21B01D9}"/>
              </a:ext>
            </a:extLst>
          </p:cNvPr>
          <p:cNvSpPr/>
          <p:nvPr/>
        </p:nvSpPr>
        <p:spPr>
          <a:xfrm>
            <a:off x="7966208" y="4091037"/>
            <a:ext cx="1434029" cy="124490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D09BF7-FA1D-752A-0FFF-4873F7862723}"/>
              </a:ext>
            </a:extLst>
          </p:cNvPr>
          <p:cNvSpPr txBox="1"/>
          <p:nvPr/>
        </p:nvSpPr>
        <p:spPr>
          <a:xfrm>
            <a:off x="6253409" y="2835103"/>
            <a:ext cx="4648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AB bestaat uit A en B, en eventueel nog een C</a:t>
            </a:r>
          </a:p>
          <a:p>
            <a:r>
              <a:rPr lang="en-NL" dirty="0"/>
              <a:t>De doorsnede van A en B is niet per sé leeg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0B57C8-EE4D-F0D6-CF70-31175506F3AF}"/>
                  </a:ext>
                </a:extLst>
              </p:cNvPr>
              <p:cNvSpPr txBox="1"/>
              <p:nvPr/>
            </p:nvSpPr>
            <p:spPr>
              <a:xfrm>
                <a:off x="3556937" y="5253234"/>
                <a:ext cx="10584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NL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lang="en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≡∅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0B57C8-EE4D-F0D6-CF70-31175506F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937" y="5253234"/>
                <a:ext cx="1058431" cy="276999"/>
              </a:xfrm>
              <a:prstGeom prst="rect">
                <a:avLst/>
              </a:prstGeom>
              <a:blipFill>
                <a:blip r:embed="rId7"/>
                <a:stretch>
                  <a:fillRect l="-3529" r="-7059" b="-2173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E7478C9-646F-BB21-EC1A-2992FE6C757B}"/>
              </a:ext>
            </a:extLst>
          </p:cNvPr>
          <p:cNvSpPr txBox="1"/>
          <p:nvPr/>
        </p:nvSpPr>
        <p:spPr>
          <a:xfrm>
            <a:off x="1120151" y="2016690"/>
            <a:ext cx="34227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dirty="0"/>
              <a:t>Variant A (distinct union)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10EDCB-DBB7-137E-6BB3-1BAFCFBFECB8}"/>
              </a:ext>
            </a:extLst>
          </p:cNvPr>
          <p:cNvSpPr txBox="1"/>
          <p:nvPr/>
        </p:nvSpPr>
        <p:spPr>
          <a:xfrm>
            <a:off x="8035504" y="1911928"/>
            <a:ext cx="2809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dirty="0"/>
              <a:t>Variant B (subclass)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7DE053-B019-1B2C-49A3-D6272DFDA592}"/>
              </a:ext>
            </a:extLst>
          </p:cNvPr>
          <p:cNvSpPr txBox="1"/>
          <p:nvPr/>
        </p:nvSpPr>
        <p:spPr>
          <a:xfrm>
            <a:off x="8670837" y="353703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AB</a:t>
            </a:r>
          </a:p>
        </p:txBody>
      </p:sp>
    </p:spTree>
    <p:extLst>
      <p:ext uri="{BB962C8B-B14F-4D97-AF65-F5344CB8AC3E}">
        <p14:creationId xmlns:p14="http://schemas.microsoft.com/office/powerpoint/2010/main" val="102144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47FB5-BD2E-0F54-4A0F-327CC8E06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Relatie met identificatoren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79FC-8FB4-3585-BC3C-0BEE96224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i="1" dirty="0"/>
              <a:t>Over het algemeen</a:t>
            </a:r>
            <a:r>
              <a:rPr lang="en-NL" dirty="0"/>
              <a:t> hebben ”unions” geen eigen identificator, maar hebben de onderliggende elementen een eigen identificator</a:t>
            </a:r>
          </a:p>
          <a:p>
            <a:r>
              <a:rPr lang="en-NL" i="1" dirty="0"/>
              <a:t>Over het algemeen</a:t>
            </a:r>
            <a:r>
              <a:rPr lang="en-NL" dirty="0"/>
              <a:t> hebben supertypes wel een eigen identificator, en “erven” de subtypes die identificator. De subtypes kunnen een eigen identificator hebben, maar dat is niet nodig.</a:t>
            </a:r>
          </a:p>
        </p:txBody>
      </p:sp>
    </p:spTree>
    <p:extLst>
      <p:ext uri="{BB962C8B-B14F-4D97-AF65-F5344CB8AC3E}">
        <p14:creationId xmlns:p14="http://schemas.microsoft.com/office/powerpoint/2010/main" val="315442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616F6C-A1E2-516F-4D07-E32540AA7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859" y="101141"/>
            <a:ext cx="9081368" cy="65681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9C4CD7-33C9-9B61-C1CD-39A7DE88D709}"/>
              </a:ext>
            </a:extLst>
          </p:cNvPr>
          <p:cNvSpPr txBox="1"/>
          <p:nvPr/>
        </p:nvSpPr>
        <p:spPr>
          <a:xfrm>
            <a:off x="333223" y="5787175"/>
            <a:ext cx="7192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/>
              <a:t>Uit: Gegevenscatalogus Handelsregister, versie 3.0.4 PDF</a:t>
            </a:r>
          </a:p>
          <a:p>
            <a:r>
              <a:rPr lang="en-NL" dirty="0"/>
              <a:t>(</a:t>
            </a:r>
            <a:r>
              <a:rPr lang="en-GB" sz="1400" dirty="0"/>
              <a:t>https://</a:t>
            </a:r>
            <a:r>
              <a:rPr lang="en-GB" sz="1400" dirty="0" err="1"/>
              <a:t>www.kvk.nl</a:t>
            </a:r>
            <a:r>
              <a:rPr lang="en-GB" sz="1400" dirty="0"/>
              <a:t>/</a:t>
            </a:r>
            <a:r>
              <a:rPr lang="en-GB" sz="1400" dirty="0" err="1"/>
              <a:t>producten-bestellen</a:t>
            </a:r>
            <a:r>
              <a:rPr lang="en-GB" sz="1400" dirty="0"/>
              <a:t>/</a:t>
            </a:r>
            <a:r>
              <a:rPr lang="en-GB" sz="1400" dirty="0" err="1"/>
              <a:t>kvk-dataservice-aansluiten-gegevenscatalogus</a:t>
            </a:r>
            <a:r>
              <a:rPr lang="en-GB" sz="1400" dirty="0"/>
              <a:t>/</a:t>
            </a:r>
            <a:r>
              <a:rPr lang="en-GB" dirty="0"/>
              <a:t>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9143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4FE6-F728-EFE4-B625-2E3A7C0CA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Wat opvalt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4519-72BB-2C8A-D4F6-C52B79D17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61357" cy="4834667"/>
          </a:xfrm>
        </p:spPr>
        <p:txBody>
          <a:bodyPr>
            <a:normAutofit fontScale="85000" lnSpcReduction="20000"/>
          </a:bodyPr>
          <a:lstStyle/>
          <a:p>
            <a:r>
              <a:rPr lang="en-NL" dirty="0"/>
              <a:t>Alleen het objecttype “Persoon” is abstract (</a:t>
            </a:r>
            <a:r>
              <a:rPr lang="en-NL" i="1" dirty="0"/>
              <a:t>schuingedrukt</a:t>
            </a:r>
            <a:r>
              <a:rPr lang="en-NL" dirty="0"/>
              <a:t>)</a:t>
            </a:r>
          </a:p>
          <a:p>
            <a:pPr lvl="1"/>
            <a:r>
              <a:rPr lang="en-NL" dirty="0"/>
              <a:t>”Persoon” heeft geen identificator</a:t>
            </a:r>
          </a:p>
          <a:p>
            <a:r>
              <a:rPr lang="en-NL" dirty="0"/>
              <a:t>Onder “Persoon” vallen drie objecttypen, slechts twee daarvan hebben een identificator:</a:t>
            </a:r>
          </a:p>
          <a:p>
            <a:pPr lvl="1"/>
            <a:r>
              <a:rPr lang="en-NL" dirty="0"/>
              <a:t>“NatuurlijkPersoon” (BSN);</a:t>
            </a:r>
          </a:p>
          <a:p>
            <a:pPr lvl="1"/>
            <a:r>
              <a:rPr lang="en-NL" dirty="0"/>
              <a:t>“NietNatuurlijkPersoon” (RSIN);</a:t>
            </a:r>
          </a:p>
          <a:p>
            <a:pPr lvl="1"/>
            <a:r>
              <a:rPr lang="en-NL" dirty="0"/>
              <a:t>“NaamPersoon”.</a:t>
            </a:r>
          </a:p>
          <a:p>
            <a:r>
              <a:rPr lang="en-NL" dirty="0"/>
              <a:t>Het objecttype “NaamPersoon” heeft geen verdere onderverdeling en kent </a:t>
            </a:r>
            <a:r>
              <a:rPr lang="en-NL" i="1" dirty="0"/>
              <a:t>geen</a:t>
            </a:r>
            <a:r>
              <a:rPr lang="en-NL" dirty="0"/>
              <a:t> identificator (is dus niet identificeerbaar in de werkelijkheid)</a:t>
            </a:r>
          </a:p>
          <a:p>
            <a:r>
              <a:rPr lang="en-NL" dirty="0"/>
              <a:t>Uit de definities is niet direct duidelijk in welke richting semantisch gezien de objecttypen zijn gedefinieerd (AB -&gt;A+B of A-&gt;AB, B-&gt;AB).</a:t>
            </a:r>
          </a:p>
          <a:p>
            <a:r>
              <a:rPr lang="en-NL" dirty="0"/>
              <a:t>Het </a:t>
            </a:r>
            <a:r>
              <a:rPr lang="en-NL" i="1" dirty="0"/>
              <a:t>lijkt </a:t>
            </a:r>
            <a:r>
              <a:rPr lang="en-NL" dirty="0"/>
              <a:t>erop dat ontologisch er altijd sprake is van disjoint union.</a:t>
            </a:r>
          </a:p>
          <a:p>
            <a:r>
              <a:rPr lang="en-NL" dirty="0"/>
              <a:t>Het </a:t>
            </a:r>
            <a:r>
              <a:rPr lang="en-NL" i="1" dirty="0"/>
              <a:t>lijkt</a:t>
            </a:r>
            <a:r>
              <a:rPr lang="en-NL" dirty="0"/>
              <a:t> erop dat de MIM-definitie van “abstract” niet helemaal wordt gevolgd (dan zou bv ook NietNatuurlijkPersoon abstract moeten zijn??)</a:t>
            </a:r>
          </a:p>
        </p:txBody>
      </p:sp>
    </p:spTree>
    <p:extLst>
      <p:ext uri="{BB962C8B-B14F-4D97-AF65-F5344CB8AC3E}">
        <p14:creationId xmlns:p14="http://schemas.microsoft.com/office/powerpoint/2010/main" val="332970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9ffa58-9d1c-42f8-b0e6-79cea428c945}" enabled="1" method="Privileged" siteId="{8b87af7d-8647-4dc7-8df4-5f69a2011b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Macintosh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Subtypering &amp; Unions</vt:lpstr>
      <vt:lpstr>Relatie naar MIM 1.2</vt:lpstr>
      <vt:lpstr>Subtypering versus generalisatie</vt:lpstr>
      <vt:lpstr>Verschil in Linked Data (owl/rdfs)</vt:lpstr>
      <vt:lpstr>Uitgedrukt in verzamelingen</vt:lpstr>
      <vt:lpstr>Relatie met identificatoren</vt:lpstr>
      <vt:lpstr>PowerPoint Presentation</vt:lpstr>
      <vt:lpstr>Wat opvalt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BRATTINGA Marco</dc:creator>
  <cp:lastModifiedBy>BRATTINGA Marco</cp:lastModifiedBy>
  <cp:revision>2</cp:revision>
  <dcterms:created xsi:type="dcterms:W3CDTF">2026-10-23T11:21:32Z</dcterms:created>
  <dcterms:modified xsi:type="dcterms:W3CDTF">2026-10-23T12:28:09Z</dcterms:modified>
</cp:coreProperties>
</file>