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3" r:id="rId5"/>
    <p:sldId id="275" r:id="rId6"/>
    <p:sldId id="265" r:id="rId7"/>
    <p:sldId id="267" r:id="rId8"/>
    <p:sldId id="287" r:id="rId9"/>
    <p:sldId id="302" r:id="rId10"/>
    <p:sldId id="300" r:id="rId11"/>
    <p:sldId id="298" r:id="rId12"/>
    <p:sldId id="289" r:id="rId13"/>
    <p:sldId id="291" r:id="rId14"/>
    <p:sldId id="301" r:id="rId15"/>
    <p:sldId id="290" r:id="rId16"/>
    <p:sldId id="293" r:id="rId17"/>
    <p:sldId id="299" r:id="rId18"/>
    <p:sldId id="259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of the presentation" id="{3FADF2F5-3110-4A32-9894-97E6DD2893D9}">
          <p14:sldIdLst>
            <p14:sldId id="283"/>
          </p14:sldIdLst>
        </p14:section>
        <p14:section name="Table of contents" id="{7A6736CC-47A3-4B35-952A-BBD67B5FD43A}">
          <p14:sldIdLst>
            <p14:sldId id="275"/>
          </p14:sldIdLst>
        </p14:section>
        <p14:section name="Chapter title" id="{1842DD4B-BF28-4C24-A73C-4B2E9EF8A519}">
          <p14:sldIdLst/>
        </p14:section>
        <p14:section name="Content layout options" id="{83690AB4-4DBD-4401-9BE3-93B27D970508}">
          <p14:sldIdLst>
            <p14:sldId id="265"/>
            <p14:sldId id="267"/>
            <p14:sldId id="287"/>
            <p14:sldId id="302"/>
            <p14:sldId id="300"/>
            <p14:sldId id="298"/>
            <p14:sldId id="289"/>
            <p14:sldId id="291"/>
            <p14:sldId id="301"/>
            <p14:sldId id="290"/>
            <p14:sldId id="293"/>
            <p14:sldId id="299"/>
          </p14:sldIdLst>
        </p14:section>
        <p14:section name="Questions?" id="{53BC6AAC-B9B7-45BC-BB85-74329034B1C3}">
          <p14:sldIdLst>
            <p14:sldId id="259"/>
          </p14:sldIdLst>
        </p14:section>
        <p14:section name="Thank you" id="{FA6FC11E-758F-4698-AA39-C547D5EC0B95}">
          <p14:sldIdLst>
            <p14:sldId id="284"/>
          </p14:sldIdLst>
        </p14:section>
        <p14:section name="Icons" id="{C948A5A7-EF5A-4EE2-9166-D54B63EB518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925"/>
    <a:srgbClr val="3F4FF3"/>
    <a:srgbClr val="3443D2"/>
    <a:srgbClr val="3949D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ference+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oster for a conference&#10;&#10;AI-generated content may be incorrect.">
            <a:extLst>
              <a:ext uri="{FF2B5EF4-FFF2-40B4-BE49-F238E27FC236}">
                <a16:creationId xmlns:a16="http://schemas.microsoft.com/office/drawing/2014/main" id="{A33B920D-1866-CBD9-8480-3ACA075159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322D2B-5F76-08E4-7EC2-6EED7734905D}"/>
              </a:ext>
            </a:extLst>
          </p:cNvPr>
          <p:cNvSpPr/>
          <p:nvPr userDrawn="1"/>
        </p:nvSpPr>
        <p:spPr>
          <a:xfrm rot="2347420">
            <a:off x="-1651011" y="2556312"/>
            <a:ext cx="7379063" cy="5178385"/>
          </a:xfrm>
          <a:custGeom>
            <a:avLst/>
            <a:gdLst>
              <a:gd name="connsiteX0" fmla="*/ 0 w 7272154"/>
              <a:gd name="connsiteY0" fmla="*/ 0 h 5106939"/>
              <a:gd name="connsiteX1" fmla="*/ 7272154 w 7272154"/>
              <a:gd name="connsiteY1" fmla="*/ 0 h 5106939"/>
              <a:gd name="connsiteX2" fmla="*/ 7272154 w 7272154"/>
              <a:gd name="connsiteY2" fmla="*/ 5106939 h 5106939"/>
              <a:gd name="connsiteX3" fmla="*/ 0 w 7272154"/>
              <a:gd name="connsiteY3" fmla="*/ 5106939 h 5106939"/>
              <a:gd name="connsiteX4" fmla="*/ 0 w 7272154"/>
              <a:gd name="connsiteY4" fmla="*/ 0 h 5106939"/>
              <a:gd name="connsiteX0" fmla="*/ 0 w 7272154"/>
              <a:gd name="connsiteY0" fmla="*/ 0 h 5106939"/>
              <a:gd name="connsiteX1" fmla="*/ 7272154 w 7272154"/>
              <a:gd name="connsiteY1" fmla="*/ 0 h 5106939"/>
              <a:gd name="connsiteX2" fmla="*/ 7272154 w 7272154"/>
              <a:gd name="connsiteY2" fmla="*/ 5106939 h 5106939"/>
              <a:gd name="connsiteX3" fmla="*/ 3558673 w 7272154"/>
              <a:gd name="connsiteY3" fmla="*/ 4285286 h 5106939"/>
              <a:gd name="connsiteX4" fmla="*/ 0 w 7272154"/>
              <a:gd name="connsiteY4" fmla="*/ 0 h 5106939"/>
              <a:gd name="connsiteX0" fmla="*/ 0 w 6808975"/>
              <a:gd name="connsiteY0" fmla="*/ 221621 h 5106939"/>
              <a:gd name="connsiteX1" fmla="*/ 6808975 w 6808975"/>
              <a:gd name="connsiteY1" fmla="*/ 0 h 5106939"/>
              <a:gd name="connsiteX2" fmla="*/ 6808975 w 6808975"/>
              <a:gd name="connsiteY2" fmla="*/ 5106939 h 5106939"/>
              <a:gd name="connsiteX3" fmla="*/ 3095494 w 6808975"/>
              <a:gd name="connsiteY3" fmla="*/ 4285286 h 5106939"/>
              <a:gd name="connsiteX4" fmla="*/ 0 w 6808975"/>
              <a:gd name="connsiteY4" fmla="*/ 221621 h 5106939"/>
              <a:gd name="connsiteX0" fmla="*/ 0 w 7229061"/>
              <a:gd name="connsiteY0" fmla="*/ 221621 h 4285286"/>
              <a:gd name="connsiteX1" fmla="*/ 6808975 w 7229061"/>
              <a:gd name="connsiteY1" fmla="*/ 0 h 4285286"/>
              <a:gd name="connsiteX2" fmla="*/ 7229061 w 7229061"/>
              <a:gd name="connsiteY2" fmla="*/ 783915 h 4285286"/>
              <a:gd name="connsiteX3" fmla="*/ 3095494 w 7229061"/>
              <a:gd name="connsiteY3" fmla="*/ 4285286 h 4285286"/>
              <a:gd name="connsiteX4" fmla="*/ 0 w 7229061"/>
              <a:gd name="connsiteY4" fmla="*/ 221621 h 4285286"/>
              <a:gd name="connsiteX0" fmla="*/ 0 w 7229061"/>
              <a:gd name="connsiteY0" fmla="*/ 1309547 h 5373212"/>
              <a:gd name="connsiteX1" fmla="*/ 6525023 w 7229061"/>
              <a:gd name="connsiteY1" fmla="*/ 0 h 5373212"/>
              <a:gd name="connsiteX2" fmla="*/ 7229061 w 7229061"/>
              <a:gd name="connsiteY2" fmla="*/ 1871841 h 5373212"/>
              <a:gd name="connsiteX3" fmla="*/ 3095494 w 7229061"/>
              <a:gd name="connsiteY3" fmla="*/ 5373212 h 5373212"/>
              <a:gd name="connsiteX4" fmla="*/ 0 w 7229061"/>
              <a:gd name="connsiteY4" fmla="*/ 1309547 h 537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29061" h="5373212">
                <a:moveTo>
                  <a:pt x="0" y="1309547"/>
                </a:moveTo>
                <a:lnTo>
                  <a:pt x="6525023" y="0"/>
                </a:lnTo>
                <a:lnTo>
                  <a:pt x="7229061" y="1871841"/>
                </a:lnTo>
                <a:lnTo>
                  <a:pt x="3095494" y="5373212"/>
                </a:lnTo>
                <a:lnTo>
                  <a:pt x="0" y="1309547"/>
                </a:lnTo>
                <a:close/>
              </a:path>
            </a:pathLst>
          </a:custGeom>
          <a:gradFill flip="none" rotWithShape="1">
            <a:gsLst>
              <a:gs pos="100000">
                <a:srgbClr val="020925">
                  <a:alpha val="0"/>
                </a:srgbClr>
              </a:gs>
              <a:gs pos="36000">
                <a:srgbClr val="020925"/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83339-E066-5A7E-005B-B45FB00F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8600"/>
            <a:ext cx="10515600" cy="204469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962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shops + worksho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oster for a conference&#10;&#10;AI-generated content may be incorrect.">
            <a:extLst>
              <a:ext uri="{FF2B5EF4-FFF2-40B4-BE49-F238E27FC236}">
                <a16:creationId xmlns:a16="http://schemas.microsoft.com/office/drawing/2014/main" id="{4BA06569-0DA7-0C78-CBD1-B1C87FE89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83339-E066-5A7E-005B-B45FB00F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2939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129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urple background&#10;&#10;AI-generated content may be incorrect.">
            <a:extLst>
              <a:ext uri="{FF2B5EF4-FFF2-40B4-BE49-F238E27FC236}">
                <a16:creationId xmlns:a16="http://schemas.microsoft.com/office/drawing/2014/main" id="{538C9759-B14E-A142-FA2A-644A727284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A63E9EC-F2F0-3268-7FF8-BED59518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8" y="1709738"/>
            <a:ext cx="11499574" cy="2852737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6BB1550-4A44-9257-9C00-983A77578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748" y="4589463"/>
            <a:ext cx="114995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95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752FD9E8-5F8E-BCA9-A838-70E832087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AFB7323C-1BA1-5286-EDCE-41343ED74F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809" y="1381539"/>
            <a:ext cx="11499573" cy="180847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B51126F1-A6B7-38AF-344A-FEB6CFBF5A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7809" y="3344227"/>
            <a:ext cx="11499573" cy="647529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Session </a:t>
            </a:r>
            <a:r>
              <a:rPr lang="fr-FR" dirty="0" err="1"/>
              <a:t>number</a:t>
            </a:r>
            <a:endParaRPr lang="fr-FR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FDE9F37A-0681-C4BB-CB1A-E4C3DDC2C57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57809" y="4161587"/>
            <a:ext cx="11499572" cy="171966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Name and affiliation of the speaker</a:t>
            </a:r>
          </a:p>
        </p:txBody>
      </p:sp>
    </p:spTree>
    <p:extLst>
      <p:ext uri="{BB962C8B-B14F-4D97-AF65-F5344CB8AC3E}">
        <p14:creationId xmlns:p14="http://schemas.microsoft.com/office/powerpoint/2010/main" val="147341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 with purple flowers&#10;&#10;AI-generated content may be incorrect.">
            <a:extLst>
              <a:ext uri="{FF2B5EF4-FFF2-40B4-BE49-F238E27FC236}">
                <a16:creationId xmlns:a16="http://schemas.microsoft.com/office/drawing/2014/main" id="{7CB57252-2F07-3EC1-09E5-88909872B7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96C292-4A98-3BFF-75D7-E4C092518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625" y="1651678"/>
            <a:ext cx="11420061" cy="22544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035DAF5-3DD4-AF98-8DFB-6A9ABDF95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625" y="3886200"/>
            <a:ext cx="11420061" cy="17456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052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9DD5-D071-BBAD-A2E4-8521A5FD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1510748"/>
            <a:ext cx="11439939" cy="97035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180E-7906-C82D-E850-6CA53114F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2616039"/>
            <a:ext cx="11439939" cy="36037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749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15BA-9530-EA3F-F54C-521F0DCE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7" y="1386577"/>
            <a:ext cx="11529391" cy="102801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CAB85-8D00-7AB2-E1D2-B47E0A2C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748" y="2414588"/>
            <a:ext cx="5629828" cy="63896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0858D-80C3-F02D-44C1-3AEA5B1ED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7748" y="3238500"/>
            <a:ext cx="5629828" cy="2857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48689B-9F95-19F5-9DD1-6D12EA727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414588"/>
            <a:ext cx="5724938" cy="63896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CAA42-69FE-9B18-C900-190A49384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238500"/>
            <a:ext cx="5724938" cy="2857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738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773A-43D1-3849-370E-EB6D5E8C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69" y="1480930"/>
            <a:ext cx="11509513" cy="100017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738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B672-AFA6-63C3-6753-F8A2E75D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0" y="1387474"/>
            <a:ext cx="4424155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5D987-C4DB-5B45-6A7D-1957A1CAB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87475"/>
            <a:ext cx="666094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E7082-7370-DF3E-87C5-1B0E70E2A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7870" y="2457450"/>
            <a:ext cx="442415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091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3CD28F-76E9-C45F-1FD4-896905FE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10" y="1375616"/>
            <a:ext cx="4414216" cy="10818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7A09E7E-8CC4-4B8F-01A0-E5A4DBDAC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87475"/>
            <a:ext cx="665100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E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7F2E90-D5F3-4B62-E529-8E6A375D1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10" y="2415209"/>
            <a:ext cx="4414216" cy="38538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6776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709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plant&#10;&#10;AI-generated content may be incorrect.">
            <a:extLst>
              <a:ext uri="{FF2B5EF4-FFF2-40B4-BE49-F238E27FC236}">
                <a16:creationId xmlns:a16="http://schemas.microsoft.com/office/drawing/2014/main" id="{6902DA7E-E4DF-03D0-72C7-2A468FA091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90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+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5D8F-592D-7088-7EC1-E8E66DBE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6" descr="A thank you card with purple and blue branches&#10;&#10;AI-generated content may be incorrect.">
            <a:extLst>
              <a:ext uri="{FF2B5EF4-FFF2-40B4-BE49-F238E27FC236}">
                <a16:creationId xmlns:a16="http://schemas.microsoft.com/office/drawing/2014/main" id="{FF3975AE-D887-04B2-F599-5053C32C66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5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card with purple and green dots&#10;&#10;AI-generated content may be incorrect.">
            <a:extLst>
              <a:ext uri="{FF2B5EF4-FFF2-40B4-BE49-F238E27FC236}">
                <a16:creationId xmlns:a16="http://schemas.microsoft.com/office/drawing/2014/main" id="{B64E019C-2327-84D9-15D4-0A7B345F94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6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object with a blue background">
            <a:extLst>
              <a:ext uri="{FF2B5EF4-FFF2-40B4-BE49-F238E27FC236}">
                <a16:creationId xmlns:a16="http://schemas.microsoft.com/office/drawing/2014/main" id="{390459FF-4EEE-EB56-71C2-772C9CDE86A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ED4FB7-6A50-7EDF-BB11-59FAF68C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55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F7264-A8DC-C8E7-6053-C2536638C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1603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008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68" r:id="rId3"/>
    <p:sldLayoutId id="2147483670" r:id="rId4"/>
    <p:sldLayoutId id="2147483669" r:id="rId5"/>
    <p:sldLayoutId id="2147483650" r:id="rId6"/>
    <p:sldLayoutId id="2147483653" r:id="rId7"/>
    <p:sldLayoutId id="2147483654" r:id="rId8"/>
    <p:sldLayoutId id="2147483656" r:id="rId9"/>
    <p:sldLayoutId id="2147483649" r:id="rId10"/>
    <p:sldLayoutId id="2147483651" r:id="rId11"/>
    <p:sldLayoutId id="2147483661" r:id="rId12"/>
    <p:sldLayoutId id="2147483675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ostandaarden.nl/mim/mim/" TargetMode="External"/><Relationship Id="rId2" Type="http://schemas.openxmlformats.org/officeDocument/2006/relationships/hyperlink" Target="mailto:t.ronzhina@geonovum.n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marco.brattinga@sopraster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8092-FF14-DB0A-DFBC-BB0DCFF3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How to approach semantic modelling – overview of tools and methods</a:t>
            </a:r>
          </a:p>
        </p:txBody>
      </p:sp>
    </p:spTree>
    <p:extLst>
      <p:ext uri="{BB962C8B-B14F-4D97-AF65-F5344CB8AC3E}">
        <p14:creationId xmlns:p14="http://schemas.microsoft.com/office/powerpoint/2010/main" val="373724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5845">
              <a:srgbClr val="43C0BA"/>
            </a:gs>
            <a:gs pos="43000">
              <a:srgbClr val="43C0BA"/>
            </a:gs>
            <a:gs pos="24000">
              <a:srgbClr val="1759A9"/>
            </a:gs>
            <a:gs pos="87931">
              <a:srgbClr val="43C0BA"/>
            </a:gs>
            <a:gs pos="0">
              <a:srgbClr val="3949D3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D9B592B-3CFD-83B7-CFBC-29062CDB93E7}"/>
              </a:ext>
            </a:extLst>
          </p:cNvPr>
          <p:cNvSpPr txBox="1"/>
          <p:nvPr/>
        </p:nvSpPr>
        <p:spPr>
          <a:xfrm>
            <a:off x="424434" y="3479409"/>
            <a:ext cx="2075382" cy="900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dirty="0">
                <a:latin typeface="EC Square Sans Pro" charset="0"/>
                <a:ea typeface="EC Square Sans Pro" charset="0"/>
                <a:cs typeface="EC Square Sans Pro" charset="0"/>
              </a:rPr>
              <a:t>Table of contents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F52C50-B0D0-02CD-CA6B-F76E6BD02D57}"/>
              </a:ext>
            </a:extLst>
          </p:cNvPr>
          <p:cNvGrpSpPr/>
          <p:nvPr/>
        </p:nvGrpSpPr>
        <p:grpSpPr>
          <a:xfrm>
            <a:off x="4005656" y="1811767"/>
            <a:ext cx="2530314" cy="526045"/>
            <a:chOff x="7268048" y="1680799"/>
            <a:chExt cx="2530314" cy="52604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8F6733-5B91-C047-884D-7743FEA38E4F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7937FD-4147-0462-2FCD-262F2543BADC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56771D-5FA3-2F62-9A44-C05937353803}"/>
              </a:ext>
            </a:extLst>
          </p:cNvPr>
          <p:cNvGrpSpPr/>
          <p:nvPr/>
        </p:nvGrpSpPr>
        <p:grpSpPr>
          <a:xfrm>
            <a:off x="4005656" y="3005746"/>
            <a:ext cx="2530314" cy="526045"/>
            <a:chOff x="7268048" y="1680799"/>
            <a:chExt cx="2530314" cy="52604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00B1F0-60B3-23C0-B92C-D00C7B8457ED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EEE92B-389E-8CB9-40CA-A03773003ECD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59ACE1-E348-E644-496F-AE5771C51C21}"/>
              </a:ext>
            </a:extLst>
          </p:cNvPr>
          <p:cNvGrpSpPr/>
          <p:nvPr/>
        </p:nvGrpSpPr>
        <p:grpSpPr>
          <a:xfrm>
            <a:off x="4005656" y="5517548"/>
            <a:ext cx="2530314" cy="526045"/>
            <a:chOff x="7268048" y="1680799"/>
            <a:chExt cx="2530314" cy="52604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ADD593-5D6A-3B81-6EB4-BCDD8F5B5055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0DB44E-3C7B-D96B-7790-CD27CFE16D75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sp>
        <p:nvSpPr>
          <p:cNvPr id="19" name="AutoShape 2">
            <a:extLst>
              <a:ext uri="{FF2B5EF4-FFF2-40B4-BE49-F238E27FC236}">
                <a16:creationId xmlns:a16="http://schemas.microsoft.com/office/drawing/2014/main" id="{26CF8B19-16E8-A872-6F8F-E4882CA81354}"/>
              </a:ext>
            </a:extLst>
          </p:cNvPr>
          <p:cNvSpPr>
            <a:spLocks/>
          </p:cNvSpPr>
          <p:nvPr/>
        </p:nvSpPr>
        <p:spPr bwMode="auto">
          <a:xfrm>
            <a:off x="2947340" y="2913913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EC Square Sans Pro" panose="020B0506040000020004" pitchFamily="34" charset="0"/>
              </a:rPr>
              <a:t>02</a:t>
            </a:r>
          </a:p>
        </p:txBody>
      </p:sp>
      <p:sp>
        <p:nvSpPr>
          <p:cNvPr id="21" name="AutoShape 2">
            <a:extLst>
              <a:ext uri="{FF2B5EF4-FFF2-40B4-BE49-F238E27FC236}">
                <a16:creationId xmlns:a16="http://schemas.microsoft.com/office/drawing/2014/main" id="{2845D0CF-5253-3E33-63AD-AC6D797E3C8B}"/>
              </a:ext>
            </a:extLst>
          </p:cNvPr>
          <p:cNvSpPr>
            <a:spLocks/>
          </p:cNvSpPr>
          <p:nvPr/>
        </p:nvSpPr>
        <p:spPr bwMode="auto">
          <a:xfrm>
            <a:off x="2947339" y="4190048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EC Square Sans Pro" panose="020B0506040000020004" pitchFamily="34" charset="0"/>
              </a:rPr>
              <a:t>03</a:t>
            </a:r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99A474F4-E031-F8C5-6C8A-CDDEF7FA0439}"/>
              </a:ext>
            </a:extLst>
          </p:cNvPr>
          <p:cNvSpPr>
            <a:spLocks/>
          </p:cNvSpPr>
          <p:nvPr/>
        </p:nvSpPr>
        <p:spPr bwMode="auto">
          <a:xfrm>
            <a:off x="2947338" y="5461219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EC Square Sans Pro" panose="020B0506040000020004" pitchFamily="34" charset="0"/>
              </a:rPr>
              <a:t>04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5C1826-C280-5348-6465-B890E5424B1C}"/>
              </a:ext>
            </a:extLst>
          </p:cNvPr>
          <p:cNvGrpSpPr/>
          <p:nvPr/>
        </p:nvGrpSpPr>
        <p:grpSpPr>
          <a:xfrm>
            <a:off x="4005656" y="4165609"/>
            <a:ext cx="2530314" cy="526045"/>
            <a:chOff x="7268048" y="1680799"/>
            <a:chExt cx="2530314" cy="52604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9B1283-884A-853F-74C3-E807CDDD7255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B2A9A4-18E4-093E-8870-2B737A96F28B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85A71F-7015-A16C-54FC-2C78C957D343}"/>
              </a:ext>
            </a:extLst>
          </p:cNvPr>
          <p:cNvGrpSpPr/>
          <p:nvPr/>
        </p:nvGrpSpPr>
        <p:grpSpPr>
          <a:xfrm>
            <a:off x="8140122" y="1811767"/>
            <a:ext cx="2530314" cy="526045"/>
            <a:chOff x="7268048" y="1680799"/>
            <a:chExt cx="2530314" cy="52604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84E0A1-979E-5332-EF15-AF0547C95A67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E627B4-B661-A736-873B-0DBCDAEC7204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87A47D-DF3B-033D-35A8-FC8A331AD044}"/>
              </a:ext>
            </a:extLst>
          </p:cNvPr>
          <p:cNvGrpSpPr/>
          <p:nvPr/>
        </p:nvGrpSpPr>
        <p:grpSpPr>
          <a:xfrm>
            <a:off x="8140122" y="3005746"/>
            <a:ext cx="2530314" cy="526045"/>
            <a:chOff x="7268048" y="1680799"/>
            <a:chExt cx="2530314" cy="52604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1129A8-EF95-23A9-9F80-008445119BB8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1D7F255-75CF-C802-6441-8D2B395CF191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3FDD4D-42A9-635A-CB5C-39C0BB280886}"/>
              </a:ext>
            </a:extLst>
          </p:cNvPr>
          <p:cNvGrpSpPr/>
          <p:nvPr/>
        </p:nvGrpSpPr>
        <p:grpSpPr>
          <a:xfrm>
            <a:off x="8140122" y="5517548"/>
            <a:ext cx="2530314" cy="526045"/>
            <a:chOff x="7268048" y="1680799"/>
            <a:chExt cx="2530314" cy="52604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C9B33C-8AA3-9C1F-8EA8-8B9DE1D4A0E4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E590701-A374-E592-F25B-0197DF9D2850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sp>
        <p:nvSpPr>
          <p:cNvPr id="35" name="AutoShape 2">
            <a:extLst>
              <a:ext uri="{FF2B5EF4-FFF2-40B4-BE49-F238E27FC236}">
                <a16:creationId xmlns:a16="http://schemas.microsoft.com/office/drawing/2014/main" id="{B7E8C365-7C26-5D75-40D7-6F9ADF446B67}"/>
              </a:ext>
            </a:extLst>
          </p:cNvPr>
          <p:cNvSpPr>
            <a:spLocks/>
          </p:cNvSpPr>
          <p:nvPr/>
        </p:nvSpPr>
        <p:spPr bwMode="auto">
          <a:xfrm>
            <a:off x="7081806" y="2913913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EC Square Sans Pro" panose="020B0506040000020004" pitchFamily="34" charset="0"/>
              </a:rPr>
              <a:t>06</a:t>
            </a:r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36" name="AutoShape 2">
            <a:extLst>
              <a:ext uri="{FF2B5EF4-FFF2-40B4-BE49-F238E27FC236}">
                <a16:creationId xmlns:a16="http://schemas.microsoft.com/office/drawing/2014/main" id="{E80C18A3-DA16-C586-BD39-FEC6081DE825}"/>
              </a:ext>
            </a:extLst>
          </p:cNvPr>
          <p:cNvSpPr>
            <a:spLocks/>
          </p:cNvSpPr>
          <p:nvPr/>
        </p:nvSpPr>
        <p:spPr bwMode="auto">
          <a:xfrm>
            <a:off x="7081806" y="1637778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EC Square Sans Pro" panose="020B0506040000020004" pitchFamily="34" charset="0"/>
              </a:rPr>
              <a:t>05</a:t>
            </a:r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83720064-10E7-0E24-24E8-C5EE7EE3931E}"/>
              </a:ext>
            </a:extLst>
          </p:cNvPr>
          <p:cNvSpPr>
            <a:spLocks/>
          </p:cNvSpPr>
          <p:nvPr/>
        </p:nvSpPr>
        <p:spPr bwMode="auto">
          <a:xfrm>
            <a:off x="7081805" y="4190048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EC Square Sans Pro" panose="020B0506040000020004" pitchFamily="34" charset="0"/>
              </a:rPr>
              <a:t>07</a:t>
            </a:r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38" name="AutoShape 2">
            <a:extLst>
              <a:ext uri="{FF2B5EF4-FFF2-40B4-BE49-F238E27FC236}">
                <a16:creationId xmlns:a16="http://schemas.microsoft.com/office/drawing/2014/main" id="{8D8B9847-1839-743B-AE35-2D6BB03B8C62}"/>
              </a:ext>
            </a:extLst>
          </p:cNvPr>
          <p:cNvSpPr>
            <a:spLocks/>
          </p:cNvSpPr>
          <p:nvPr/>
        </p:nvSpPr>
        <p:spPr bwMode="auto">
          <a:xfrm>
            <a:off x="7081804" y="5461219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36000">
                <a:srgbClr val="3F4FF3"/>
              </a:gs>
              <a:gs pos="56000">
                <a:srgbClr val="3443D2"/>
              </a:gs>
              <a:gs pos="83000">
                <a:srgbClr val="43C0BA"/>
              </a:gs>
              <a:gs pos="1800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EC Square Sans Pro" panose="020B0506040000020004" pitchFamily="34" charset="0"/>
              </a:rPr>
              <a:t>08</a:t>
            </a:r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980531-AE5D-6CEE-323D-07E11A610298}"/>
              </a:ext>
            </a:extLst>
          </p:cNvPr>
          <p:cNvGrpSpPr/>
          <p:nvPr/>
        </p:nvGrpSpPr>
        <p:grpSpPr>
          <a:xfrm>
            <a:off x="8140122" y="4165609"/>
            <a:ext cx="2530314" cy="526045"/>
            <a:chOff x="7268048" y="1680799"/>
            <a:chExt cx="2530314" cy="52604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3503D1B-DC17-61B0-120D-EC560EC73F30}"/>
                </a:ext>
              </a:extLst>
            </p:cNvPr>
            <p:cNvSpPr txBox="1"/>
            <p:nvPr/>
          </p:nvSpPr>
          <p:spPr>
            <a:xfrm>
              <a:off x="7268048" y="1680799"/>
              <a:ext cx="1164037" cy="209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b="1" spc="200" dirty="0">
                  <a:latin typeface="EC Square Sans Pro" charset="0"/>
                  <a:ea typeface="EC Square Sans Pro" charset="0"/>
                  <a:cs typeface="EC Square Sans Pro" charset="0"/>
                </a:rPr>
                <a:t>Title Here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C65F21-33A1-A5B5-4751-608ED9931D7B}"/>
                </a:ext>
              </a:extLst>
            </p:cNvPr>
            <p:cNvSpPr txBox="1"/>
            <p:nvPr/>
          </p:nvSpPr>
          <p:spPr>
            <a:xfrm>
              <a:off x="7268048" y="1929717"/>
              <a:ext cx="2530314" cy="277127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dirty="0">
                  <a:solidFill>
                    <a:schemeClr val="tx1">
                      <a:alpha val="60000"/>
                    </a:schemeClr>
                  </a:solidFill>
                  <a:latin typeface="EC Square Sans Pro" charset="0"/>
                  <a:ea typeface="EC Square Sans Pro" charset="0"/>
                  <a:cs typeface="EC Square Sans Pro" charset="0"/>
                </a:rPr>
                <a:t>Text box</a:t>
              </a:r>
            </a:p>
          </p:txBody>
        </p:sp>
      </p:grpSp>
      <p:sp>
        <p:nvSpPr>
          <p:cNvPr id="45" name="AutoShape 2">
            <a:extLst>
              <a:ext uri="{FF2B5EF4-FFF2-40B4-BE49-F238E27FC236}">
                <a16:creationId xmlns:a16="http://schemas.microsoft.com/office/drawing/2014/main" id="{BE824344-BF12-A753-DEB5-CF41DD785C74}"/>
              </a:ext>
            </a:extLst>
          </p:cNvPr>
          <p:cNvSpPr>
            <a:spLocks/>
          </p:cNvSpPr>
          <p:nvPr/>
        </p:nvSpPr>
        <p:spPr bwMode="auto">
          <a:xfrm>
            <a:off x="2947340" y="1637778"/>
            <a:ext cx="743607" cy="804775"/>
          </a:xfrm>
          <a:custGeom>
            <a:avLst/>
            <a:gdLst/>
            <a:ahLst/>
            <a:cxnLst/>
            <a:rect l="0" t="0" r="r" b="b"/>
            <a:pathLst>
              <a:path w="21600" h="21251">
                <a:moveTo>
                  <a:pt x="0" y="7472"/>
                </a:moveTo>
                <a:cubicBezTo>
                  <a:pt x="0" y="6079"/>
                  <a:pt x="1085" y="4368"/>
                  <a:pt x="2412" y="3670"/>
                </a:cubicBezTo>
                <a:lnTo>
                  <a:pt x="8389" y="523"/>
                </a:lnTo>
                <a:cubicBezTo>
                  <a:pt x="9715" y="-175"/>
                  <a:pt x="11885" y="-175"/>
                  <a:pt x="13211" y="523"/>
                </a:cubicBezTo>
                <a:lnTo>
                  <a:pt x="19188" y="3670"/>
                </a:lnTo>
                <a:cubicBezTo>
                  <a:pt x="20515" y="4368"/>
                  <a:pt x="21600" y="6079"/>
                  <a:pt x="21600" y="7472"/>
                </a:cubicBezTo>
                <a:lnTo>
                  <a:pt x="21600" y="13778"/>
                </a:lnTo>
                <a:cubicBezTo>
                  <a:pt x="21600" y="15171"/>
                  <a:pt x="20515" y="16882"/>
                  <a:pt x="19188" y="17580"/>
                </a:cubicBezTo>
                <a:lnTo>
                  <a:pt x="13211" y="20727"/>
                </a:lnTo>
                <a:cubicBezTo>
                  <a:pt x="11885" y="21425"/>
                  <a:pt x="9715" y="21425"/>
                  <a:pt x="8389" y="20727"/>
                </a:cubicBezTo>
                <a:lnTo>
                  <a:pt x="2412" y="17580"/>
                </a:lnTo>
                <a:cubicBezTo>
                  <a:pt x="1085" y="16882"/>
                  <a:pt x="0" y="15171"/>
                  <a:pt x="0" y="13778"/>
                </a:cubicBezTo>
                <a:lnTo>
                  <a:pt x="0" y="7472"/>
                </a:lnTo>
                <a:close/>
                <a:moveTo>
                  <a:pt x="0" y="7472"/>
                </a:moveTo>
              </a:path>
            </a:pathLst>
          </a:custGeom>
          <a:gradFill flip="none" rotWithShape="1">
            <a:gsLst>
              <a:gs pos="48000">
                <a:srgbClr val="3443D2"/>
              </a:gs>
              <a:gs pos="87931">
                <a:srgbClr val="43C0BA"/>
              </a:gs>
              <a:gs pos="0">
                <a:srgbClr val="3949D3"/>
              </a:gs>
            </a:gsLst>
            <a:path path="circle">
              <a:fillToRect l="100000" t="100000"/>
            </a:path>
            <a:tileRect r="-100000" b="-100000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/>
            <a:endParaRPr lang="en-US" sz="2000" dirty="0">
              <a:solidFill>
                <a:schemeClr val="bg1"/>
              </a:solidFill>
              <a:latin typeface="EC Square Sans Pro" panose="020B0506040000020004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EC Square Sans Pro" panose="020B05060400000200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283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0CC6-6E91-AD7E-3FC3-F04F85841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Semantic alignment of modelling techniques - a layered approach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418DA-D979-DBD0-5906-1615100F28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47C28-2FAF-3202-795A-04C36320D1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E" dirty="0"/>
              <a:t>Marco </a:t>
            </a:r>
            <a:r>
              <a:rPr lang="en-IE" dirty="0" err="1"/>
              <a:t>Brattinga</a:t>
            </a:r>
            <a:r>
              <a:rPr lang="en-IE" dirty="0"/>
              <a:t> (Sopra Steria)</a:t>
            </a:r>
            <a:br>
              <a:rPr lang="en-IE" dirty="0"/>
            </a:br>
            <a:r>
              <a:rPr lang="en-IE" dirty="0"/>
              <a:t>Tanja Ronzhina (</a:t>
            </a:r>
            <a:r>
              <a:rPr lang="en-IE" dirty="0" err="1"/>
              <a:t>Geonovum</a:t>
            </a:r>
            <a:r>
              <a:rPr lang="en-I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123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BE8D-CB5F-771D-764D-33771DC9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2AD5C-1760-6299-E88F-508C5CAC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Introduction</a:t>
            </a:r>
          </a:p>
          <a:p>
            <a:r>
              <a:rPr lang="en-IE" dirty="0"/>
              <a:t>Problem statement</a:t>
            </a:r>
          </a:p>
          <a:p>
            <a:r>
              <a:rPr lang="en-IE" dirty="0"/>
              <a:t>MIM as an effective modelling approach</a:t>
            </a:r>
          </a:p>
        </p:txBody>
      </p:sp>
    </p:spTree>
    <p:extLst>
      <p:ext uri="{BB962C8B-B14F-4D97-AF65-F5344CB8AC3E}">
        <p14:creationId xmlns:p14="http://schemas.microsoft.com/office/powerpoint/2010/main" val="378180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ACF9-DDEA-56BE-ABE0-245C6122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944C-CCFD-84B0-9327-4851598C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Introduction</a:t>
            </a:r>
          </a:p>
        </p:txBody>
      </p:sp>
      <p:pic>
        <p:nvPicPr>
          <p:cNvPr id="5" name="Picture 4" descr="A person with blue hair&#10;&#10;AI-generated content may be incorrect.">
            <a:extLst>
              <a:ext uri="{FF2B5EF4-FFF2-40B4-BE49-F238E27FC236}">
                <a16:creationId xmlns:a16="http://schemas.microsoft.com/office/drawing/2014/main" id="{989F8A45-D1E4-5F2B-79A9-30159FABCA2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02450" y="2703617"/>
            <a:ext cx="2332495" cy="2332495"/>
          </a:xfrm>
          <a:prstGeom prst="rect">
            <a:avLst/>
          </a:prstGeom>
        </p:spPr>
      </p:pic>
      <p:pic>
        <p:nvPicPr>
          <p:cNvPr id="1026" name="Picture 2" descr="Marco Brattinga - Adept Events">
            <a:extLst>
              <a:ext uri="{FF2B5EF4-FFF2-40B4-BE49-F238E27FC236}">
                <a16:creationId xmlns:a16="http://schemas.microsoft.com/office/drawing/2014/main" id="{99724E20-E04D-229C-A06E-DC99136B4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508" y="2703617"/>
            <a:ext cx="2332495" cy="233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E99329-80E4-209A-3B6D-5688E9A715BE}"/>
              </a:ext>
            </a:extLst>
          </p:cNvPr>
          <p:cNvSpPr txBox="1"/>
          <p:nvPr/>
        </p:nvSpPr>
        <p:spPr>
          <a:xfrm>
            <a:off x="2662866" y="5153891"/>
            <a:ext cx="2187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2400" dirty="0"/>
              <a:t>Marco Brattinga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90DD4FD-0918-2EEC-37E6-3D55352B9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/>
          <a:stretch/>
        </p:blipFill>
        <p:spPr bwMode="auto">
          <a:xfrm>
            <a:off x="2590507" y="5702647"/>
            <a:ext cx="2332495" cy="39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63E4C54-BACB-19C4-C960-3688A8364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781" y="5615555"/>
            <a:ext cx="1111827" cy="56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D876AC-2B5D-C2F8-D2B7-E0D5DC71BE84}"/>
              </a:ext>
            </a:extLst>
          </p:cNvPr>
          <p:cNvSpPr txBox="1"/>
          <p:nvPr/>
        </p:nvSpPr>
        <p:spPr>
          <a:xfrm>
            <a:off x="7239343" y="5153890"/>
            <a:ext cx="2058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sz="2400" dirty="0"/>
              <a:t>Tanja Ronzhina</a:t>
            </a:r>
          </a:p>
        </p:txBody>
      </p:sp>
    </p:spTree>
    <p:extLst>
      <p:ext uri="{BB962C8B-B14F-4D97-AF65-F5344CB8AC3E}">
        <p14:creationId xmlns:p14="http://schemas.microsoft.com/office/powerpoint/2010/main" val="390800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17C8-2C4F-8728-CD72-FEABFDEB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Problem statement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90AD3-DD2E-B5AF-D0D0-02DBB61EA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Successful data exchange between (and within) organizations is essential for business operations.</a:t>
            </a:r>
          </a:p>
          <a:p>
            <a:pPr lvl="1"/>
            <a:r>
              <a:rPr lang="en-GB" i="1" dirty="0"/>
              <a:t>Public services must be able to reuse data created elsewhere — provided its meaning</a:t>
            </a:r>
            <a:br>
              <a:rPr lang="en-GB" i="1" dirty="0"/>
            </a:br>
            <a:r>
              <a:rPr lang="en-GB" i="1" dirty="0"/>
              <a:t>matches our needs and reuse is permitted.</a:t>
            </a:r>
          </a:p>
          <a:p>
            <a:r>
              <a:rPr lang="en-GB" dirty="0"/>
              <a:t>To make meaning explicit, we use data-modelling techniques.</a:t>
            </a:r>
          </a:p>
          <a:p>
            <a:pPr lvl="1"/>
            <a:r>
              <a:rPr lang="en-GB" i="1" dirty="0"/>
              <a:t>Different organizations use different modelling approaches: UML, ER, FBM, LD</a:t>
            </a:r>
          </a:p>
          <a:p>
            <a:pPr lvl="1"/>
            <a:r>
              <a:rPr lang="en-GB" i="1" dirty="0"/>
              <a:t>No law prescribes a specific modelling technique — it cannot be enforced.</a:t>
            </a:r>
          </a:p>
          <a:p>
            <a:r>
              <a:rPr lang="en-GB" dirty="0"/>
              <a:t>Even when using the same technique, meaning is not always unambiguous.</a:t>
            </a:r>
          </a:p>
          <a:p>
            <a:pPr lvl="1"/>
            <a:r>
              <a:rPr lang="en-GB" i="1" dirty="0"/>
              <a:t>Meaning is a linguistic property; data models typically formalise only logical properties</a:t>
            </a:r>
            <a:endParaRPr lang="en-NL" i="1" dirty="0"/>
          </a:p>
        </p:txBody>
      </p:sp>
      <p:pic>
        <p:nvPicPr>
          <p:cNvPr id="4" name="Picture 3" descr="A person in a green shirt&#10;&#10;AI-generated content may be incorrect.">
            <a:extLst>
              <a:ext uri="{FF2B5EF4-FFF2-40B4-BE49-F238E27FC236}">
                <a16:creationId xmlns:a16="http://schemas.microsoft.com/office/drawing/2014/main" id="{31F61C09-7F72-6369-7FA7-5A4E7329AD1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1645" y="4291426"/>
            <a:ext cx="1771291" cy="177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17C3-C44A-16A9-0661-4EEA270D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50C0-5557-54A4-B119-DDBCF4E9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we have addressed these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6BD12-3349-53B4-F094-A6DCF02C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10" y="2708695"/>
            <a:ext cx="11458160" cy="36505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sz="2400" b="1" dirty="0"/>
              <a:t>P</a:t>
            </a:r>
            <a:r>
              <a:rPr lang="en-US" sz="2400" b="1" dirty="0" err="1"/>
              <a:t>roblem</a:t>
            </a:r>
            <a:r>
              <a:rPr lang="en-US" sz="2400" b="1" dirty="0"/>
              <a:t>: The meaning of the model is ambiguous</a:t>
            </a:r>
            <a:br>
              <a:rPr lang="en-US" sz="2400" b="1" dirty="0"/>
            </a:b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Solution:</a:t>
            </a:r>
            <a:br>
              <a:rPr lang="en-US" dirty="0"/>
            </a:br>
            <a:endParaRPr lang="en-US" dirty="0"/>
          </a:p>
          <a:p>
            <a:pPr lvl="1"/>
            <a:r>
              <a:rPr lang="en-US" i="1" dirty="0"/>
              <a:t>Acknowledge</a:t>
            </a:r>
            <a:r>
              <a:rPr lang="en-US" dirty="0"/>
              <a:t> that data describes reality — it is not reality itself.</a:t>
            </a:r>
          </a:p>
          <a:p>
            <a:pPr lvl="1"/>
            <a:r>
              <a:rPr lang="en-US" i="1" dirty="0"/>
              <a:t>Recognize</a:t>
            </a:r>
            <a:r>
              <a:rPr lang="en-US" dirty="0"/>
              <a:t> that any model lacking this distinction becomes meaningless.</a:t>
            </a:r>
          </a:p>
          <a:p>
            <a:pPr lvl="1"/>
            <a:r>
              <a:rPr lang="en-US" i="1" dirty="0"/>
              <a:t>Recognize</a:t>
            </a:r>
            <a:r>
              <a:rPr lang="en-US" dirty="0"/>
              <a:t> that any model that fails to make the connection to reality becomes useless.</a:t>
            </a:r>
          </a:p>
          <a:p>
            <a:pPr lvl="1"/>
            <a:r>
              <a:rPr lang="en-US" i="1" dirty="0"/>
              <a:t>Develop</a:t>
            </a:r>
            <a:r>
              <a:rPr lang="en-US" dirty="0"/>
              <a:t> a metamodel that clearly separates the two and supports making the connection.</a:t>
            </a:r>
            <a:endParaRPr lang="en-IE" dirty="0"/>
          </a:p>
        </p:txBody>
      </p:sp>
      <p:pic>
        <p:nvPicPr>
          <p:cNvPr id="4" name="Picture 3" descr="A light bulb with a letter on it&#10;&#10;AI-generated content may be incorrect.">
            <a:extLst>
              <a:ext uri="{FF2B5EF4-FFF2-40B4-BE49-F238E27FC236}">
                <a16:creationId xmlns:a16="http://schemas.microsoft.com/office/drawing/2014/main" id="{F9586015-B5F7-7B15-C424-0DA2D7019EF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533" y="1510748"/>
            <a:ext cx="3177467" cy="317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1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E060-9B8C-FF8B-B32A-D975F932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9295-91A5-7021-15F1-ABA9BC4A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4035" y="796723"/>
            <a:ext cx="3631165" cy="970354"/>
          </a:xfrm>
        </p:spPr>
        <p:txBody>
          <a:bodyPr/>
          <a:lstStyle/>
          <a:p>
            <a:r>
              <a:rPr lang="en-NL" dirty="0"/>
              <a:t>MIM framework</a:t>
            </a:r>
          </a:p>
        </p:txBody>
      </p:sp>
      <p:sp>
        <p:nvSpPr>
          <p:cNvPr id="4" name="Rechthoek 9">
            <a:extLst>
              <a:ext uri="{FF2B5EF4-FFF2-40B4-BE49-F238E27FC236}">
                <a16:creationId xmlns:a16="http://schemas.microsoft.com/office/drawing/2014/main" id="{026BBC7F-3DF9-00EE-1B83-2B6D78922485}"/>
              </a:ext>
            </a:extLst>
          </p:cNvPr>
          <p:cNvSpPr/>
          <p:nvPr/>
        </p:nvSpPr>
        <p:spPr>
          <a:xfrm>
            <a:off x="2787995" y="2918846"/>
            <a:ext cx="4896544" cy="116548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NL" sz="2133" dirty="0" err="1">
                <a:solidFill>
                  <a:schemeClr val="bg1"/>
                </a:solidFill>
              </a:rPr>
              <a:t>Conceptual</a:t>
            </a:r>
            <a:r>
              <a:rPr lang="nl-NL" sz="2133" dirty="0">
                <a:solidFill>
                  <a:schemeClr val="bg1"/>
                </a:solidFill>
              </a:rPr>
              <a:t> information model</a:t>
            </a:r>
          </a:p>
          <a:p>
            <a:pPr algn="ctr"/>
            <a:endParaRPr lang="nl-NL" sz="2133" dirty="0"/>
          </a:p>
          <a:p>
            <a:pPr algn="ctr"/>
            <a:r>
              <a:rPr lang="nl-NL" sz="2133" i="1" dirty="0" err="1"/>
              <a:t>What</a:t>
            </a:r>
            <a:r>
              <a:rPr lang="nl-NL" sz="2133" i="1" dirty="0"/>
              <a:t> kind of </a:t>
            </a:r>
            <a:r>
              <a:rPr lang="nl-NL" sz="2133" i="1" dirty="0" err="1"/>
              <a:t>the</a:t>
            </a:r>
            <a:r>
              <a:rPr lang="nl-NL" sz="2133" i="1" dirty="0"/>
              <a:t> information is relevant?</a:t>
            </a:r>
          </a:p>
        </p:txBody>
      </p:sp>
      <p:sp>
        <p:nvSpPr>
          <p:cNvPr id="5" name="Rechthoek 12">
            <a:extLst>
              <a:ext uri="{FF2B5EF4-FFF2-40B4-BE49-F238E27FC236}">
                <a16:creationId xmlns:a16="http://schemas.microsoft.com/office/drawing/2014/main" id="{7BB0CEBD-71C3-3C17-27DE-B3F0FC2D0E74}"/>
              </a:ext>
            </a:extLst>
          </p:cNvPr>
          <p:cNvSpPr/>
          <p:nvPr/>
        </p:nvSpPr>
        <p:spPr>
          <a:xfrm>
            <a:off x="2787995" y="4160308"/>
            <a:ext cx="4896544" cy="1165483"/>
          </a:xfrm>
          <a:prstGeom prst="rect">
            <a:avLst/>
          </a:prstGeom>
          <a:solidFill>
            <a:schemeClr val="accent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NL" sz="2133" dirty="0" err="1"/>
              <a:t>Logical</a:t>
            </a:r>
            <a:r>
              <a:rPr lang="nl-NL" sz="2133" dirty="0"/>
              <a:t> datamodel</a:t>
            </a:r>
          </a:p>
          <a:p>
            <a:pPr algn="ctr"/>
            <a:endParaRPr lang="nl-NL" sz="2133" dirty="0"/>
          </a:p>
          <a:p>
            <a:pPr algn="ctr"/>
            <a:r>
              <a:rPr lang="nl-NL" sz="2133" i="1" dirty="0"/>
              <a:t>How is </a:t>
            </a:r>
            <a:r>
              <a:rPr lang="nl-NL" sz="2133" i="1" dirty="0" err="1"/>
              <a:t>the</a:t>
            </a:r>
            <a:r>
              <a:rPr lang="nl-NL" sz="2133" i="1" dirty="0"/>
              <a:t> data </a:t>
            </a:r>
            <a:r>
              <a:rPr lang="nl-NL" sz="2133" i="1" dirty="0" err="1"/>
              <a:t>used</a:t>
            </a:r>
            <a:r>
              <a:rPr lang="nl-NL" sz="2133" i="1" dirty="0"/>
              <a:t>?</a:t>
            </a:r>
          </a:p>
        </p:txBody>
      </p:sp>
      <p:sp>
        <p:nvSpPr>
          <p:cNvPr id="7" name="Rechthoek 17">
            <a:extLst>
              <a:ext uri="{FF2B5EF4-FFF2-40B4-BE49-F238E27FC236}">
                <a16:creationId xmlns:a16="http://schemas.microsoft.com/office/drawing/2014/main" id="{8228F135-6433-9CB1-09A2-8C0EC6B8F8FB}"/>
              </a:ext>
            </a:extLst>
          </p:cNvPr>
          <p:cNvSpPr/>
          <p:nvPr/>
        </p:nvSpPr>
        <p:spPr>
          <a:xfrm>
            <a:off x="1013821" y="3165550"/>
            <a:ext cx="1678163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solidFill>
                  <a:schemeClr val="tx1"/>
                </a:solidFill>
              </a:rPr>
              <a:t>Level 2</a:t>
            </a:r>
          </a:p>
        </p:txBody>
      </p:sp>
      <p:sp>
        <p:nvSpPr>
          <p:cNvPr id="8" name="Rechthoek 18">
            <a:extLst>
              <a:ext uri="{FF2B5EF4-FFF2-40B4-BE49-F238E27FC236}">
                <a16:creationId xmlns:a16="http://schemas.microsoft.com/office/drawing/2014/main" id="{F2342B1A-5672-4755-A303-4F4543310F5C}"/>
              </a:ext>
            </a:extLst>
          </p:cNvPr>
          <p:cNvSpPr/>
          <p:nvPr/>
        </p:nvSpPr>
        <p:spPr>
          <a:xfrm>
            <a:off x="2787995" y="5395091"/>
            <a:ext cx="4896544" cy="1165483"/>
          </a:xfrm>
          <a:prstGeom prst="rect">
            <a:avLst/>
          </a:prstGeom>
          <a:solidFill>
            <a:schemeClr val="accent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NL" sz="2133" dirty="0"/>
              <a:t>Technical datamodel</a:t>
            </a:r>
          </a:p>
          <a:p>
            <a:pPr algn="ctr"/>
            <a:endParaRPr lang="nl-NL" sz="2133" dirty="0"/>
          </a:p>
          <a:p>
            <a:pPr algn="ctr"/>
            <a:r>
              <a:rPr lang="nl-NL" sz="2133" i="1" dirty="0"/>
              <a:t>How </a:t>
            </a:r>
            <a:r>
              <a:rPr lang="nl-NL" sz="2133" i="1" dirty="0" err="1"/>
              <a:t>to</a:t>
            </a:r>
            <a:r>
              <a:rPr lang="nl-NL" sz="2133" i="1" dirty="0"/>
              <a:t> store or exchange?</a:t>
            </a:r>
          </a:p>
        </p:txBody>
      </p:sp>
      <p:sp>
        <p:nvSpPr>
          <p:cNvPr id="9" name="Rechthoek 23">
            <a:extLst>
              <a:ext uri="{FF2B5EF4-FFF2-40B4-BE49-F238E27FC236}">
                <a16:creationId xmlns:a16="http://schemas.microsoft.com/office/drawing/2014/main" id="{9C87F63A-FC5D-BB6F-531E-EDACE93852A6}"/>
              </a:ext>
            </a:extLst>
          </p:cNvPr>
          <p:cNvSpPr/>
          <p:nvPr/>
        </p:nvSpPr>
        <p:spPr>
          <a:xfrm>
            <a:off x="1013821" y="4407012"/>
            <a:ext cx="1678163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solidFill>
                  <a:schemeClr val="tx1"/>
                </a:solidFill>
              </a:rPr>
              <a:t>Level 3</a:t>
            </a:r>
          </a:p>
        </p:txBody>
      </p:sp>
      <p:sp>
        <p:nvSpPr>
          <p:cNvPr id="10" name="Rechthoek 25">
            <a:extLst>
              <a:ext uri="{FF2B5EF4-FFF2-40B4-BE49-F238E27FC236}">
                <a16:creationId xmlns:a16="http://schemas.microsoft.com/office/drawing/2014/main" id="{C02AFB06-65BA-BF45-5552-B5B7D54C9AA3}"/>
              </a:ext>
            </a:extLst>
          </p:cNvPr>
          <p:cNvSpPr/>
          <p:nvPr/>
        </p:nvSpPr>
        <p:spPr>
          <a:xfrm>
            <a:off x="1013821" y="5740441"/>
            <a:ext cx="1678163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solidFill>
                  <a:schemeClr val="tx1"/>
                </a:solidFill>
              </a:rPr>
              <a:t>Level 4</a:t>
            </a:r>
          </a:p>
        </p:txBody>
      </p:sp>
      <p:sp>
        <p:nvSpPr>
          <p:cNvPr id="11" name="Blik 3">
            <a:extLst>
              <a:ext uri="{FF2B5EF4-FFF2-40B4-BE49-F238E27FC236}">
                <a16:creationId xmlns:a16="http://schemas.microsoft.com/office/drawing/2014/main" id="{AA6ED6D5-2FF6-6671-FFFC-B94BC46A82D5}"/>
              </a:ext>
            </a:extLst>
          </p:cNvPr>
          <p:cNvSpPr/>
          <p:nvPr/>
        </p:nvSpPr>
        <p:spPr>
          <a:xfrm>
            <a:off x="10219684" y="4584002"/>
            <a:ext cx="864096" cy="864096"/>
          </a:xfrm>
          <a:prstGeom prst="can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400"/>
          </a:p>
        </p:txBody>
      </p:sp>
      <p:sp>
        <p:nvSpPr>
          <p:cNvPr id="12" name="Rechteraccolade 4">
            <a:extLst>
              <a:ext uri="{FF2B5EF4-FFF2-40B4-BE49-F238E27FC236}">
                <a16:creationId xmlns:a16="http://schemas.microsoft.com/office/drawing/2014/main" id="{F0B70566-333A-8656-A64F-84781EBE0F37}"/>
              </a:ext>
            </a:extLst>
          </p:cNvPr>
          <p:cNvSpPr/>
          <p:nvPr/>
        </p:nvSpPr>
        <p:spPr>
          <a:xfrm>
            <a:off x="7946812" y="1867772"/>
            <a:ext cx="384043" cy="1969853"/>
          </a:xfrm>
          <a:prstGeom prst="rightBrace">
            <a:avLst>
              <a:gd name="adj1" fmla="val 40080"/>
              <a:gd name="adj2" fmla="val 5000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2400"/>
          </a:p>
        </p:txBody>
      </p:sp>
      <p:sp>
        <p:nvSpPr>
          <p:cNvPr id="13" name="Rechteraccolade 26">
            <a:extLst>
              <a:ext uri="{FF2B5EF4-FFF2-40B4-BE49-F238E27FC236}">
                <a16:creationId xmlns:a16="http://schemas.microsoft.com/office/drawing/2014/main" id="{1CF7F8D7-E522-D456-BE5B-C01218EB6497}"/>
              </a:ext>
            </a:extLst>
          </p:cNvPr>
          <p:cNvSpPr/>
          <p:nvPr/>
        </p:nvSpPr>
        <p:spPr>
          <a:xfrm>
            <a:off x="7946812" y="4312886"/>
            <a:ext cx="384043" cy="2059724"/>
          </a:xfrm>
          <a:prstGeom prst="rightBrace">
            <a:avLst>
              <a:gd name="adj1" fmla="val 40080"/>
              <a:gd name="adj2" fmla="val 50000"/>
            </a:avLst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2400"/>
          </a:p>
        </p:txBody>
      </p:sp>
      <p:cxnSp>
        <p:nvCxnSpPr>
          <p:cNvPr id="14" name="Rechte verbindingslijn met pijl 15">
            <a:extLst>
              <a:ext uri="{FF2B5EF4-FFF2-40B4-BE49-F238E27FC236}">
                <a16:creationId xmlns:a16="http://schemas.microsoft.com/office/drawing/2014/main" id="{CE1859E1-F927-C78F-2F3B-06EE8E8FF137}"/>
              </a:ext>
            </a:extLst>
          </p:cNvPr>
          <p:cNvCxnSpPr/>
          <p:nvPr/>
        </p:nvCxnSpPr>
        <p:spPr>
          <a:xfrm flipV="1">
            <a:off x="8593128" y="2877000"/>
            <a:ext cx="1200000" cy="91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met pijl 27">
            <a:extLst>
              <a:ext uri="{FF2B5EF4-FFF2-40B4-BE49-F238E27FC236}">
                <a16:creationId xmlns:a16="http://schemas.microsoft.com/office/drawing/2014/main" id="{8B62FCDA-507D-D9DB-B8CE-1C80B4C5A79C}"/>
              </a:ext>
            </a:extLst>
          </p:cNvPr>
          <p:cNvCxnSpPr/>
          <p:nvPr/>
        </p:nvCxnSpPr>
        <p:spPr>
          <a:xfrm flipV="1">
            <a:off x="8593128" y="5291772"/>
            <a:ext cx="1200000" cy="919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hoek 28">
            <a:extLst>
              <a:ext uri="{FF2B5EF4-FFF2-40B4-BE49-F238E27FC236}">
                <a16:creationId xmlns:a16="http://schemas.microsoft.com/office/drawing/2014/main" id="{2353ECAF-6FF5-4195-300C-7E865F89B3FD}"/>
              </a:ext>
            </a:extLst>
          </p:cNvPr>
          <p:cNvSpPr/>
          <p:nvPr/>
        </p:nvSpPr>
        <p:spPr>
          <a:xfrm>
            <a:off x="8330855" y="2343032"/>
            <a:ext cx="1678163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67" i="1" dirty="0">
                <a:solidFill>
                  <a:schemeClr val="tx1"/>
                </a:solidFill>
              </a:rPr>
              <a:t>model of </a:t>
            </a:r>
            <a:r>
              <a:rPr lang="nl-NL" sz="1867" i="1" dirty="0" err="1">
                <a:solidFill>
                  <a:schemeClr val="tx1"/>
                </a:solidFill>
              </a:rPr>
              <a:t>the</a:t>
            </a:r>
            <a:endParaRPr lang="nl-NL" sz="1867" i="1" dirty="0">
              <a:solidFill>
                <a:schemeClr val="tx1"/>
              </a:solidFill>
            </a:endParaRPr>
          </a:p>
        </p:txBody>
      </p:sp>
      <p:sp>
        <p:nvSpPr>
          <p:cNvPr id="17" name="Rechthoek 29">
            <a:extLst>
              <a:ext uri="{FF2B5EF4-FFF2-40B4-BE49-F238E27FC236}">
                <a16:creationId xmlns:a16="http://schemas.microsoft.com/office/drawing/2014/main" id="{30F28C9C-247A-B8D8-CEE0-98C5ACBEC77B}"/>
              </a:ext>
            </a:extLst>
          </p:cNvPr>
          <p:cNvSpPr/>
          <p:nvPr/>
        </p:nvSpPr>
        <p:spPr>
          <a:xfrm>
            <a:off x="8326071" y="4764097"/>
            <a:ext cx="1678163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67" i="1" dirty="0">
                <a:solidFill>
                  <a:schemeClr val="tx1"/>
                </a:solidFill>
              </a:rPr>
              <a:t>model of </a:t>
            </a:r>
            <a:r>
              <a:rPr lang="nl-NL" sz="1867" i="1" dirty="0" err="1">
                <a:solidFill>
                  <a:schemeClr val="tx1"/>
                </a:solidFill>
              </a:rPr>
              <a:t>the</a:t>
            </a:r>
            <a:endParaRPr lang="nl-NL" sz="1867" i="1" dirty="0">
              <a:solidFill>
                <a:schemeClr val="tx1"/>
              </a:solidFill>
            </a:endParaRPr>
          </a:p>
        </p:txBody>
      </p:sp>
      <p:sp>
        <p:nvSpPr>
          <p:cNvPr id="18" name="Rechthoek 30">
            <a:extLst>
              <a:ext uri="{FF2B5EF4-FFF2-40B4-BE49-F238E27FC236}">
                <a16:creationId xmlns:a16="http://schemas.microsoft.com/office/drawing/2014/main" id="{FE6ECF0D-C004-DA99-E924-6998AE61C12A}"/>
              </a:ext>
            </a:extLst>
          </p:cNvPr>
          <p:cNvSpPr/>
          <p:nvPr/>
        </p:nvSpPr>
        <p:spPr>
          <a:xfrm>
            <a:off x="9304470" y="3099048"/>
            <a:ext cx="2674251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67" i="1" dirty="0" err="1">
                <a:solidFill>
                  <a:schemeClr val="tx1"/>
                </a:solidFill>
              </a:rPr>
              <a:t>Universe</a:t>
            </a:r>
            <a:r>
              <a:rPr lang="nl-NL" sz="1867" i="1" dirty="0">
                <a:solidFill>
                  <a:schemeClr val="tx1"/>
                </a:solidFill>
              </a:rPr>
              <a:t> of discourse</a:t>
            </a:r>
          </a:p>
          <a:p>
            <a:pPr algn="ctr"/>
            <a:r>
              <a:rPr lang="nl-NL" sz="1867" i="1" dirty="0">
                <a:solidFill>
                  <a:schemeClr val="tx1"/>
                </a:solidFill>
              </a:rPr>
              <a:t>(“</a:t>
            </a:r>
            <a:r>
              <a:rPr lang="nl-NL" sz="1867" i="1" dirty="0" err="1">
                <a:solidFill>
                  <a:schemeClr val="tx1"/>
                </a:solidFill>
              </a:rPr>
              <a:t>reality</a:t>
            </a:r>
            <a:r>
              <a:rPr lang="nl-NL" sz="1867" i="1" dirty="0">
                <a:solidFill>
                  <a:schemeClr val="tx1"/>
                </a:solidFill>
              </a:rPr>
              <a:t>”)</a:t>
            </a:r>
          </a:p>
        </p:txBody>
      </p:sp>
      <p:sp>
        <p:nvSpPr>
          <p:cNvPr id="19" name="Rechthoek 31">
            <a:extLst>
              <a:ext uri="{FF2B5EF4-FFF2-40B4-BE49-F238E27FC236}">
                <a16:creationId xmlns:a16="http://schemas.microsoft.com/office/drawing/2014/main" id="{1CB0C66E-8290-0F68-C120-0D28E34C6191}"/>
              </a:ext>
            </a:extLst>
          </p:cNvPr>
          <p:cNvSpPr/>
          <p:nvPr/>
        </p:nvSpPr>
        <p:spPr>
          <a:xfrm>
            <a:off x="9587278" y="5305758"/>
            <a:ext cx="2466177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67" i="1" dirty="0">
                <a:solidFill>
                  <a:schemeClr val="tx1"/>
                </a:solidFill>
              </a:rPr>
              <a:t>(data) -</a:t>
            </a:r>
            <a:r>
              <a:rPr lang="nl-NL" sz="1867" i="1" dirty="0" err="1">
                <a:solidFill>
                  <a:schemeClr val="tx1"/>
                </a:solidFill>
              </a:rPr>
              <a:t>administration</a:t>
            </a:r>
            <a:endParaRPr lang="nl-NL" sz="1867" i="1" dirty="0">
              <a:solidFill>
                <a:schemeClr val="tx1"/>
              </a:solidFill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013E8E4-4F8C-D552-DEFC-336FE4DF1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0500" y="2178713"/>
            <a:ext cx="1042193" cy="1042193"/>
          </a:xfrm>
          <a:prstGeom prst="rect">
            <a:avLst/>
          </a:prstGeom>
        </p:spPr>
      </p:pic>
      <p:sp>
        <p:nvSpPr>
          <p:cNvPr id="22" name="Rechthoek 31">
            <a:extLst>
              <a:ext uri="{FF2B5EF4-FFF2-40B4-BE49-F238E27FC236}">
                <a16:creationId xmlns:a16="http://schemas.microsoft.com/office/drawing/2014/main" id="{6E1DE6F1-4EFE-ECC0-D24F-97C053CA7518}"/>
              </a:ext>
            </a:extLst>
          </p:cNvPr>
          <p:cNvSpPr/>
          <p:nvPr/>
        </p:nvSpPr>
        <p:spPr>
          <a:xfrm>
            <a:off x="8479855" y="6076478"/>
            <a:ext cx="147322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67" i="1" dirty="0">
                <a:solidFill>
                  <a:schemeClr val="tx1"/>
                </a:solidFill>
              </a:rPr>
              <a:t>-exchange</a:t>
            </a:r>
          </a:p>
        </p:txBody>
      </p:sp>
      <p:sp>
        <p:nvSpPr>
          <p:cNvPr id="23" name="Left-right Arrow 24">
            <a:extLst>
              <a:ext uri="{FF2B5EF4-FFF2-40B4-BE49-F238E27FC236}">
                <a16:creationId xmlns:a16="http://schemas.microsoft.com/office/drawing/2014/main" id="{4EA3AE2C-06FC-0D30-3B2C-39DDFA06F29E}"/>
              </a:ext>
            </a:extLst>
          </p:cNvPr>
          <p:cNvSpPr/>
          <p:nvPr/>
        </p:nvSpPr>
        <p:spPr>
          <a:xfrm>
            <a:off x="9684231" y="6073844"/>
            <a:ext cx="672075" cy="429413"/>
          </a:xfrm>
          <a:prstGeom prst="left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2400"/>
          </a:p>
        </p:txBody>
      </p:sp>
      <p:pic>
        <p:nvPicPr>
          <p:cNvPr id="24" name="Picture 2" descr="Usage Icon #312230 - Free Icons Library">
            <a:extLst>
              <a:ext uri="{FF2B5EF4-FFF2-40B4-BE49-F238E27FC236}">
                <a16:creationId xmlns:a16="http://schemas.microsoft.com/office/drawing/2014/main" id="{A918CFC3-6E09-7527-6152-ACB304CC5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5487" y="5800081"/>
            <a:ext cx="740701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hthoek 31">
            <a:extLst>
              <a:ext uri="{FF2B5EF4-FFF2-40B4-BE49-F238E27FC236}">
                <a16:creationId xmlns:a16="http://schemas.microsoft.com/office/drawing/2014/main" id="{C37759EA-B12C-CAC0-BA37-F8D4E4BF8599}"/>
              </a:ext>
            </a:extLst>
          </p:cNvPr>
          <p:cNvSpPr/>
          <p:nvPr/>
        </p:nvSpPr>
        <p:spPr>
          <a:xfrm>
            <a:off x="9938064" y="5587232"/>
            <a:ext cx="147322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67" i="1" dirty="0">
                <a:solidFill>
                  <a:schemeClr val="tx1"/>
                </a:solidFill>
              </a:rPr>
              <a:t>-processing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6B5351-7E17-25F9-BA4A-2E13BC1CEC89}"/>
              </a:ext>
            </a:extLst>
          </p:cNvPr>
          <p:cNvSpPr txBox="1"/>
          <p:nvPr/>
        </p:nvSpPr>
        <p:spPr>
          <a:xfrm rot="16200000">
            <a:off x="137303" y="5112653"/>
            <a:ext cx="1386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domain</a:t>
            </a:r>
            <a:endParaRPr lang="en-NL" dirty="0"/>
          </a:p>
        </p:txBody>
      </p:sp>
      <p:sp>
        <p:nvSpPr>
          <p:cNvPr id="27" name="Rechthoek 6">
            <a:extLst>
              <a:ext uri="{FF2B5EF4-FFF2-40B4-BE49-F238E27FC236}">
                <a16:creationId xmlns:a16="http://schemas.microsoft.com/office/drawing/2014/main" id="{6641FB16-43B7-40B6-3309-931CADD331CB}"/>
              </a:ext>
            </a:extLst>
          </p:cNvPr>
          <p:cNvSpPr/>
          <p:nvPr/>
        </p:nvSpPr>
        <p:spPr>
          <a:xfrm>
            <a:off x="2787995" y="1657353"/>
            <a:ext cx="4896544" cy="1165483"/>
          </a:xfrm>
          <a:prstGeom prst="rect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NL" sz="2133" dirty="0"/>
              <a:t>Model of </a:t>
            </a:r>
            <a:r>
              <a:rPr lang="nl-NL" sz="2133" dirty="0" err="1"/>
              <a:t>terminology</a:t>
            </a:r>
            <a:r>
              <a:rPr lang="nl-NL" sz="2133" dirty="0"/>
              <a:t> &amp; </a:t>
            </a:r>
            <a:r>
              <a:rPr lang="nl-NL" sz="2133" dirty="0" err="1"/>
              <a:t>concepts</a:t>
            </a:r>
            <a:endParaRPr lang="nl-NL" sz="2133" dirty="0"/>
          </a:p>
          <a:p>
            <a:pPr algn="ctr"/>
            <a:endParaRPr lang="nl-NL" sz="2133" dirty="0"/>
          </a:p>
          <a:p>
            <a:pPr algn="ctr"/>
            <a:r>
              <a:rPr lang="nl-NL" sz="2133" i="1" dirty="0" err="1"/>
              <a:t>What</a:t>
            </a:r>
            <a:r>
              <a:rPr lang="nl-NL" sz="2133" i="1" dirty="0"/>
              <a:t> are we </a:t>
            </a:r>
            <a:r>
              <a:rPr lang="nl-NL" sz="2133" i="1" dirty="0" err="1"/>
              <a:t>talking</a:t>
            </a:r>
            <a:r>
              <a:rPr lang="nl-NL" sz="2133" i="1" dirty="0"/>
              <a:t> </a:t>
            </a:r>
            <a:r>
              <a:rPr lang="nl-NL" sz="2133" i="1" dirty="0" err="1"/>
              <a:t>about</a:t>
            </a:r>
            <a:r>
              <a:rPr lang="nl-NL" sz="2133" i="1" dirty="0"/>
              <a:t>?</a:t>
            </a:r>
          </a:p>
        </p:txBody>
      </p:sp>
      <p:sp>
        <p:nvSpPr>
          <p:cNvPr id="28" name="Rechthoek 16">
            <a:extLst>
              <a:ext uri="{FF2B5EF4-FFF2-40B4-BE49-F238E27FC236}">
                <a16:creationId xmlns:a16="http://schemas.microsoft.com/office/drawing/2014/main" id="{7899FE23-1A69-E375-22A8-34B62EEF015B}"/>
              </a:ext>
            </a:extLst>
          </p:cNvPr>
          <p:cNvSpPr/>
          <p:nvPr/>
        </p:nvSpPr>
        <p:spPr>
          <a:xfrm>
            <a:off x="1013821" y="1904057"/>
            <a:ext cx="1678163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solidFill>
                  <a:schemeClr val="tx1"/>
                </a:solidFill>
              </a:rPr>
              <a:t>Level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FC72DB-3C45-7DA1-22F9-8EA7D483133E}"/>
              </a:ext>
            </a:extLst>
          </p:cNvPr>
          <p:cNvSpPr txBox="1"/>
          <p:nvPr/>
        </p:nvSpPr>
        <p:spPr>
          <a:xfrm rot="16200000">
            <a:off x="-272757" y="2638169"/>
            <a:ext cx="218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Universe of discourse</a:t>
            </a:r>
            <a:endParaRPr lang="en-NL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BBF29E-F3EC-8C0D-51EF-14C9F5DF62FF}"/>
              </a:ext>
            </a:extLst>
          </p:cNvPr>
          <p:cNvCxnSpPr>
            <a:cxnSpLocks/>
          </p:cNvCxnSpPr>
          <p:nvPr/>
        </p:nvCxnSpPr>
        <p:spPr>
          <a:xfrm>
            <a:off x="352407" y="4125893"/>
            <a:ext cx="11587854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68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CE9F-1603-75CC-0B0D-990979BF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E19B0E-69BD-E2B5-3FBE-18A862893433}"/>
              </a:ext>
            </a:extLst>
          </p:cNvPr>
          <p:cNvSpPr/>
          <p:nvPr/>
        </p:nvSpPr>
        <p:spPr>
          <a:xfrm>
            <a:off x="6184135" y="3452993"/>
            <a:ext cx="4832410" cy="248246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Jan’s personal information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C25B8A-F234-6B13-B99F-0399675D4C9F}"/>
              </a:ext>
            </a:extLst>
          </p:cNvPr>
          <p:cNvSpPr/>
          <p:nvPr/>
        </p:nvSpPr>
        <p:spPr>
          <a:xfrm>
            <a:off x="6378766" y="3820219"/>
            <a:ext cx="4396606" cy="40762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[Jan</a:t>
            </a:r>
            <a:r>
              <a:rPr lang="en-US" dirty="0"/>
              <a:t>] has red hair</a:t>
            </a:r>
            <a:endParaRPr lang="en-NL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9D6E4-4127-87B0-FD3C-E233EBC2EFD5}"/>
              </a:ext>
            </a:extLst>
          </p:cNvPr>
          <p:cNvSpPr/>
          <p:nvPr/>
        </p:nvSpPr>
        <p:spPr>
          <a:xfrm>
            <a:off x="6378766" y="4347192"/>
            <a:ext cx="4396606" cy="40762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[Jan] is </a:t>
            </a:r>
            <a:r>
              <a:rPr lang="en-US" dirty="0"/>
              <a:t>born on </a:t>
            </a:r>
            <a:r>
              <a:rPr lang="en-NL" i="1" dirty="0"/>
              <a:t>25 feb 2008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5501E-B8A4-7039-276F-D541F1087621}"/>
              </a:ext>
            </a:extLst>
          </p:cNvPr>
          <p:cNvSpPr/>
          <p:nvPr/>
        </p:nvSpPr>
        <p:spPr>
          <a:xfrm>
            <a:off x="6378765" y="4874165"/>
            <a:ext cx="4396607" cy="40762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[Jan] </a:t>
            </a:r>
            <a:r>
              <a:rPr lang="en-US" dirty="0"/>
              <a:t>has full name </a:t>
            </a:r>
            <a:r>
              <a:rPr lang="en-NL" dirty="0"/>
              <a:t>“</a:t>
            </a:r>
            <a:r>
              <a:rPr lang="en-NL" i="1" dirty="0"/>
              <a:t>Jan Janssen</a:t>
            </a:r>
            <a:r>
              <a:rPr lang="en-NL" dirty="0"/>
              <a:t>”</a:t>
            </a:r>
            <a:endParaRPr lang="en-NL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453CA9-6B4E-ED1C-A761-129B5DF64E4A}"/>
              </a:ext>
            </a:extLst>
          </p:cNvPr>
          <p:cNvSpPr txBox="1"/>
          <p:nvPr/>
        </p:nvSpPr>
        <p:spPr>
          <a:xfrm>
            <a:off x="6323060" y="5967392"/>
            <a:ext cx="4113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Data-object about Jan</a:t>
            </a:r>
            <a:br>
              <a:rPr lang="en-US" dirty="0"/>
            </a:br>
            <a:r>
              <a:rPr lang="en-US" dirty="0"/>
              <a:t>Jan is the </a:t>
            </a:r>
            <a:r>
              <a:rPr lang="en-US" b="1" dirty="0"/>
              <a:t>main subject </a:t>
            </a:r>
            <a:r>
              <a:rPr lang="en-US" dirty="0"/>
              <a:t>of this data-object.</a:t>
            </a:r>
            <a:endParaRPr lang="en-NL" dirty="0"/>
          </a:p>
        </p:txBody>
      </p:sp>
      <p:pic>
        <p:nvPicPr>
          <p:cNvPr id="11" name="Picture 2" descr="83.400+ Rood Haar Man Stockfoto's, afbeeldingen en royalty-free beelden -  iStock | Rode baard">
            <a:extLst>
              <a:ext uri="{FF2B5EF4-FFF2-40B4-BE49-F238E27FC236}">
                <a16:creationId xmlns:a16="http://schemas.microsoft.com/office/drawing/2014/main" id="{FFA4D66D-8365-AB77-4B36-DDB1E0907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38" y="3484436"/>
            <a:ext cx="3492500" cy="23241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F36BB7-F4B4-E7B5-98F3-677D6CE40A65}"/>
              </a:ext>
            </a:extLst>
          </p:cNvPr>
          <p:cNvSpPr txBox="1"/>
          <p:nvPr/>
        </p:nvSpPr>
        <p:spPr>
          <a:xfrm>
            <a:off x="1557037" y="5870143"/>
            <a:ext cx="2242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Domain object</a:t>
            </a:r>
            <a:r>
              <a:rPr lang="en-NL" dirty="0"/>
              <a:t> (“Jan”)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09B2E-DF99-BAB2-0F93-3C7F38EA3B94}"/>
              </a:ext>
            </a:extLst>
          </p:cNvPr>
          <p:cNvGrpSpPr/>
          <p:nvPr/>
        </p:nvGrpSpPr>
        <p:grpSpPr>
          <a:xfrm>
            <a:off x="1795750" y="1368567"/>
            <a:ext cx="4302977" cy="1933861"/>
            <a:chOff x="1795750" y="1690688"/>
            <a:chExt cx="4302977" cy="1933861"/>
          </a:xfrm>
        </p:grpSpPr>
        <p:sp>
          <p:nvSpPr>
            <p:cNvPr id="14" name="Rounded Rectangle 12">
              <a:extLst>
                <a:ext uri="{FF2B5EF4-FFF2-40B4-BE49-F238E27FC236}">
                  <a16:creationId xmlns:a16="http://schemas.microsoft.com/office/drawing/2014/main" id="{B04C8041-5FA5-1B5F-3796-54A48E2434AB}"/>
                </a:ext>
              </a:extLst>
            </p:cNvPr>
            <p:cNvSpPr/>
            <p:nvPr/>
          </p:nvSpPr>
          <p:spPr>
            <a:xfrm>
              <a:off x="1795750" y="1690688"/>
              <a:ext cx="1961002" cy="1013552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L" dirty="0"/>
                <a:t>Object</a:t>
              </a:r>
              <a:br>
                <a:rPr lang="en-NL" dirty="0"/>
              </a:br>
              <a:r>
                <a:rPr lang="en-NL" dirty="0"/>
                <a:t>-type</a:t>
              </a:r>
            </a:p>
          </p:txBody>
        </p:sp>
        <p:sp>
          <p:nvSpPr>
            <p:cNvPr id="15" name="Down Arrow 13">
              <a:extLst>
                <a:ext uri="{FF2B5EF4-FFF2-40B4-BE49-F238E27FC236}">
                  <a16:creationId xmlns:a16="http://schemas.microsoft.com/office/drawing/2014/main" id="{74D860C0-DD33-BEF5-0998-830EE5F71C77}"/>
                </a:ext>
              </a:extLst>
            </p:cNvPr>
            <p:cNvSpPr/>
            <p:nvPr/>
          </p:nvSpPr>
          <p:spPr>
            <a:xfrm>
              <a:off x="2555913" y="2897436"/>
              <a:ext cx="374574" cy="727113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317DCF-C831-2767-C56B-9D73166F8BAF}"/>
                </a:ext>
              </a:extLst>
            </p:cNvPr>
            <p:cNvSpPr txBox="1"/>
            <p:nvPr/>
          </p:nvSpPr>
          <p:spPr>
            <a:xfrm>
              <a:off x="2930487" y="2963271"/>
              <a:ext cx="3168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characterizes (describes) similar</a:t>
              </a:r>
              <a:endParaRPr lang="en-NL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D55D9-D880-6A65-8466-0A26249FC62F}"/>
              </a:ext>
            </a:extLst>
          </p:cNvPr>
          <p:cNvGrpSpPr/>
          <p:nvPr/>
        </p:nvGrpSpPr>
        <p:grpSpPr>
          <a:xfrm>
            <a:off x="7491469" y="1368567"/>
            <a:ext cx="4348882" cy="2005472"/>
            <a:chOff x="7491469" y="1690688"/>
            <a:chExt cx="4348882" cy="2005472"/>
          </a:xfrm>
        </p:grpSpPr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F8CB592B-2E65-BA2F-2B66-8A39EB7EC01C}"/>
                </a:ext>
              </a:extLst>
            </p:cNvPr>
            <p:cNvSpPr/>
            <p:nvPr/>
          </p:nvSpPr>
          <p:spPr>
            <a:xfrm>
              <a:off x="7491469" y="1690688"/>
              <a:ext cx="1961002" cy="1013552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  <a:r>
                <a:rPr lang="en-NL" dirty="0"/>
                <a:t>object-type</a:t>
              </a:r>
            </a:p>
          </p:txBody>
        </p:sp>
        <p:sp>
          <p:nvSpPr>
            <p:cNvPr id="19" name="Down Arrow 17">
              <a:extLst>
                <a:ext uri="{FF2B5EF4-FFF2-40B4-BE49-F238E27FC236}">
                  <a16:creationId xmlns:a16="http://schemas.microsoft.com/office/drawing/2014/main" id="{8F33DF26-6399-3B13-4BA3-628D353DF917}"/>
                </a:ext>
              </a:extLst>
            </p:cNvPr>
            <p:cNvSpPr/>
            <p:nvPr/>
          </p:nvSpPr>
          <p:spPr>
            <a:xfrm>
              <a:off x="8297537" y="2969047"/>
              <a:ext cx="374574" cy="727113"/>
            </a:xfrm>
            <a:prstGeom prst="downArrow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61758B-4E62-16BD-77AC-407F683B455D}"/>
                </a:ext>
              </a:extLst>
            </p:cNvPr>
            <p:cNvSpPr txBox="1"/>
            <p:nvPr/>
          </p:nvSpPr>
          <p:spPr>
            <a:xfrm>
              <a:off x="8672111" y="3051405"/>
              <a:ext cx="3168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characterizes (describes) similar</a:t>
              </a:r>
              <a:endParaRPr lang="en-NL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3989578-11AD-6382-0344-B1E56B6521C4}"/>
              </a:ext>
            </a:extLst>
          </p:cNvPr>
          <p:cNvSpPr/>
          <p:nvPr/>
        </p:nvSpPr>
        <p:spPr>
          <a:xfrm>
            <a:off x="6378764" y="5389204"/>
            <a:ext cx="4396607" cy="407624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[Jan]</a:t>
            </a:r>
            <a:r>
              <a:rPr lang="en-US" dirty="0"/>
              <a:t> lives </a:t>
            </a:r>
            <a:r>
              <a:rPr lang="en-NL" dirty="0"/>
              <a:t>in [Amersfoort]</a:t>
            </a:r>
            <a:endParaRPr lang="en-NL" i="1" dirty="0"/>
          </a:p>
        </p:txBody>
      </p:sp>
    </p:spTree>
    <p:extLst>
      <p:ext uri="{BB962C8B-B14F-4D97-AF65-F5344CB8AC3E}">
        <p14:creationId xmlns:p14="http://schemas.microsoft.com/office/powerpoint/2010/main" val="212054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0A99-8546-E374-C918-D4DB9745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E68D446-C7B9-E3CF-A282-8432C81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526" y="1923009"/>
            <a:ext cx="9167563" cy="1353145"/>
          </a:xfrm>
          <a:prstGeom prst="rect">
            <a:avLst/>
          </a:prstGeom>
        </p:spPr>
      </p:pic>
      <p:pic>
        <p:nvPicPr>
          <p:cNvPr id="10" name="Picture 2" descr="83.400+ Rood Haar Man Stockfoto's, afbeeldingen en royalty-free beelden -  iStock | Rode baard">
            <a:extLst>
              <a:ext uri="{FF2B5EF4-FFF2-40B4-BE49-F238E27FC236}">
                <a16:creationId xmlns:a16="http://schemas.microsoft.com/office/drawing/2014/main" id="{80A044A7-A4F5-72BD-3827-FDC7A61EE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144" y="3976885"/>
            <a:ext cx="2067228" cy="137564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8FBF85-3324-6FC3-6982-1AF3AB30FED5}"/>
              </a:ext>
            </a:extLst>
          </p:cNvPr>
          <p:cNvSpPr txBox="1"/>
          <p:nvPr/>
        </p:nvSpPr>
        <p:spPr>
          <a:xfrm>
            <a:off x="2317954" y="5386192"/>
            <a:ext cx="1560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Domain object</a:t>
            </a:r>
            <a:br>
              <a:rPr lang="en-NL" dirty="0"/>
            </a:br>
            <a:r>
              <a:rPr lang="en-NL" dirty="0"/>
              <a:t>(“Jan”)</a:t>
            </a:r>
          </a:p>
        </p:txBody>
      </p:sp>
      <p:sp>
        <p:nvSpPr>
          <p:cNvPr id="12" name="Down Arrow 7">
            <a:extLst>
              <a:ext uri="{FF2B5EF4-FFF2-40B4-BE49-F238E27FC236}">
                <a16:creationId xmlns:a16="http://schemas.microsoft.com/office/drawing/2014/main" id="{FA306BC7-DCE4-27AA-E4AB-4BF275D762DF}"/>
              </a:ext>
            </a:extLst>
          </p:cNvPr>
          <p:cNvSpPr/>
          <p:nvPr/>
        </p:nvSpPr>
        <p:spPr>
          <a:xfrm>
            <a:off x="2907475" y="3154701"/>
            <a:ext cx="381000" cy="69124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247F7-31D7-315D-75AF-EE2344752114}"/>
              </a:ext>
            </a:extLst>
          </p:cNvPr>
          <p:cNvSpPr txBox="1"/>
          <p:nvPr/>
        </p:nvSpPr>
        <p:spPr>
          <a:xfrm>
            <a:off x="1881220" y="3154701"/>
            <a:ext cx="133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characterizes (describes) similar</a:t>
            </a:r>
            <a:endParaRPr lang="en-NL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BEB8B-3680-1BF6-19F9-86DCB21B60E9}"/>
              </a:ext>
            </a:extLst>
          </p:cNvPr>
          <p:cNvSpPr txBox="1"/>
          <p:nvPr/>
        </p:nvSpPr>
        <p:spPr>
          <a:xfrm>
            <a:off x="4657766" y="5607232"/>
            <a:ext cx="1569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Domain object</a:t>
            </a:r>
            <a:br>
              <a:rPr lang="en-NL" dirty="0"/>
            </a:br>
            <a:r>
              <a:rPr lang="en-NL" dirty="0"/>
              <a:t>(“Amersfoort”)</a:t>
            </a:r>
          </a:p>
        </p:txBody>
      </p:sp>
      <p:sp>
        <p:nvSpPr>
          <p:cNvPr id="15" name="Down Arrow 10">
            <a:extLst>
              <a:ext uri="{FF2B5EF4-FFF2-40B4-BE49-F238E27FC236}">
                <a16:creationId xmlns:a16="http://schemas.microsoft.com/office/drawing/2014/main" id="{B7804964-F196-72D9-7EA2-83B2276A21AB}"/>
              </a:ext>
            </a:extLst>
          </p:cNvPr>
          <p:cNvSpPr/>
          <p:nvPr/>
        </p:nvSpPr>
        <p:spPr>
          <a:xfrm>
            <a:off x="5273188" y="3154701"/>
            <a:ext cx="381000" cy="69124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FD3C74-FC3F-B535-348B-81C063ABD0B0}"/>
              </a:ext>
            </a:extLst>
          </p:cNvPr>
          <p:cNvSpPr txBox="1"/>
          <p:nvPr/>
        </p:nvSpPr>
        <p:spPr>
          <a:xfrm>
            <a:off x="4267713" y="3154701"/>
            <a:ext cx="1341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characterizes (describes) similar</a:t>
            </a:r>
            <a:endParaRPr lang="en-NL" sz="1400" dirty="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D24FDAB2-6E34-671B-E93C-BEF8670C8660}"/>
              </a:ext>
            </a:extLst>
          </p:cNvPr>
          <p:cNvSpPr/>
          <p:nvPr/>
        </p:nvSpPr>
        <p:spPr>
          <a:xfrm>
            <a:off x="7620552" y="4036443"/>
            <a:ext cx="2895047" cy="1570789"/>
          </a:xfrm>
          <a:prstGeom prst="cube">
            <a:avLst>
              <a:gd name="adj" fmla="val 857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57772-AE7D-E364-892A-38CE541D12E8}"/>
              </a:ext>
            </a:extLst>
          </p:cNvPr>
          <p:cNvSpPr/>
          <p:nvPr/>
        </p:nvSpPr>
        <p:spPr>
          <a:xfrm>
            <a:off x="7693323" y="4538826"/>
            <a:ext cx="2584417" cy="2174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[Jan] heeft </a:t>
            </a:r>
            <a:r>
              <a:rPr lang="en-NL" sz="1000" i="1" dirty="0">
                <a:solidFill>
                  <a:schemeClr val="tx1"/>
                </a:solidFill>
              </a:rPr>
              <a:t>rood haar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B4A4B6-D688-1620-B678-E2382275C169}"/>
              </a:ext>
            </a:extLst>
          </p:cNvPr>
          <p:cNvSpPr/>
          <p:nvPr/>
        </p:nvSpPr>
        <p:spPr>
          <a:xfrm>
            <a:off x="7693323" y="4787876"/>
            <a:ext cx="2584417" cy="2174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[Jan] is geboren op </a:t>
            </a:r>
            <a:r>
              <a:rPr lang="en-NL" sz="1000" i="1" dirty="0">
                <a:solidFill>
                  <a:schemeClr val="tx1"/>
                </a:solidFill>
              </a:rPr>
              <a:t>25-2-2008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806EAE-E26C-D047-99CA-58484B2C2D2B}"/>
              </a:ext>
            </a:extLst>
          </p:cNvPr>
          <p:cNvSpPr/>
          <p:nvPr/>
        </p:nvSpPr>
        <p:spPr>
          <a:xfrm>
            <a:off x="7693323" y="5036926"/>
            <a:ext cx="2584418" cy="2174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[Jan] heeft volledige naam “</a:t>
            </a:r>
            <a:r>
              <a:rPr lang="en-NL" sz="1000" i="1" dirty="0">
                <a:solidFill>
                  <a:schemeClr val="tx1"/>
                </a:solidFill>
              </a:rPr>
              <a:t>Jan Janssen</a:t>
            </a:r>
            <a:r>
              <a:rPr lang="en-NL" sz="1000" dirty="0">
                <a:solidFill>
                  <a:schemeClr val="tx1"/>
                </a:solidFill>
              </a:rPr>
              <a:t>”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2F866B-B1A0-F14B-A349-B09BD6A318C8}"/>
              </a:ext>
            </a:extLst>
          </p:cNvPr>
          <p:cNvSpPr/>
          <p:nvPr/>
        </p:nvSpPr>
        <p:spPr>
          <a:xfrm>
            <a:off x="7693323" y="5290259"/>
            <a:ext cx="2584418" cy="2174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[Jan] woont in [Amersfoort]</a:t>
            </a:r>
            <a:endParaRPr lang="en-NL" sz="1000" i="1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D789B9-1C0C-3614-EBEA-1550D509F3EA}"/>
              </a:ext>
            </a:extLst>
          </p:cNvPr>
          <p:cNvSpPr/>
          <p:nvPr/>
        </p:nvSpPr>
        <p:spPr>
          <a:xfrm>
            <a:off x="7693323" y="4289776"/>
            <a:ext cx="2584417" cy="2174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000" dirty="0">
                <a:solidFill>
                  <a:schemeClr val="tx1"/>
                </a:solidFill>
              </a:rPr>
              <a:t>[Jan] heeft BSN </a:t>
            </a:r>
            <a:r>
              <a:rPr lang="en-NL" sz="1000" i="1" dirty="0">
                <a:solidFill>
                  <a:schemeClr val="tx1"/>
                </a:solidFill>
              </a:rPr>
              <a:t>12345678</a:t>
            </a:r>
          </a:p>
        </p:txBody>
      </p:sp>
      <p:sp>
        <p:nvSpPr>
          <p:cNvPr id="23" name="Down Arrow 18">
            <a:extLst>
              <a:ext uri="{FF2B5EF4-FFF2-40B4-BE49-F238E27FC236}">
                <a16:creationId xmlns:a16="http://schemas.microsoft.com/office/drawing/2014/main" id="{B9E2E45C-7AF7-1F09-956D-A6944320A220}"/>
              </a:ext>
            </a:extLst>
          </p:cNvPr>
          <p:cNvSpPr/>
          <p:nvPr/>
        </p:nvSpPr>
        <p:spPr>
          <a:xfrm>
            <a:off x="8869232" y="3285643"/>
            <a:ext cx="381000" cy="691242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93E97-48A8-EC87-17A9-7B88ED31418A}"/>
              </a:ext>
            </a:extLst>
          </p:cNvPr>
          <p:cNvSpPr txBox="1"/>
          <p:nvPr/>
        </p:nvSpPr>
        <p:spPr>
          <a:xfrm>
            <a:off x="7885493" y="3285643"/>
            <a:ext cx="14067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characterizes (describes) similar</a:t>
            </a:r>
            <a:endParaRPr lang="en-NL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1C31E1-1722-B8D6-CBB4-765AB49E9D55}"/>
              </a:ext>
            </a:extLst>
          </p:cNvPr>
          <p:cNvSpPr txBox="1"/>
          <p:nvPr/>
        </p:nvSpPr>
        <p:spPr>
          <a:xfrm>
            <a:off x="7193766" y="5666790"/>
            <a:ext cx="3540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L" dirty="0"/>
              <a:t>A </a:t>
            </a:r>
            <a:r>
              <a:rPr lang="en-US" dirty="0"/>
              <a:t>data-object</a:t>
            </a:r>
            <a:br>
              <a:rPr lang="en-NL" dirty="0"/>
            </a:br>
            <a:r>
              <a:rPr lang="en-NL" dirty="0"/>
              <a:t>(</a:t>
            </a:r>
            <a:r>
              <a:rPr lang="en-US" dirty="0"/>
              <a:t>containing 5 statements about </a:t>
            </a:r>
            <a:r>
              <a:rPr lang="en-NL" dirty="0"/>
              <a:t>Jan)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4FC25C-F073-DAB7-572F-A5058DD22447}"/>
              </a:ext>
            </a:extLst>
          </p:cNvPr>
          <p:cNvSpPr txBox="1"/>
          <p:nvPr/>
        </p:nvSpPr>
        <p:spPr>
          <a:xfrm>
            <a:off x="3529378" y="1153824"/>
            <a:ext cx="144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 </a:t>
            </a:r>
            <a:r>
              <a:rPr lang="en-US" dirty="0" err="1"/>
              <a:t>objecttypes</a:t>
            </a:r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12487F-79DB-543D-F404-2E4A9724E3AE}"/>
              </a:ext>
            </a:extLst>
          </p:cNvPr>
          <p:cNvSpPr txBox="1"/>
          <p:nvPr/>
        </p:nvSpPr>
        <p:spPr>
          <a:xfrm>
            <a:off x="7300046" y="1103513"/>
            <a:ext cx="332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Dataobjecttype</a:t>
            </a:r>
            <a:r>
              <a:rPr lang="en-US" dirty="0"/>
              <a:t> (with 5 elements)</a:t>
            </a:r>
            <a:endParaRPr lang="en-N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292E34-3871-8546-7905-FEF7AE53E64D}"/>
              </a:ext>
            </a:extLst>
          </p:cNvPr>
          <p:cNvCxnSpPr/>
          <p:nvPr/>
        </p:nvCxnSpPr>
        <p:spPr>
          <a:xfrm flipH="1">
            <a:off x="3443387" y="1523156"/>
            <a:ext cx="562708" cy="476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F1CB18-29AB-4DD2-640A-9B066D2AB82E}"/>
              </a:ext>
            </a:extLst>
          </p:cNvPr>
          <p:cNvCxnSpPr>
            <a:cxnSpLocks/>
          </p:cNvCxnSpPr>
          <p:nvPr/>
        </p:nvCxnSpPr>
        <p:spPr>
          <a:xfrm>
            <a:off x="4765750" y="1523156"/>
            <a:ext cx="401192" cy="476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C84815-C9A4-7761-31AF-AE763D45AB4A}"/>
              </a:ext>
            </a:extLst>
          </p:cNvPr>
          <p:cNvCxnSpPr>
            <a:cxnSpLocks/>
          </p:cNvCxnSpPr>
          <p:nvPr/>
        </p:nvCxnSpPr>
        <p:spPr>
          <a:xfrm>
            <a:off x="9250232" y="1494364"/>
            <a:ext cx="99241" cy="44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A map with a location pin&#10;&#10;AI-generated content may be incorrect.">
            <a:extLst>
              <a:ext uri="{FF2B5EF4-FFF2-40B4-BE49-F238E27FC236}">
                <a16:creationId xmlns:a16="http://schemas.microsoft.com/office/drawing/2014/main" id="{B28EFD54-9EAB-1B25-03F9-FCD34AEE231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50838" y="3888685"/>
            <a:ext cx="2425700" cy="177810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0259ED-F419-C535-302C-75B8102A49DA}"/>
              </a:ext>
            </a:extLst>
          </p:cNvPr>
          <p:cNvCxnSpPr>
            <a:cxnSpLocks/>
          </p:cNvCxnSpPr>
          <p:nvPr/>
        </p:nvCxnSpPr>
        <p:spPr>
          <a:xfrm flipH="1">
            <a:off x="2197421" y="1494364"/>
            <a:ext cx="1339357" cy="5735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370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B4E1-FD05-AD8E-15A5-9000B9D4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Core metamodel &amp; example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70AD24-78E9-56FC-99D0-0338DE1439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454" y="2481102"/>
            <a:ext cx="6365532" cy="40072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BE3D1E-1A54-DE51-7AAC-F62F21F9C682}"/>
              </a:ext>
            </a:extLst>
          </p:cNvPr>
          <p:cNvSpPr/>
          <p:nvPr/>
        </p:nvSpPr>
        <p:spPr>
          <a:xfrm>
            <a:off x="913659" y="3449645"/>
            <a:ext cx="1350818" cy="6650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Objecttype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50924C-4402-49DD-6B04-6C148C8EF384}"/>
              </a:ext>
            </a:extLst>
          </p:cNvPr>
          <p:cNvSpPr/>
          <p:nvPr/>
        </p:nvSpPr>
        <p:spPr>
          <a:xfrm>
            <a:off x="913659" y="5347252"/>
            <a:ext cx="1350818" cy="6650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Data-object</a:t>
            </a:r>
            <a:br>
              <a:rPr lang="en-NL" dirty="0"/>
            </a:br>
            <a:r>
              <a:rPr lang="en-NL" dirty="0"/>
              <a:t>type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FBEF7-FA0C-78B5-8B3D-167E2590BECC}"/>
              </a:ext>
            </a:extLst>
          </p:cNvPr>
          <p:cNvSpPr/>
          <p:nvPr/>
        </p:nvSpPr>
        <p:spPr>
          <a:xfrm>
            <a:off x="3705352" y="3449645"/>
            <a:ext cx="1350818" cy="6650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L" dirty="0"/>
              <a:t>Concept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619B9-22BF-4A7A-DC18-6EC67309F7AC}"/>
              </a:ext>
            </a:extLst>
          </p:cNvPr>
          <p:cNvSpPr txBox="1"/>
          <p:nvPr/>
        </p:nvSpPr>
        <p:spPr>
          <a:xfrm>
            <a:off x="764803" y="601227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MIM-3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BB0038-93A3-DE28-2DD8-094CC7A9436B}"/>
              </a:ext>
            </a:extLst>
          </p:cNvPr>
          <p:cNvSpPr txBox="1"/>
          <p:nvPr/>
        </p:nvSpPr>
        <p:spPr>
          <a:xfrm>
            <a:off x="827149" y="3058843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MIM-2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4243F-28F0-3291-73CB-A5E5DE713E06}"/>
              </a:ext>
            </a:extLst>
          </p:cNvPr>
          <p:cNvSpPr txBox="1"/>
          <p:nvPr/>
        </p:nvSpPr>
        <p:spPr>
          <a:xfrm>
            <a:off x="3657736" y="308117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i="1" dirty="0"/>
              <a:t>MIM-1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D0FEAC-E38A-8F07-9D20-3B14F89C755A}"/>
              </a:ext>
            </a:extLst>
          </p:cNvPr>
          <p:cNvCxnSpPr>
            <a:stCxn id="11" idx="0"/>
            <a:endCxn id="10" idx="2"/>
          </p:cNvCxnSpPr>
          <p:nvPr/>
        </p:nvCxnSpPr>
        <p:spPr>
          <a:xfrm flipV="1">
            <a:off x="1589068" y="4114663"/>
            <a:ext cx="0" cy="123258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012362-9B27-BFC8-FA71-F4A787C26053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264477" y="3782154"/>
            <a:ext cx="144087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3EEE8F6-D7B0-B974-933B-1679299B2691}"/>
              </a:ext>
            </a:extLst>
          </p:cNvPr>
          <p:cNvSpPr txBox="1"/>
          <p:nvPr/>
        </p:nvSpPr>
        <p:spPr>
          <a:xfrm>
            <a:off x="1589068" y="4977920"/>
            <a:ext cx="2028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has m</a:t>
            </a:r>
            <a:r>
              <a:rPr lang="en-NL" sz="1400" i="1" dirty="0"/>
              <a:t>ain subjects of type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2452CC-C6EE-0255-8289-65AF3CE3F366}"/>
              </a:ext>
            </a:extLst>
          </p:cNvPr>
          <p:cNvSpPr txBox="1"/>
          <p:nvPr/>
        </p:nvSpPr>
        <p:spPr>
          <a:xfrm>
            <a:off x="2245559" y="3761461"/>
            <a:ext cx="1423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/>
              <a:t>uses terminology</a:t>
            </a:r>
          </a:p>
          <a:p>
            <a:pPr algn="ctr"/>
            <a:r>
              <a:rPr lang="en-US" sz="1400" i="1" dirty="0"/>
              <a:t>as defined by</a:t>
            </a:r>
            <a:endParaRPr lang="en-NL" sz="1400" i="1" dirty="0"/>
          </a:p>
        </p:txBody>
      </p:sp>
    </p:spTree>
    <p:extLst>
      <p:ext uri="{BB962C8B-B14F-4D97-AF65-F5344CB8AC3E}">
        <p14:creationId xmlns:p14="http://schemas.microsoft.com/office/powerpoint/2010/main" val="384526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9949-CC91-30D2-9C06-B0E189D2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5D49-1369-4658-0E20-719E68F1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we have addressed these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EE9B-F3A7-A5FC-C603-172D587B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10" y="2708695"/>
            <a:ext cx="11458160" cy="3650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b="1" dirty="0"/>
              <a:t>P</a:t>
            </a:r>
            <a:r>
              <a:rPr lang="en-US" sz="2400" b="1" dirty="0" err="1"/>
              <a:t>roblem</a:t>
            </a:r>
            <a:r>
              <a:rPr lang="en-US" sz="2400" b="1" dirty="0"/>
              <a:t>: Different modelling techniques are used</a:t>
            </a:r>
            <a:br>
              <a:rPr lang="en-US" sz="2400" b="1" dirty="0"/>
            </a:b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Solution:</a:t>
            </a:r>
            <a:br>
              <a:rPr lang="en-US" dirty="0"/>
            </a:br>
            <a:endParaRPr lang="en-US" dirty="0"/>
          </a:p>
          <a:p>
            <a:pPr lvl="1"/>
            <a:r>
              <a:rPr lang="en-IE" i="1" dirty="0"/>
              <a:t>Accept</a:t>
            </a:r>
            <a:r>
              <a:rPr lang="en-IE" dirty="0"/>
              <a:t> that multiple modelling techniques exist, and each has its own value.</a:t>
            </a:r>
          </a:p>
          <a:p>
            <a:pPr lvl="1"/>
            <a:r>
              <a:rPr lang="en-IE" i="1" dirty="0"/>
              <a:t>Develop</a:t>
            </a:r>
            <a:r>
              <a:rPr lang="en-IE" dirty="0"/>
              <a:t> a metamodel (a “model of models”) that defines a shared exchange language.</a:t>
            </a:r>
          </a:p>
          <a:p>
            <a:pPr lvl="1"/>
            <a:r>
              <a:rPr lang="en-IE" i="1" dirty="0"/>
              <a:t>Specify</a:t>
            </a:r>
            <a:r>
              <a:rPr lang="en-IE" dirty="0"/>
              <a:t> how models in each notation can be translated to the common exchange language — and back again.</a:t>
            </a:r>
          </a:p>
        </p:txBody>
      </p:sp>
      <p:pic>
        <p:nvPicPr>
          <p:cNvPr id="4" name="Picture 3" descr="A light bulb with a letter on it&#10;&#10;AI-generated content may be incorrect.">
            <a:extLst>
              <a:ext uri="{FF2B5EF4-FFF2-40B4-BE49-F238E27FC236}">
                <a16:creationId xmlns:a16="http://schemas.microsoft.com/office/drawing/2014/main" id="{50DB422C-1735-7AC7-7A56-A613CA7E164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533" y="1510748"/>
            <a:ext cx="2552097" cy="255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46C0-20BD-C73A-BB09-F48226D9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8FEA-5784-48B0-9773-C948F2B7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MIM in UML, FBM, ER and Linked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4A8407-54BE-5611-896E-2095AB834D3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27" y="2324100"/>
            <a:ext cx="6101222" cy="20113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5F8947-08A7-5D9B-5079-DF7767183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578" y="3329796"/>
            <a:ext cx="4195971" cy="13986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943A95-776A-3299-E185-D1A1A931093C}"/>
              </a:ext>
            </a:extLst>
          </p:cNvPr>
          <p:cNvSpPr txBox="1"/>
          <p:nvPr/>
        </p:nvSpPr>
        <p:spPr>
          <a:xfrm>
            <a:off x="536713" y="4728453"/>
            <a:ext cx="4373217" cy="15696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Lucida Console" panose="020B0609040504020204" pitchFamily="49" charset="0"/>
              </a:defRPr>
            </a:lvl1pPr>
          </a:lstStyle>
          <a:p>
            <a:r>
              <a:rPr lang="en-GB" dirty="0"/>
              <a:t>e</a:t>
            </a:r>
            <a:r>
              <a:rPr lang="en-NL" dirty="0"/>
              <a:t>xm:NatuurlijkPersoon a mim:Objecttype;</a:t>
            </a:r>
          </a:p>
          <a:p>
            <a:r>
              <a:rPr lang="en-NL" dirty="0"/>
              <a:t>  mim:kenmerk ex:voornaam, ex:haarkleur; #etc</a:t>
            </a:r>
          </a:p>
          <a:p>
            <a:r>
              <a:rPr lang="en-NL" dirty="0"/>
              <a:t>  mim:kenmerk ex:woonplaats</a:t>
            </a:r>
          </a:p>
          <a:p>
            <a:r>
              <a:rPr lang="en-NL" dirty="0"/>
              <a:t>.</a:t>
            </a:r>
          </a:p>
          <a:p>
            <a:r>
              <a:rPr lang="en-GB" dirty="0" err="1"/>
              <a:t>exm:woontIn</a:t>
            </a:r>
            <a:r>
              <a:rPr lang="en-GB" dirty="0"/>
              <a:t> a </a:t>
            </a:r>
            <a:r>
              <a:rPr lang="en-GB" dirty="0" err="1"/>
              <a:t>mim:Relatietype</a:t>
            </a:r>
            <a:r>
              <a:rPr lang="en-GB" dirty="0"/>
              <a:t>;</a:t>
            </a:r>
          </a:p>
          <a:p>
            <a:r>
              <a:rPr lang="en-GB" dirty="0"/>
              <a:t>  </a:t>
            </a:r>
            <a:r>
              <a:rPr lang="en-GB" dirty="0" err="1"/>
              <a:t>mim:member</a:t>
            </a:r>
            <a:r>
              <a:rPr lang="en-GB" dirty="0"/>
              <a:t> </a:t>
            </a:r>
            <a:r>
              <a:rPr lang="en-GB" dirty="0" err="1"/>
              <a:t>ex:NatuurlijkPersoon</a:t>
            </a:r>
            <a:r>
              <a:rPr lang="en-GB" dirty="0"/>
              <a:t>, </a:t>
            </a:r>
            <a:r>
              <a:rPr lang="en-GB" dirty="0" err="1"/>
              <a:t>ex:Plaats</a:t>
            </a:r>
            <a:r>
              <a:rPr lang="en-GB" dirty="0"/>
              <a:t>;</a:t>
            </a:r>
          </a:p>
          <a:p>
            <a:r>
              <a:rPr lang="en-GB" dirty="0"/>
              <a:t>  </a:t>
            </a:r>
            <a:r>
              <a:rPr lang="en-GB" dirty="0" err="1"/>
              <a:t>mim:role</a:t>
            </a:r>
            <a:r>
              <a:rPr lang="en-GB" dirty="0"/>
              <a:t> </a:t>
            </a:r>
            <a:r>
              <a:rPr lang="en-GB" dirty="0" err="1"/>
              <a:t>ex:woonplaats</a:t>
            </a:r>
            <a:r>
              <a:rPr lang="en-GB" dirty="0"/>
              <a:t>;</a:t>
            </a:r>
          </a:p>
          <a:p>
            <a:r>
              <a:rPr lang="en-GB" dirty="0"/>
              <a:t>.</a:t>
            </a:r>
            <a:endParaRPr lang="en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402E01-446E-B2FB-0B13-B4E5DBC6ADC4}"/>
              </a:ext>
            </a:extLst>
          </p:cNvPr>
          <p:cNvSpPr txBox="1"/>
          <p:nvPr/>
        </p:nvSpPr>
        <p:spPr>
          <a:xfrm>
            <a:off x="7549022" y="2888981"/>
            <a:ext cx="3692136" cy="175432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Lucida Console" panose="020B0609040504020204" pitchFamily="49" charset="0"/>
              </a:rPr>
              <a:t>e</a:t>
            </a:r>
            <a:r>
              <a:rPr lang="en-NL" sz="1200" dirty="0">
                <a:latin typeface="Lucida Console" panose="020B0609040504020204" pitchFamily="49" charset="0"/>
              </a:rPr>
              <a:t>xo:NatuurlijkPersoon a owl:Class;</a:t>
            </a:r>
          </a:p>
          <a:p>
            <a:r>
              <a:rPr lang="en-NL" sz="1200" dirty="0">
                <a:latin typeface="Lucida Console" panose="020B0609040504020204" pitchFamily="49" charset="0"/>
              </a:rPr>
              <a:t>  mim:equivalent ex:NatuurlijkPersoon;</a:t>
            </a:r>
          </a:p>
          <a:p>
            <a:r>
              <a:rPr lang="en-NL" sz="1200" dirty="0">
                <a:latin typeface="Lucida Console" panose="020B0609040504020204" pitchFamily="49" charset="0"/>
              </a:rPr>
              <a:t>.</a:t>
            </a:r>
          </a:p>
          <a:p>
            <a:r>
              <a:rPr lang="en-GB" sz="1200" dirty="0" err="1">
                <a:latin typeface="Lucida Console" panose="020B0609040504020204" pitchFamily="49" charset="0"/>
              </a:rPr>
              <a:t>exo:voornaam</a:t>
            </a:r>
            <a:r>
              <a:rPr lang="en-GB" sz="1200" dirty="0">
                <a:latin typeface="Lucida Console" panose="020B0609040504020204" pitchFamily="49" charset="0"/>
              </a:rPr>
              <a:t> a </a:t>
            </a:r>
            <a:r>
              <a:rPr lang="en-GB" sz="1200" dirty="0" err="1">
                <a:latin typeface="Lucida Console" panose="020B0609040504020204" pitchFamily="49" charset="0"/>
              </a:rPr>
              <a:t>owl:DatatypeProperty</a:t>
            </a:r>
            <a:r>
              <a:rPr lang="en-GB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GB" sz="1200" dirty="0">
                <a:latin typeface="Lucida Console" panose="020B0609040504020204" pitchFamily="49" charset="0"/>
              </a:rPr>
              <a:t>  </a:t>
            </a:r>
            <a:r>
              <a:rPr lang="en-GB" sz="1200" dirty="0" err="1">
                <a:latin typeface="Lucida Console" panose="020B0609040504020204" pitchFamily="49" charset="0"/>
              </a:rPr>
              <a:t>mim:equivalent</a:t>
            </a:r>
            <a:r>
              <a:rPr lang="en-GB" sz="1200" dirty="0">
                <a:latin typeface="Lucida Console" panose="020B0609040504020204" pitchFamily="49" charset="0"/>
              </a:rPr>
              <a:t> </a:t>
            </a:r>
            <a:r>
              <a:rPr lang="en-GB" sz="1200" dirty="0" err="1">
                <a:latin typeface="Lucida Console" panose="020B0609040504020204" pitchFamily="49" charset="0"/>
              </a:rPr>
              <a:t>ex:haarkleur</a:t>
            </a:r>
            <a:r>
              <a:rPr lang="en-GB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GB" sz="1200" dirty="0">
                <a:latin typeface="Lucida Console" panose="020B0609040504020204" pitchFamily="49" charset="0"/>
              </a:rPr>
              <a:t>.</a:t>
            </a:r>
          </a:p>
          <a:p>
            <a:r>
              <a:rPr lang="en-GB" sz="1200" dirty="0" err="1">
                <a:latin typeface="Lucida Console" panose="020B0609040504020204" pitchFamily="49" charset="0"/>
              </a:rPr>
              <a:t>exo:woonplaats</a:t>
            </a:r>
            <a:r>
              <a:rPr lang="en-GB" sz="1200" dirty="0">
                <a:latin typeface="Lucida Console" panose="020B0609040504020204" pitchFamily="49" charset="0"/>
              </a:rPr>
              <a:t> a </a:t>
            </a:r>
            <a:r>
              <a:rPr lang="en-GB" sz="1200" dirty="0" err="1">
                <a:latin typeface="Lucida Console" panose="020B0609040504020204" pitchFamily="49" charset="0"/>
              </a:rPr>
              <a:t>owl:ObjectProperty</a:t>
            </a:r>
            <a:r>
              <a:rPr lang="en-GB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GB" sz="1200" dirty="0">
                <a:latin typeface="Lucida Console" panose="020B0609040504020204" pitchFamily="49" charset="0"/>
              </a:rPr>
              <a:t>  </a:t>
            </a:r>
            <a:r>
              <a:rPr lang="en-GB" sz="1200" dirty="0" err="1">
                <a:latin typeface="Lucida Console" panose="020B0609040504020204" pitchFamily="49" charset="0"/>
              </a:rPr>
              <a:t>mim:equivalent</a:t>
            </a:r>
            <a:r>
              <a:rPr lang="en-GB" sz="1200" dirty="0">
                <a:latin typeface="Lucida Console" panose="020B0609040504020204" pitchFamily="49" charset="0"/>
              </a:rPr>
              <a:t> </a:t>
            </a:r>
            <a:r>
              <a:rPr lang="en-GB" sz="1200" dirty="0" err="1">
                <a:latin typeface="Lucida Console" panose="020B0609040504020204" pitchFamily="49" charset="0"/>
              </a:rPr>
              <a:t>ex:woonplaats</a:t>
            </a:r>
            <a:r>
              <a:rPr lang="en-GB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GB" sz="1200" dirty="0">
                <a:latin typeface="Lucida Console" panose="020B0609040504020204" pitchFamily="49" charset="0"/>
              </a:rPr>
              <a:t>.</a:t>
            </a:r>
            <a:endParaRPr lang="en-NL" sz="1200" dirty="0">
              <a:latin typeface="Lucida Console" panose="020B06090405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8AF1B-7D20-4866-9BF9-DBFE45534E24}"/>
              </a:ext>
            </a:extLst>
          </p:cNvPr>
          <p:cNvSpPr txBox="1"/>
          <p:nvPr/>
        </p:nvSpPr>
        <p:spPr>
          <a:xfrm>
            <a:off x="6309944" y="5148844"/>
            <a:ext cx="4373217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Lucida Console" panose="020B0609040504020204" pitchFamily="49" charset="0"/>
              </a:defRPr>
            </a:lvl1pPr>
          </a:lstStyle>
          <a:p>
            <a:r>
              <a:rPr lang="en-GB" dirty="0"/>
              <a:t>e</a:t>
            </a:r>
            <a:r>
              <a:rPr lang="en-NL" dirty="0"/>
              <a:t>x:Jan a exo:NatuurlijkPersoon;</a:t>
            </a:r>
          </a:p>
          <a:p>
            <a:r>
              <a:rPr lang="en-NL" dirty="0"/>
              <a:t>  exo:voornaam “Jan”;</a:t>
            </a:r>
          </a:p>
          <a:p>
            <a:r>
              <a:rPr lang="en-NL" dirty="0"/>
              <a:t>  exo:woonplaats ex:Amersfoort;</a:t>
            </a:r>
          </a:p>
          <a:p>
            <a:r>
              <a:rPr lang="en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1564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C3C8-65DE-0D3F-9344-59D73526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FC46-BD0B-3367-C78E-BCBC63C7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we have addressed these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DAF55-B2E3-AF64-D20F-2E4529031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10" y="2708695"/>
            <a:ext cx="11458160" cy="3650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b="1" dirty="0"/>
              <a:t>P</a:t>
            </a:r>
            <a:r>
              <a:rPr lang="en-US" sz="2400" b="1" dirty="0" err="1"/>
              <a:t>roblem</a:t>
            </a:r>
            <a:r>
              <a:rPr lang="en-US" sz="2400" b="1" dirty="0"/>
              <a:t>: Organizations may be reluctant to adopt the solutions</a:t>
            </a:r>
            <a:br>
              <a:rPr lang="en-US" sz="2400" b="1" dirty="0"/>
            </a:b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Solution:</a:t>
            </a:r>
          </a:p>
          <a:p>
            <a:pPr marL="0" indent="0">
              <a:buNone/>
            </a:pPr>
            <a:endParaRPr lang="en-US" i="1" dirty="0"/>
          </a:p>
          <a:p>
            <a:pPr lvl="1"/>
            <a:r>
              <a:rPr lang="en-IE" i="1" dirty="0"/>
              <a:t>Don’t dictate</a:t>
            </a:r>
            <a:r>
              <a:rPr lang="en-IE" dirty="0"/>
              <a:t> — develop solutions collaboratively with users.</a:t>
            </a:r>
          </a:p>
          <a:p>
            <a:pPr lvl="1"/>
            <a:r>
              <a:rPr lang="en-IE" i="1" dirty="0"/>
              <a:t>Ensure</a:t>
            </a:r>
            <a:r>
              <a:rPr lang="en-IE" dirty="0"/>
              <a:t> strong governance and demonstrate that it is effective.</a:t>
            </a:r>
          </a:p>
          <a:p>
            <a:pPr lvl="1"/>
            <a:r>
              <a:rPr lang="en-IE" i="1" dirty="0"/>
              <a:t>Provide </a:t>
            </a:r>
            <a:r>
              <a:rPr lang="en-IE" dirty="0"/>
              <a:t>tools and guidance that work in real-life situations.</a:t>
            </a:r>
          </a:p>
          <a:p>
            <a:pPr lvl="1"/>
            <a:r>
              <a:rPr lang="en-IE" i="1" dirty="0"/>
              <a:t>Apply </a:t>
            </a:r>
            <a:r>
              <a:rPr lang="en-IE" dirty="0"/>
              <a:t>Pas-Toe-Of-Leg-</a:t>
            </a:r>
            <a:r>
              <a:rPr lang="en-IE" dirty="0" err="1"/>
              <a:t>Uit</a:t>
            </a:r>
            <a:r>
              <a:rPr lang="en-IE" dirty="0"/>
              <a:t> (“Do it — or explain why not”).</a:t>
            </a:r>
          </a:p>
          <a:p>
            <a:pPr lvl="2"/>
            <a:r>
              <a:rPr lang="en-IE" dirty="0"/>
              <a:t>Exceptions may be valid, but they also offer opportunities to improve the solution.</a:t>
            </a:r>
          </a:p>
          <a:p>
            <a:pPr marL="0" indent="0">
              <a:buNone/>
            </a:pPr>
            <a:endParaRPr lang="en-IE" i="1" dirty="0"/>
          </a:p>
        </p:txBody>
      </p:sp>
      <p:pic>
        <p:nvPicPr>
          <p:cNvPr id="5" name="Picture 4" descr="A light bulb with a letter on it&#10;&#10;AI-generated content may be incorrect.">
            <a:extLst>
              <a:ext uri="{FF2B5EF4-FFF2-40B4-BE49-F238E27FC236}">
                <a16:creationId xmlns:a16="http://schemas.microsoft.com/office/drawing/2014/main" id="{39C8D094-74D0-B84A-8CB0-675489C29C6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756" y="1103289"/>
            <a:ext cx="1785272" cy="17852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34181C-0263-C125-91D0-96B47EF69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892" y="3868293"/>
            <a:ext cx="3099143" cy="16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69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D460-521A-616E-B92D-FA4EB2E3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408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870">
            <a:extLst>
              <a:ext uri="{FF2B5EF4-FFF2-40B4-BE49-F238E27FC236}">
                <a16:creationId xmlns:a16="http://schemas.microsoft.com/office/drawing/2014/main" id="{B99B3061-9D9D-9957-9546-033D812EA7A6}"/>
              </a:ext>
            </a:extLst>
          </p:cNvPr>
          <p:cNvSpPr/>
          <p:nvPr/>
        </p:nvSpPr>
        <p:spPr>
          <a:xfrm>
            <a:off x="4457163" y="4309592"/>
            <a:ext cx="385926" cy="280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3"/>
                  <a:pt x="19964" y="1433"/>
                </a:cubicBezTo>
                <a:lnTo>
                  <a:pt x="11465" y="13118"/>
                </a:lnTo>
                <a:cubicBezTo>
                  <a:pt x="11288" y="13363"/>
                  <a:pt x="11051" y="13497"/>
                  <a:pt x="10800" y="13497"/>
                </a:cubicBezTo>
                <a:cubicBezTo>
                  <a:pt x="10549" y="13497"/>
                  <a:pt x="10312" y="13363"/>
                  <a:pt x="10134" y="13118"/>
                </a:cubicBezTo>
                <a:lnTo>
                  <a:pt x="1637" y="1433"/>
                </a:lnTo>
                <a:cubicBezTo>
                  <a:pt x="1739" y="1383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 dirty="0">
              <a:solidFill>
                <a:prstClr val="black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10" name="Shape 3788">
            <a:extLst>
              <a:ext uri="{FF2B5EF4-FFF2-40B4-BE49-F238E27FC236}">
                <a16:creationId xmlns:a16="http://schemas.microsoft.com/office/drawing/2014/main" id="{A4641675-EA72-6A2B-63DD-2A02904A6CDC}"/>
              </a:ext>
            </a:extLst>
          </p:cNvPr>
          <p:cNvSpPr/>
          <p:nvPr/>
        </p:nvSpPr>
        <p:spPr>
          <a:xfrm>
            <a:off x="4431720" y="4792215"/>
            <a:ext cx="424518" cy="424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69" y="17122"/>
                  <a:pt x="16604" y="16682"/>
                  <a:pt x="15855" y="16325"/>
                </a:cubicBezTo>
                <a:cubicBezTo>
                  <a:pt x="15868" y="16284"/>
                  <a:pt x="15882" y="16244"/>
                  <a:pt x="15895" y="16203"/>
                </a:cubicBezTo>
                <a:cubicBezTo>
                  <a:pt x="16131" y="15457"/>
                  <a:pt x="16320" y="14656"/>
                  <a:pt x="16454" y="13812"/>
                </a:cubicBezTo>
                <a:cubicBezTo>
                  <a:pt x="16470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9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8"/>
                  <a:pt x="14127" y="19710"/>
                  <a:pt x="14321" y="19444"/>
                </a:cubicBezTo>
                <a:cubicBezTo>
                  <a:pt x="14339" y="19419"/>
                  <a:pt x="14357" y="19395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6" y="17239"/>
                </a:cubicBezTo>
                <a:cubicBezTo>
                  <a:pt x="16123" y="17536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4" y="12996"/>
                  <a:pt x="15392" y="14581"/>
                  <a:pt x="14970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1"/>
                </a:moveTo>
                <a:cubicBezTo>
                  <a:pt x="12608" y="6309"/>
                  <a:pt x="13855" y="6066"/>
                  <a:pt x="14970" y="5652"/>
                </a:cubicBezTo>
                <a:cubicBezTo>
                  <a:pt x="15392" y="7019"/>
                  <a:pt x="15654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1"/>
                  <a:pt x="11291" y="6361"/>
                </a:cubicBezTo>
                <a:close/>
                <a:moveTo>
                  <a:pt x="11291" y="1032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2"/>
                  <a:pt x="11291" y="1032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6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1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5"/>
                  <a:pt x="16499" y="8112"/>
                </a:cubicBezTo>
                <a:cubicBezTo>
                  <a:pt x="16484" y="8005"/>
                  <a:pt x="16470" y="7896"/>
                  <a:pt x="16454" y="7789"/>
                </a:cubicBezTo>
                <a:cubicBezTo>
                  <a:pt x="16320" y="6944"/>
                  <a:pt x="16131" y="6144"/>
                  <a:pt x="15895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69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2"/>
                </a:cubicBezTo>
                <a:cubicBezTo>
                  <a:pt x="10309" y="1032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2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4" y="6066"/>
                  <a:pt x="8991" y="6309"/>
                  <a:pt x="10309" y="6361"/>
                </a:cubicBezTo>
                <a:cubicBezTo>
                  <a:pt x="10309" y="6361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4" y="15534"/>
                  <a:pt x="6629" y="15948"/>
                </a:cubicBezTo>
                <a:cubicBezTo>
                  <a:pt x="6207" y="14581"/>
                  <a:pt x="5945" y="12996"/>
                  <a:pt x="5902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6"/>
                  <a:pt x="6083" y="17239"/>
                </a:cubicBezTo>
                <a:cubicBezTo>
                  <a:pt x="6100" y="17282"/>
                  <a:pt x="6114" y="17329"/>
                  <a:pt x="6132" y="17372"/>
                </a:cubicBezTo>
                <a:cubicBezTo>
                  <a:pt x="6148" y="17410"/>
                  <a:pt x="6163" y="17450"/>
                  <a:pt x="6180" y="17488"/>
                </a:cubicBezTo>
                <a:cubicBezTo>
                  <a:pt x="6483" y="18192"/>
                  <a:pt x="6834" y="18822"/>
                  <a:pt x="7224" y="19369"/>
                </a:cubicBezTo>
                <a:cubicBezTo>
                  <a:pt x="7242" y="19395"/>
                  <a:pt x="7260" y="19419"/>
                  <a:pt x="7278" y="19444"/>
                </a:cubicBezTo>
                <a:cubicBezTo>
                  <a:pt x="7472" y="19710"/>
                  <a:pt x="7674" y="19958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9"/>
                  <a:pt x="4958" y="12135"/>
                </a:cubicBezTo>
                <a:cubicBezTo>
                  <a:pt x="4967" y="12260"/>
                  <a:pt x="4978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5" y="13596"/>
                  <a:pt x="5129" y="13704"/>
                  <a:pt x="5145" y="13812"/>
                </a:cubicBezTo>
                <a:cubicBezTo>
                  <a:pt x="5279" y="14656"/>
                  <a:pt x="5468" y="15457"/>
                  <a:pt x="5704" y="16203"/>
                </a:cubicBezTo>
                <a:cubicBezTo>
                  <a:pt x="5717" y="16244"/>
                  <a:pt x="5731" y="16284"/>
                  <a:pt x="5744" y="16325"/>
                </a:cubicBezTo>
                <a:cubicBezTo>
                  <a:pt x="4995" y="16682"/>
                  <a:pt x="4329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29" y="4478"/>
                  <a:pt x="4995" y="4918"/>
                  <a:pt x="5744" y="5276"/>
                </a:cubicBezTo>
                <a:cubicBezTo>
                  <a:pt x="5731" y="5317"/>
                  <a:pt x="5717" y="5357"/>
                  <a:pt x="5704" y="5397"/>
                </a:cubicBezTo>
                <a:cubicBezTo>
                  <a:pt x="5468" y="6144"/>
                  <a:pt x="5279" y="6944"/>
                  <a:pt x="5145" y="7789"/>
                </a:cubicBezTo>
                <a:cubicBezTo>
                  <a:pt x="5129" y="7896"/>
                  <a:pt x="5115" y="8005"/>
                  <a:pt x="5100" y="8112"/>
                </a:cubicBezTo>
                <a:cubicBezTo>
                  <a:pt x="5055" y="8435"/>
                  <a:pt x="5018" y="8761"/>
                  <a:pt x="4989" y="9093"/>
                </a:cubicBezTo>
                <a:cubicBezTo>
                  <a:pt x="4978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1"/>
                  <a:pt x="7278" y="2156"/>
                </a:cubicBezTo>
                <a:cubicBezTo>
                  <a:pt x="7260" y="2181"/>
                  <a:pt x="7242" y="2206"/>
                  <a:pt x="7224" y="2231"/>
                </a:cubicBezTo>
                <a:cubicBezTo>
                  <a:pt x="6834" y="2778"/>
                  <a:pt x="6483" y="3408"/>
                  <a:pt x="6180" y="4112"/>
                </a:cubicBezTo>
                <a:cubicBezTo>
                  <a:pt x="6163" y="4151"/>
                  <a:pt x="6148" y="4190"/>
                  <a:pt x="6132" y="4229"/>
                </a:cubicBezTo>
                <a:cubicBezTo>
                  <a:pt x="6114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 dirty="0">
              <a:solidFill>
                <a:prstClr val="black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E1DC2-1BCD-D6A6-8884-9EBB500E3CD5}"/>
              </a:ext>
            </a:extLst>
          </p:cNvPr>
          <p:cNvSpPr txBox="1"/>
          <p:nvPr/>
        </p:nvSpPr>
        <p:spPr>
          <a:xfrm>
            <a:off x="5151859" y="4271043"/>
            <a:ext cx="3727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IE" sz="2000" dirty="0">
                <a:solidFill>
                  <a:schemeClr val="bg1"/>
                </a:solidFill>
                <a:hlinkClick r:id="rId2"/>
              </a:rPr>
              <a:t>Tanja Ronzhina</a:t>
            </a:r>
            <a:endParaRPr lang="en-US" sz="2000" dirty="0">
              <a:solidFill>
                <a:schemeClr val="bg1"/>
              </a:solidFill>
              <a:latin typeface="EC Square Sans Pro Light" charset="0"/>
              <a:ea typeface="EC Square Sans Pro Light" charset="0"/>
              <a:cs typeface="EC Square Sans Pro Light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BA9D6-ADB2-2A78-F0E2-4748213E4489}"/>
              </a:ext>
            </a:extLst>
          </p:cNvPr>
          <p:cNvSpPr txBox="1"/>
          <p:nvPr/>
        </p:nvSpPr>
        <p:spPr>
          <a:xfrm>
            <a:off x="5151859" y="4792215"/>
            <a:ext cx="3727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IE" sz="2000" dirty="0">
                <a:solidFill>
                  <a:schemeClr val="bg1"/>
                </a:solidFill>
                <a:hlinkClick r:id="rId3"/>
              </a:rPr>
              <a:t>MIM standard</a:t>
            </a:r>
            <a:endParaRPr lang="en-US" sz="2000" dirty="0">
              <a:solidFill>
                <a:schemeClr val="bg1"/>
              </a:solidFill>
              <a:latin typeface="EC Square Sans Pro Light" charset="0"/>
              <a:ea typeface="EC Square Sans Pro Light" charset="0"/>
              <a:cs typeface="EC Square Sans Pro Light" charset="0"/>
            </a:endParaRPr>
          </a:p>
        </p:txBody>
      </p:sp>
      <p:sp>
        <p:nvSpPr>
          <p:cNvPr id="2" name="Shape 3870">
            <a:extLst>
              <a:ext uri="{FF2B5EF4-FFF2-40B4-BE49-F238E27FC236}">
                <a16:creationId xmlns:a16="http://schemas.microsoft.com/office/drawing/2014/main" id="{FB3530E5-9B53-759D-84F8-ABE3E5046966}"/>
              </a:ext>
            </a:extLst>
          </p:cNvPr>
          <p:cNvSpPr/>
          <p:nvPr/>
        </p:nvSpPr>
        <p:spPr>
          <a:xfrm>
            <a:off x="4470311" y="3788420"/>
            <a:ext cx="385926" cy="280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3"/>
                  <a:pt x="19964" y="1433"/>
                </a:cubicBezTo>
                <a:lnTo>
                  <a:pt x="11465" y="13118"/>
                </a:lnTo>
                <a:cubicBezTo>
                  <a:pt x="11288" y="13363"/>
                  <a:pt x="11051" y="13497"/>
                  <a:pt x="10800" y="13497"/>
                </a:cubicBezTo>
                <a:cubicBezTo>
                  <a:pt x="10549" y="13497"/>
                  <a:pt x="10312" y="13363"/>
                  <a:pt x="10134" y="13118"/>
                </a:cubicBezTo>
                <a:lnTo>
                  <a:pt x="1637" y="1433"/>
                </a:lnTo>
                <a:cubicBezTo>
                  <a:pt x="1739" y="1383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 dirty="0">
              <a:solidFill>
                <a:prstClr val="black"/>
              </a:solidFill>
              <a:latin typeface="EC Square Sans Pro" panose="020B05060400000200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3BC3B-A982-DD30-A656-3320CD3DD9BB}"/>
              </a:ext>
            </a:extLst>
          </p:cNvPr>
          <p:cNvSpPr txBox="1"/>
          <p:nvPr/>
        </p:nvSpPr>
        <p:spPr>
          <a:xfrm>
            <a:off x="5165007" y="3749871"/>
            <a:ext cx="3727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1"/>
                </a:solidFill>
                <a:latin typeface="EC Square Sans Pro Light" charset="0"/>
                <a:ea typeface="EC Square Sans Pro Light" charset="0"/>
                <a:cs typeface="EC Square Sans Pro Light" charset="0"/>
                <a:hlinkClick r:id="rId4"/>
              </a:rPr>
              <a:t>Marco </a:t>
            </a:r>
            <a:r>
              <a:rPr lang="en-US" sz="2000" dirty="0" err="1">
                <a:solidFill>
                  <a:schemeClr val="bg1"/>
                </a:solidFill>
                <a:latin typeface="EC Square Sans Pro Light" charset="0"/>
                <a:ea typeface="EC Square Sans Pro Light" charset="0"/>
                <a:cs typeface="EC Square Sans Pro Light" charset="0"/>
                <a:hlinkClick r:id="rId4"/>
              </a:rPr>
              <a:t>Brattinga</a:t>
            </a:r>
            <a:endParaRPr lang="en-US" sz="2000" dirty="0">
              <a:solidFill>
                <a:schemeClr val="bg1"/>
              </a:solidFill>
              <a:latin typeface="EC Square Sans Pro Light" charset="0"/>
              <a:ea typeface="EC Square Sans Pro Light" charset="0"/>
              <a:cs typeface="EC Squar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05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MIC conference 2025 slide deck.potx" id="{A87EAA1C-A590-47DD-83CE-5052CF6ED70C}" vid="{61B36F94-C9DC-4BA1-A210-6AC35075C7A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02F4E93355DA4F835B6E3FA7AD4164" ma:contentTypeVersion="12" ma:contentTypeDescription="Create a new document." ma:contentTypeScope="" ma:versionID="a47f5951622a22f7ea95fa3fdbf1fdf0">
  <xsd:schema xmlns:xsd="http://www.w3.org/2001/XMLSchema" xmlns:xs="http://www.w3.org/2001/XMLSchema" xmlns:p="http://schemas.microsoft.com/office/2006/metadata/properties" xmlns:ns2="1e39b9d3-0039-45db-90ff-99d5a42e1351" xmlns:ns3="0be23052-f78c-402c-87ad-a731fc60b42b" targetNamespace="http://schemas.microsoft.com/office/2006/metadata/properties" ma:root="true" ma:fieldsID="a31c74de4934f78bc20e921c70eda9aa" ns2:_="" ns3:_="">
    <xsd:import namespace="1e39b9d3-0039-45db-90ff-99d5a42e1351"/>
    <xsd:import namespace="0be23052-f78c-402c-87ad-a731fc60b4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39b9d3-0039-45db-90ff-99d5a42e13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23052-f78c-402c-87ad-a731fc60b42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42735a6-8278-41e5-9f46-5aafd8d8e2e7}" ma:internalName="TaxCatchAll" ma:showField="CatchAllData" ma:web="0be23052-f78c-402c-87ad-a731fc60b4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e23052-f78c-402c-87ad-a731fc60b42b" xsi:nil="true"/>
    <lcf76f155ced4ddcb4097134ff3c332f xmlns="1e39b9d3-0039-45db-90ff-99d5a42e135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38408D6-49E1-4F85-9D25-0C9522D666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E02440-967F-426D-932E-D0041A439B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39b9d3-0039-45db-90ff-99d5a42e1351"/>
    <ds:schemaRef ds:uri="0be23052-f78c-402c-87ad-a731fc60b4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8168BA-47BF-4F99-8CED-D4067A86245E}">
  <ds:schemaRefs>
    <ds:schemaRef ds:uri="http://schemas.microsoft.com/office/2006/metadata/properties"/>
    <ds:schemaRef ds:uri="http://schemas.microsoft.com/office/infopath/2007/PartnerControls"/>
    <ds:schemaRef ds:uri="0be23052-f78c-402c-87ad-a731fc60b42b"/>
    <ds:schemaRef ds:uri="1e39b9d3-0039-45db-90ff-99d5a42e1351"/>
  </ds:schemaRefs>
</ds:datastoreItem>
</file>

<file path=docMetadata/LabelInfo.xml><?xml version="1.0" encoding="utf-8"?>
<clbl:labelList xmlns:clbl="http://schemas.microsoft.com/office/2020/mipLabelMetadata">
  <clbl:label id="{619ffa58-9d1c-42f8-b0e6-79cea428c945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SEMIC conference 2025 slide deck</Template>
  <TotalTime>7835</TotalTime>
  <Words>809</Words>
  <Application>Microsoft Office PowerPoint</Application>
  <PresentationFormat>Widescreen</PresentationFormat>
  <Paragraphs>158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EC Square Sans Pro</vt:lpstr>
      <vt:lpstr>EC Square Sans Pro Light</vt:lpstr>
      <vt:lpstr>Lucida Console</vt:lpstr>
      <vt:lpstr>Office Theme</vt:lpstr>
      <vt:lpstr>How to approach semantic modelling – overview of tools and methods</vt:lpstr>
      <vt:lpstr>PowerPoint Presentation</vt:lpstr>
      <vt:lpstr>Semantic alignment of modelling techniques - a layered approach</vt:lpstr>
      <vt:lpstr>Overview</vt:lpstr>
      <vt:lpstr>Introduction</vt:lpstr>
      <vt:lpstr>Problem statement</vt:lpstr>
      <vt:lpstr>How we have addressed these problems</vt:lpstr>
      <vt:lpstr>MIM framework</vt:lpstr>
      <vt:lpstr>PowerPoint Presentation</vt:lpstr>
      <vt:lpstr>PowerPoint Presentation</vt:lpstr>
      <vt:lpstr>Core metamodel &amp; example</vt:lpstr>
      <vt:lpstr>How we have addressed these problems</vt:lpstr>
      <vt:lpstr>MIM in UML, FBM, ER and Linked Data</vt:lpstr>
      <vt:lpstr>How we have addressed these problems</vt:lpstr>
      <vt:lpstr>PowerPoint Presentation</vt:lpstr>
      <vt:lpstr>PowerPoint Presentation</vt:lpstr>
    </vt:vector>
  </TitlesOfParts>
  <Company>European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SOFOU Anastasia (DIGIT-EXT)</dc:creator>
  <cp:lastModifiedBy>Tanja Ronzhina</cp:lastModifiedBy>
  <cp:revision>38</cp:revision>
  <dcterms:created xsi:type="dcterms:W3CDTF">2025-10-24T11:58:09Z</dcterms:created>
  <dcterms:modified xsi:type="dcterms:W3CDTF">2025-11-17T14:37:34Z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2023-10-03T13:40:40Z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5ab79532-d3cb-4581-88c4-0a3ea3dfa3bc</vt:lpwstr>
  </property>
  <property fmtid="{D5CDD505-2E9C-101B-9397-08002B2CF9AE}" pid="8" name="MSIP_Label_6bd9ddd1-4d20-43f6-abfa-fc3c07406f94_ContentBits">
    <vt:lpwstr>0</vt:lpwstr>
  </property>
  <property fmtid="{D5CDD505-2E9C-101B-9397-08002B2CF9AE}" pid="9" name="ContentTypeId">
    <vt:lpwstr>0x010100C502F4E93355DA4F835B6E3FA7AD4164</vt:lpwstr>
  </property>
</Properties>
</file>