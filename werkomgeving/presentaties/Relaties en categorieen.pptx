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4"/>
    <p:sldId id="258" r:id="rId5"/>
    <p:sldId id="260" r:id="rId6"/>
    <p:sldId id="261" r:id="rId7"/>
    <p:sldId id="262" r:id="rId8"/>
    <p:sldId id="263" r:id="rId9"/>
    <p:sldId id="267" r:id="rId10"/>
    <p:sldId id="264" r:id="rId11"/>
    <p:sldId id="275" r:id="rId12"/>
    <p:sldId id="265" r:id="rId13"/>
    <p:sldId id="276" r:id="rId14"/>
    <p:sldId id="266" r:id="rId15"/>
    <p:sldId id="277" r:id="rId16"/>
    <p:sldId id="278" r:id="rId17"/>
    <p:sldId id="279" r:id="rId18"/>
    <p:sldId id="280" r:id="rId19"/>
    <p:sldId id="281" r:id="rId20"/>
    <p:sldId id="292" r:id="rId21"/>
    <p:sldId id="287" r:id="rId22"/>
    <p:sldId id="282" r:id="rId23"/>
    <p:sldId id="283" r:id="rId24"/>
    <p:sldId id="284" r:id="rId25"/>
    <p:sldId id="289" r:id="rId26"/>
    <p:sldId id="290" r:id="rId27"/>
    <p:sldId id="291" r:id="rId28"/>
    <p:sldId id="285" r:id="rId29"/>
    <p:sldId id="286" r:id="rId30"/>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08"/>
    <p:restoredTop sz="94664"/>
  </p:normalViewPr>
  <p:slideViewPr>
    <p:cSldViewPr snapToGrid="0">
      <p:cViewPr varScale="1">
        <p:scale>
          <a:sx n="134" d="100"/>
          <a:sy n="134" d="100"/>
        </p:scale>
        <p:origin x="68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EAFC6-B420-CD0A-5768-613E0FA287A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NL"/>
          </a:p>
        </p:txBody>
      </p:sp>
      <p:sp>
        <p:nvSpPr>
          <p:cNvPr id="3" name="Subtitle 2">
            <a:extLst>
              <a:ext uri="{FF2B5EF4-FFF2-40B4-BE49-F238E27FC236}">
                <a16:creationId xmlns:a16="http://schemas.microsoft.com/office/drawing/2014/main" id="{31EA2440-788C-D94B-83C0-DFF1726DD4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NL"/>
          </a:p>
        </p:txBody>
      </p:sp>
      <p:sp>
        <p:nvSpPr>
          <p:cNvPr id="4" name="Date Placeholder 3">
            <a:extLst>
              <a:ext uri="{FF2B5EF4-FFF2-40B4-BE49-F238E27FC236}">
                <a16:creationId xmlns:a16="http://schemas.microsoft.com/office/drawing/2014/main" id="{A755E266-F363-F236-4684-24A198D18033}"/>
              </a:ext>
            </a:extLst>
          </p:cNvPr>
          <p:cNvSpPr>
            <a:spLocks noGrp="1"/>
          </p:cNvSpPr>
          <p:nvPr>
            <p:ph type="dt" sz="half" idx="10"/>
          </p:nvPr>
        </p:nvSpPr>
        <p:spPr/>
        <p:txBody>
          <a:bodyPr/>
          <a:lstStyle/>
          <a:p>
            <a:fld id="{8C94DF49-9917-7A4B-870D-E9982E883B56}" type="datetimeFigureOut">
              <a:rPr lang="en-NL" smtClean="0"/>
              <a:t>12/12/2025</a:t>
            </a:fld>
            <a:endParaRPr lang="en-NL"/>
          </a:p>
        </p:txBody>
      </p:sp>
      <p:sp>
        <p:nvSpPr>
          <p:cNvPr id="5" name="Footer Placeholder 4">
            <a:extLst>
              <a:ext uri="{FF2B5EF4-FFF2-40B4-BE49-F238E27FC236}">
                <a16:creationId xmlns:a16="http://schemas.microsoft.com/office/drawing/2014/main" id="{080CE901-D7C7-2261-3E6A-A0687498260C}"/>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8B474CCB-51DA-BED7-ABE9-F99281B2261E}"/>
              </a:ext>
            </a:extLst>
          </p:cNvPr>
          <p:cNvSpPr>
            <a:spLocks noGrp="1"/>
          </p:cNvSpPr>
          <p:nvPr>
            <p:ph type="sldNum" sz="quarter" idx="12"/>
          </p:nvPr>
        </p:nvSpPr>
        <p:spPr/>
        <p:txBody>
          <a:bodyPr/>
          <a:lstStyle/>
          <a:p>
            <a:fld id="{8F4E83DC-6E42-D042-9398-26B69127EDEE}" type="slidenum">
              <a:rPr lang="en-NL" smtClean="0"/>
              <a:t>‹#›</a:t>
            </a:fld>
            <a:endParaRPr lang="en-NL"/>
          </a:p>
        </p:txBody>
      </p:sp>
    </p:spTree>
    <p:extLst>
      <p:ext uri="{BB962C8B-B14F-4D97-AF65-F5344CB8AC3E}">
        <p14:creationId xmlns:p14="http://schemas.microsoft.com/office/powerpoint/2010/main" val="2204394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06AE4-A77C-74A4-E9A6-41C52BF1907F}"/>
              </a:ext>
            </a:extLst>
          </p:cNvPr>
          <p:cNvSpPr>
            <a:spLocks noGrp="1"/>
          </p:cNvSpPr>
          <p:nvPr>
            <p:ph type="title"/>
          </p:nvPr>
        </p:nvSpPr>
        <p:spPr/>
        <p:txBody>
          <a:bodyPr/>
          <a:lstStyle/>
          <a:p>
            <a:r>
              <a:rPr lang="en-GB"/>
              <a:t>Click to edit Master title style</a:t>
            </a:r>
            <a:endParaRPr lang="en-NL"/>
          </a:p>
        </p:txBody>
      </p:sp>
      <p:sp>
        <p:nvSpPr>
          <p:cNvPr id="3" name="Content Placeholder 2">
            <a:extLst>
              <a:ext uri="{FF2B5EF4-FFF2-40B4-BE49-F238E27FC236}">
                <a16:creationId xmlns:a16="http://schemas.microsoft.com/office/drawing/2014/main" id="{3B7EF2DC-C0F0-F91F-16EE-BDDDFB1B306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4" name="Date Placeholder 3">
            <a:extLst>
              <a:ext uri="{FF2B5EF4-FFF2-40B4-BE49-F238E27FC236}">
                <a16:creationId xmlns:a16="http://schemas.microsoft.com/office/drawing/2014/main" id="{653E51DC-5A9A-5CDE-188B-626BE12D78B4}"/>
              </a:ext>
            </a:extLst>
          </p:cNvPr>
          <p:cNvSpPr>
            <a:spLocks noGrp="1"/>
          </p:cNvSpPr>
          <p:nvPr>
            <p:ph type="dt" sz="half" idx="10"/>
          </p:nvPr>
        </p:nvSpPr>
        <p:spPr/>
        <p:txBody>
          <a:bodyPr/>
          <a:lstStyle/>
          <a:p>
            <a:fld id="{8C94DF49-9917-7A4B-870D-E9982E883B56}" type="datetimeFigureOut">
              <a:rPr lang="en-NL" smtClean="0"/>
              <a:t>12/12/2025</a:t>
            </a:fld>
            <a:endParaRPr lang="en-NL"/>
          </a:p>
        </p:txBody>
      </p:sp>
      <p:sp>
        <p:nvSpPr>
          <p:cNvPr id="5" name="Footer Placeholder 4">
            <a:extLst>
              <a:ext uri="{FF2B5EF4-FFF2-40B4-BE49-F238E27FC236}">
                <a16:creationId xmlns:a16="http://schemas.microsoft.com/office/drawing/2014/main" id="{BF330C2F-ED49-8FE0-8C92-72A6310ACAE0}"/>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28A439F3-FCC1-FF28-3810-7862D4BFD6DC}"/>
              </a:ext>
            </a:extLst>
          </p:cNvPr>
          <p:cNvSpPr>
            <a:spLocks noGrp="1"/>
          </p:cNvSpPr>
          <p:nvPr>
            <p:ph type="sldNum" sz="quarter" idx="12"/>
          </p:nvPr>
        </p:nvSpPr>
        <p:spPr/>
        <p:txBody>
          <a:bodyPr/>
          <a:lstStyle/>
          <a:p>
            <a:fld id="{8F4E83DC-6E42-D042-9398-26B69127EDEE}" type="slidenum">
              <a:rPr lang="en-NL" smtClean="0"/>
              <a:t>‹#›</a:t>
            </a:fld>
            <a:endParaRPr lang="en-NL"/>
          </a:p>
        </p:txBody>
      </p:sp>
    </p:spTree>
    <p:extLst>
      <p:ext uri="{BB962C8B-B14F-4D97-AF65-F5344CB8AC3E}">
        <p14:creationId xmlns:p14="http://schemas.microsoft.com/office/powerpoint/2010/main" val="4064139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B75E4-518C-B2C8-7721-39E9B75414AD}"/>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NL"/>
          </a:p>
        </p:txBody>
      </p:sp>
      <p:sp>
        <p:nvSpPr>
          <p:cNvPr id="3" name="Text Placeholder 2">
            <a:extLst>
              <a:ext uri="{FF2B5EF4-FFF2-40B4-BE49-F238E27FC236}">
                <a16:creationId xmlns:a16="http://schemas.microsoft.com/office/drawing/2014/main" id="{5B7606A8-35F8-AC36-AA27-55FCF533D9C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A01AE3F-8C3C-FD84-286C-1C6BEE411997}"/>
              </a:ext>
            </a:extLst>
          </p:cNvPr>
          <p:cNvSpPr>
            <a:spLocks noGrp="1"/>
          </p:cNvSpPr>
          <p:nvPr>
            <p:ph type="dt" sz="half" idx="10"/>
          </p:nvPr>
        </p:nvSpPr>
        <p:spPr/>
        <p:txBody>
          <a:bodyPr/>
          <a:lstStyle/>
          <a:p>
            <a:fld id="{8C94DF49-9917-7A4B-870D-E9982E883B56}" type="datetimeFigureOut">
              <a:rPr lang="en-NL" smtClean="0"/>
              <a:t>12/12/2025</a:t>
            </a:fld>
            <a:endParaRPr lang="en-NL"/>
          </a:p>
        </p:txBody>
      </p:sp>
      <p:sp>
        <p:nvSpPr>
          <p:cNvPr id="5" name="Footer Placeholder 4">
            <a:extLst>
              <a:ext uri="{FF2B5EF4-FFF2-40B4-BE49-F238E27FC236}">
                <a16:creationId xmlns:a16="http://schemas.microsoft.com/office/drawing/2014/main" id="{6B6C47E1-576A-9DF5-96E5-76EDA7AC8D3F}"/>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380A8A16-F607-CBA4-3272-C368156432B0}"/>
              </a:ext>
            </a:extLst>
          </p:cNvPr>
          <p:cNvSpPr>
            <a:spLocks noGrp="1"/>
          </p:cNvSpPr>
          <p:nvPr>
            <p:ph type="sldNum" sz="quarter" idx="12"/>
          </p:nvPr>
        </p:nvSpPr>
        <p:spPr/>
        <p:txBody>
          <a:bodyPr/>
          <a:lstStyle/>
          <a:p>
            <a:fld id="{8F4E83DC-6E42-D042-9398-26B69127EDEE}" type="slidenum">
              <a:rPr lang="en-NL" smtClean="0"/>
              <a:t>‹#›</a:t>
            </a:fld>
            <a:endParaRPr lang="en-NL"/>
          </a:p>
        </p:txBody>
      </p:sp>
    </p:spTree>
    <p:extLst>
      <p:ext uri="{BB962C8B-B14F-4D97-AF65-F5344CB8AC3E}">
        <p14:creationId xmlns:p14="http://schemas.microsoft.com/office/powerpoint/2010/main" val="42747056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2E88D-6A29-2339-26A5-DDC0D12E6217}"/>
              </a:ext>
            </a:extLst>
          </p:cNvPr>
          <p:cNvSpPr>
            <a:spLocks noGrp="1"/>
          </p:cNvSpPr>
          <p:nvPr>
            <p:ph type="title"/>
          </p:nvPr>
        </p:nvSpPr>
        <p:spPr/>
        <p:txBody>
          <a:bodyPr/>
          <a:lstStyle/>
          <a:p>
            <a:r>
              <a:rPr lang="en-GB"/>
              <a:t>Click to edit Master title style</a:t>
            </a:r>
            <a:endParaRPr lang="en-NL"/>
          </a:p>
        </p:txBody>
      </p:sp>
      <p:sp>
        <p:nvSpPr>
          <p:cNvPr id="3" name="Content Placeholder 2">
            <a:extLst>
              <a:ext uri="{FF2B5EF4-FFF2-40B4-BE49-F238E27FC236}">
                <a16:creationId xmlns:a16="http://schemas.microsoft.com/office/drawing/2014/main" id="{F1ED66DA-E0C1-8FAA-A0BE-6E30B551BA4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4" name="Content Placeholder 3">
            <a:extLst>
              <a:ext uri="{FF2B5EF4-FFF2-40B4-BE49-F238E27FC236}">
                <a16:creationId xmlns:a16="http://schemas.microsoft.com/office/drawing/2014/main" id="{723E80F9-6C1B-E02F-01B7-F4F0EC5424D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5" name="Date Placeholder 4">
            <a:extLst>
              <a:ext uri="{FF2B5EF4-FFF2-40B4-BE49-F238E27FC236}">
                <a16:creationId xmlns:a16="http://schemas.microsoft.com/office/drawing/2014/main" id="{0512CA77-5E17-BCF8-6962-5F4795C46584}"/>
              </a:ext>
            </a:extLst>
          </p:cNvPr>
          <p:cNvSpPr>
            <a:spLocks noGrp="1"/>
          </p:cNvSpPr>
          <p:nvPr>
            <p:ph type="dt" sz="half" idx="10"/>
          </p:nvPr>
        </p:nvSpPr>
        <p:spPr/>
        <p:txBody>
          <a:bodyPr/>
          <a:lstStyle/>
          <a:p>
            <a:fld id="{8C94DF49-9917-7A4B-870D-E9982E883B56}" type="datetimeFigureOut">
              <a:rPr lang="en-NL" smtClean="0"/>
              <a:t>12/12/2025</a:t>
            </a:fld>
            <a:endParaRPr lang="en-NL"/>
          </a:p>
        </p:txBody>
      </p:sp>
      <p:sp>
        <p:nvSpPr>
          <p:cNvPr id="6" name="Footer Placeholder 5">
            <a:extLst>
              <a:ext uri="{FF2B5EF4-FFF2-40B4-BE49-F238E27FC236}">
                <a16:creationId xmlns:a16="http://schemas.microsoft.com/office/drawing/2014/main" id="{A2D571BD-5D26-1CDF-E83E-24758E4D0FAA}"/>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0A91CF0C-BC48-E5D0-7231-F4D28A51277D}"/>
              </a:ext>
            </a:extLst>
          </p:cNvPr>
          <p:cNvSpPr>
            <a:spLocks noGrp="1"/>
          </p:cNvSpPr>
          <p:nvPr>
            <p:ph type="sldNum" sz="quarter" idx="12"/>
          </p:nvPr>
        </p:nvSpPr>
        <p:spPr/>
        <p:txBody>
          <a:bodyPr/>
          <a:lstStyle/>
          <a:p>
            <a:fld id="{8F4E83DC-6E42-D042-9398-26B69127EDEE}" type="slidenum">
              <a:rPr lang="en-NL" smtClean="0"/>
              <a:t>‹#›</a:t>
            </a:fld>
            <a:endParaRPr lang="en-NL"/>
          </a:p>
        </p:txBody>
      </p:sp>
    </p:spTree>
    <p:extLst>
      <p:ext uri="{BB962C8B-B14F-4D97-AF65-F5344CB8AC3E}">
        <p14:creationId xmlns:p14="http://schemas.microsoft.com/office/powerpoint/2010/main" val="32928570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34AC9-8FF3-492E-8811-58D9E25BF53A}"/>
              </a:ext>
            </a:extLst>
          </p:cNvPr>
          <p:cNvSpPr>
            <a:spLocks noGrp="1"/>
          </p:cNvSpPr>
          <p:nvPr>
            <p:ph type="title"/>
          </p:nvPr>
        </p:nvSpPr>
        <p:spPr>
          <a:xfrm>
            <a:off x="839788" y="365125"/>
            <a:ext cx="10515600" cy="1325563"/>
          </a:xfrm>
        </p:spPr>
        <p:txBody>
          <a:bodyPr/>
          <a:lstStyle/>
          <a:p>
            <a:r>
              <a:rPr lang="en-GB"/>
              <a:t>Click to edit Master title style</a:t>
            </a:r>
            <a:endParaRPr lang="en-NL"/>
          </a:p>
        </p:txBody>
      </p:sp>
      <p:sp>
        <p:nvSpPr>
          <p:cNvPr id="3" name="Text Placeholder 2">
            <a:extLst>
              <a:ext uri="{FF2B5EF4-FFF2-40B4-BE49-F238E27FC236}">
                <a16:creationId xmlns:a16="http://schemas.microsoft.com/office/drawing/2014/main" id="{F68862DF-D9CD-FDB1-26D4-7F3A61A17A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B1A6A43-9F75-81AB-F0B1-3FEE7E2EDD0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5" name="Text Placeholder 4">
            <a:extLst>
              <a:ext uri="{FF2B5EF4-FFF2-40B4-BE49-F238E27FC236}">
                <a16:creationId xmlns:a16="http://schemas.microsoft.com/office/drawing/2014/main" id="{27CE267E-5FBE-66C8-4A85-8162C842CB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9F23FDC-73CF-F491-2C1A-3103E98CE4D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7" name="Date Placeholder 6">
            <a:extLst>
              <a:ext uri="{FF2B5EF4-FFF2-40B4-BE49-F238E27FC236}">
                <a16:creationId xmlns:a16="http://schemas.microsoft.com/office/drawing/2014/main" id="{35F4B705-EDF4-2647-0EE3-76D9C1CB17B8}"/>
              </a:ext>
            </a:extLst>
          </p:cNvPr>
          <p:cNvSpPr>
            <a:spLocks noGrp="1"/>
          </p:cNvSpPr>
          <p:nvPr>
            <p:ph type="dt" sz="half" idx="10"/>
          </p:nvPr>
        </p:nvSpPr>
        <p:spPr/>
        <p:txBody>
          <a:bodyPr/>
          <a:lstStyle/>
          <a:p>
            <a:fld id="{8C94DF49-9917-7A4B-870D-E9982E883B56}" type="datetimeFigureOut">
              <a:rPr lang="en-NL" smtClean="0"/>
              <a:t>12/12/2025</a:t>
            </a:fld>
            <a:endParaRPr lang="en-NL"/>
          </a:p>
        </p:txBody>
      </p:sp>
      <p:sp>
        <p:nvSpPr>
          <p:cNvPr id="8" name="Footer Placeholder 7">
            <a:extLst>
              <a:ext uri="{FF2B5EF4-FFF2-40B4-BE49-F238E27FC236}">
                <a16:creationId xmlns:a16="http://schemas.microsoft.com/office/drawing/2014/main" id="{ABDDE562-DFF8-FB8B-877E-C642CCC610AB}"/>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703333EB-5F0C-F681-41E6-C774600B2B3D}"/>
              </a:ext>
            </a:extLst>
          </p:cNvPr>
          <p:cNvSpPr>
            <a:spLocks noGrp="1"/>
          </p:cNvSpPr>
          <p:nvPr>
            <p:ph type="sldNum" sz="quarter" idx="12"/>
          </p:nvPr>
        </p:nvSpPr>
        <p:spPr/>
        <p:txBody>
          <a:bodyPr/>
          <a:lstStyle/>
          <a:p>
            <a:fld id="{8F4E83DC-6E42-D042-9398-26B69127EDEE}" type="slidenum">
              <a:rPr lang="en-NL" smtClean="0"/>
              <a:t>‹#›</a:t>
            </a:fld>
            <a:endParaRPr lang="en-NL"/>
          </a:p>
        </p:txBody>
      </p:sp>
    </p:spTree>
    <p:extLst>
      <p:ext uri="{BB962C8B-B14F-4D97-AF65-F5344CB8AC3E}">
        <p14:creationId xmlns:p14="http://schemas.microsoft.com/office/powerpoint/2010/main" val="2240111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5A882-A797-11FF-5541-2AF0C0013F96}"/>
              </a:ext>
            </a:extLst>
          </p:cNvPr>
          <p:cNvSpPr>
            <a:spLocks noGrp="1"/>
          </p:cNvSpPr>
          <p:nvPr>
            <p:ph type="title"/>
          </p:nvPr>
        </p:nvSpPr>
        <p:spPr/>
        <p:txBody>
          <a:bodyPr/>
          <a:lstStyle/>
          <a:p>
            <a:r>
              <a:rPr lang="en-GB"/>
              <a:t>Click to edit Master title style</a:t>
            </a:r>
            <a:endParaRPr lang="en-NL"/>
          </a:p>
        </p:txBody>
      </p:sp>
      <p:sp>
        <p:nvSpPr>
          <p:cNvPr id="3" name="Date Placeholder 2">
            <a:extLst>
              <a:ext uri="{FF2B5EF4-FFF2-40B4-BE49-F238E27FC236}">
                <a16:creationId xmlns:a16="http://schemas.microsoft.com/office/drawing/2014/main" id="{18CC3915-6452-6E0E-3B9E-8B872D086127}"/>
              </a:ext>
            </a:extLst>
          </p:cNvPr>
          <p:cNvSpPr>
            <a:spLocks noGrp="1"/>
          </p:cNvSpPr>
          <p:nvPr>
            <p:ph type="dt" sz="half" idx="10"/>
          </p:nvPr>
        </p:nvSpPr>
        <p:spPr/>
        <p:txBody>
          <a:bodyPr/>
          <a:lstStyle/>
          <a:p>
            <a:fld id="{8C94DF49-9917-7A4B-870D-E9982E883B56}" type="datetimeFigureOut">
              <a:rPr lang="en-NL" smtClean="0"/>
              <a:t>12/12/2025</a:t>
            </a:fld>
            <a:endParaRPr lang="en-NL"/>
          </a:p>
        </p:txBody>
      </p:sp>
      <p:sp>
        <p:nvSpPr>
          <p:cNvPr id="4" name="Footer Placeholder 3">
            <a:extLst>
              <a:ext uri="{FF2B5EF4-FFF2-40B4-BE49-F238E27FC236}">
                <a16:creationId xmlns:a16="http://schemas.microsoft.com/office/drawing/2014/main" id="{A30A5C81-91F3-61C7-4FB7-9F86E718D68A}"/>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EFC29FA7-92E0-69BD-5354-885C638BE4ED}"/>
              </a:ext>
            </a:extLst>
          </p:cNvPr>
          <p:cNvSpPr>
            <a:spLocks noGrp="1"/>
          </p:cNvSpPr>
          <p:nvPr>
            <p:ph type="sldNum" sz="quarter" idx="12"/>
          </p:nvPr>
        </p:nvSpPr>
        <p:spPr/>
        <p:txBody>
          <a:bodyPr/>
          <a:lstStyle/>
          <a:p>
            <a:fld id="{8F4E83DC-6E42-D042-9398-26B69127EDEE}" type="slidenum">
              <a:rPr lang="en-NL" smtClean="0"/>
              <a:t>‹#›</a:t>
            </a:fld>
            <a:endParaRPr lang="en-NL"/>
          </a:p>
        </p:txBody>
      </p:sp>
    </p:spTree>
    <p:extLst>
      <p:ext uri="{BB962C8B-B14F-4D97-AF65-F5344CB8AC3E}">
        <p14:creationId xmlns:p14="http://schemas.microsoft.com/office/powerpoint/2010/main" val="34974915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B87C13-09EA-3D8F-6CF9-BF84DB7D7A62}"/>
              </a:ext>
            </a:extLst>
          </p:cNvPr>
          <p:cNvSpPr>
            <a:spLocks noGrp="1"/>
          </p:cNvSpPr>
          <p:nvPr>
            <p:ph type="dt" sz="half" idx="10"/>
          </p:nvPr>
        </p:nvSpPr>
        <p:spPr/>
        <p:txBody>
          <a:bodyPr/>
          <a:lstStyle/>
          <a:p>
            <a:fld id="{8C94DF49-9917-7A4B-870D-E9982E883B56}" type="datetimeFigureOut">
              <a:rPr lang="en-NL" smtClean="0"/>
              <a:t>12/12/2025</a:t>
            </a:fld>
            <a:endParaRPr lang="en-NL"/>
          </a:p>
        </p:txBody>
      </p:sp>
      <p:sp>
        <p:nvSpPr>
          <p:cNvPr id="3" name="Footer Placeholder 2">
            <a:extLst>
              <a:ext uri="{FF2B5EF4-FFF2-40B4-BE49-F238E27FC236}">
                <a16:creationId xmlns:a16="http://schemas.microsoft.com/office/drawing/2014/main" id="{9E7E17DD-1B00-802F-3146-5A9B8F2EE887}"/>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8092EEB3-752F-9625-83AF-AE63368BE264}"/>
              </a:ext>
            </a:extLst>
          </p:cNvPr>
          <p:cNvSpPr>
            <a:spLocks noGrp="1"/>
          </p:cNvSpPr>
          <p:nvPr>
            <p:ph type="sldNum" sz="quarter" idx="12"/>
          </p:nvPr>
        </p:nvSpPr>
        <p:spPr/>
        <p:txBody>
          <a:bodyPr/>
          <a:lstStyle/>
          <a:p>
            <a:fld id="{8F4E83DC-6E42-D042-9398-26B69127EDEE}" type="slidenum">
              <a:rPr lang="en-NL" smtClean="0"/>
              <a:t>‹#›</a:t>
            </a:fld>
            <a:endParaRPr lang="en-NL"/>
          </a:p>
        </p:txBody>
      </p:sp>
    </p:spTree>
    <p:extLst>
      <p:ext uri="{BB962C8B-B14F-4D97-AF65-F5344CB8AC3E}">
        <p14:creationId xmlns:p14="http://schemas.microsoft.com/office/powerpoint/2010/main" val="20693312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E007A-2C16-5B36-09E5-E7EC10D3693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NL"/>
          </a:p>
        </p:txBody>
      </p:sp>
      <p:sp>
        <p:nvSpPr>
          <p:cNvPr id="3" name="Content Placeholder 2">
            <a:extLst>
              <a:ext uri="{FF2B5EF4-FFF2-40B4-BE49-F238E27FC236}">
                <a16:creationId xmlns:a16="http://schemas.microsoft.com/office/drawing/2014/main" id="{971E8255-C402-1723-C412-9DF11B6056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4" name="Text Placeholder 3">
            <a:extLst>
              <a:ext uri="{FF2B5EF4-FFF2-40B4-BE49-F238E27FC236}">
                <a16:creationId xmlns:a16="http://schemas.microsoft.com/office/drawing/2014/main" id="{AACB649D-8A7F-6C32-D62D-CDF7C23F29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EE62949-B967-E9A8-D028-E41DF100B7E0}"/>
              </a:ext>
            </a:extLst>
          </p:cNvPr>
          <p:cNvSpPr>
            <a:spLocks noGrp="1"/>
          </p:cNvSpPr>
          <p:nvPr>
            <p:ph type="dt" sz="half" idx="10"/>
          </p:nvPr>
        </p:nvSpPr>
        <p:spPr/>
        <p:txBody>
          <a:bodyPr/>
          <a:lstStyle/>
          <a:p>
            <a:fld id="{8C94DF49-9917-7A4B-870D-E9982E883B56}" type="datetimeFigureOut">
              <a:rPr lang="en-NL" smtClean="0"/>
              <a:t>12/12/2025</a:t>
            </a:fld>
            <a:endParaRPr lang="en-NL"/>
          </a:p>
        </p:txBody>
      </p:sp>
      <p:sp>
        <p:nvSpPr>
          <p:cNvPr id="6" name="Footer Placeholder 5">
            <a:extLst>
              <a:ext uri="{FF2B5EF4-FFF2-40B4-BE49-F238E27FC236}">
                <a16:creationId xmlns:a16="http://schemas.microsoft.com/office/drawing/2014/main" id="{CAA59CC5-4DDA-033C-D8D3-DE76158FAD5A}"/>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0E48FBD0-DCBD-F3A2-FA6F-DD04F6B5A7CA}"/>
              </a:ext>
            </a:extLst>
          </p:cNvPr>
          <p:cNvSpPr>
            <a:spLocks noGrp="1"/>
          </p:cNvSpPr>
          <p:nvPr>
            <p:ph type="sldNum" sz="quarter" idx="12"/>
          </p:nvPr>
        </p:nvSpPr>
        <p:spPr/>
        <p:txBody>
          <a:bodyPr/>
          <a:lstStyle/>
          <a:p>
            <a:fld id="{8F4E83DC-6E42-D042-9398-26B69127EDEE}" type="slidenum">
              <a:rPr lang="en-NL" smtClean="0"/>
              <a:t>‹#›</a:t>
            </a:fld>
            <a:endParaRPr lang="en-NL"/>
          </a:p>
        </p:txBody>
      </p:sp>
    </p:spTree>
    <p:extLst>
      <p:ext uri="{BB962C8B-B14F-4D97-AF65-F5344CB8AC3E}">
        <p14:creationId xmlns:p14="http://schemas.microsoft.com/office/powerpoint/2010/main" val="26313114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A074B-4874-45F8-E703-40B80A5323F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NL"/>
          </a:p>
        </p:txBody>
      </p:sp>
      <p:sp>
        <p:nvSpPr>
          <p:cNvPr id="3" name="Picture Placeholder 2">
            <a:extLst>
              <a:ext uri="{FF2B5EF4-FFF2-40B4-BE49-F238E27FC236}">
                <a16:creationId xmlns:a16="http://schemas.microsoft.com/office/drawing/2014/main" id="{630DD96C-9BB3-63A3-D7C1-3DA47EBE82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1AEF4563-77DB-51BB-314D-A56E0D66D3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4846AC0-88A7-86CA-913B-57317A0C5224}"/>
              </a:ext>
            </a:extLst>
          </p:cNvPr>
          <p:cNvSpPr>
            <a:spLocks noGrp="1"/>
          </p:cNvSpPr>
          <p:nvPr>
            <p:ph type="dt" sz="half" idx="10"/>
          </p:nvPr>
        </p:nvSpPr>
        <p:spPr/>
        <p:txBody>
          <a:bodyPr/>
          <a:lstStyle/>
          <a:p>
            <a:fld id="{8C94DF49-9917-7A4B-870D-E9982E883B56}" type="datetimeFigureOut">
              <a:rPr lang="en-NL" smtClean="0"/>
              <a:t>12/12/2025</a:t>
            </a:fld>
            <a:endParaRPr lang="en-NL"/>
          </a:p>
        </p:txBody>
      </p:sp>
      <p:sp>
        <p:nvSpPr>
          <p:cNvPr id="6" name="Footer Placeholder 5">
            <a:extLst>
              <a:ext uri="{FF2B5EF4-FFF2-40B4-BE49-F238E27FC236}">
                <a16:creationId xmlns:a16="http://schemas.microsoft.com/office/drawing/2014/main" id="{666F7C00-64D7-DE57-6E0E-4024EB71B11E}"/>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8A004D70-94F9-BD11-9937-BA22C4190A15}"/>
              </a:ext>
            </a:extLst>
          </p:cNvPr>
          <p:cNvSpPr>
            <a:spLocks noGrp="1"/>
          </p:cNvSpPr>
          <p:nvPr>
            <p:ph type="sldNum" sz="quarter" idx="12"/>
          </p:nvPr>
        </p:nvSpPr>
        <p:spPr/>
        <p:txBody>
          <a:bodyPr/>
          <a:lstStyle/>
          <a:p>
            <a:fld id="{8F4E83DC-6E42-D042-9398-26B69127EDEE}" type="slidenum">
              <a:rPr lang="en-NL" smtClean="0"/>
              <a:t>‹#›</a:t>
            </a:fld>
            <a:endParaRPr lang="en-NL"/>
          </a:p>
        </p:txBody>
      </p:sp>
    </p:spTree>
    <p:extLst>
      <p:ext uri="{BB962C8B-B14F-4D97-AF65-F5344CB8AC3E}">
        <p14:creationId xmlns:p14="http://schemas.microsoft.com/office/powerpoint/2010/main" val="1025904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AEFAB-D009-3275-D0CF-FF440CC7852D}"/>
              </a:ext>
            </a:extLst>
          </p:cNvPr>
          <p:cNvSpPr>
            <a:spLocks noGrp="1"/>
          </p:cNvSpPr>
          <p:nvPr>
            <p:ph type="title"/>
          </p:nvPr>
        </p:nvSpPr>
        <p:spPr/>
        <p:txBody>
          <a:bodyPr/>
          <a:lstStyle/>
          <a:p>
            <a:r>
              <a:rPr lang="en-GB"/>
              <a:t>Click to edit Master title style</a:t>
            </a:r>
            <a:endParaRPr lang="en-NL"/>
          </a:p>
        </p:txBody>
      </p:sp>
      <p:sp>
        <p:nvSpPr>
          <p:cNvPr id="3" name="Vertical Text Placeholder 2">
            <a:extLst>
              <a:ext uri="{FF2B5EF4-FFF2-40B4-BE49-F238E27FC236}">
                <a16:creationId xmlns:a16="http://schemas.microsoft.com/office/drawing/2014/main" id="{21AE30B5-2983-C2C6-FD9A-1CB33468B8D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4" name="Date Placeholder 3">
            <a:extLst>
              <a:ext uri="{FF2B5EF4-FFF2-40B4-BE49-F238E27FC236}">
                <a16:creationId xmlns:a16="http://schemas.microsoft.com/office/drawing/2014/main" id="{F5626ECF-E61E-88AA-DC85-8AB8223C56D4}"/>
              </a:ext>
            </a:extLst>
          </p:cNvPr>
          <p:cNvSpPr>
            <a:spLocks noGrp="1"/>
          </p:cNvSpPr>
          <p:nvPr>
            <p:ph type="dt" sz="half" idx="10"/>
          </p:nvPr>
        </p:nvSpPr>
        <p:spPr/>
        <p:txBody>
          <a:bodyPr/>
          <a:lstStyle/>
          <a:p>
            <a:fld id="{8C94DF49-9917-7A4B-870D-E9982E883B56}" type="datetimeFigureOut">
              <a:rPr lang="en-NL" smtClean="0"/>
              <a:t>12/12/2025</a:t>
            </a:fld>
            <a:endParaRPr lang="en-NL"/>
          </a:p>
        </p:txBody>
      </p:sp>
      <p:sp>
        <p:nvSpPr>
          <p:cNvPr id="5" name="Footer Placeholder 4">
            <a:extLst>
              <a:ext uri="{FF2B5EF4-FFF2-40B4-BE49-F238E27FC236}">
                <a16:creationId xmlns:a16="http://schemas.microsoft.com/office/drawing/2014/main" id="{E08C2F9D-9462-6B77-E1B8-F4D0FB26486E}"/>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60D3EFFF-E224-5ABD-E239-460EF4A9DAD0}"/>
              </a:ext>
            </a:extLst>
          </p:cNvPr>
          <p:cNvSpPr>
            <a:spLocks noGrp="1"/>
          </p:cNvSpPr>
          <p:nvPr>
            <p:ph type="sldNum" sz="quarter" idx="12"/>
          </p:nvPr>
        </p:nvSpPr>
        <p:spPr/>
        <p:txBody>
          <a:bodyPr/>
          <a:lstStyle/>
          <a:p>
            <a:fld id="{8F4E83DC-6E42-D042-9398-26B69127EDEE}" type="slidenum">
              <a:rPr lang="en-NL" smtClean="0"/>
              <a:t>‹#›</a:t>
            </a:fld>
            <a:endParaRPr lang="en-NL"/>
          </a:p>
        </p:txBody>
      </p:sp>
    </p:spTree>
    <p:extLst>
      <p:ext uri="{BB962C8B-B14F-4D97-AF65-F5344CB8AC3E}">
        <p14:creationId xmlns:p14="http://schemas.microsoft.com/office/powerpoint/2010/main" val="19985560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780EB2-5DDD-FD54-EAA5-E3A829CD73D0}"/>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NL"/>
          </a:p>
        </p:txBody>
      </p:sp>
      <p:sp>
        <p:nvSpPr>
          <p:cNvPr id="3" name="Vertical Text Placeholder 2">
            <a:extLst>
              <a:ext uri="{FF2B5EF4-FFF2-40B4-BE49-F238E27FC236}">
                <a16:creationId xmlns:a16="http://schemas.microsoft.com/office/drawing/2014/main" id="{6C7D0F5D-58A2-48BD-6376-830477BCD2C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4" name="Date Placeholder 3">
            <a:extLst>
              <a:ext uri="{FF2B5EF4-FFF2-40B4-BE49-F238E27FC236}">
                <a16:creationId xmlns:a16="http://schemas.microsoft.com/office/drawing/2014/main" id="{6E4D9D7E-5B3E-DED1-D9B1-B7D9EC822994}"/>
              </a:ext>
            </a:extLst>
          </p:cNvPr>
          <p:cNvSpPr>
            <a:spLocks noGrp="1"/>
          </p:cNvSpPr>
          <p:nvPr>
            <p:ph type="dt" sz="half" idx="10"/>
          </p:nvPr>
        </p:nvSpPr>
        <p:spPr/>
        <p:txBody>
          <a:bodyPr/>
          <a:lstStyle/>
          <a:p>
            <a:fld id="{8C94DF49-9917-7A4B-870D-E9982E883B56}" type="datetimeFigureOut">
              <a:rPr lang="en-NL" smtClean="0"/>
              <a:t>12/12/2025</a:t>
            </a:fld>
            <a:endParaRPr lang="en-NL"/>
          </a:p>
        </p:txBody>
      </p:sp>
      <p:sp>
        <p:nvSpPr>
          <p:cNvPr id="5" name="Footer Placeholder 4">
            <a:extLst>
              <a:ext uri="{FF2B5EF4-FFF2-40B4-BE49-F238E27FC236}">
                <a16:creationId xmlns:a16="http://schemas.microsoft.com/office/drawing/2014/main" id="{33D63C7F-DC1B-2C05-F064-D3881C588D61}"/>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3794DE2F-CC62-07CE-F081-0262850A7BF0}"/>
              </a:ext>
            </a:extLst>
          </p:cNvPr>
          <p:cNvSpPr>
            <a:spLocks noGrp="1"/>
          </p:cNvSpPr>
          <p:nvPr>
            <p:ph type="sldNum" sz="quarter" idx="12"/>
          </p:nvPr>
        </p:nvSpPr>
        <p:spPr/>
        <p:txBody>
          <a:bodyPr/>
          <a:lstStyle/>
          <a:p>
            <a:fld id="{8F4E83DC-6E42-D042-9398-26B69127EDEE}" type="slidenum">
              <a:rPr lang="en-NL" smtClean="0"/>
              <a:t>‹#›</a:t>
            </a:fld>
            <a:endParaRPr lang="en-NL"/>
          </a:p>
        </p:txBody>
      </p:sp>
    </p:spTree>
    <p:extLst>
      <p:ext uri="{BB962C8B-B14F-4D97-AF65-F5344CB8AC3E}">
        <p14:creationId xmlns:p14="http://schemas.microsoft.com/office/powerpoint/2010/main" val="468302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78734AC-765F-B056-52BC-E93580A464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NL"/>
          </a:p>
        </p:txBody>
      </p:sp>
      <p:sp>
        <p:nvSpPr>
          <p:cNvPr id="3" name="Text Placeholder 2">
            <a:extLst>
              <a:ext uri="{FF2B5EF4-FFF2-40B4-BE49-F238E27FC236}">
                <a16:creationId xmlns:a16="http://schemas.microsoft.com/office/drawing/2014/main" id="{EBDE3E35-B29B-C985-77E9-CA58A9B6EC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4" name="Date Placeholder 3">
            <a:extLst>
              <a:ext uri="{FF2B5EF4-FFF2-40B4-BE49-F238E27FC236}">
                <a16:creationId xmlns:a16="http://schemas.microsoft.com/office/drawing/2014/main" id="{8EC754DB-BAB7-9F8C-0D00-07754AEBD0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C94DF49-9917-7A4B-870D-E9982E883B56}" type="datetimeFigureOut">
              <a:rPr lang="en-NL" smtClean="0"/>
              <a:t>12/12/2025</a:t>
            </a:fld>
            <a:endParaRPr lang="en-NL"/>
          </a:p>
        </p:txBody>
      </p:sp>
      <p:sp>
        <p:nvSpPr>
          <p:cNvPr id="5" name="Footer Placeholder 4">
            <a:extLst>
              <a:ext uri="{FF2B5EF4-FFF2-40B4-BE49-F238E27FC236}">
                <a16:creationId xmlns:a16="http://schemas.microsoft.com/office/drawing/2014/main" id="{4FDED7B9-421F-D067-F4CE-AFB8664F16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BFEB56EC-0618-90AE-6C6C-3EFEAF73C5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F4E83DC-6E42-D042-9398-26B69127EDEE}" type="slidenum">
              <a:rPr lang="en-NL" smtClean="0"/>
              <a:t>‹#›</a:t>
            </a:fld>
            <a:endParaRPr lang="en-NL"/>
          </a:p>
        </p:txBody>
      </p:sp>
      <p:sp>
        <p:nvSpPr>
          <p:cNvPr id="8" name="TextBox 7">
            <a:extLst>
              <a:ext uri="{FF2B5EF4-FFF2-40B4-BE49-F238E27FC236}">
                <a16:creationId xmlns:a16="http://schemas.microsoft.com/office/drawing/2014/main" id="{7C99E5D0-6A45-9493-07C5-1733072C896D}"/>
              </a:ext>
            </a:extLst>
          </p:cNvPr>
          <p:cNvSpPr txBox="1"/>
          <p:nvPr userDrawn="1">
            <p:extLst>
              <p:ext uri="{1162E1C5-73C7-4A58-AE30-91384D911F3F}">
                <p184:classification xmlns:p184="http://schemas.microsoft.com/office/powerpoint/2018/4/main" val="ftr"/>
              </p:ext>
            </p:extLst>
          </p:nvPr>
        </p:nvSpPr>
        <p:spPr>
          <a:xfrm>
            <a:off x="63500" y="6657340"/>
            <a:ext cx="1030288" cy="137160"/>
          </a:xfrm>
          <a:prstGeom prst="rect">
            <a:avLst/>
          </a:prstGeom>
        </p:spPr>
        <p:txBody>
          <a:bodyPr horzOverflow="overflow" lIns="0" tIns="0" rIns="0" bIns="0">
            <a:spAutoFit/>
          </a:bodyPr>
          <a:lstStyle/>
          <a:p>
            <a:pPr algn="l"/>
            <a:r>
              <a:rPr lang="en-NL" sz="900">
                <a:solidFill>
                  <a:srgbClr val="CF022B">
                    <a:alpha val="50000"/>
                  </a:srgbClr>
                </a:solidFill>
                <a:latin typeface="Tahoma" panose="020B0604030504040204" pitchFamily="34" charset="0"/>
                <a:ea typeface="Tahoma" panose="020B0604030504040204" pitchFamily="34" charset="0"/>
                <a:cs typeface="Tahoma" panose="020B0604030504040204" pitchFamily="34" charset="0"/>
              </a:rPr>
              <a:t>C2 - Restricted use </a:t>
            </a:r>
          </a:p>
        </p:txBody>
      </p:sp>
    </p:spTree>
    <p:extLst>
      <p:ext uri="{BB962C8B-B14F-4D97-AF65-F5344CB8AC3E}">
        <p14:creationId xmlns:p14="http://schemas.microsoft.com/office/powerpoint/2010/main" val="1536562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0F7DAD5-3C4F-812B-DBF0-2C53452E2385}"/>
              </a:ext>
            </a:extLst>
          </p:cNvPr>
          <p:cNvSpPr>
            <a:spLocks noGrp="1"/>
          </p:cNvSpPr>
          <p:nvPr>
            <p:ph type="ctrTitle"/>
          </p:nvPr>
        </p:nvSpPr>
        <p:spPr/>
        <p:txBody>
          <a:bodyPr/>
          <a:lstStyle/>
          <a:p>
            <a:r>
              <a:rPr lang="en-NL" dirty="0"/>
              <a:t>Typering van relaties</a:t>
            </a:r>
          </a:p>
        </p:txBody>
      </p:sp>
      <p:sp>
        <p:nvSpPr>
          <p:cNvPr id="5" name="Subtitle 4">
            <a:extLst>
              <a:ext uri="{FF2B5EF4-FFF2-40B4-BE49-F238E27FC236}">
                <a16:creationId xmlns:a16="http://schemas.microsoft.com/office/drawing/2014/main" id="{9C1FDC13-4749-3003-1FF5-B5E57442E9FA}"/>
              </a:ext>
            </a:extLst>
          </p:cNvPr>
          <p:cNvSpPr>
            <a:spLocks noGrp="1"/>
          </p:cNvSpPr>
          <p:nvPr>
            <p:ph type="subTitle" idx="1"/>
          </p:nvPr>
        </p:nvSpPr>
        <p:spPr/>
        <p:txBody>
          <a:bodyPr/>
          <a:lstStyle/>
          <a:p>
            <a:r>
              <a:rPr lang="en-NL" dirty="0"/>
              <a:t>Rollen, namen en predicaten</a:t>
            </a:r>
          </a:p>
          <a:p>
            <a:r>
              <a:rPr lang="en-NL" dirty="0"/>
              <a:t>(roles, names, predicates)</a:t>
            </a:r>
          </a:p>
        </p:txBody>
      </p:sp>
    </p:spTree>
    <p:extLst>
      <p:ext uri="{BB962C8B-B14F-4D97-AF65-F5344CB8AC3E}">
        <p14:creationId xmlns:p14="http://schemas.microsoft.com/office/powerpoint/2010/main" val="274797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E173-21B5-D507-BE4F-514D80A714BE}"/>
              </a:ext>
            </a:extLst>
          </p:cNvPr>
          <p:cNvSpPr>
            <a:spLocks noGrp="1"/>
          </p:cNvSpPr>
          <p:nvPr>
            <p:ph type="title"/>
          </p:nvPr>
        </p:nvSpPr>
        <p:spPr/>
        <p:txBody>
          <a:bodyPr/>
          <a:lstStyle/>
          <a:p>
            <a:r>
              <a:rPr lang="en-NL" dirty="0"/>
              <a:t>Basisvoorbeeld</a:t>
            </a:r>
          </a:p>
        </p:txBody>
      </p:sp>
      <p:sp>
        <p:nvSpPr>
          <p:cNvPr id="3" name="Content Placeholder 2">
            <a:extLst>
              <a:ext uri="{FF2B5EF4-FFF2-40B4-BE49-F238E27FC236}">
                <a16:creationId xmlns:a16="http://schemas.microsoft.com/office/drawing/2014/main" id="{2C9FF155-832E-C75B-5D55-45E1707E2FDB}"/>
              </a:ext>
            </a:extLst>
          </p:cNvPr>
          <p:cNvSpPr>
            <a:spLocks noGrp="1"/>
          </p:cNvSpPr>
          <p:nvPr>
            <p:ph idx="1"/>
          </p:nvPr>
        </p:nvSpPr>
        <p:spPr>
          <a:xfrm>
            <a:off x="838199" y="1825625"/>
            <a:ext cx="11037983" cy="4351338"/>
          </a:xfrm>
        </p:spPr>
        <p:txBody>
          <a:bodyPr>
            <a:normAutofit fontScale="92500" lnSpcReduction="10000"/>
          </a:bodyPr>
          <a:lstStyle/>
          <a:p>
            <a:r>
              <a:rPr lang="en-NL" dirty="0"/>
              <a:t>Een relatie betreft een verbintenis tussen domeinobjecten</a:t>
            </a:r>
          </a:p>
          <a:p>
            <a:pPr lvl="1"/>
            <a:r>
              <a:rPr lang="en-NL" dirty="0"/>
              <a:t>Dit kunnen er 2 of meerdere zijn, meestal is het een verbintenis tussen 2</a:t>
            </a:r>
          </a:p>
          <a:p>
            <a:r>
              <a:rPr lang="en-NL" dirty="0"/>
              <a:t>Zo’n relatie kan een </a:t>
            </a:r>
            <a:r>
              <a:rPr lang="en-NL" i="1" dirty="0"/>
              <a:t>naam</a:t>
            </a:r>
            <a:r>
              <a:rPr lang="en-NL" dirty="0"/>
              <a:t> hebben.</a:t>
            </a:r>
          </a:p>
          <a:p>
            <a:pPr lvl="1"/>
            <a:r>
              <a:rPr lang="en-NL" dirty="0"/>
              <a:t>Bijvoorbeeld: “de </a:t>
            </a:r>
            <a:r>
              <a:rPr lang="en-NL" i="1" dirty="0"/>
              <a:t>dienstbetrekking</a:t>
            </a:r>
            <a:r>
              <a:rPr lang="en-NL" dirty="0"/>
              <a:t> tussen Jan en Bakkerij Broodjes</a:t>
            </a:r>
          </a:p>
          <a:p>
            <a:r>
              <a:rPr lang="en-NL" dirty="0"/>
              <a:t>Bij de </a:t>
            </a:r>
            <a:r>
              <a:rPr lang="en-NL" i="1" dirty="0"/>
              <a:t>typering</a:t>
            </a:r>
            <a:r>
              <a:rPr lang="en-NL" dirty="0"/>
              <a:t> van zo’n relatie is dit ook de naam van het relatietype</a:t>
            </a:r>
          </a:p>
          <a:p>
            <a:pPr lvl="1"/>
            <a:r>
              <a:rPr lang="en-NL" dirty="0"/>
              <a:t>Bijvoorbeeld: “het relatietype </a:t>
            </a:r>
            <a:r>
              <a:rPr lang="en-NL" i="1" dirty="0"/>
              <a:t>dienstbetrekking</a:t>
            </a:r>
            <a:r>
              <a:rPr lang="en-NL" dirty="0"/>
              <a:t> typeert dienstbetrekkingen”</a:t>
            </a:r>
          </a:p>
          <a:p>
            <a:r>
              <a:rPr lang="en-NL" dirty="0"/>
              <a:t>Bij een relatie kunnen </a:t>
            </a:r>
            <a:r>
              <a:rPr lang="en-NL" i="1" dirty="0"/>
              <a:t>rollen</a:t>
            </a:r>
            <a:r>
              <a:rPr lang="en-NL" dirty="0"/>
              <a:t> relevant zijn</a:t>
            </a:r>
          </a:p>
          <a:p>
            <a:pPr lvl="1"/>
            <a:r>
              <a:rPr lang="en-NL" dirty="0"/>
              <a:t>Bijvoorbeeld: “werknemer” en “werkgever”</a:t>
            </a:r>
          </a:p>
          <a:p>
            <a:r>
              <a:rPr lang="en-NL" dirty="0"/>
              <a:t>Als een relatie een feit is, dan gebruik je vaak proposities om dit uit te drukken:</a:t>
            </a:r>
          </a:p>
          <a:p>
            <a:pPr lvl="1"/>
            <a:r>
              <a:rPr lang="en-NL" dirty="0"/>
              <a:t>Bijvoorbeeld: “Jan </a:t>
            </a:r>
            <a:r>
              <a:rPr lang="en-NL" i="1" dirty="0"/>
              <a:t>is in dienst van</a:t>
            </a:r>
            <a:r>
              <a:rPr lang="en-NL" dirty="0"/>
              <a:t> Bakkerij Broodjes”</a:t>
            </a:r>
          </a:p>
        </p:txBody>
      </p:sp>
    </p:spTree>
    <p:extLst>
      <p:ext uri="{BB962C8B-B14F-4D97-AF65-F5344CB8AC3E}">
        <p14:creationId xmlns:p14="http://schemas.microsoft.com/office/powerpoint/2010/main" val="5483011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8FC7A-F870-71E3-0014-7ED46F143DB7}"/>
              </a:ext>
            </a:extLst>
          </p:cNvPr>
          <p:cNvSpPr>
            <a:spLocks noGrp="1"/>
          </p:cNvSpPr>
          <p:nvPr>
            <p:ph type="title"/>
          </p:nvPr>
        </p:nvSpPr>
        <p:spPr/>
        <p:txBody>
          <a:bodyPr/>
          <a:lstStyle/>
          <a:p>
            <a:r>
              <a:rPr lang="en-NL" dirty="0"/>
              <a:t>Relaties en proposities</a:t>
            </a:r>
          </a:p>
        </p:txBody>
      </p:sp>
      <p:sp>
        <p:nvSpPr>
          <p:cNvPr id="3" name="Content Placeholder 2">
            <a:extLst>
              <a:ext uri="{FF2B5EF4-FFF2-40B4-BE49-F238E27FC236}">
                <a16:creationId xmlns:a16="http://schemas.microsoft.com/office/drawing/2014/main" id="{61C38123-ABA2-1AD2-4943-85EF456AE19E}"/>
              </a:ext>
            </a:extLst>
          </p:cNvPr>
          <p:cNvSpPr>
            <a:spLocks noGrp="1"/>
          </p:cNvSpPr>
          <p:nvPr>
            <p:ph idx="1"/>
          </p:nvPr>
        </p:nvSpPr>
        <p:spPr>
          <a:xfrm>
            <a:off x="838200" y="1825624"/>
            <a:ext cx="10515600" cy="4905681"/>
          </a:xfrm>
        </p:spPr>
        <p:txBody>
          <a:bodyPr>
            <a:normAutofit fontScale="92500" lnSpcReduction="20000"/>
          </a:bodyPr>
          <a:lstStyle/>
          <a:p>
            <a:r>
              <a:rPr lang="en-NL" dirty="0"/>
              <a:t>Relaties hebben in beginsel geen richting</a:t>
            </a:r>
          </a:p>
          <a:p>
            <a:pPr lvl="1"/>
            <a:r>
              <a:rPr lang="en-NL" dirty="0"/>
              <a:t>Een relatie is </a:t>
            </a:r>
            <a:r>
              <a:rPr lang="en-NL" i="1" dirty="0"/>
              <a:t>tussen</a:t>
            </a:r>
            <a:r>
              <a:rPr lang="en-NL" dirty="0"/>
              <a:t> twee (binair) of meerdere domeinobjecten (tertair, etc.)</a:t>
            </a:r>
          </a:p>
          <a:p>
            <a:r>
              <a:rPr lang="en-NL" dirty="0"/>
              <a:t>Een propositie is een uitspraak over de relatie en heeft daarmee een onderwerp </a:t>
            </a:r>
            <a:r>
              <a:rPr lang="en-NL" i="1" dirty="0"/>
              <a:t>waarover</a:t>
            </a:r>
            <a:r>
              <a:rPr lang="en-NL" dirty="0"/>
              <a:t> de propositie gaat, en dus wel een richting</a:t>
            </a:r>
          </a:p>
          <a:p>
            <a:pPr lvl="1"/>
            <a:r>
              <a:rPr lang="en-NL" dirty="0"/>
              <a:t>Bijvoorbeeld: “Jan </a:t>
            </a:r>
            <a:r>
              <a:rPr lang="en-NL" sz="1700" i="1" dirty="0">
                <a:solidFill>
                  <a:schemeClr val="accent6">
                    <a:lumMod val="75000"/>
                  </a:schemeClr>
                </a:solidFill>
              </a:rPr>
              <a:t>(onderwerp)</a:t>
            </a:r>
            <a:r>
              <a:rPr lang="en-NL" dirty="0"/>
              <a:t> is in dienst bij Bakkerij Broodjes”</a:t>
            </a:r>
          </a:p>
          <a:p>
            <a:r>
              <a:rPr lang="en-NL" dirty="0"/>
              <a:t>Elke deelnemer aan de relatie kan het onderwerp van een propositie van die relatie zijn:</a:t>
            </a:r>
          </a:p>
          <a:p>
            <a:pPr lvl="1"/>
            <a:r>
              <a:rPr lang="en-NL" dirty="0"/>
              <a:t>Bijvoorbeeld (ook) “Bakkerij broodjes </a:t>
            </a:r>
            <a:r>
              <a:rPr lang="en-NL" sz="1700" i="1" dirty="0">
                <a:solidFill>
                  <a:schemeClr val="accent6">
                    <a:lumMod val="75000"/>
                  </a:schemeClr>
                </a:solidFill>
              </a:rPr>
              <a:t>(onderwerp)</a:t>
            </a:r>
            <a:r>
              <a:rPr lang="en-NL" sz="1700" i="1" dirty="0">
                <a:solidFill>
                  <a:srgbClr val="FF0000"/>
                </a:solidFill>
              </a:rPr>
              <a:t> </a:t>
            </a:r>
            <a:r>
              <a:rPr lang="en-NL" dirty="0"/>
              <a:t>heeft Jan in dienst”</a:t>
            </a:r>
          </a:p>
          <a:p>
            <a:r>
              <a:rPr lang="en-NL" dirty="0"/>
              <a:t>Maar ook de relatie </a:t>
            </a:r>
            <a:r>
              <a:rPr lang="en-NL" i="1" dirty="0"/>
              <a:t>zelf</a:t>
            </a:r>
            <a:r>
              <a:rPr lang="en-NL" dirty="0"/>
              <a:t> kan het onderwerp zijn</a:t>
            </a:r>
          </a:p>
          <a:p>
            <a:pPr lvl="1"/>
            <a:r>
              <a:rPr lang="en-NL" dirty="0"/>
              <a:t>Bijvoorbeeld: “De dienstbetrekking </a:t>
            </a:r>
            <a:r>
              <a:rPr lang="en-NL" sz="1700" i="1" dirty="0">
                <a:solidFill>
                  <a:schemeClr val="accent6">
                    <a:lumMod val="75000"/>
                  </a:schemeClr>
                </a:solidFill>
              </a:rPr>
              <a:t>(onderwerp)</a:t>
            </a:r>
            <a:r>
              <a:rPr lang="en-NL" dirty="0"/>
              <a:t> van werknemer Jan met werkgever Bakkerij Broodjes”</a:t>
            </a:r>
          </a:p>
          <a:p>
            <a:pPr lvl="1"/>
            <a:r>
              <a:rPr lang="en-NL" dirty="0"/>
              <a:t>Dit kan al bij binaire relaties, maar zal vaker voorkomen bij hogere orde relaties, of relaties met eigenschappen</a:t>
            </a:r>
          </a:p>
          <a:p>
            <a:pPr lvl="1"/>
            <a:r>
              <a:rPr lang="en-NL" dirty="0"/>
              <a:t>Bijvoorbeeld: “De dienstbetrekking </a:t>
            </a:r>
            <a:r>
              <a:rPr lang="en-NL" sz="1700" i="1" dirty="0">
                <a:solidFill>
                  <a:schemeClr val="accent6">
                    <a:lumMod val="75000"/>
                  </a:schemeClr>
                </a:solidFill>
              </a:rPr>
              <a:t>(onderwerp)</a:t>
            </a:r>
            <a:r>
              <a:rPr lang="en-NL" dirty="0"/>
              <a:t> is gestart op 1 januari 2026”</a:t>
            </a:r>
          </a:p>
        </p:txBody>
      </p:sp>
    </p:spTree>
    <p:extLst>
      <p:ext uri="{BB962C8B-B14F-4D97-AF65-F5344CB8AC3E}">
        <p14:creationId xmlns:p14="http://schemas.microsoft.com/office/powerpoint/2010/main" val="1075957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D0635-4A69-C4AE-D709-071F59E1FC30}"/>
              </a:ext>
            </a:extLst>
          </p:cNvPr>
          <p:cNvSpPr>
            <a:spLocks noGrp="1"/>
          </p:cNvSpPr>
          <p:nvPr>
            <p:ph type="title"/>
          </p:nvPr>
        </p:nvSpPr>
        <p:spPr/>
        <p:txBody>
          <a:bodyPr/>
          <a:lstStyle/>
          <a:p>
            <a:r>
              <a:rPr lang="en-NL" dirty="0"/>
              <a:t>Proposities en predicaten</a:t>
            </a:r>
          </a:p>
        </p:txBody>
      </p:sp>
      <p:sp>
        <p:nvSpPr>
          <p:cNvPr id="3" name="Content Placeholder 2">
            <a:extLst>
              <a:ext uri="{FF2B5EF4-FFF2-40B4-BE49-F238E27FC236}">
                <a16:creationId xmlns:a16="http://schemas.microsoft.com/office/drawing/2014/main" id="{E5022661-88F6-A260-628D-6E8C1417A4CA}"/>
              </a:ext>
            </a:extLst>
          </p:cNvPr>
          <p:cNvSpPr>
            <a:spLocks noGrp="1"/>
          </p:cNvSpPr>
          <p:nvPr>
            <p:ph idx="1"/>
          </p:nvPr>
        </p:nvSpPr>
        <p:spPr/>
        <p:txBody>
          <a:bodyPr>
            <a:normAutofit lnSpcReduction="10000"/>
          </a:bodyPr>
          <a:lstStyle/>
          <a:p>
            <a:r>
              <a:rPr lang="en-NL" dirty="0"/>
              <a:t>In de logica is een propositie een uitspraak die waar of onwaar is</a:t>
            </a:r>
          </a:p>
          <a:p>
            <a:pPr lvl="1"/>
            <a:r>
              <a:rPr lang="en-NL" dirty="0"/>
              <a:t>Bijvoorbeeld: “Jan is in dienst van Bakkerij Broodjes”</a:t>
            </a:r>
          </a:p>
          <a:p>
            <a:r>
              <a:rPr lang="en-NL" dirty="0"/>
              <a:t>Een predicaat is een uitspraak met vrije variabelen</a:t>
            </a:r>
          </a:p>
          <a:p>
            <a:pPr lvl="1"/>
            <a:r>
              <a:rPr lang="en-NL" dirty="0"/>
              <a:t>Bijvoorbeeld: “Een persoon X is in dienst van een organisatie Y”</a:t>
            </a:r>
          </a:p>
          <a:p>
            <a:r>
              <a:rPr lang="en-NL" dirty="0"/>
              <a:t>Rollen zijn daarbij de “namen” van de variabelen:</a:t>
            </a:r>
          </a:p>
          <a:p>
            <a:pPr lvl="1"/>
            <a:r>
              <a:rPr lang="en-NL" dirty="0"/>
              <a:t>Bijvoorbeeld: “Een werknemer X is in dienst van een werkgever Y”</a:t>
            </a:r>
          </a:p>
          <a:p>
            <a:pPr lvl="1"/>
            <a:r>
              <a:rPr lang="en-NL" dirty="0"/>
              <a:t>De variable (rol) «werknemer» wordt ingevuld door X, </a:t>
            </a:r>
            <a:r>
              <a:rPr lang="en-NL" i="1" dirty="0"/>
              <a:t>een</a:t>
            </a:r>
            <a:r>
              <a:rPr lang="en-NL" dirty="0"/>
              <a:t> persoon</a:t>
            </a:r>
          </a:p>
          <a:p>
            <a:pPr lvl="1"/>
            <a:r>
              <a:rPr lang="en-NL" dirty="0"/>
              <a:t>De variable (rol) »werkgever» wordt ingevuld door Y, </a:t>
            </a:r>
            <a:r>
              <a:rPr lang="en-NL" i="1" dirty="0"/>
              <a:t>een</a:t>
            </a:r>
            <a:r>
              <a:rPr lang="en-NL" dirty="0"/>
              <a:t> organisatie</a:t>
            </a:r>
          </a:p>
          <a:p>
            <a:r>
              <a:rPr lang="en-NL" dirty="0"/>
              <a:t>Soms worden rollen ook echt gebruikt in het predicaat:</a:t>
            </a:r>
          </a:p>
          <a:p>
            <a:pPr lvl="1"/>
            <a:r>
              <a:rPr lang="en-NL" dirty="0"/>
              <a:t>Bijvoorbeeld: “X heeft werkgever Y”</a:t>
            </a:r>
          </a:p>
          <a:p>
            <a:endParaRPr lang="en-NL" dirty="0"/>
          </a:p>
        </p:txBody>
      </p:sp>
    </p:spTree>
    <p:extLst>
      <p:ext uri="{BB962C8B-B14F-4D97-AF65-F5344CB8AC3E}">
        <p14:creationId xmlns:p14="http://schemas.microsoft.com/office/powerpoint/2010/main" val="637701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30BFB-5703-DDC2-0AAB-CB0A934BB923}"/>
              </a:ext>
            </a:extLst>
          </p:cNvPr>
          <p:cNvSpPr>
            <a:spLocks noGrp="1"/>
          </p:cNvSpPr>
          <p:nvPr>
            <p:ph type="title"/>
          </p:nvPr>
        </p:nvSpPr>
        <p:spPr/>
        <p:txBody>
          <a:bodyPr/>
          <a:lstStyle/>
          <a:p>
            <a:r>
              <a:rPr lang="en-NL" dirty="0"/>
              <a:t>Wat betekent dit voor ons metamodel?</a:t>
            </a:r>
          </a:p>
        </p:txBody>
      </p:sp>
      <p:sp>
        <p:nvSpPr>
          <p:cNvPr id="3" name="Content Placeholder 2">
            <a:extLst>
              <a:ext uri="{FF2B5EF4-FFF2-40B4-BE49-F238E27FC236}">
                <a16:creationId xmlns:a16="http://schemas.microsoft.com/office/drawing/2014/main" id="{C206A0EE-333E-97EF-37A3-08688AC1886E}"/>
              </a:ext>
            </a:extLst>
          </p:cNvPr>
          <p:cNvSpPr>
            <a:spLocks noGrp="1"/>
          </p:cNvSpPr>
          <p:nvPr>
            <p:ph idx="1"/>
          </p:nvPr>
        </p:nvSpPr>
        <p:spPr/>
        <p:txBody>
          <a:bodyPr/>
          <a:lstStyle/>
          <a:p>
            <a:r>
              <a:rPr lang="en-NL" dirty="0"/>
              <a:t>We typeren relaties met een meta-modelelement RELATIETYPE</a:t>
            </a:r>
          </a:p>
          <a:p>
            <a:r>
              <a:rPr lang="en-NL" dirty="0"/>
              <a:t>Bij zo’n relatietype beschrijven we de rollen die ingevuld kunnen worden.</a:t>
            </a:r>
          </a:p>
          <a:p>
            <a:r>
              <a:rPr lang="en-NL" dirty="0"/>
              <a:t>Ook kan zo’n relatietype een </a:t>
            </a:r>
            <a:r>
              <a:rPr lang="en-NL" i="1" dirty="0"/>
              <a:t>naam</a:t>
            </a:r>
            <a:r>
              <a:rPr lang="en-NL" dirty="0"/>
              <a:t> hebben</a:t>
            </a:r>
          </a:p>
          <a:p>
            <a:r>
              <a:rPr lang="en-NL" dirty="0"/>
              <a:t>Daarnaast kan bij een relatietype één of meerdere predicaten beschreven worden</a:t>
            </a:r>
          </a:p>
          <a:p>
            <a:pPr lvl="1"/>
            <a:r>
              <a:rPr lang="en-NL" dirty="0"/>
              <a:t>Predicaten hebben een richting van </a:t>
            </a:r>
            <a:r>
              <a:rPr lang="en-NL" i="1" dirty="0"/>
              <a:t>onderwerp</a:t>
            </a:r>
            <a:r>
              <a:rPr lang="en-NL" dirty="0"/>
              <a:t> naar </a:t>
            </a:r>
            <a:r>
              <a:rPr lang="en-NL" i="1" dirty="0"/>
              <a:t>voorwerp</a:t>
            </a:r>
            <a:endParaRPr lang="en-NL" dirty="0"/>
          </a:p>
        </p:txBody>
      </p:sp>
    </p:spTree>
    <p:extLst>
      <p:ext uri="{BB962C8B-B14F-4D97-AF65-F5344CB8AC3E}">
        <p14:creationId xmlns:p14="http://schemas.microsoft.com/office/powerpoint/2010/main" val="706585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1502-F0A4-BAB2-2160-B5C8390470BA}"/>
              </a:ext>
            </a:extLst>
          </p:cNvPr>
          <p:cNvSpPr>
            <a:spLocks noGrp="1"/>
          </p:cNvSpPr>
          <p:nvPr>
            <p:ph type="title"/>
          </p:nvPr>
        </p:nvSpPr>
        <p:spPr/>
        <p:txBody>
          <a:bodyPr/>
          <a:lstStyle/>
          <a:p>
            <a:r>
              <a:rPr lang="en-NL" dirty="0"/>
              <a:t>H</a:t>
            </a:r>
            <a:r>
              <a:rPr lang="en-GB" dirty="0"/>
              <a:t>o</a:t>
            </a:r>
            <a:r>
              <a:rPr lang="en-NL" dirty="0"/>
              <a:t>e verhoudt zich dit tot MIM 1.2 c.q. UML</a:t>
            </a:r>
          </a:p>
        </p:txBody>
      </p:sp>
      <p:sp>
        <p:nvSpPr>
          <p:cNvPr id="3" name="Content Placeholder 2">
            <a:extLst>
              <a:ext uri="{FF2B5EF4-FFF2-40B4-BE49-F238E27FC236}">
                <a16:creationId xmlns:a16="http://schemas.microsoft.com/office/drawing/2014/main" id="{DFEFFEF8-81E0-DC9F-7527-70B19E7308F7}"/>
              </a:ext>
            </a:extLst>
          </p:cNvPr>
          <p:cNvSpPr>
            <a:spLocks noGrp="1"/>
          </p:cNvSpPr>
          <p:nvPr>
            <p:ph idx="1"/>
          </p:nvPr>
        </p:nvSpPr>
        <p:spPr/>
        <p:txBody>
          <a:bodyPr>
            <a:normAutofit fontScale="92500" lnSpcReduction="10000"/>
          </a:bodyPr>
          <a:lstStyle/>
          <a:p>
            <a:r>
              <a:rPr lang="en-NL" dirty="0"/>
              <a:t>In MIM 1.2 is een relatiesoort eigenlijk meer een predicaat</a:t>
            </a:r>
          </a:p>
          <a:p>
            <a:pPr lvl="1"/>
            <a:r>
              <a:rPr lang="en-NL" dirty="0"/>
              <a:t>Het heeft een bron (“onderwerp”) en een doel (”voorwerp”)</a:t>
            </a:r>
          </a:p>
          <a:p>
            <a:pPr lvl="1"/>
            <a:r>
              <a:rPr lang="en-NL" dirty="0"/>
              <a:t>In MIM 1.2 kon de naam van een relatieklasse formeel niet iets anders zijn dan de tekst “op het lijntje”</a:t>
            </a:r>
          </a:p>
          <a:p>
            <a:r>
              <a:rPr lang="en-NL" dirty="0"/>
              <a:t>In UML hebben we slechts de mogelijkheid om op het lijntje 1 predicaat neer te zetten</a:t>
            </a:r>
          </a:p>
          <a:p>
            <a:pPr lvl="1"/>
            <a:r>
              <a:rPr lang="en-NL" dirty="0"/>
              <a:t>Bij gebruik van een association-class kun je ook nog de naam van de association(class) kwijt.</a:t>
            </a:r>
          </a:p>
          <a:p>
            <a:r>
              <a:rPr lang="en-NL" dirty="0"/>
              <a:t>Voorstel:</a:t>
            </a:r>
          </a:p>
          <a:p>
            <a:pPr lvl="1"/>
            <a:r>
              <a:rPr lang="en-NL" dirty="0"/>
              <a:t>In het metamodel onderscheiden we naam en (1 of meerdere) predicaten</a:t>
            </a:r>
          </a:p>
          <a:p>
            <a:pPr lvl="1"/>
            <a:r>
              <a:rPr lang="en-NL" dirty="0"/>
              <a:t>In UML is de tekst op het lijntje het </a:t>
            </a:r>
            <a:r>
              <a:rPr lang="en-NL" i="1" dirty="0"/>
              <a:t>voorkeurspredicaat</a:t>
            </a:r>
            <a:endParaRPr lang="en-NL" dirty="0"/>
          </a:p>
          <a:p>
            <a:pPr lvl="1"/>
            <a:r>
              <a:rPr lang="en-NL" dirty="0"/>
              <a:t>De overige gegevens kunnen in tagged values</a:t>
            </a:r>
          </a:p>
        </p:txBody>
      </p:sp>
    </p:spTree>
    <p:extLst>
      <p:ext uri="{BB962C8B-B14F-4D97-AF65-F5344CB8AC3E}">
        <p14:creationId xmlns:p14="http://schemas.microsoft.com/office/powerpoint/2010/main" val="3649314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50276DD-E203-D69B-5211-AF8E45BE04DB}"/>
              </a:ext>
            </a:extLst>
          </p:cNvPr>
          <p:cNvPicPr>
            <a:picLocks noChangeAspect="1"/>
          </p:cNvPicPr>
          <p:nvPr/>
        </p:nvPicPr>
        <p:blipFill>
          <a:blip r:embed="rId2"/>
          <a:srcRect l="31177" t="15776" r="-31177" b="26101"/>
          <a:stretch>
            <a:fillRect/>
          </a:stretch>
        </p:blipFill>
        <p:spPr>
          <a:xfrm>
            <a:off x="288268" y="941633"/>
            <a:ext cx="9160532" cy="4974734"/>
          </a:xfrm>
          <a:prstGeom prst="rect">
            <a:avLst/>
          </a:prstGeom>
        </p:spPr>
      </p:pic>
      <p:sp>
        <p:nvSpPr>
          <p:cNvPr id="5" name="Oval 4">
            <a:extLst>
              <a:ext uri="{FF2B5EF4-FFF2-40B4-BE49-F238E27FC236}">
                <a16:creationId xmlns:a16="http://schemas.microsoft.com/office/drawing/2014/main" id="{6A3CFEEB-6210-BE47-58EA-53D4BF1122B1}"/>
              </a:ext>
            </a:extLst>
          </p:cNvPr>
          <p:cNvSpPr/>
          <p:nvPr/>
        </p:nvSpPr>
        <p:spPr>
          <a:xfrm>
            <a:off x="3352800" y="2302626"/>
            <a:ext cx="1995055" cy="252706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TextBox 5">
            <a:extLst>
              <a:ext uri="{FF2B5EF4-FFF2-40B4-BE49-F238E27FC236}">
                <a16:creationId xmlns:a16="http://schemas.microsoft.com/office/drawing/2014/main" id="{024D3A70-4BCF-770C-9081-192EB5EA4D5B}"/>
              </a:ext>
            </a:extLst>
          </p:cNvPr>
          <p:cNvSpPr txBox="1"/>
          <p:nvPr/>
        </p:nvSpPr>
        <p:spPr>
          <a:xfrm>
            <a:off x="7096297" y="2521371"/>
            <a:ext cx="4990927" cy="923330"/>
          </a:xfrm>
          <a:prstGeom prst="rect">
            <a:avLst/>
          </a:prstGeom>
          <a:noFill/>
        </p:spPr>
        <p:txBody>
          <a:bodyPr wrap="square" rtlCol="0">
            <a:spAutoFit/>
          </a:bodyPr>
          <a:lstStyle/>
          <a:p>
            <a:r>
              <a:rPr lang="en-NL" dirty="0">
                <a:solidFill>
                  <a:srgbClr val="FF0000"/>
                </a:solidFill>
              </a:rPr>
              <a:t>Dit stukje is eigenlijk het huidige MIM 1.2 model:</a:t>
            </a:r>
          </a:p>
          <a:p>
            <a:pPr marL="285750" indent="-285750">
              <a:buFontTx/>
              <a:buChar char="-"/>
            </a:pPr>
            <a:r>
              <a:rPr lang="en-NL" dirty="0">
                <a:solidFill>
                  <a:srgbClr val="FF0000"/>
                </a:solidFill>
              </a:rPr>
              <a:t>Propositie =&gt; Relatiesoort</a:t>
            </a:r>
          </a:p>
          <a:p>
            <a:pPr marL="285750" indent="-285750">
              <a:buFontTx/>
              <a:buChar char="-"/>
            </a:pPr>
            <a:r>
              <a:rPr lang="en-NL" dirty="0">
                <a:solidFill>
                  <a:srgbClr val="FF0000"/>
                </a:solidFill>
              </a:rPr>
              <a:t>Rolinvullingstypedoel =&gt; Relatierol-doel</a:t>
            </a:r>
          </a:p>
        </p:txBody>
      </p:sp>
      <p:cxnSp>
        <p:nvCxnSpPr>
          <p:cNvPr id="8" name="Straight Arrow Connector 7">
            <a:extLst>
              <a:ext uri="{FF2B5EF4-FFF2-40B4-BE49-F238E27FC236}">
                <a16:creationId xmlns:a16="http://schemas.microsoft.com/office/drawing/2014/main" id="{4A7DB2D4-F666-0C3F-7F59-78B2D55EE504}"/>
              </a:ext>
            </a:extLst>
          </p:cNvPr>
          <p:cNvCxnSpPr/>
          <p:nvPr/>
        </p:nvCxnSpPr>
        <p:spPr>
          <a:xfrm flipH="1">
            <a:off x="5014913" y="2814638"/>
            <a:ext cx="2081385" cy="61436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65854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3AB47-E9F9-5803-4272-5F2FD8C0EC7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97089AB-00B3-B7C8-646E-B4D795A5B336}"/>
              </a:ext>
            </a:extLst>
          </p:cNvPr>
          <p:cNvSpPr>
            <a:spLocks noGrp="1"/>
          </p:cNvSpPr>
          <p:nvPr>
            <p:ph type="ctrTitle"/>
          </p:nvPr>
        </p:nvSpPr>
        <p:spPr/>
        <p:txBody>
          <a:bodyPr/>
          <a:lstStyle/>
          <a:p>
            <a:r>
              <a:rPr lang="en-NL" dirty="0"/>
              <a:t>Objecttype &amp; categorie</a:t>
            </a:r>
          </a:p>
        </p:txBody>
      </p:sp>
      <p:sp>
        <p:nvSpPr>
          <p:cNvPr id="5" name="Subtitle 4">
            <a:extLst>
              <a:ext uri="{FF2B5EF4-FFF2-40B4-BE49-F238E27FC236}">
                <a16:creationId xmlns:a16="http://schemas.microsoft.com/office/drawing/2014/main" id="{D1ED4D15-2582-1844-014A-EAFBD21B0EDC}"/>
              </a:ext>
            </a:extLst>
          </p:cNvPr>
          <p:cNvSpPr>
            <a:spLocks noGrp="1"/>
          </p:cNvSpPr>
          <p:nvPr>
            <p:ph type="subTitle" idx="1"/>
          </p:nvPr>
        </p:nvSpPr>
        <p:spPr/>
        <p:txBody>
          <a:bodyPr/>
          <a:lstStyle/>
          <a:p>
            <a:r>
              <a:rPr lang="en-NL" dirty="0"/>
              <a:t>Sets, classes, types en categories</a:t>
            </a:r>
          </a:p>
        </p:txBody>
      </p:sp>
    </p:spTree>
    <p:extLst>
      <p:ext uri="{BB962C8B-B14F-4D97-AF65-F5344CB8AC3E}">
        <p14:creationId xmlns:p14="http://schemas.microsoft.com/office/powerpoint/2010/main" val="41228973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CFE61-4080-2C38-FFB8-F932FC147CD8}"/>
              </a:ext>
            </a:extLst>
          </p:cNvPr>
          <p:cNvSpPr>
            <a:spLocks noGrp="1"/>
          </p:cNvSpPr>
          <p:nvPr>
            <p:ph type="title"/>
          </p:nvPr>
        </p:nvSpPr>
        <p:spPr/>
        <p:txBody>
          <a:bodyPr/>
          <a:lstStyle/>
          <a:p>
            <a:r>
              <a:rPr lang="en-NL" dirty="0"/>
              <a:t>Set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9A92D38-7D93-FFBF-70A0-CF381EA4333E}"/>
                  </a:ext>
                </a:extLst>
              </p:cNvPr>
              <p:cNvSpPr>
                <a:spLocks noGrp="1"/>
              </p:cNvSpPr>
              <p:nvPr>
                <p:ph idx="1"/>
              </p:nvPr>
            </p:nvSpPr>
            <p:spPr>
              <a:xfrm>
                <a:off x="838200" y="1825625"/>
                <a:ext cx="11106150" cy="4351338"/>
              </a:xfrm>
            </p:spPr>
            <p:txBody>
              <a:bodyPr/>
              <a:lstStyle/>
              <a:p>
                <a:r>
                  <a:rPr lang="en-NL" dirty="0"/>
                  <a:t>Een </a:t>
                </a:r>
                <a:r>
                  <a:rPr lang="en-NL" i="1" dirty="0"/>
                  <a:t>set </a:t>
                </a:r>
                <a:r>
                  <a:rPr lang="en-NL" dirty="0"/>
                  <a:t>is een verzameling van dingen</a:t>
                </a:r>
              </a:p>
              <a:p>
                <a:endParaRPr lang="en-NL" dirty="0"/>
              </a:p>
              <a:p>
                <a:r>
                  <a:rPr lang="en-NL" dirty="0"/>
                  <a:t>Bijvoorbeeld: </a:t>
                </a:r>
                <a14:m>
                  <m:oMath xmlns:m="http://schemas.openxmlformats.org/officeDocument/2006/math">
                    <m:r>
                      <a:rPr lang="en-NL" i="1" smtClean="0">
                        <a:latin typeface="Cambria Math" panose="02040503050406030204" pitchFamily="18" charset="0"/>
                        <a:ea typeface="Cambria Math" panose="02040503050406030204" pitchFamily="18" charset="0"/>
                      </a:rPr>
                      <m:t>ℕ</m:t>
                    </m:r>
                  </m:oMath>
                </a14:m>
                <a:r>
                  <a:rPr lang="en-NL" dirty="0"/>
                  <a:t> is de verzameling van gehele getallen groter of gelijk aan nul: {0, 1, 2, 3, ..}</a:t>
                </a:r>
              </a:p>
              <a:p>
                <a:pPr lvl="1"/>
                <a14:m>
                  <m:oMath xmlns:m="http://schemas.openxmlformats.org/officeDocument/2006/math">
                    <m:r>
                      <a:rPr lang="en-US" b="0" i="1" smtClean="0">
                        <a:latin typeface="Cambria Math" panose="02040503050406030204" pitchFamily="18" charset="0"/>
                        <a:ea typeface="Cambria Math" panose="02040503050406030204" pitchFamily="18" charset="0"/>
                      </a:rPr>
                      <m:t>15</m:t>
                    </m:r>
                    <m:r>
                      <a:rPr lang="en-NL" i="1" smtClean="0">
                        <a:latin typeface="Cambria Math" panose="02040503050406030204" pitchFamily="18" charset="0"/>
                        <a:ea typeface="Cambria Math" panose="02040503050406030204" pitchFamily="18" charset="0"/>
                      </a:rPr>
                      <m:t>∈</m:t>
                    </m:r>
                    <m:r>
                      <a:rPr lang="en-NL" i="1" smtClean="0">
                        <a:latin typeface="Cambria Math" panose="02040503050406030204" pitchFamily="18" charset="0"/>
                        <a:ea typeface="Cambria Math" panose="02040503050406030204" pitchFamily="18" charset="0"/>
                      </a:rPr>
                      <m:t>ℕ</m:t>
                    </m:r>
                  </m:oMath>
                </a14:m>
                <a:endParaRPr lang="en-NL" dirty="0"/>
              </a:p>
              <a:p>
                <a:pPr lvl="1"/>
                <a:endParaRPr lang="en-NL" dirty="0"/>
              </a:p>
              <a:p>
                <a:r>
                  <a:rPr lang="en-NL" dirty="0"/>
                  <a:t>Maar ook bijvoorbeeld: </a:t>
                </a:r>
                <a14:m>
                  <m:oMath xmlns:m="http://schemas.openxmlformats.org/officeDocument/2006/math">
                    <m:r>
                      <a:rPr lang="en-NL" i="1" smtClean="0">
                        <a:latin typeface="Cambria Math" panose="02040503050406030204" pitchFamily="18" charset="0"/>
                        <a:ea typeface="Cambria Math" panose="02040503050406030204" pitchFamily="18" charset="0"/>
                      </a:rPr>
                      <m:t>𝔐</m:t>
                    </m:r>
                  </m:oMath>
                </a14:m>
                <a:r>
                  <a:rPr lang="en-NL" dirty="0"/>
                  <a:t> is de verzameling van alle mensen</a:t>
                </a:r>
              </a:p>
              <a:p>
                <a:pPr lvl="1"/>
                <a:r>
                  <a:rPr lang="en-NL" dirty="0"/>
                  <a:t>Onze koning is een element (voorkomen) in deze verzameling (hij komt daarin voor)</a:t>
                </a:r>
              </a:p>
            </p:txBody>
          </p:sp>
        </mc:Choice>
        <mc:Fallback xmlns="">
          <p:sp>
            <p:nvSpPr>
              <p:cNvPr id="3" name="Content Placeholder 2">
                <a:extLst>
                  <a:ext uri="{FF2B5EF4-FFF2-40B4-BE49-F238E27FC236}">
                    <a16:creationId xmlns:a16="http://schemas.microsoft.com/office/drawing/2014/main" id="{69A92D38-7D93-FFBF-70A0-CF381EA4333E}"/>
                  </a:ext>
                </a:extLst>
              </p:cNvPr>
              <p:cNvSpPr>
                <a:spLocks noGrp="1" noRot="1" noChangeAspect="1" noMove="1" noResize="1" noEditPoints="1" noAdjustHandles="1" noChangeArrowheads="1" noChangeShapeType="1" noTextEdit="1"/>
              </p:cNvSpPr>
              <p:nvPr>
                <p:ph idx="1"/>
              </p:nvPr>
            </p:nvSpPr>
            <p:spPr>
              <a:xfrm>
                <a:off x="838200" y="1825625"/>
                <a:ext cx="11106150" cy="4351338"/>
              </a:xfrm>
              <a:blipFill>
                <a:blip r:embed="rId2"/>
                <a:stretch>
                  <a:fillRect l="-1029" t="-2326"/>
                </a:stretch>
              </a:blipFill>
            </p:spPr>
            <p:txBody>
              <a:bodyPr/>
              <a:lstStyle/>
              <a:p>
                <a:r>
                  <a:rPr lang="en-NL">
                    <a:noFill/>
                  </a:rPr>
                  <a:t> </a:t>
                </a:r>
              </a:p>
            </p:txBody>
          </p:sp>
        </mc:Fallback>
      </mc:AlternateContent>
    </p:spTree>
    <p:extLst>
      <p:ext uri="{BB962C8B-B14F-4D97-AF65-F5344CB8AC3E}">
        <p14:creationId xmlns:p14="http://schemas.microsoft.com/office/powerpoint/2010/main" val="794771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B050C-4EB8-C7DB-95D6-EC89EE31F446}"/>
              </a:ext>
            </a:extLst>
          </p:cNvPr>
          <p:cNvSpPr>
            <a:spLocks noGrp="1"/>
          </p:cNvSpPr>
          <p:nvPr>
            <p:ph type="title"/>
          </p:nvPr>
        </p:nvSpPr>
        <p:spPr/>
        <p:txBody>
          <a:bodyPr/>
          <a:lstStyle/>
          <a:p>
            <a:r>
              <a:rPr lang="en-NL" dirty="0"/>
              <a:t>Class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90C9BEC-EFE4-844E-6644-BB174F16C240}"/>
                  </a:ext>
                </a:extLst>
              </p:cNvPr>
              <p:cNvSpPr>
                <a:spLocks noGrp="1"/>
              </p:cNvSpPr>
              <p:nvPr>
                <p:ph idx="1"/>
              </p:nvPr>
            </p:nvSpPr>
            <p:spPr/>
            <p:txBody>
              <a:bodyPr>
                <a:normAutofit lnSpcReduction="10000"/>
              </a:bodyPr>
              <a:lstStyle/>
              <a:p>
                <a:r>
                  <a:rPr lang="en-NL" dirty="0"/>
                  <a:t>Een </a:t>
                </a:r>
                <a:r>
                  <a:rPr lang="en-NL" i="1" dirty="0"/>
                  <a:t>class</a:t>
                </a:r>
                <a:r>
                  <a:rPr lang="en-NL" dirty="0"/>
                  <a:t> is een unaire propositie die waar is als een bepaald element behoort tot deze </a:t>
                </a:r>
                <a:r>
                  <a:rPr lang="en-NL" i="1" dirty="0"/>
                  <a:t>class</a:t>
                </a:r>
                <a:r>
                  <a:rPr lang="en-NL" dirty="0"/>
                  <a:t>:</a:t>
                </a:r>
              </a:p>
              <a:p>
                <a:endParaRPr lang="en-NL" dirty="0"/>
              </a:p>
              <a:p>
                <a:pPr lvl="1"/>
                <a:r>
                  <a:rPr lang="en-NL" dirty="0"/>
                  <a:t>N(x) =&gt; x behoort tot de klasse N</a:t>
                </a:r>
              </a:p>
              <a:p>
                <a:pPr lvl="1"/>
                <a:r>
                  <a:rPr lang="en-NL" dirty="0"/>
                  <a:t>Stel dat N de klasse is van alle natuurlijke getallen, dan geldt:</a:t>
                </a:r>
              </a:p>
              <a:p>
                <a:pPr lvl="1"/>
                <a14:m>
                  <m:oMath xmlns:m="http://schemas.openxmlformats.org/officeDocument/2006/math">
                    <m:r>
                      <a:rPr lang="en-NL"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ℕ</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oMath>
                </a14:m>
                <a:endParaRPr lang="en-NL" dirty="0"/>
              </a:p>
              <a:p>
                <a:pPr lvl="2"/>
                <a:r>
                  <a:rPr lang="en-NL" dirty="0"/>
                  <a:t>(voor alle x die in de verzameling natuurlijke getallen zit, geldt dat N(x) waar is)</a:t>
                </a:r>
              </a:p>
              <a:p>
                <a:pPr lvl="1"/>
                <a:endParaRPr lang="en-NL" dirty="0"/>
              </a:p>
              <a:p>
                <a:pPr lvl="1"/>
                <a:r>
                  <a:rPr lang="en-NL" dirty="0"/>
                  <a:t>M(x) =&gt; x behoort tot de klasse M</a:t>
                </a:r>
              </a:p>
              <a:p>
                <a:pPr lvl="1"/>
                <a:r>
                  <a:rPr lang="en-NL" dirty="0"/>
                  <a:t>Stel dat M de klasse is van alle mensen, dan geldt:</a:t>
                </a:r>
              </a:p>
              <a:p>
                <a:pPr lvl="1"/>
                <a:r>
                  <a:rPr lang="en-NL" dirty="0"/>
                  <a:t>Als M(x), dan is x een mens, dwz: hij zit in de verzameling van alle mensen</a:t>
                </a:r>
              </a:p>
            </p:txBody>
          </p:sp>
        </mc:Choice>
        <mc:Fallback xmlns="">
          <p:sp>
            <p:nvSpPr>
              <p:cNvPr id="3" name="Content Placeholder 2">
                <a:extLst>
                  <a:ext uri="{FF2B5EF4-FFF2-40B4-BE49-F238E27FC236}">
                    <a16:creationId xmlns:a16="http://schemas.microsoft.com/office/drawing/2014/main" id="{490C9BEC-EFE4-844E-6644-BB174F16C240}"/>
                  </a:ext>
                </a:extLst>
              </p:cNvPr>
              <p:cNvSpPr>
                <a:spLocks noGrp="1" noRot="1" noChangeAspect="1" noMove="1" noResize="1" noEditPoints="1" noAdjustHandles="1" noChangeArrowheads="1" noChangeShapeType="1" noTextEdit="1"/>
              </p:cNvSpPr>
              <p:nvPr>
                <p:ph idx="1"/>
              </p:nvPr>
            </p:nvSpPr>
            <p:spPr>
              <a:blipFill>
                <a:blip r:embed="rId2"/>
                <a:stretch>
                  <a:fillRect l="-1086" t="-3198"/>
                </a:stretch>
              </a:blipFill>
            </p:spPr>
            <p:txBody>
              <a:bodyPr/>
              <a:lstStyle/>
              <a:p>
                <a:r>
                  <a:rPr lang="en-NL">
                    <a:noFill/>
                  </a:rPr>
                  <a:t> </a:t>
                </a:r>
              </a:p>
            </p:txBody>
          </p:sp>
        </mc:Fallback>
      </mc:AlternateContent>
    </p:spTree>
    <p:extLst>
      <p:ext uri="{BB962C8B-B14F-4D97-AF65-F5344CB8AC3E}">
        <p14:creationId xmlns:p14="http://schemas.microsoft.com/office/powerpoint/2010/main" val="3328907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A8B28-6B1B-B9DD-B1A5-31A06B3A3BCE}"/>
              </a:ext>
            </a:extLst>
          </p:cNvPr>
          <p:cNvSpPr>
            <a:spLocks noGrp="1"/>
          </p:cNvSpPr>
          <p:nvPr>
            <p:ph type="title"/>
          </p:nvPr>
        </p:nvSpPr>
        <p:spPr/>
        <p:txBody>
          <a:bodyPr/>
          <a:lstStyle/>
          <a:p>
            <a:r>
              <a:rPr lang="en-NL" dirty="0"/>
              <a:t>Class en set</a:t>
            </a:r>
          </a:p>
        </p:txBody>
      </p:sp>
      <p:sp>
        <p:nvSpPr>
          <p:cNvPr id="4" name="Oval 3">
            <a:extLst>
              <a:ext uri="{FF2B5EF4-FFF2-40B4-BE49-F238E27FC236}">
                <a16:creationId xmlns:a16="http://schemas.microsoft.com/office/drawing/2014/main" id="{5D69AB04-D84C-7303-4122-3D9A8B0784BC}"/>
              </a:ext>
            </a:extLst>
          </p:cNvPr>
          <p:cNvSpPr/>
          <p:nvPr/>
        </p:nvSpPr>
        <p:spPr>
          <a:xfrm>
            <a:off x="7158038" y="581025"/>
            <a:ext cx="3386137" cy="264318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 name="Oval 4">
            <a:extLst>
              <a:ext uri="{FF2B5EF4-FFF2-40B4-BE49-F238E27FC236}">
                <a16:creationId xmlns:a16="http://schemas.microsoft.com/office/drawing/2014/main" id="{B658F8F9-D750-27A5-5E39-B0D827820E82}"/>
              </a:ext>
            </a:extLst>
          </p:cNvPr>
          <p:cNvSpPr/>
          <p:nvPr/>
        </p:nvSpPr>
        <p:spPr>
          <a:xfrm>
            <a:off x="7158038" y="3995737"/>
            <a:ext cx="3386137" cy="264318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TextBox 5">
            <a:extLst>
              <a:ext uri="{FF2B5EF4-FFF2-40B4-BE49-F238E27FC236}">
                <a16:creationId xmlns:a16="http://schemas.microsoft.com/office/drawing/2014/main" id="{F75425FB-9A9F-2B8A-336E-696EA0686DF1}"/>
              </a:ext>
            </a:extLst>
          </p:cNvPr>
          <p:cNvSpPr txBox="1"/>
          <p:nvPr/>
        </p:nvSpPr>
        <p:spPr>
          <a:xfrm>
            <a:off x="7026439" y="230863"/>
            <a:ext cx="3649332" cy="369332"/>
          </a:xfrm>
          <a:prstGeom prst="rect">
            <a:avLst/>
          </a:prstGeom>
          <a:noFill/>
        </p:spPr>
        <p:txBody>
          <a:bodyPr wrap="none" rtlCol="0">
            <a:spAutoFit/>
          </a:bodyPr>
          <a:lstStyle/>
          <a:p>
            <a:r>
              <a:rPr lang="en-NL" dirty="0"/>
              <a:t>De </a:t>
            </a:r>
            <a:r>
              <a:rPr lang="en-NL" i="1" dirty="0"/>
              <a:t>verzameling</a:t>
            </a:r>
            <a:r>
              <a:rPr lang="en-NL" dirty="0"/>
              <a:t> natuurlijke getallen</a:t>
            </a:r>
          </a:p>
        </p:txBody>
      </p:sp>
      <p:sp>
        <p:nvSpPr>
          <p:cNvPr id="7" name="TextBox 6">
            <a:extLst>
              <a:ext uri="{FF2B5EF4-FFF2-40B4-BE49-F238E27FC236}">
                <a16:creationId xmlns:a16="http://schemas.microsoft.com/office/drawing/2014/main" id="{CB54946F-0FDE-91A3-566B-715A6ACE0523}"/>
              </a:ext>
            </a:extLst>
          </p:cNvPr>
          <p:cNvSpPr txBox="1"/>
          <p:nvPr/>
        </p:nvSpPr>
        <p:spPr>
          <a:xfrm>
            <a:off x="7572005" y="3664744"/>
            <a:ext cx="2558201" cy="369332"/>
          </a:xfrm>
          <a:prstGeom prst="rect">
            <a:avLst/>
          </a:prstGeom>
          <a:noFill/>
        </p:spPr>
        <p:txBody>
          <a:bodyPr wrap="none" rtlCol="0">
            <a:spAutoFit/>
          </a:bodyPr>
          <a:lstStyle/>
          <a:p>
            <a:r>
              <a:rPr lang="en-NL" dirty="0"/>
              <a:t>De </a:t>
            </a:r>
            <a:r>
              <a:rPr lang="en-NL" i="1" dirty="0"/>
              <a:t>verzameling</a:t>
            </a:r>
            <a:r>
              <a:rPr lang="en-NL" dirty="0"/>
              <a:t> mensen</a:t>
            </a:r>
          </a:p>
        </p:txBody>
      </p:sp>
      <p:sp>
        <p:nvSpPr>
          <p:cNvPr id="8" name="TextBox 7">
            <a:extLst>
              <a:ext uri="{FF2B5EF4-FFF2-40B4-BE49-F238E27FC236}">
                <a16:creationId xmlns:a16="http://schemas.microsoft.com/office/drawing/2014/main" id="{F67CF6FF-7D0E-7E15-15D3-C60B128877A9}"/>
              </a:ext>
            </a:extLst>
          </p:cNvPr>
          <p:cNvSpPr txBox="1"/>
          <p:nvPr/>
        </p:nvSpPr>
        <p:spPr>
          <a:xfrm>
            <a:off x="7986713" y="1291054"/>
            <a:ext cx="349776" cy="461665"/>
          </a:xfrm>
          <a:prstGeom prst="rect">
            <a:avLst/>
          </a:prstGeom>
          <a:noFill/>
        </p:spPr>
        <p:txBody>
          <a:bodyPr wrap="none" rtlCol="0">
            <a:spAutoFit/>
          </a:bodyPr>
          <a:lstStyle/>
          <a:p>
            <a:r>
              <a:rPr lang="en-NL" sz="2400" dirty="0"/>
              <a:t>0</a:t>
            </a:r>
          </a:p>
        </p:txBody>
      </p:sp>
      <p:sp>
        <p:nvSpPr>
          <p:cNvPr id="9" name="TextBox 8">
            <a:extLst>
              <a:ext uri="{FF2B5EF4-FFF2-40B4-BE49-F238E27FC236}">
                <a16:creationId xmlns:a16="http://schemas.microsoft.com/office/drawing/2014/main" id="{A9501188-00AF-0F2D-0340-EBB423331EC7}"/>
              </a:ext>
            </a:extLst>
          </p:cNvPr>
          <p:cNvSpPr txBox="1"/>
          <p:nvPr/>
        </p:nvSpPr>
        <p:spPr>
          <a:xfrm>
            <a:off x="9072028" y="1114961"/>
            <a:ext cx="349776" cy="461665"/>
          </a:xfrm>
          <a:prstGeom prst="rect">
            <a:avLst/>
          </a:prstGeom>
          <a:noFill/>
        </p:spPr>
        <p:txBody>
          <a:bodyPr wrap="none" rtlCol="0">
            <a:spAutoFit/>
          </a:bodyPr>
          <a:lstStyle/>
          <a:p>
            <a:r>
              <a:rPr lang="en-NL" sz="2400" dirty="0"/>
              <a:t>1</a:t>
            </a:r>
          </a:p>
        </p:txBody>
      </p:sp>
      <p:sp>
        <p:nvSpPr>
          <p:cNvPr id="10" name="TextBox 9">
            <a:extLst>
              <a:ext uri="{FF2B5EF4-FFF2-40B4-BE49-F238E27FC236}">
                <a16:creationId xmlns:a16="http://schemas.microsoft.com/office/drawing/2014/main" id="{8B001817-A820-932E-FC01-E1BE8EA3B265}"/>
              </a:ext>
            </a:extLst>
          </p:cNvPr>
          <p:cNvSpPr txBox="1"/>
          <p:nvPr/>
        </p:nvSpPr>
        <p:spPr>
          <a:xfrm>
            <a:off x="9072028" y="1958333"/>
            <a:ext cx="349776" cy="461665"/>
          </a:xfrm>
          <a:prstGeom prst="rect">
            <a:avLst/>
          </a:prstGeom>
          <a:noFill/>
        </p:spPr>
        <p:txBody>
          <a:bodyPr wrap="none" rtlCol="0">
            <a:spAutoFit/>
          </a:bodyPr>
          <a:lstStyle/>
          <a:p>
            <a:r>
              <a:rPr lang="en-NL" sz="2400" dirty="0"/>
              <a:t>2</a:t>
            </a:r>
          </a:p>
        </p:txBody>
      </p:sp>
      <p:sp>
        <p:nvSpPr>
          <p:cNvPr id="11" name="TextBox 10">
            <a:extLst>
              <a:ext uri="{FF2B5EF4-FFF2-40B4-BE49-F238E27FC236}">
                <a16:creationId xmlns:a16="http://schemas.microsoft.com/office/drawing/2014/main" id="{A5B37499-44B9-F21D-7035-6A412DE7EC7A}"/>
              </a:ext>
            </a:extLst>
          </p:cNvPr>
          <p:cNvSpPr txBox="1"/>
          <p:nvPr/>
        </p:nvSpPr>
        <p:spPr>
          <a:xfrm>
            <a:off x="7765257" y="2062578"/>
            <a:ext cx="349776" cy="461665"/>
          </a:xfrm>
          <a:prstGeom prst="rect">
            <a:avLst/>
          </a:prstGeom>
          <a:noFill/>
        </p:spPr>
        <p:txBody>
          <a:bodyPr wrap="none" rtlCol="0">
            <a:spAutoFit/>
          </a:bodyPr>
          <a:lstStyle/>
          <a:p>
            <a:r>
              <a:rPr lang="en-NL" sz="2400" dirty="0"/>
              <a:t>3</a:t>
            </a:r>
          </a:p>
        </p:txBody>
      </p:sp>
      <p:sp>
        <p:nvSpPr>
          <p:cNvPr id="12" name="TextBox 11">
            <a:extLst>
              <a:ext uri="{FF2B5EF4-FFF2-40B4-BE49-F238E27FC236}">
                <a16:creationId xmlns:a16="http://schemas.microsoft.com/office/drawing/2014/main" id="{FAE682F4-D096-8AC0-00C4-C7271F60AE3F}"/>
              </a:ext>
            </a:extLst>
          </p:cNvPr>
          <p:cNvSpPr txBox="1"/>
          <p:nvPr/>
        </p:nvSpPr>
        <p:spPr>
          <a:xfrm>
            <a:off x="8372476" y="2381547"/>
            <a:ext cx="349776" cy="461665"/>
          </a:xfrm>
          <a:prstGeom prst="rect">
            <a:avLst/>
          </a:prstGeom>
          <a:noFill/>
        </p:spPr>
        <p:txBody>
          <a:bodyPr wrap="none" rtlCol="0">
            <a:spAutoFit/>
          </a:bodyPr>
          <a:lstStyle/>
          <a:p>
            <a:r>
              <a:rPr lang="en-NL" sz="2400" dirty="0"/>
              <a:t>4</a:t>
            </a:r>
          </a:p>
        </p:txBody>
      </p:sp>
      <p:sp>
        <p:nvSpPr>
          <p:cNvPr id="13" name="TextBox 12">
            <a:extLst>
              <a:ext uri="{FF2B5EF4-FFF2-40B4-BE49-F238E27FC236}">
                <a16:creationId xmlns:a16="http://schemas.microsoft.com/office/drawing/2014/main" id="{31BC1656-BEB7-0586-8A3F-143C4A19483E}"/>
              </a:ext>
            </a:extLst>
          </p:cNvPr>
          <p:cNvSpPr txBox="1"/>
          <p:nvPr/>
        </p:nvSpPr>
        <p:spPr>
          <a:xfrm>
            <a:off x="9062246" y="2538885"/>
            <a:ext cx="349776" cy="461665"/>
          </a:xfrm>
          <a:prstGeom prst="rect">
            <a:avLst/>
          </a:prstGeom>
          <a:noFill/>
        </p:spPr>
        <p:txBody>
          <a:bodyPr wrap="none" rtlCol="0">
            <a:spAutoFit/>
          </a:bodyPr>
          <a:lstStyle/>
          <a:p>
            <a:r>
              <a:rPr lang="en-NL" sz="2400" dirty="0"/>
              <a:t>5</a:t>
            </a:r>
          </a:p>
        </p:txBody>
      </p:sp>
      <p:sp>
        <p:nvSpPr>
          <p:cNvPr id="14" name="TextBox 13">
            <a:extLst>
              <a:ext uri="{FF2B5EF4-FFF2-40B4-BE49-F238E27FC236}">
                <a16:creationId xmlns:a16="http://schemas.microsoft.com/office/drawing/2014/main" id="{F156079F-EBA8-C650-AAD0-5B15047ADD2B}"/>
              </a:ext>
            </a:extLst>
          </p:cNvPr>
          <p:cNvSpPr txBox="1"/>
          <p:nvPr/>
        </p:nvSpPr>
        <p:spPr>
          <a:xfrm>
            <a:off x="8432258" y="1624337"/>
            <a:ext cx="349776" cy="461665"/>
          </a:xfrm>
          <a:prstGeom prst="rect">
            <a:avLst/>
          </a:prstGeom>
          <a:noFill/>
        </p:spPr>
        <p:txBody>
          <a:bodyPr wrap="none" rtlCol="0">
            <a:spAutoFit/>
          </a:bodyPr>
          <a:lstStyle/>
          <a:p>
            <a:r>
              <a:rPr lang="en-NL" sz="2400" dirty="0"/>
              <a:t>6</a:t>
            </a:r>
          </a:p>
        </p:txBody>
      </p:sp>
      <p:sp>
        <p:nvSpPr>
          <p:cNvPr id="15" name="TextBox 14">
            <a:extLst>
              <a:ext uri="{FF2B5EF4-FFF2-40B4-BE49-F238E27FC236}">
                <a16:creationId xmlns:a16="http://schemas.microsoft.com/office/drawing/2014/main" id="{9B1DA6C4-9192-1BF7-780F-1BB7BE21C5F1}"/>
              </a:ext>
            </a:extLst>
          </p:cNvPr>
          <p:cNvSpPr txBox="1"/>
          <p:nvPr/>
        </p:nvSpPr>
        <p:spPr>
          <a:xfrm>
            <a:off x="9597474" y="1521886"/>
            <a:ext cx="349776" cy="461665"/>
          </a:xfrm>
          <a:prstGeom prst="rect">
            <a:avLst/>
          </a:prstGeom>
          <a:noFill/>
        </p:spPr>
        <p:txBody>
          <a:bodyPr wrap="none" rtlCol="0">
            <a:spAutoFit/>
          </a:bodyPr>
          <a:lstStyle/>
          <a:p>
            <a:r>
              <a:rPr lang="en-NL" sz="2400" dirty="0"/>
              <a:t>7</a:t>
            </a:r>
          </a:p>
        </p:txBody>
      </p:sp>
      <p:sp>
        <p:nvSpPr>
          <p:cNvPr id="16" name="TextBox 15">
            <a:extLst>
              <a:ext uri="{FF2B5EF4-FFF2-40B4-BE49-F238E27FC236}">
                <a16:creationId xmlns:a16="http://schemas.microsoft.com/office/drawing/2014/main" id="{FD595ACD-6F36-C04E-FC3D-241C605CD6E8}"/>
              </a:ext>
            </a:extLst>
          </p:cNvPr>
          <p:cNvSpPr txBox="1"/>
          <p:nvPr/>
        </p:nvSpPr>
        <p:spPr>
          <a:xfrm>
            <a:off x="9843553" y="2021681"/>
            <a:ext cx="449162" cy="461665"/>
          </a:xfrm>
          <a:prstGeom prst="rect">
            <a:avLst/>
          </a:prstGeom>
          <a:noFill/>
        </p:spPr>
        <p:txBody>
          <a:bodyPr wrap="none" rtlCol="0">
            <a:spAutoFit/>
          </a:bodyPr>
          <a:lstStyle/>
          <a:p>
            <a:r>
              <a:rPr lang="en-NL" sz="2400" dirty="0"/>
              <a:t>…</a:t>
            </a:r>
          </a:p>
        </p:txBody>
      </p:sp>
      <p:sp>
        <p:nvSpPr>
          <p:cNvPr id="17" name="TextBox 16">
            <a:extLst>
              <a:ext uri="{FF2B5EF4-FFF2-40B4-BE49-F238E27FC236}">
                <a16:creationId xmlns:a16="http://schemas.microsoft.com/office/drawing/2014/main" id="{3CC4C1C5-3FB6-943A-039B-9FC4DEDBC9D7}"/>
              </a:ext>
            </a:extLst>
          </p:cNvPr>
          <p:cNvSpPr txBox="1"/>
          <p:nvPr/>
        </p:nvSpPr>
        <p:spPr>
          <a:xfrm>
            <a:off x="7986713" y="4436268"/>
            <a:ext cx="647228" cy="369332"/>
          </a:xfrm>
          <a:prstGeom prst="rect">
            <a:avLst/>
          </a:prstGeom>
          <a:noFill/>
        </p:spPr>
        <p:txBody>
          <a:bodyPr wrap="none" rtlCol="0">
            <a:spAutoFit/>
          </a:bodyPr>
          <a:lstStyle/>
          <a:p>
            <a:r>
              <a:rPr lang="en-NL" dirty="0"/>
              <a:t>[Jan]</a:t>
            </a:r>
          </a:p>
        </p:txBody>
      </p:sp>
      <p:sp>
        <p:nvSpPr>
          <p:cNvPr id="18" name="TextBox 17">
            <a:extLst>
              <a:ext uri="{FF2B5EF4-FFF2-40B4-BE49-F238E27FC236}">
                <a16:creationId xmlns:a16="http://schemas.microsoft.com/office/drawing/2014/main" id="{C8415270-FE91-B645-B45E-FAB94E8AF892}"/>
              </a:ext>
            </a:extLst>
          </p:cNvPr>
          <p:cNvSpPr txBox="1"/>
          <p:nvPr/>
        </p:nvSpPr>
        <p:spPr>
          <a:xfrm>
            <a:off x="7837987" y="5537596"/>
            <a:ext cx="704039" cy="369332"/>
          </a:xfrm>
          <a:prstGeom prst="rect">
            <a:avLst/>
          </a:prstGeom>
          <a:noFill/>
        </p:spPr>
        <p:txBody>
          <a:bodyPr wrap="none" rtlCol="0">
            <a:spAutoFit/>
          </a:bodyPr>
          <a:lstStyle/>
          <a:p>
            <a:r>
              <a:rPr lang="en-NL" dirty="0"/>
              <a:t>[Piet]</a:t>
            </a:r>
          </a:p>
        </p:txBody>
      </p:sp>
      <p:sp>
        <p:nvSpPr>
          <p:cNvPr id="19" name="TextBox 18">
            <a:extLst>
              <a:ext uri="{FF2B5EF4-FFF2-40B4-BE49-F238E27FC236}">
                <a16:creationId xmlns:a16="http://schemas.microsoft.com/office/drawing/2014/main" id="{E8A95D1D-EC0D-9020-9CEF-4F2D6C78E59A}"/>
              </a:ext>
            </a:extLst>
          </p:cNvPr>
          <p:cNvSpPr txBox="1"/>
          <p:nvPr/>
        </p:nvSpPr>
        <p:spPr>
          <a:xfrm>
            <a:off x="8964053" y="5071930"/>
            <a:ext cx="869149" cy="369332"/>
          </a:xfrm>
          <a:prstGeom prst="rect">
            <a:avLst/>
          </a:prstGeom>
          <a:noFill/>
        </p:spPr>
        <p:txBody>
          <a:bodyPr wrap="none" rtlCol="0">
            <a:spAutoFit/>
          </a:bodyPr>
          <a:lstStyle/>
          <a:p>
            <a:r>
              <a:rPr lang="en-NL" dirty="0"/>
              <a:t>[Klaas]</a:t>
            </a:r>
          </a:p>
        </p:txBody>
      </p:sp>
      <p:sp>
        <p:nvSpPr>
          <p:cNvPr id="20" name="TextBox 19">
            <a:extLst>
              <a:ext uri="{FF2B5EF4-FFF2-40B4-BE49-F238E27FC236}">
                <a16:creationId xmlns:a16="http://schemas.microsoft.com/office/drawing/2014/main" id="{C4E5DE4A-9C9B-1742-4E90-9973F21F7E4C}"/>
              </a:ext>
            </a:extLst>
          </p:cNvPr>
          <p:cNvSpPr txBox="1"/>
          <p:nvPr/>
        </p:nvSpPr>
        <p:spPr>
          <a:xfrm>
            <a:off x="9230176" y="5587589"/>
            <a:ext cx="450764" cy="369332"/>
          </a:xfrm>
          <a:prstGeom prst="rect">
            <a:avLst/>
          </a:prstGeom>
          <a:noFill/>
        </p:spPr>
        <p:txBody>
          <a:bodyPr wrap="none" rtlCol="0">
            <a:spAutoFit/>
          </a:bodyPr>
          <a:lstStyle/>
          <a:p>
            <a:r>
              <a:rPr lang="en-NL" dirty="0"/>
              <a:t>[..]</a:t>
            </a:r>
          </a:p>
        </p:txBody>
      </p:sp>
      <p:sp>
        <p:nvSpPr>
          <p:cNvPr id="21" name="TextBox 20">
            <a:extLst>
              <a:ext uri="{FF2B5EF4-FFF2-40B4-BE49-F238E27FC236}">
                <a16:creationId xmlns:a16="http://schemas.microsoft.com/office/drawing/2014/main" id="{C3AA9078-509E-28A9-EE94-A91249B32993}"/>
              </a:ext>
            </a:extLst>
          </p:cNvPr>
          <p:cNvSpPr txBox="1"/>
          <p:nvPr/>
        </p:nvSpPr>
        <p:spPr>
          <a:xfrm rot="17770696">
            <a:off x="9837017" y="4597766"/>
            <a:ext cx="3109558" cy="1200329"/>
          </a:xfrm>
          <a:prstGeom prst="rect">
            <a:avLst/>
          </a:prstGeom>
          <a:noFill/>
        </p:spPr>
        <p:txBody>
          <a:bodyPr wrap="square" rtlCol="0">
            <a:spAutoFit/>
          </a:bodyPr>
          <a:lstStyle/>
          <a:p>
            <a:r>
              <a:rPr lang="en-GB" i="1" dirty="0">
                <a:solidFill>
                  <a:srgbClr val="FF0000"/>
                </a:solidFill>
              </a:rPr>
              <a:t>I</a:t>
            </a:r>
            <a:r>
              <a:rPr lang="en-NL" i="1" dirty="0">
                <a:solidFill>
                  <a:srgbClr val="FF0000"/>
                </a:solidFill>
              </a:rPr>
              <a:t>k bedoel dus </a:t>
            </a:r>
            <a:r>
              <a:rPr lang="en-NL" i="1" u="sng" dirty="0">
                <a:solidFill>
                  <a:srgbClr val="FF0000"/>
                </a:solidFill>
              </a:rPr>
              <a:t>niet</a:t>
            </a:r>
            <a:r>
              <a:rPr lang="en-NL" i="1" dirty="0">
                <a:solidFill>
                  <a:srgbClr val="FF0000"/>
                </a:solidFill>
              </a:rPr>
              <a:t> de verzameling van voornamen!!</a:t>
            </a:r>
          </a:p>
          <a:p>
            <a:r>
              <a:rPr lang="en-NL" i="1" dirty="0">
                <a:solidFill>
                  <a:srgbClr val="FF0000"/>
                </a:solidFill>
              </a:rPr>
              <a:t>(daarom ook blokhaken ipv quotjes)</a:t>
            </a:r>
          </a:p>
        </p:txBody>
      </p:sp>
      <p:sp>
        <p:nvSpPr>
          <p:cNvPr id="24" name="Rounded Rectangle 23">
            <a:extLst>
              <a:ext uri="{FF2B5EF4-FFF2-40B4-BE49-F238E27FC236}">
                <a16:creationId xmlns:a16="http://schemas.microsoft.com/office/drawing/2014/main" id="{34C19999-DC5F-B860-DE81-84F7F4EA17FC}"/>
              </a:ext>
            </a:extLst>
          </p:cNvPr>
          <p:cNvSpPr/>
          <p:nvPr/>
        </p:nvSpPr>
        <p:spPr>
          <a:xfrm>
            <a:off x="2244750" y="1492931"/>
            <a:ext cx="1466850" cy="9308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dirty="0"/>
              <a:t>Natuurlijk getal</a:t>
            </a:r>
          </a:p>
        </p:txBody>
      </p:sp>
      <p:sp>
        <p:nvSpPr>
          <p:cNvPr id="25" name="Rounded Rectangle 24">
            <a:extLst>
              <a:ext uri="{FF2B5EF4-FFF2-40B4-BE49-F238E27FC236}">
                <a16:creationId xmlns:a16="http://schemas.microsoft.com/office/drawing/2014/main" id="{13AB7398-ACF4-A4C7-C6CB-DC412BAB62C6}"/>
              </a:ext>
            </a:extLst>
          </p:cNvPr>
          <p:cNvSpPr/>
          <p:nvPr/>
        </p:nvSpPr>
        <p:spPr>
          <a:xfrm>
            <a:off x="2358798" y="4805600"/>
            <a:ext cx="1466850" cy="9308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dirty="0"/>
              <a:t>Mens</a:t>
            </a:r>
          </a:p>
        </p:txBody>
      </p:sp>
      <p:sp>
        <p:nvSpPr>
          <p:cNvPr id="28" name="TextBox 27">
            <a:extLst>
              <a:ext uri="{FF2B5EF4-FFF2-40B4-BE49-F238E27FC236}">
                <a16:creationId xmlns:a16="http://schemas.microsoft.com/office/drawing/2014/main" id="{32D1C9ED-F15A-16BC-3E27-47C480093A60}"/>
              </a:ext>
            </a:extLst>
          </p:cNvPr>
          <p:cNvSpPr txBox="1"/>
          <p:nvPr/>
        </p:nvSpPr>
        <p:spPr>
          <a:xfrm>
            <a:off x="965035" y="1798885"/>
            <a:ext cx="1152880" cy="369332"/>
          </a:xfrm>
          <a:prstGeom prst="rect">
            <a:avLst/>
          </a:prstGeom>
          <a:noFill/>
        </p:spPr>
        <p:txBody>
          <a:bodyPr wrap="none" rtlCol="0">
            <a:spAutoFit/>
          </a:bodyPr>
          <a:lstStyle/>
          <a:p>
            <a:r>
              <a:rPr lang="en-NL" dirty="0"/>
              <a:t>De klasse</a:t>
            </a:r>
          </a:p>
        </p:txBody>
      </p:sp>
      <p:sp>
        <p:nvSpPr>
          <p:cNvPr id="29" name="TextBox 28">
            <a:extLst>
              <a:ext uri="{FF2B5EF4-FFF2-40B4-BE49-F238E27FC236}">
                <a16:creationId xmlns:a16="http://schemas.microsoft.com/office/drawing/2014/main" id="{4D00B811-09B5-D395-C81F-B1141D16C84F}"/>
              </a:ext>
            </a:extLst>
          </p:cNvPr>
          <p:cNvSpPr txBox="1"/>
          <p:nvPr/>
        </p:nvSpPr>
        <p:spPr>
          <a:xfrm>
            <a:off x="962749" y="5060290"/>
            <a:ext cx="1152880" cy="369332"/>
          </a:xfrm>
          <a:prstGeom prst="rect">
            <a:avLst/>
          </a:prstGeom>
          <a:noFill/>
        </p:spPr>
        <p:txBody>
          <a:bodyPr wrap="none" rtlCol="0">
            <a:spAutoFit/>
          </a:bodyPr>
          <a:lstStyle/>
          <a:p>
            <a:r>
              <a:rPr lang="en-NL" dirty="0"/>
              <a:t>De klasse</a:t>
            </a:r>
          </a:p>
        </p:txBody>
      </p:sp>
      <p:sp>
        <p:nvSpPr>
          <p:cNvPr id="30" name="TextBox 29">
            <a:extLst>
              <a:ext uri="{FF2B5EF4-FFF2-40B4-BE49-F238E27FC236}">
                <a16:creationId xmlns:a16="http://schemas.microsoft.com/office/drawing/2014/main" id="{86AB5BC7-C2F0-0969-93ED-A628D09E30CE}"/>
              </a:ext>
            </a:extLst>
          </p:cNvPr>
          <p:cNvSpPr txBox="1"/>
          <p:nvPr/>
        </p:nvSpPr>
        <p:spPr>
          <a:xfrm>
            <a:off x="4001594" y="1775103"/>
            <a:ext cx="2677015" cy="369332"/>
          </a:xfrm>
          <a:prstGeom prst="rect">
            <a:avLst/>
          </a:prstGeom>
          <a:noFill/>
        </p:spPr>
        <p:txBody>
          <a:bodyPr wrap="none" rtlCol="0">
            <a:spAutoFit/>
          </a:bodyPr>
          <a:lstStyle/>
          <a:p>
            <a:r>
              <a:rPr lang="en-US" dirty="0"/>
              <a:t>..is </a:t>
            </a:r>
            <a:r>
              <a:rPr lang="en-US" dirty="0" err="1"/>
              <a:t>waar</a:t>
            </a:r>
            <a:r>
              <a:rPr lang="en-US" dirty="0"/>
              <a:t> </a:t>
            </a:r>
            <a:r>
              <a:rPr lang="en-US" dirty="0" err="1"/>
              <a:t>elementen</a:t>
            </a:r>
            <a:r>
              <a:rPr lang="en-US" dirty="0"/>
              <a:t> </a:t>
            </a:r>
            <a:r>
              <a:rPr lang="en-US" dirty="0" err="1"/>
              <a:t>uit</a:t>
            </a:r>
            <a:r>
              <a:rPr lang="en-US" dirty="0"/>
              <a:t>… </a:t>
            </a:r>
            <a:endParaRPr lang="en-NL" dirty="0"/>
          </a:p>
        </p:txBody>
      </p:sp>
      <p:sp>
        <p:nvSpPr>
          <p:cNvPr id="31" name="TextBox 30">
            <a:extLst>
              <a:ext uri="{FF2B5EF4-FFF2-40B4-BE49-F238E27FC236}">
                <a16:creationId xmlns:a16="http://schemas.microsoft.com/office/drawing/2014/main" id="{16194ABB-644B-5AF4-49CA-D995D52CB048}"/>
              </a:ext>
            </a:extLst>
          </p:cNvPr>
          <p:cNvSpPr txBox="1"/>
          <p:nvPr/>
        </p:nvSpPr>
        <p:spPr>
          <a:xfrm>
            <a:off x="4135905" y="5060290"/>
            <a:ext cx="2677015" cy="369332"/>
          </a:xfrm>
          <a:prstGeom prst="rect">
            <a:avLst/>
          </a:prstGeom>
          <a:noFill/>
        </p:spPr>
        <p:txBody>
          <a:bodyPr wrap="none" rtlCol="0">
            <a:spAutoFit/>
          </a:bodyPr>
          <a:lstStyle/>
          <a:p>
            <a:r>
              <a:rPr lang="en-US" dirty="0"/>
              <a:t>..is </a:t>
            </a:r>
            <a:r>
              <a:rPr lang="en-US" dirty="0" err="1"/>
              <a:t>waar</a:t>
            </a:r>
            <a:r>
              <a:rPr lang="en-US" dirty="0"/>
              <a:t> </a:t>
            </a:r>
            <a:r>
              <a:rPr lang="en-US" dirty="0" err="1"/>
              <a:t>elementen</a:t>
            </a:r>
            <a:r>
              <a:rPr lang="en-US" dirty="0"/>
              <a:t> </a:t>
            </a:r>
            <a:r>
              <a:rPr lang="en-US" dirty="0" err="1"/>
              <a:t>uit</a:t>
            </a:r>
            <a:r>
              <a:rPr lang="en-US" dirty="0"/>
              <a:t>… </a:t>
            </a:r>
            <a:endParaRPr lang="en-NL" dirty="0"/>
          </a:p>
        </p:txBody>
      </p:sp>
      <p:sp>
        <p:nvSpPr>
          <p:cNvPr id="32" name="TextBox 31">
            <a:extLst>
              <a:ext uri="{FF2B5EF4-FFF2-40B4-BE49-F238E27FC236}">
                <a16:creationId xmlns:a16="http://schemas.microsoft.com/office/drawing/2014/main" id="{595BC1A3-5D45-E621-4888-9D82DF3D56B3}"/>
              </a:ext>
            </a:extLst>
          </p:cNvPr>
          <p:cNvSpPr txBox="1"/>
          <p:nvPr/>
        </p:nvSpPr>
        <p:spPr>
          <a:xfrm>
            <a:off x="9101229" y="4387571"/>
            <a:ext cx="878767" cy="369332"/>
          </a:xfrm>
          <a:prstGeom prst="rect">
            <a:avLst/>
          </a:prstGeom>
          <a:noFill/>
        </p:spPr>
        <p:txBody>
          <a:bodyPr wrap="none" rtlCol="0">
            <a:spAutoFit/>
          </a:bodyPr>
          <a:lstStyle/>
          <a:p>
            <a:r>
              <a:rPr lang="en-NL" dirty="0"/>
              <a:t>[Marie]</a:t>
            </a:r>
          </a:p>
        </p:txBody>
      </p:sp>
    </p:spTree>
    <p:extLst>
      <p:ext uri="{BB962C8B-B14F-4D97-AF65-F5344CB8AC3E}">
        <p14:creationId xmlns:p14="http://schemas.microsoft.com/office/powerpoint/2010/main" val="26607542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F6C22-2BFF-C04D-AFE3-6EA1C187C1D1}"/>
              </a:ext>
            </a:extLst>
          </p:cNvPr>
          <p:cNvSpPr>
            <a:spLocks noGrp="1"/>
          </p:cNvSpPr>
          <p:nvPr>
            <p:ph type="title"/>
          </p:nvPr>
        </p:nvSpPr>
        <p:spPr/>
        <p:txBody>
          <a:bodyPr/>
          <a:lstStyle/>
          <a:p>
            <a:r>
              <a:rPr lang="en-NL" dirty="0"/>
              <a:t>Type</a:t>
            </a:r>
          </a:p>
        </p:txBody>
      </p:sp>
      <p:sp>
        <p:nvSpPr>
          <p:cNvPr id="3" name="Content Placeholder 2">
            <a:extLst>
              <a:ext uri="{FF2B5EF4-FFF2-40B4-BE49-F238E27FC236}">
                <a16:creationId xmlns:a16="http://schemas.microsoft.com/office/drawing/2014/main" id="{6C8364A6-7F4F-3D48-AC82-FAD11634A8FD}"/>
              </a:ext>
            </a:extLst>
          </p:cNvPr>
          <p:cNvSpPr>
            <a:spLocks noGrp="1"/>
          </p:cNvSpPr>
          <p:nvPr>
            <p:ph idx="1"/>
          </p:nvPr>
        </p:nvSpPr>
        <p:spPr/>
        <p:txBody>
          <a:bodyPr/>
          <a:lstStyle/>
          <a:p>
            <a:r>
              <a:rPr lang="en-NL" dirty="0"/>
              <a:t>Een </a:t>
            </a:r>
            <a:r>
              <a:rPr lang="en-NL" i="1" dirty="0"/>
              <a:t>type</a:t>
            </a:r>
            <a:r>
              <a:rPr lang="en-NL" dirty="0"/>
              <a:t> geeft aan welke dingen in een bepaald domein onderkend worden, door te beschrijven welke kenmerken bepaalde dingen </a:t>
            </a:r>
            <a:r>
              <a:rPr lang="en-NL" i="1" dirty="0"/>
              <a:t>van een bepaalde type </a:t>
            </a:r>
            <a:r>
              <a:rPr lang="en-NL" dirty="0"/>
              <a:t>gemeen hebben.</a:t>
            </a:r>
          </a:p>
          <a:p>
            <a:r>
              <a:rPr lang="en-NL" dirty="0"/>
              <a:t>Typering kan door te beginnen met </a:t>
            </a:r>
            <a:r>
              <a:rPr lang="en-NL" i="1" dirty="0"/>
              <a:t>basistypen</a:t>
            </a:r>
            <a:r>
              <a:rPr lang="en-NL" dirty="0"/>
              <a:t> waaruit je andere typen afleid</a:t>
            </a:r>
          </a:p>
          <a:p>
            <a:r>
              <a:rPr lang="en-NL" dirty="0"/>
              <a:t>Maar ook door de kenmerken expliciet te benoemen</a:t>
            </a:r>
          </a:p>
        </p:txBody>
      </p:sp>
    </p:spTree>
    <p:extLst>
      <p:ext uri="{BB962C8B-B14F-4D97-AF65-F5344CB8AC3E}">
        <p14:creationId xmlns:p14="http://schemas.microsoft.com/office/powerpoint/2010/main" val="2853892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3A266-56F7-B0C7-9F2F-7FCDCF35159C}"/>
              </a:ext>
            </a:extLst>
          </p:cNvPr>
          <p:cNvSpPr>
            <a:spLocks noGrp="1"/>
          </p:cNvSpPr>
          <p:nvPr>
            <p:ph type="title"/>
          </p:nvPr>
        </p:nvSpPr>
        <p:spPr/>
        <p:txBody>
          <a:bodyPr/>
          <a:lstStyle/>
          <a:p>
            <a:r>
              <a:rPr lang="en-NL" dirty="0"/>
              <a:t>Class versus type</a:t>
            </a:r>
          </a:p>
        </p:txBody>
      </p:sp>
      <p:sp>
        <p:nvSpPr>
          <p:cNvPr id="4" name="Rounded Rectangle 3">
            <a:extLst>
              <a:ext uri="{FF2B5EF4-FFF2-40B4-BE49-F238E27FC236}">
                <a16:creationId xmlns:a16="http://schemas.microsoft.com/office/drawing/2014/main" id="{72653C0B-F534-E166-786A-97592DDB4E2C}"/>
              </a:ext>
            </a:extLst>
          </p:cNvPr>
          <p:cNvSpPr/>
          <p:nvPr/>
        </p:nvSpPr>
        <p:spPr>
          <a:xfrm>
            <a:off x="2016150" y="1854881"/>
            <a:ext cx="1466850" cy="9308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dirty="0"/>
              <a:t>Natuurlijk getal</a:t>
            </a:r>
          </a:p>
        </p:txBody>
      </p:sp>
      <p:sp>
        <p:nvSpPr>
          <p:cNvPr id="5" name="TextBox 4">
            <a:extLst>
              <a:ext uri="{FF2B5EF4-FFF2-40B4-BE49-F238E27FC236}">
                <a16:creationId xmlns:a16="http://schemas.microsoft.com/office/drawing/2014/main" id="{A6D36EC4-BFC0-16D5-14F2-C4B4E2E2BE5A}"/>
              </a:ext>
            </a:extLst>
          </p:cNvPr>
          <p:cNvSpPr txBox="1"/>
          <p:nvPr/>
        </p:nvSpPr>
        <p:spPr>
          <a:xfrm>
            <a:off x="4136760" y="1720117"/>
            <a:ext cx="7217040" cy="1200329"/>
          </a:xfrm>
          <a:prstGeom prst="rect">
            <a:avLst/>
          </a:prstGeom>
          <a:noFill/>
        </p:spPr>
        <p:txBody>
          <a:bodyPr wrap="none" rtlCol="0">
            <a:spAutoFit/>
          </a:bodyPr>
          <a:lstStyle/>
          <a:p>
            <a:r>
              <a:rPr lang="en-NL" dirty="0"/>
              <a:t>Het </a:t>
            </a:r>
            <a:r>
              <a:rPr lang="en-NL" i="1" dirty="0"/>
              <a:t>type</a:t>
            </a:r>
            <a:r>
              <a:rPr lang="en-NL" dirty="0"/>
              <a:t> natuurlijk getal kan gemaakt worden:</a:t>
            </a:r>
          </a:p>
          <a:p>
            <a:pPr marL="285750" indent="-285750">
              <a:buFont typeface="Arial" panose="020B0604020202020204" pitchFamily="34" charset="0"/>
              <a:buChar char="•"/>
            </a:pPr>
            <a:r>
              <a:rPr lang="en-NL" dirty="0"/>
              <a:t>Vanuit het </a:t>
            </a:r>
            <a:r>
              <a:rPr lang="en-NL" i="1" dirty="0"/>
              <a:t>basistype</a:t>
            </a:r>
            <a:r>
              <a:rPr lang="en-NL" dirty="0"/>
              <a:t> </a:t>
            </a:r>
            <a:r>
              <a:rPr lang="en-NL" b="1" dirty="0"/>
              <a:t>integer</a:t>
            </a:r>
          </a:p>
          <a:p>
            <a:pPr marL="285750" indent="-285750">
              <a:buFont typeface="Arial" panose="020B0604020202020204" pitchFamily="34" charset="0"/>
              <a:buChar char="•"/>
            </a:pPr>
            <a:r>
              <a:rPr lang="en-NL" dirty="0"/>
              <a:t>Met de beperking groter of gelijk aan nul</a:t>
            </a:r>
          </a:p>
          <a:p>
            <a:pPr marL="285750" indent="-285750">
              <a:buFont typeface="Arial" panose="020B0604020202020204" pitchFamily="34" charset="0"/>
              <a:buChar char="•"/>
            </a:pPr>
            <a:r>
              <a:rPr lang="en-NL" dirty="0">
                <a:solidFill>
                  <a:srgbClr val="FF0000"/>
                </a:solidFill>
              </a:rPr>
              <a:t>(we gaan hier even voorbij dat een integer niet oneindig groot kan zijn)</a:t>
            </a:r>
          </a:p>
        </p:txBody>
      </p:sp>
      <p:sp>
        <p:nvSpPr>
          <p:cNvPr id="6" name="Rounded Rectangle 5">
            <a:extLst>
              <a:ext uri="{FF2B5EF4-FFF2-40B4-BE49-F238E27FC236}">
                <a16:creationId xmlns:a16="http://schemas.microsoft.com/office/drawing/2014/main" id="{9032CE9F-64EE-4739-28E5-C036BE271F0D}"/>
              </a:ext>
            </a:extLst>
          </p:cNvPr>
          <p:cNvSpPr/>
          <p:nvPr/>
        </p:nvSpPr>
        <p:spPr>
          <a:xfrm>
            <a:off x="2016150" y="4577000"/>
            <a:ext cx="1466850" cy="9308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dirty="0"/>
              <a:t>Mens</a:t>
            </a:r>
          </a:p>
        </p:txBody>
      </p:sp>
      <p:sp>
        <p:nvSpPr>
          <p:cNvPr id="7" name="TextBox 6">
            <a:extLst>
              <a:ext uri="{FF2B5EF4-FFF2-40B4-BE49-F238E27FC236}">
                <a16:creationId xmlns:a16="http://schemas.microsoft.com/office/drawing/2014/main" id="{33733584-76BD-4FA0-8CF5-488A8EBAE6C2}"/>
              </a:ext>
            </a:extLst>
          </p:cNvPr>
          <p:cNvSpPr txBox="1"/>
          <p:nvPr/>
        </p:nvSpPr>
        <p:spPr>
          <a:xfrm>
            <a:off x="785950" y="2135615"/>
            <a:ext cx="1152880" cy="369332"/>
          </a:xfrm>
          <a:prstGeom prst="rect">
            <a:avLst/>
          </a:prstGeom>
          <a:noFill/>
        </p:spPr>
        <p:txBody>
          <a:bodyPr wrap="none" rtlCol="0">
            <a:spAutoFit/>
          </a:bodyPr>
          <a:lstStyle/>
          <a:p>
            <a:r>
              <a:rPr lang="en-NL" dirty="0"/>
              <a:t>De klasse</a:t>
            </a:r>
          </a:p>
        </p:txBody>
      </p:sp>
      <p:sp>
        <p:nvSpPr>
          <p:cNvPr id="8" name="TextBox 7">
            <a:extLst>
              <a:ext uri="{FF2B5EF4-FFF2-40B4-BE49-F238E27FC236}">
                <a16:creationId xmlns:a16="http://schemas.microsoft.com/office/drawing/2014/main" id="{00D4B72E-56E7-A9F7-F158-C0DA8962E75F}"/>
              </a:ext>
            </a:extLst>
          </p:cNvPr>
          <p:cNvSpPr txBox="1"/>
          <p:nvPr/>
        </p:nvSpPr>
        <p:spPr>
          <a:xfrm>
            <a:off x="838200" y="4857735"/>
            <a:ext cx="1152880" cy="369332"/>
          </a:xfrm>
          <a:prstGeom prst="rect">
            <a:avLst/>
          </a:prstGeom>
          <a:noFill/>
        </p:spPr>
        <p:txBody>
          <a:bodyPr wrap="none" rtlCol="0">
            <a:spAutoFit/>
          </a:bodyPr>
          <a:lstStyle/>
          <a:p>
            <a:r>
              <a:rPr lang="en-NL" dirty="0"/>
              <a:t>De klasse</a:t>
            </a:r>
          </a:p>
        </p:txBody>
      </p:sp>
      <p:pic>
        <p:nvPicPr>
          <p:cNvPr id="10" name="Picture 9" descr="A yellow sign with black text&#10;&#10;AI-generated content may be incorrect.">
            <a:extLst>
              <a:ext uri="{FF2B5EF4-FFF2-40B4-BE49-F238E27FC236}">
                <a16:creationId xmlns:a16="http://schemas.microsoft.com/office/drawing/2014/main" id="{9A7A385A-D088-E8D7-F549-13B01AF0F760}"/>
              </a:ext>
            </a:extLst>
          </p:cNvPr>
          <p:cNvPicPr>
            <a:picLocks noChangeAspect="1"/>
          </p:cNvPicPr>
          <p:nvPr/>
        </p:nvPicPr>
        <p:blipFill>
          <a:blip r:embed="rId2"/>
          <a:stretch>
            <a:fillRect/>
          </a:stretch>
        </p:blipFill>
        <p:spPr>
          <a:xfrm>
            <a:off x="4318000" y="4280441"/>
            <a:ext cx="1466850" cy="1621255"/>
          </a:xfrm>
          <a:prstGeom prst="rect">
            <a:avLst/>
          </a:prstGeom>
        </p:spPr>
      </p:pic>
      <p:sp>
        <p:nvSpPr>
          <p:cNvPr id="11" name="TextBox 10">
            <a:extLst>
              <a:ext uri="{FF2B5EF4-FFF2-40B4-BE49-F238E27FC236}">
                <a16:creationId xmlns:a16="http://schemas.microsoft.com/office/drawing/2014/main" id="{A287E28A-0A45-8F3D-AFE9-217E6F249B39}"/>
              </a:ext>
            </a:extLst>
          </p:cNvPr>
          <p:cNvSpPr txBox="1"/>
          <p:nvPr/>
        </p:nvSpPr>
        <p:spPr>
          <a:xfrm>
            <a:off x="6096000" y="4280441"/>
            <a:ext cx="5486400" cy="1754326"/>
          </a:xfrm>
          <a:prstGeom prst="rect">
            <a:avLst/>
          </a:prstGeom>
          <a:noFill/>
        </p:spPr>
        <p:txBody>
          <a:bodyPr wrap="square" rtlCol="0">
            <a:spAutoFit/>
          </a:bodyPr>
          <a:lstStyle/>
          <a:p>
            <a:r>
              <a:rPr lang="en-NL" dirty="0"/>
              <a:t>Het </a:t>
            </a:r>
            <a:r>
              <a:rPr lang="en-NL" i="1" dirty="0"/>
              <a:t>type</a:t>
            </a:r>
            <a:r>
              <a:rPr lang="en-NL" dirty="0"/>
              <a:t> mens kan beschreven worden:</a:t>
            </a:r>
          </a:p>
          <a:p>
            <a:pPr marL="285750" indent="-285750">
              <a:buFont typeface="Arial" panose="020B0604020202020204" pitchFamily="34" charset="0"/>
              <a:buChar char="•"/>
            </a:pPr>
            <a:r>
              <a:rPr lang="en-NL" dirty="0"/>
              <a:t>Door aan te geven welke kenmerken een mens heeft</a:t>
            </a:r>
            <a:endParaRPr lang="en-NL" dirty="0">
              <a:solidFill>
                <a:srgbClr val="FF0000"/>
              </a:solidFill>
            </a:endParaRPr>
          </a:p>
          <a:p>
            <a:pPr marL="285750" indent="-285750">
              <a:buFont typeface="Arial" panose="020B0604020202020204" pitchFamily="34" charset="0"/>
              <a:buChar char="•"/>
            </a:pPr>
            <a:r>
              <a:rPr lang="en-NL" dirty="0">
                <a:solidFill>
                  <a:srgbClr val="FF0000"/>
                </a:solidFill>
              </a:rPr>
              <a:t>(en als je het echt goed zou doen: door aan te geven hoe een mens verschilt van andere domeinobjecten, op basis van welke kenmerken)</a:t>
            </a:r>
            <a:endParaRPr lang="en-NL" dirty="0"/>
          </a:p>
        </p:txBody>
      </p:sp>
    </p:spTree>
    <p:extLst>
      <p:ext uri="{BB962C8B-B14F-4D97-AF65-F5344CB8AC3E}">
        <p14:creationId xmlns:p14="http://schemas.microsoft.com/office/powerpoint/2010/main" val="22586059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8B02E-67D9-7058-12AE-C7885B3A2296}"/>
              </a:ext>
            </a:extLst>
          </p:cNvPr>
          <p:cNvSpPr>
            <a:spLocks noGrp="1"/>
          </p:cNvSpPr>
          <p:nvPr>
            <p:ph type="title"/>
          </p:nvPr>
        </p:nvSpPr>
        <p:spPr/>
        <p:txBody>
          <a:bodyPr/>
          <a:lstStyle/>
          <a:p>
            <a:r>
              <a:rPr lang="en-NL" dirty="0"/>
              <a:t>Category</a:t>
            </a:r>
          </a:p>
        </p:txBody>
      </p:sp>
      <p:sp>
        <p:nvSpPr>
          <p:cNvPr id="3" name="Content Placeholder 2">
            <a:extLst>
              <a:ext uri="{FF2B5EF4-FFF2-40B4-BE49-F238E27FC236}">
                <a16:creationId xmlns:a16="http://schemas.microsoft.com/office/drawing/2014/main" id="{3C764753-8EF9-8F8D-FC1D-EEC05A9EDDDE}"/>
              </a:ext>
            </a:extLst>
          </p:cNvPr>
          <p:cNvSpPr>
            <a:spLocks noGrp="1"/>
          </p:cNvSpPr>
          <p:nvPr>
            <p:ph idx="1"/>
          </p:nvPr>
        </p:nvSpPr>
        <p:spPr>
          <a:xfrm>
            <a:off x="838200" y="1825624"/>
            <a:ext cx="10515600" cy="4879975"/>
          </a:xfrm>
        </p:spPr>
        <p:txBody>
          <a:bodyPr>
            <a:normAutofit fontScale="85000" lnSpcReduction="20000"/>
          </a:bodyPr>
          <a:lstStyle/>
          <a:p>
            <a:r>
              <a:rPr lang="en-NL" dirty="0"/>
              <a:t>Een </a:t>
            </a:r>
            <a:r>
              <a:rPr lang="en-NL" i="1" dirty="0"/>
              <a:t>category</a:t>
            </a:r>
            <a:r>
              <a:rPr lang="en-NL" dirty="0"/>
              <a:t> is een aanduiding van een groepering van dingen die iets met elkaar gemeen hebben.</a:t>
            </a:r>
          </a:p>
          <a:p>
            <a:r>
              <a:rPr lang="en-NL" dirty="0"/>
              <a:t>Een </a:t>
            </a:r>
            <a:r>
              <a:rPr lang="en-NL" i="1" dirty="0"/>
              <a:t>category</a:t>
            </a:r>
            <a:r>
              <a:rPr lang="en-NL" dirty="0"/>
              <a:t> ontstaat door dingen te groepen in verschillen categorieën. Zo ontstaat een structuur van categorieën, ook wel een classificatieschema genoemd.</a:t>
            </a:r>
          </a:p>
          <a:p>
            <a:r>
              <a:rPr lang="en-NL" dirty="0"/>
              <a:t>Het bekende voorbeeld is de biologische taxonomie.</a:t>
            </a:r>
          </a:p>
          <a:p>
            <a:pPr marL="0" indent="0">
              <a:buNone/>
            </a:pPr>
            <a:endParaRPr lang="en-NL" dirty="0"/>
          </a:p>
          <a:p>
            <a:pPr marL="0" indent="0">
              <a:buNone/>
            </a:pPr>
            <a:r>
              <a:rPr lang="en-NL" dirty="0"/>
              <a:t>Hoewel je voor elke category een typering zou kunnen maken, is dit (vaak) niet nodig of zelfs wenselijk!</a:t>
            </a:r>
          </a:p>
          <a:p>
            <a:r>
              <a:rPr lang="en-NL" dirty="0"/>
              <a:t>Zo zou een </a:t>
            </a:r>
            <a:r>
              <a:rPr lang="en-NL" i="1" dirty="0"/>
              <a:t>bioloog</a:t>
            </a:r>
            <a:r>
              <a:rPr lang="en-NL" dirty="0"/>
              <a:t> wel willen weten hoe hij van elk levend wezen kan zien tot welke biologische categorie dit wezen behoort: hij zal dus een </a:t>
            </a:r>
            <a:r>
              <a:rPr lang="en-NL" i="1" dirty="0"/>
              <a:t>typering</a:t>
            </a:r>
            <a:r>
              <a:rPr lang="en-NL" dirty="0"/>
              <a:t> nodig hebben waarin de onderscheide kenmerken zichtbaar zijn.</a:t>
            </a:r>
          </a:p>
          <a:p>
            <a:r>
              <a:rPr lang="en-NL" dirty="0"/>
              <a:t>Als je alleen maar geinteresseerd bent in het resultaat van de bioloog (dus </a:t>
            </a:r>
            <a:r>
              <a:rPr lang="en-NL" i="1" dirty="0"/>
              <a:t>welke</a:t>
            </a:r>
            <a:r>
              <a:rPr lang="en-NL" dirty="0"/>
              <a:t> biologische soort het betreft, niet </a:t>
            </a:r>
            <a:r>
              <a:rPr lang="en-NL" i="1" dirty="0"/>
              <a:t>waarom</a:t>
            </a:r>
            <a:r>
              <a:rPr lang="en-NL" dirty="0"/>
              <a:t>), dan heb je die typen niet nodig (!)</a:t>
            </a:r>
          </a:p>
        </p:txBody>
      </p:sp>
    </p:spTree>
    <p:extLst>
      <p:ext uri="{BB962C8B-B14F-4D97-AF65-F5344CB8AC3E}">
        <p14:creationId xmlns:p14="http://schemas.microsoft.com/office/powerpoint/2010/main" val="36093760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E5154-FCEF-F546-9F8C-AAEEBB728935}"/>
              </a:ext>
            </a:extLst>
          </p:cNvPr>
          <p:cNvSpPr>
            <a:spLocks noGrp="1"/>
          </p:cNvSpPr>
          <p:nvPr>
            <p:ph type="title"/>
          </p:nvPr>
        </p:nvSpPr>
        <p:spPr/>
        <p:txBody>
          <a:bodyPr/>
          <a:lstStyle/>
          <a:p>
            <a:r>
              <a:rPr lang="en-NL" dirty="0"/>
              <a:t>Objecttypen en predicaten</a:t>
            </a:r>
          </a:p>
        </p:txBody>
      </p:sp>
      <p:sp>
        <p:nvSpPr>
          <p:cNvPr id="3" name="Content Placeholder 2">
            <a:extLst>
              <a:ext uri="{FF2B5EF4-FFF2-40B4-BE49-F238E27FC236}">
                <a16:creationId xmlns:a16="http://schemas.microsoft.com/office/drawing/2014/main" id="{62D4CBFB-2100-056A-D6A9-18642541B848}"/>
              </a:ext>
            </a:extLst>
          </p:cNvPr>
          <p:cNvSpPr>
            <a:spLocks noGrp="1"/>
          </p:cNvSpPr>
          <p:nvPr>
            <p:ph idx="1"/>
          </p:nvPr>
        </p:nvSpPr>
        <p:spPr/>
        <p:txBody>
          <a:bodyPr>
            <a:normAutofit lnSpcReduction="10000"/>
          </a:bodyPr>
          <a:lstStyle/>
          <a:p>
            <a:r>
              <a:rPr lang="en-NL" dirty="0"/>
              <a:t>Objecttypen zijn geen predicaten (per definitie niet (!))</a:t>
            </a:r>
          </a:p>
          <a:p>
            <a:endParaRPr lang="en-NL" dirty="0"/>
          </a:p>
          <a:p>
            <a:pPr marL="0" indent="0">
              <a:buNone/>
            </a:pPr>
            <a:r>
              <a:rPr lang="en-NL" dirty="0"/>
              <a:t>Predicaten heb je in verschillende soorten. We beschouwen voor nu even alleen binaire predicaten. We kijken naar vier soorten:</a:t>
            </a:r>
          </a:p>
          <a:p>
            <a:pPr marL="514350" indent="-514350">
              <a:buFont typeface="+mj-lt"/>
              <a:buAutoNum type="arabicPeriod"/>
            </a:pPr>
            <a:r>
              <a:rPr lang="en-NL" dirty="0"/>
              <a:t>Predicaten met als 2e variabele een </a:t>
            </a:r>
            <a:r>
              <a:rPr lang="en-NL" i="1" dirty="0"/>
              <a:t>geheel getal</a:t>
            </a:r>
            <a:endParaRPr lang="en-NL" dirty="0"/>
          </a:p>
          <a:p>
            <a:pPr marL="514350" indent="-514350">
              <a:buFont typeface="+mj-lt"/>
              <a:buAutoNum type="arabicPeriod"/>
            </a:pPr>
            <a:r>
              <a:rPr lang="en-NL" dirty="0"/>
              <a:t>Predicaten met als 2e variabele een </a:t>
            </a:r>
            <a:r>
              <a:rPr lang="en-NL" i="1" dirty="0"/>
              <a:t>string</a:t>
            </a:r>
            <a:endParaRPr lang="en-NL" dirty="0"/>
          </a:p>
          <a:p>
            <a:pPr marL="514350" indent="-514350">
              <a:buFont typeface="+mj-lt"/>
              <a:buAutoNum type="arabicPeriod"/>
            </a:pPr>
            <a:r>
              <a:rPr lang="en-NL" dirty="0"/>
              <a:t>Predicaten met als 2e variabele een </a:t>
            </a:r>
            <a:r>
              <a:rPr lang="en-NL" i="1" dirty="0"/>
              <a:t>ander domeinobject</a:t>
            </a:r>
            <a:endParaRPr lang="en-NL" dirty="0"/>
          </a:p>
          <a:p>
            <a:pPr marL="514350" indent="-514350">
              <a:buFont typeface="+mj-lt"/>
              <a:buAutoNum type="arabicPeriod"/>
            </a:pPr>
            <a:r>
              <a:rPr lang="en-NL" dirty="0"/>
              <a:t>Predicaten met als 2e variabele een </a:t>
            </a:r>
            <a:r>
              <a:rPr lang="en-NL" i="1" dirty="0"/>
              <a:t>categorie </a:t>
            </a:r>
            <a:r>
              <a:rPr lang="en-NL" dirty="0"/>
              <a:t>(eigen)</a:t>
            </a:r>
            <a:endParaRPr lang="en-NL" i="1" dirty="0"/>
          </a:p>
          <a:p>
            <a:pPr marL="514350" indent="-514350">
              <a:buFont typeface="+mj-lt"/>
              <a:buAutoNum type="arabicPeriod"/>
            </a:pPr>
            <a:r>
              <a:rPr lang="en-NL" dirty="0"/>
              <a:t>Predicaten met als 2e variabele een </a:t>
            </a:r>
            <a:r>
              <a:rPr lang="en-NL" i="1" dirty="0"/>
              <a:t>categorie (relationeel)</a:t>
            </a:r>
            <a:endParaRPr lang="en-NL" dirty="0"/>
          </a:p>
        </p:txBody>
      </p:sp>
    </p:spTree>
    <p:extLst>
      <p:ext uri="{BB962C8B-B14F-4D97-AF65-F5344CB8AC3E}">
        <p14:creationId xmlns:p14="http://schemas.microsoft.com/office/powerpoint/2010/main" val="18293186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94D65-76A4-220F-B881-EF8429146C50}"/>
              </a:ext>
            </a:extLst>
          </p:cNvPr>
          <p:cNvSpPr>
            <a:spLocks noGrp="1"/>
          </p:cNvSpPr>
          <p:nvPr>
            <p:ph type="title"/>
          </p:nvPr>
        </p:nvSpPr>
        <p:spPr/>
        <p:txBody>
          <a:bodyPr/>
          <a:lstStyle/>
          <a:p>
            <a:r>
              <a:rPr lang="en-NL" dirty="0"/>
              <a:t>Geheel-getal predicaten</a:t>
            </a:r>
          </a:p>
        </p:txBody>
      </p:sp>
      <p:sp>
        <p:nvSpPr>
          <p:cNvPr id="3" name="Content Placeholder 2">
            <a:extLst>
              <a:ext uri="{FF2B5EF4-FFF2-40B4-BE49-F238E27FC236}">
                <a16:creationId xmlns:a16="http://schemas.microsoft.com/office/drawing/2014/main" id="{F4CD7360-C954-4F43-137F-36A01F40D4BF}"/>
              </a:ext>
            </a:extLst>
          </p:cNvPr>
          <p:cNvSpPr>
            <a:spLocks noGrp="1"/>
          </p:cNvSpPr>
          <p:nvPr>
            <p:ph idx="1"/>
          </p:nvPr>
        </p:nvSpPr>
        <p:spPr/>
        <p:txBody>
          <a:bodyPr/>
          <a:lstStyle/>
          <a:p>
            <a:r>
              <a:rPr lang="en-NL" dirty="0"/>
              <a:t>Het predicaat: leeftijd(m,l)</a:t>
            </a:r>
          </a:p>
          <a:p>
            <a:pPr lvl="1"/>
            <a:r>
              <a:rPr lang="en-NL" dirty="0"/>
              <a:t>Daarbij is m een element uit de verzameling van mensen</a:t>
            </a:r>
          </a:p>
          <a:p>
            <a:pPr lvl="1"/>
            <a:r>
              <a:rPr lang="en-NL" dirty="0"/>
              <a:t>..en l is een element uit de verzameling van natuurlijke getallen</a:t>
            </a:r>
          </a:p>
        </p:txBody>
      </p:sp>
      <p:sp>
        <p:nvSpPr>
          <p:cNvPr id="4" name="Oval 3">
            <a:extLst>
              <a:ext uri="{FF2B5EF4-FFF2-40B4-BE49-F238E27FC236}">
                <a16:creationId xmlns:a16="http://schemas.microsoft.com/office/drawing/2014/main" id="{B5A7EBAD-76F2-21EB-5ADE-0329A1167031}"/>
              </a:ext>
            </a:extLst>
          </p:cNvPr>
          <p:cNvSpPr/>
          <p:nvPr/>
        </p:nvSpPr>
        <p:spPr>
          <a:xfrm>
            <a:off x="838200" y="3538538"/>
            <a:ext cx="3386137" cy="264318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 name="TextBox 4">
            <a:extLst>
              <a:ext uri="{FF2B5EF4-FFF2-40B4-BE49-F238E27FC236}">
                <a16:creationId xmlns:a16="http://schemas.microsoft.com/office/drawing/2014/main" id="{ECB2B886-C383-709D-0DFF-3259CB13C4F7}"/>
              </a:ext>
            </a:extLst>
          </p:cNvPr>
          <p:cNvSpPr txBox="1"/>
          <p:nvPr/>
        </p:nvSpPr>
        <p:spPr>
          <a:xfrm>
            <a:off x="1666875" y="3979069"/>
            <a:ext cx="647228" cy="369332"/>
          </a:xfrm>
          <a:prstGeom prst="rect">
            <a:avLst/>
          </a:prstGeom>
          <a:noFill/>
        </p:spPr>
        <p:txBody>
          <a:bodyPr wrap="none" rtlCol="0">
            <a:spAutoFit/>
          </a:bodyPr>
          <a:lstStyle/>
          <a:p>
            <a:r>
              <a:rPr lang="en-NL" dirty="0"/>
              <a:t>[Jan]</a:t>
            </a:r>
          </a:p>
        </p:txBody>
      </p:sp>
      <p:sp>
        <p:nvSpPr>
          <p:cNvPr id="6" name="TextBox 5">
            <a:extLst>
              <a:ext uri="{FF2B5EF4-FFF2-40B4-BE49-F238E27FC236}">
                <a16:creationId xmlns:a16="http://schemas.microsoft.com/office/drawing/2014/main" id="{E852BE7E-54E4-2B04-A99E-A1BED26C180B}"/>
              </a:ext>
            </a:extLst>
          </p:cNvPr>
          <p:cNvSpPr txBox="1"/>
          <p:nvPr/>
        </p:nvSpPr>
        <p:spPr>
          <a:xfrm>
            <a:off x="1518149" y="5080397"/>
            <a:ext cx="704039" cy="369332"/>
          </a:xfrm>
          <a:prstGeom prst="rect">
            <a:avLst/>
          </a:prstGeom>
          <a:noFill/>
        </p:spPr>
        <p:txBody>
          <a:bodyPr wrap="none" rtlCol="0">
            <a:spAutoFit/>
          </a:bodyPr>
          <a:lstStyle/>
          <a:p>
            <a:r>
              <a:rPr lang="en-NL" dirty="0"/>
              <a:t>[Piet]</a:t>
            </a:r>
          </a:p>
        </p:txBody>
      </p:sp>
      <p:sp>
        <p:nvSpPr>
          <p:cNvPr id="7" name="TextBox 6">
            <a:extLst>
              <a:ext uri="{FF2B5EF4-FFF2-40B4-BE49-F238E27FC236}">
                <a16:creationId xmlns:a16="http://schemas.microsoft.com/office/drawing/2014/main" id="{31041B5F-8129-33CF-FB5D-996814A8DFDE}"/>
              </a:ext>
            </a:extLst>
          </p:cNvPr>
          <p:cNvSpPr txBox="1"/>
          <p:nvPr/>
        </p:nvSpPr>
        <p:spPr>
          <a:xfrm>
            <a:off x="2644215" y="4614731"/>
            <a:ext cx="869149" cy="369332"/>
          </a:xfrm>
          <a:prstGeom prst="rect">
            <a:avLst/>
          </a:prstGeom>
          <a:noFill/>
        </p:spPr>
        <p:txBody>
          <a:bodyPr wrap="none" rtlCol="0">
            <a:spAutoFit/>
          </a:bodyPr>
          <a:lstStyle/>
          <a:p>
            <a:r>
              <a:rPr lang="en-NL" dirty="0"/>
              <a:t>[Klaas]</a:t>
            </a:r>
          </a:p>
        </p:txBody>
      </p:sp>
      <p:sp>
        <p:nvSpPr>
          <p:cNvPr id="8" name="TextBox 7">
            <a:extLst>
              <a:ext uri="{FF2B5EF4-FFF2-40B4-BE49-F238E27FC236}">
                <a16:creationId xmlns:a16="http://schemas.microsoft.com/office/drawing/2014/main" id="{B96E84D2-967D-A56C-4AC9-D26CE24123B0}"/>
              </a:ext>
            </a:extLst>
          </p:cNvPr>
          <p:cNvSpPr txBox="1"/>
          <p:nvPr/>
        </p:nvSpPr>
        <p:spPr>
          <a:xfrm>
            <a:off x="2910338" y="5130390"/>
            <a:ext cx="450764" cy="369332"/>
          </a:xfrm>
          <a:prstGeom prst="rect">
            <a:avLst/>
          </a:prstGeom>
          <a:noFill/>
        </p:spPr>
        <p:txBody>
          <a:bodyPr wrap="none" rtlCol="0">
            <a:spAutoFit/>
          </a:bodyPr>
          <a:lstStyle/>
          <a:p>
            <a:r>
              <a:rPr lang="en-NL" dirty="0"/>
              <a:t>[..]</a:t>
            </a:r>
          </a:p>
        </p:txBody>
      </p:sp>
      <p:sp>
        <p:nvSpPr>
          <p:cNvPr id="9" name="Oval 8">
            <a:extLst>
              <a:ext uri="{FF2B5EF4-FFF2-40B4-BE49-F238E27FC236}">
                <a16:creationId xmlns:a16="http://schemas.microsoft.com/office/drawing/2014/main" id="{4EABCE3B-1FE5-7E5F-3677-B1209764306B}"/>
              </a:ext>
            </a:extLst>
          </p:cNvPr>
          <p:cNvSpPr/>
          <p:nvPr/>
        </p:nvSpPr>
        <p:spPr>
          <a:xfrm>
            <a:off x="7287714" y="3538538"/>
            <a:ext cx="3386137" cy="264318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0" name="TextBox 9">
            <a:extLst>
              <a:ext uri="{FF2B5EF4-FFF2-40B4-BE49-F238E27FC236}">
                <a16:creationId xmlns:a16="http://schemas.microsoft.com/office/drawing/2014/main" id="{F9BC79E3-E55F-B3D7-6D09-7BF830DCAF37}"/>
              </a:ext>
            </a:extLst>
          </p:cNvPr>
          <p:cNvSpPr txBox="1"/>
          <p:nvPr/>
        </p:nvSpPr>
        <p:spPr>
          <a:xfrm>
            <a:off x="8116389" y="4248567"/>
            <a:ext cx="349776" cy="461665"/>
          </a:xfrm>
          <a:prstGeom prst="rect">
            <a:avLst/>
          </a:prstGeom>
          <a:noFill/>
        </p:spPr>
        <p:txBody>
          <a:bodyPr wrap="none" rtlCol="0">
            <a:spAutoFit/>
          </a:bodyPr>
          <a:lstStyle/>
          <a:p>
            <a:r>
              <a:rPr lang="en-NL" sz="2400" dirty="0"/>
              <a:t>0</a:t>
            </a:r>
          </a:p>
        </p:txBody>
      </p:sp>
      <p:sp>
        <p:nvSpPr>
          <p:cNvPr id="11" name="TextBox 10">
            <a:extLst>
              <a:ext uri="{FF2B5EF4-FFF2-40B4-BE49-F238E27FC236}">
                <a16:creationId xmlns:a16="http://schemas.microsoft.com/office/drawing/2014/main" id="{CE2A0700-383D-8B5A-EB2C-C2007B412C75}"/>
              </a:ext>
            </a:extLst>
          </p:cNvPr>
          <p:cNvSpPr txBox="1"/>
          <p:nvPr/>
        </p:nvSpPr>
        <p:spPr>
          <a:xfrm>
            <a:off x="9201704" y="4072474"/>
            <a:ext cx="349776" cy="461665"/>
          </a:xfrm>
          <a:prstGeom prst="rect">
            <a:avLst/>
          </a:prstGeom>
          <a:noFill/>
        </p:spPr>
        <p:txBody>
          <a:bodyPr wrap="none" rtlCol="0">
            <a:spAutoFit/>
          </a:bodyPr>
          <a:lstStyle/>
          <a:p>
            <a:r>
              <a:rPr lang="en-NL" sz="2400" dirty="0"/>
              <a:t>1</a:t>
            </a:r>
          </a:p>
        </p:txBody>
      </p:sp>
      <p:sp>
        <p:nvSpPr>
          <p:cNvPr id="12" name="TextBox 11">
            <a:extLst>
              <a:ext uri="{FF2B5EF4-FFF2-40B4-BE49-F238E27FC236}">
                <a16:creationId xmlns:a16="http://schemas.microsoft.com/office/drawing/2014/main" id="{45E95EA2-A966-0F79-9CCC-C97F1D6D13BF}"/>
              </a:ext>
            </a:extLst>
          </p:cNvPr>
          <p:cNvSpPr txBox="1"/>
          <p:nvPr/>
        </p:nvSpPr>
        <p:spPr>
          <a:xfrm>
            <a:off x="9201704" y="4915846"/>
            <a:ext cx="349776" cy="461665"/>
          </a:xfrm>
          <a:prstGeom prst="rect">
            <a:avLst/>
          </a:prstGeom>
          <a:noFill/>
        </p:spPr>
        <p:txBody>
          <a:bodyPr wrap="none" rtlCol="0">
            <a:spAutoFit/>
          </a:bodyPr>
          <a:lstStyle/>
          <a:p>
            <a:r>
              <a:rPr lang="en-NL" sz="2400" dirty="0"/>
              <a:t>2</a:t>
            </a:r>
          </a:p>
        </p:txBody>
      </p:sp>
      <p:sp>
        <p:nvSpPr>
          <p:cNvPr id="13" name="TextBox 12">
            <a:extLst>
              <a:ext uri="{FF2B5EF4-FFF2-40B4-BE49-F238E27FC236}">
                <a16:creationId xmlns:a16="http://schemas.microsoft.com/office/drawing/2014/main" id="{8A6CDBDD-5FF1-D2D5-C07A-6C23B3D32243}"/>
              </a:ext>
            </a:extLst>
          </p:cNvPr>
          <p:cNvSpPr txBox="1"/>
          <p:nvPr/>
        </p:nvSpPr>
        <p:spPr>
          <a:xfrm>
            <a:off x="7894933" y="5020091"/>
            <a:ext cx="349776" cy="461665"/>
          </a:xfrm>
          <a:prstGeom prst="rect">
            <a:avLst/>
          </a:prstGeom>
          <a:noFill/>
        </p:spPr>
        <p:txBody>
          <a:bodyPr wrap="none" rtlCol="0">
            <a:spAutoFit/>
          </a:bodyPr>
          <a:lstStyle/>
          <a:p>
            <a:r>
              <a:rPr lang="en-NL" sz="2400" dirty="0"/>
              <a:t>3</a:t>
            </a:r>
          </a:p>
        </p:txBody>
      </p:sp>
      <p:sp>
        <p:nvSpPr>
          <p:cNvPr id="14" name="TextBox 13">
            <a:extLst>
              <a:ext uri="{FF2B5EF4-FFF2-40B4-BE49-F238E27FC236}">
                <a16:creationId xmlns:a16="http://schemas.microsoft.com/office/drawing/2014/main" id="{3FA9DAD0-4D07-120E-CE8A-24CEA614B45F}"/>
              </a:ext>
            </a:extLst>
          </p:cNvPr>
          <p:cNvSpPr txBox="1"/>
          <p:nvPr/>
        </p:nvSpPr>
        <p:spPr>
          <a:xfrm>
            <a:off x="8502152" y="5339060"/>
            <a:ext cx="349776" cy="461665"/>
          </a:xfrm>
          <a:prstGeom prst="rect">
            <a:avLst/>
          </a:prstGeom>
          <a:noFill/>
        </p:spPr>
        <p:txBody>
          <a:bodyPr wrap="none" rtlCol="0">
            <a:spAutoFit/>
          </a:bodyPr>
          <a:lstStyle/>
          <a:p>
            <a:r>
              <a:rPr lang="en-NL" sz="2400" dirty="0"/>
              <a:t>4</a:t>
            </a:r>
          </a:p>
        </p:txBody>
      </p:sp>
      <p:sp>
        <p:nvSpPr>
          <p:cNvPr id="15" name="TextBox 14">
            <a:extLst>
              <a:ext uri="{FF2B5EF4-FFF2-40B4-BE49-F238E27FC236}">
                <a16:creationId xmlns:a16="http://schemas.microsoft.com/office/drawing/2014/main" id="{58DA4A21-33E6-2906-F60E-5B439E657665}"/>
              </a:ext>
            </a:extLst>
          </p:cNvPr>
          <p:cNvSpPr txBox="1"/>
          <p:nvPr/>
        </p:nvSpPr>
        <p:spPr>
          <a:xfrm>
            <a:off x="9191922" y="5496398"/>
            <a:ext cx="349776" cy="461665"/>
          </a:xfrm>
          <a:prstGeom prst="rect">
            <a:avLst/>
          </a:prstGeom>
          <a:noFill/>
        </p:spPr>
        <p:txBody>
          <a:bodyPr wrap="none" rtlCol="0">
            <a:spAutoFit/>
          </a:bodyPr>
          <a:lstStyle/>
          <a:p>
            <a:r>
              <a:rPr lang="en-NL" sz="2400" dirty="0"/>
              <a:t>5</a:t>
            </a:r>
          </a:p>
        </p:txBody>
      </p:sp>
      <p:sp>
        <p:nvSpPr>
          <p:cNvPr id="16" name="TextBox 15">
            <a:extLst>
              <a:ext uri="{FF2B5EF4-FFF2-40B4-BE49-F238E27FC236}">
                <a16:creationId xmlns:a16="http://schemas.microsoft.com/office/drawing/2014/main" id="{D4544F56-EF12-C3A5-9F5E-5D217E4AE7E1}"/>
              </a:ext>
            </a:extLst>
          </p:cNvPr>
          <p:cNvSpPr txBox="1"/>
          <p:nvPr/>
        </p:nvSpPr>
        <p:spPr>
          <a:xfrm>
            <a:off x="8561934" y="4581850"/>
            <a:ext cx="349776" cy="461665"/>
          </a:xfrm>
          <a:prstGeom prst="rect">
            <a:avLst/>
          </a:prstGeom>
          <a:noFill/>
        </p:spPr>
        <p:txBody>
          <a:bodyPr wrap="none" rtlCol="0">
            <a:spAutoFit/>
          </a:bodyPr>
          <a:lstStyle/>
          <a:p>
            <a:r>
              <a:rPr lang="en-NL" sz="2400" dirty="0"/>
              <a:t>6</a:t>
            </a:r>
          </a:p>
        </p:txBody>
      </p:sp>
      <p:sp>
        <p:nvSpPr>
          <p:cNvPr id="17" name="TextBox 16">
            <a:extLst>
              <a:ext uri="{FF2B5EF4-FFF2-40B4-BE49-F238E27FC236}">
                <a16:creationId xmlns:a16="http://schemas.microsoft.com/office/drawing/2014/main" id="{D96863CB-CC75-CDDF-DEF9-CAF650C4A11B}"/>
              </a:ext>
            </a:extLst>
          </p:cNvPr>
          <p:cNvSpPr txBox="1"/>
          <p:nvPr/>
        </p:nvSpPr>
        <p:spPr>
          <a:xfrm>
            <a:off x="9727150" y="4479399"/>
            <a:ext cx="349776" cy="461665"/>
          </a:xfrm>
          <a:prstGeom prst="rect">
            <a:avLst/>
          </a:prstGeom>
          <a:noFill/>
        </p:spPr>
        <p:txBody>
          <a:bodyPr wrap="none" rtlCol="0">
            <a:spAutoFit/>
          </a:bodyPr>
          <a:lstStyle/>
          <a:p>
            <a:r>
              <a:rPr lang="en-NL" sz="2400" dirty="0"/>
              <a:t>7</a:t>
            </a:r>
          </a:p>
        </p:txBody>
      </p:sp>
      <p:sp>
        <p:nvSpPr>
          <p:cNvPr id="18" name="TextBox 17">
            <a:extLst>
              <a:ext uri="{FF2B5EF4-FFF2-40B4-BE49-F238E27FC236}">
                <a16:creationId xmlns:a16="http://schemas.microsoft.com/office/drawing/2014/main" id="{7EB00C76-4F7D-FFDA-527C-470FA9DA54AB}"/>
              </a:ext>
            </a:extLst>
          </p:cNvPr>
          <p:cNvSpPr txBox="1"/>
          <p:nvPr/>
        </p:nvSpPr>
        <p:spPr>
          <a:xfrm>
            <a:off x="9973229" y="4979194"/>
            <a:ext cx="449162" cy="461665"/>
          </a:xfrm>
          <a:prstGeom prst="rect">
            <a:avLst/>
          </a:prstGeom>
          <a:noFill/>
        </p:spPr>
        <p:txBody>
          <a:bodyPr wrap="none" rtlCol="0">
            <a:spAutoFit/>
          </a:bodyPr>
          <a:lstStyle/>
          <a:p>
            <a:r>
              <a:rPr lang="en-NL" sz="2400" dirty="0"/>
              <a:t>…</a:t>
            </a:r>
          </a:p>
        </p:txBody>
      </p:sp>
      <p:sp>
        <p:nvSpPr>
          <p:cNvPr id="19" name="Right Arrow 18">
            <a:extLst>
              <a:ext uri="{FF2B5EF4-FFF2-40B4-BE49-F238E27FC236}">
                <a16:creationId xmlns:a16="http://schemas.microsoft.com/office/drawing/2014/main" id="{3422B608-BBE4-2C81-959E-9AAB231E55AF}"/>
              </a:ext>
            </a:extLst>
          </p:cNvPr>
          <p:cNvSpPr/>
          <p:nvPr/>
        </p:nvSpPr>
        <p:spPr>
          <a:xfrm>
            <a:off x="4629150" y="4348401"/>
            <a:ext cx="2324100" cy="1101328"/>
          </a:xfrm>
          <a:prstGeom prst="rightArrow">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TextBox 19">
            <a:extLst>
              <a:ext uri="{FF2B5EF4-FFF2-40B4-BE49-F238E27FC236}">
                <a16:creationId xmlns:a16="http://schemas.microsoft.com/office/drawing/2014/main" id="{59187781-D635-B378-1C45-C5B481D462AE}"/>
              </a:ext>
            </a:extLst>
          </p:cNvPr>
          <p:cNvSpPr txBox="1"/>
          <p:nvPr/>
        </p:nvSpPr>
        <p:spPr>
          <a:xfrm>
            <a:off x="4912589" y="4731180"/>
            <a:ext cx="1328954" cy="369332"/>
          </a:xfrm>
          <a:prstGeom prst="rect">
            <a:avLst/>
          </a:prstGeom>
          <a:noFill/>
        </p:spPr>
        <p:txBody>
          <a:bodyPr wrap="none" rtlCol="0">
            <a:spAutoFit/>
          </a:bodyPr>
          <a:lstStyle/>
          <a:p>
            <a:r>
              <a:rPr lang="en-GB" dirty="0"/>
              <a:t>l</a:t>
            </a:r>
            <a:r>
              <a:rPr lang="en-NL" dirty="0"/>
              <a:t>eeftijd(m,l)</a:t>
            </a:r>
          </a:p>
        </p:txBody>
      </p:sp>
      <p:sp>
        <p:nvSpPr>
          <p:cNvPr id="21" name="TextBox 20">
            <a:extLst>
              <a:ext uri="{FF2B5EF4-FFF2-40B4-BE49-F238E27FC236}">
                <a16:creationId xmlns:a16="http://schemas.microsoft.com/office/drawing/2014/main" id="{895205DE-B669-3BD3-ED59-B49C32D0DDC5}"/>
              </a:ext>
            </a:extLst>
          </p:cNvPr>
          <p:cNvSpPr txBox="1"/>
          <p:nvPr/>
        </p:nvSpPr>
        <p:spPr>
          <a:xfrm>
            <a:off x="3361102" y="6438900"/>
            <a:ext cx="5236626" cy="369332"/>
          </a:xfrm>
          <a:prstGeom prst="rect">
            <a:avLst/>
          </a:prstGeom>
          <a:noFill/>
        </p:spPr>
        <p:txBody>
          <a:bodyPr wrap="none" rtlCol="0">
            <a:spAutoFit/>
          </a:bodyPr>
          <a:lstStyle/>
          <a:p>
            <a:r>
              <a:rPr lang="en-GB" dirty="0"/>
              <a:t>B</a:t>
            </a:r>
            <a:r>
              <a:rPr lang="en-NL" dirty="0"/>
              <a:t>ijvoorbeeld de propositie: leeftijd([Jan],45) is waar</a:t>
            </a:r>
          </a:p>
        </p:txBody>
      </p:sp>
      <p:sp>
        <p:nvSpPr>
          <p:cNvPr id="22" name="TextBox 21">
            <a:extLst>
              <a:ext uri="{FF2B5EF4-FFF2-40B4-BE49-F238E27FC236}">
                <a16:creationId xmlns:a16="http://schemas.microsoft.com/office/drawing/2014/main" id="{4DE3B4A3-8BA2-2CFC-4CEB-A12D8F4F7C32}"/>
              </a:ext>
            </a:extLst>
          </p:cNvPr>
          <p:cNvSpPr txBox="1"/>
          <p:nvPr/>
        </p:nvSpPr>
        <p:spPr>
          <a:xfrm>
            <a:off x="2701145" y="3929765"/>
            <a:ext cx="878767" cy="369332"/>
          </a:xfrm>
          <a:prstGeom prst="rect">
            <a:avLst/>
          </a:prstGeom>
          <a:noFill/>
        </p:spPr>
        <p:txBody>
          <a:bodyPr wrap="none" rtlCol="0">
            <a:spAutoFit/>
          </a:bodyPr>
          <a:lstStyle/>
          <a:p>
            <a:r>
              <a:rPr lang="en-NL" dirty="0"/>
              <a:t>[Marie]</a:t>
            </a:r>
          </a:p>
        </p:txBody>
      </p:sp>
    </p:spTree>
    <p:extLst>
      <p:ext uri="{BB962C8B-B14F-4D97-AF65-F5344CB8AC3E}">
        <p14:creationId xmlns:p14="http://schemas.microsoft.com/office/powerpoint/2010/main" val="19132278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6FBA3-91B2-C076-41E7-48F511B8F3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37629A-86DC-0E5D-931D-54427B83BF2B}"/>
              </a:ext>
            </a:extLst>
          </p:cNvPr>
          <p:cNvSpPr>
            <a:spLocks noGrp="1"/>
          </p:cNvSpPr>
          <p:nvPr>
            <p:ph type="title"/>
          </p:nvPr>
        </p:nvSpPr>
        <p:spPr/>
        <p:txBody>
          <a:bodyPr/>
          <a:lstStyle/>
          <a:p>
            <a:r>
              <a:rPr lang="en-NL" dirty="0"/>
              <a:t>String predicaten</a:t>
            </a:r>
          </a:p>
        </p:txBody>
      </p:sp>
      <p:sp>
        <p:nvSpPr>
          <p:cNvPr id="3" name="Content Placeholder 2">
            <a:extLst>
              <a:ext uri="{FF2B5EF4-FFF2-40B4-BE49-F238E27FC236}">
                <a16:creationId xmlns:a16="http://schemas.microsoft.com/office/drawing/2014/main" id="{D9F829B0-2D32-EDAD-FADB-DCEF0F96B7A5}"/>
              </a:ext>
            </a:extLst>
          </p:cNvPr>
          <p:cNvSpPr>
            <a:spLocks noGrp="1"/>
          </p:cNvSpPr>
          <p:nvPr>
            <p:ph idx="1"/>
          </p:nvPr>
        </p:nvSpPr>
        <p:spPr/>
        <p:txBody>
          <a:bodyPr/>
          <a:lstStyle/>
          <a:p>
            <a:r>
              <a:rPr lang="en-NL" dirty="0"/>
              <a:t>Het predicaat: voornaam(m,vn)</a:t>
            </a:r>
          </a:p>
          <a:p>
            <a:pPr lvl="1"/>
            <a:r>
              <a:rPr lang="en-NL" dirty="0"/>
              <a:t>Daarbij is m een element uit de verzameling van mensen</a:t>
            </a:r>
          </a:p>
          <a:p>
            <a:pPr lvl="1"/>
            <a:r>
              <a:rPr lang="en-NL" dirty="0"/>
              <a:t>..en vn is een element uit de verzameling van voornamen</a:t>
            </a:r>
          </a:p>
        </p:txBody>
      </p:sp>
      <p:sp>
        <p:nvSpPr>
          <p:cNvPr id="4" name="Oval 3">
            <a:extLst>
              <a:ext uri="{FF2B5EF4-FFF2-40B4-BE49-F238E27FC236}">
                <a16:creationId xmlns:a16="http://schemas.microsoft.com/office/drawing/2014/main" id="{3A5A37E1-585C-6529-F479-1518EE5C3AA2}"/>
              </a:ext>
            </a:extLst>
          </p:cNvPr>
          <p:cNvSpPr/>
          <p:nvPr/>
        </p:nvSpPr>
        <p:spPr>
          <a:xfrm>
            <a:off x="838200" y="3538538"/>
            <a:ext cx="3386137" cy="264318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 name="TextBox 4">
            <a:extLst>
              <a:ext uri="{FF2B5EF4-FFF2-40B4-BE49-F238E27FC236}">
                <a16:creationId xmlns:a16="http://schemas.microsoft.com/office/drawing/2014/main" id="{D81E2178-0B40-69ED-9216-F4043144020C}"/>
              </a:ext>
            </a:extLst>
          </p:cNvPr>
          <p:cNvSpPr txBox="1"/>
          <p:nvPr/>
        </p:nvSpPr>
        <p:spPr>
          <a:xfrm>
            <a:off x="1666875" y="3979069"/>
            <a:ext cx="647228" cy="369332"/>
          </a:xfrm>
          <a:prstGeom prst="rect">
            <a:avLst/>
          </a:prstGeom>
          <a:noFill/>
        </p:spPr>
        <p:txBody>
          <a:bodyPr wrap="none" rtlCol="0">
            <a:spAutoFit/>
          </a:bodyPr>
          <a:lstStyle/>
          <a:p>
            <a:r>
              <a:rPr lang="en-NL" dirty="0"/>
              <a:t>[Jan]</a:t>
            </a:r>
          </a:p>
        </p:txBody>
      </p:sp>
      <p:sp>
        <p:nvSpPr>
          <p:cNvPr id="6" name="TextBox 5">
            <a:extLst>
              <a:ext uri="{FF2B5EF4-FFF2-40B4-BE49-F238E27FC236}">
                <a16:creationId xmlns:a16="http://schemas.microsoft.com/office/drawing/2014/main" id="{F7264723-46B8-EA4F-94D2-B59408290B7E}"/>
              </a:ext>
            </a:extLst>
          </p:cNvPr>
          <p:cNvSpPr txBox="1"/>
          <p:nvPr/>
        </p:nvSpPr>
        <p:spPr>
          <a:xfrm>
            <a:off x="1518149" y="5080397"/>
            <a:ext cx="704039" cy="369332"/>
          </a:xfrm>
          <a:prstGeom prst="rect">
            <a:avLst/>
          </a:prstGeom>
          <a:noFill/>
        </p:spPr>
        <p:txBody>
          <a:bodyPr wrap="none" rtlCol="0">
            <a:spAutoFit/>
          </a:bodyPr>
          <a:lstStyle/>
          <a:p>
            <a:r>
              <a:rPr lang="en-NL" dirty="0"/>
              <a:t>[Piet]</a:t>
            </a:r>
          </a:p>
        </p:txBody>
      </p:sp>
      <p:sp>
        <p:nvSpPr>
          <p:cNvPr id="7" name="TextBox 6">
            <a:extLst>
              <a:ext uri="{FF2B5EF4-FFF2-40B4-BE49-F238E27FC236}">
                <a16:creationId xmlns:a16="http://schemas.microsoft.com/office/drawing/2014/main" id="{43BF56EA-A21C-E7BE-0D16-7D0B6AE1B0E4}"/>
              </a:ext>
            </a:extLst>
          </p:cNvPr>
          <p:cNvSpPr txBox="1"/>
          <p:nvPr/>
        </p:nvSpPr>
        <p:spPr>
          <a:xfrm>
            <a:off x="2644215" y="4614731"/>
            <a:ext cx="869149" cy="369332"/>
          </a:xfrm>
          <a:prstGeom prst="rect">
            <a:avLst/>
          </a:prstGeom>
          <a:noFill/>
        </p:spPr>
        <p:txBody>
          <a:bodyPr wrap="none" rtlCol="0">
            <a:spAutoFit/>
          </a:bodyPr>
          <a:lstStyle/>
          <a:p>
            <a:r>
              <a:rPr lang="en-NL" dirty="0"/>
              <a:t>[Klaas]</a:t>
            </a:r>
          </a:p>
        </p:txBody>
      </p:sp>
      <p:sp>
        <p:nvSpPr>
          <p:cNvPr id="8" name="TextBox 7">
            <a:extLst>
              <a:ext uri="{FF2B5EF4-FFF2-40B4-BE49-F238E27FC236}">
                <a16:creationId xmlns:a16="http://schemas.microsoft.com/office/drawing/2014/main" id="{82129373-C97A-8E04-F1BF-FEDA8ADBAF5D}"/>
              </a:ext>
            </a:extLst>
          </p:cNvPr>
          <p:cNvSpPr txBox="1"/>
          <p:nvPr/>
        </p:nvSpPr>
        <p:spPr>
          <a:xfrm>
            <a:off x="2910338" y="5130390"/>
            <a:ext cx="450764" cy="369332"/>
          </a:xfrm>
          <a:prstGeom prst="rect">
            <a:avLst/>
          </a:prstGeom>
          <a:noFill/>
        </p:spPr>
        <p:txBody>
          <a:bodyPr wrap="none" rtlCol="0">
            <a:spAutoFit/>
          </a:bodyPr>
          <a:lstStyle/>
          <a:p>
            <a:r>
              <a:rPr lang="en-NL" dirty="0"/>
              <a:t>[..]</a:t>
            </a:r>
          </a:p>
        </p:txBody>
      </p:sp>
      <p:sp>
        <p:nvSpPr>
          <p:cNvPr id="9" name="Oval 8">
            <a:extLst>
              <a:ext uri="{FF2B5EF4-FFF2-40B4-BE49-F238E27FC236}">
                <a16:creationId xmlns:a16="http://schemas.microsoft.com/office/drawing/2014/main" id="{B7DA223D-BC34-6C47-05C5-8DD1A0419FB3}"/>
              </a:ext>
            </a:extLst>
          </p:cNvPr>
          <p:cNvSpPr/>
          <p:nvPr/>
        </p:nvSpPr>
        <p:spPr>
          <a:xfrm>
            <a:off x="7287714" y="3538538"/>
            <a:ext cx="3386137" cy="264318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9" name="Right Arrow 18">
            <a:extLst>
              <a:ext uri="{FF2B5EF4-FFF2-40B4-BE49-F238E27FC236}">
                <a16:creationId xmlns:a16="http://schemas.microsoft.com/office/drawing/2014/main" id="{0D62E76C-20EE-0E24-C2D0-5160516B6082}"/>
              </a:ext>
            </a:extLst>
          </p:cNvPr>
          <p:cNvSpPr/>
          <p:nvPr/>
        </p:nvSpPr>
        <p:spPr>
          <a:xfrm>
            <a:off x="4629150" y="4348401"/>
            <a:ext cx="2324100" cy="1101328"/>
          </a:xfrm>
          <a:prstGeom prst="rightArrow">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TextBox 19">
            <a:extLst>
              <a:ext uri="{FF2B5EF4-FFF2-40B4-BE49-F238E27FC236}">
                <a16:creationId xmlns:a16="http://schemas.microsoft.com/office/drawing/2014/main" id="{7F67C6C5-E929-5772-3BB6-F458E343333A}"/>
              </a:ext>
            </a:extLst>
          </p:cNvPr>
          <p:cNvSpPr txBox="1"/>
          <p:nvPr/>
        </p:nvSpPr>
        <p:spPr>
          <a:xfrm>
            <a:off x="4912589" y="4731180"/>
            <a:ext cx="1799082" cy="369332"/>
          </a:xfrm>
          <a:prstGeom prst="rect">
            <a:avLst/>
          </a:prstGeom>
          <a:noFill/>
        </p:spPr>
        <p:txBody>
          <a:bodyPr wrap="none" rtlCol="0">
            <a:spAutoFit/>
          </a:bodyPr>
          <a:lstStyle/>
          <a:p>
            <a:r>
              <a:rPr lang="en-NL" dirty="0"/>
              <a:t>voornaam(m,vn)</a:t>
            </a:r>
          </a:p>
        </p:txBody>
      </p:sp>
      <p:sp>
        <p:nvSpPr>
          <p:cNvPr id="21" name="TextBox 20">
            <a:extLst>
              <a:ext uri="{FF2B5EF4-FFF2-40B4-BE49-F238E27FC236}">
                <a16:creationId xmlns:a16="http://schemas.microsoft.com/office/drawing/2014/main" id="{92F868ED-D79A-4520-F62D-94A2EFCDDBF5}"/>
              </a:ext>
            </a:extLst>
          </p:cNvPr>
          <p:cNvSpPr txBox="1"/>
          <p:nvPr/>
        </p:nvSpPr>
        <p:spPr>
          <a:xfrm>
            <a:off x="3361102" y="6438900"/>
            <a:ext cx="5781326" cy="369332"/>
          </a:xfrm>
          <a:prstGeom prst="rect">
            <a:avLst/>
          </a:prstGeom>
          <a:noFill/>
        </p:spPr>
        <p:txBody>
          <a:bodyPr wrap="none" rtlCol="0">
            <a:spAutoFit/>
          </a:bodyPr>
          <a:lstStyle/>
          <a:p>
            <a:r>
              <a:rPr lang="en-GB" dirty="0"/>
              <a:t>B</a:t>
            </a:r>
            <a:r>
              <a:rPr lang="en-NL" dirty="0"/>
              <a:t>ijvoorbeeld de propositie: voornaam([Jan],”Jan”) is waar</a:t>
            </a:r>
          </a:p>
        </p:txBody>
      </p:sp>
      <p:sp>
        <p:nvSpPr>
          <p:cNvPr id="22" name="TextBox 21">
            <a:extLst>
              <a:ext uri="{FF2B5EF4-FFF2-40B4-BE49-F238E27FC236}">
                <a16:creationId xmlns:a16="http://schemas.microsoft.com/office/drawing/2014/main" id="{3DE42CD9-CAF9-3F1D-F13E-C2936E4E7C4B}"/>
              </a:ext>
            </a:extLst>
          </p:cNvPr>
          <p:cNvSpPr txBox="1"/>
          <p:nvPr/>
        </p:nvSpPr>
        <p:spPr>
          <a:xfrm>
            <a:off x="8201167" y="4029062"/>
            <a:ext cx="705386" cy="369332"/>
          </a:xfrm>
          <a:prstGeom prst="rect">
            <a:avLst/>
          </a:prstGeom>
          <a:noFill/>
        </p:spPr>
        <p:txBody>
          <a:bodyPr wrap="none" rtlCol="0">
            <a:spAutoFit/>
          </a:bodyPr>
          <a:lstStyle/>
          <a:p>
            <a:r>
              <a:rPr lang="en-NL" dirty="0"/>
              <a:t>“Jan”</a:t>
            </a:r>
          </a:p>
        </p:txBody>
      </p:sp>
      <p:sp>
        <p:nvSpPr>
          <p:cNvPr id="23" name="TextBox 22">
            <a:extLst>
              <a:ext uri="{FF2B5EF4-FFF2-40B4-BE49-F238E27FC236}">
                <a16:creationId xmlns:a16="http://schemas.microsoft.com/office/drawing/2014/main" id="{EA5FB6FE-929D-75EA-EFCD-D18B788837C5}"/>
              </a:ext>
            </a:extLst>
          </p:cNvPr>
          <p:cNvSpPr txBox="1"/>
          <p:nvPr/>
        </p:nvSpPr>
        <p:spPr>
          <a:xfrm>
            <a:off x="8052441" y="5130390"/>
            <a:ext cx="777777" cy="369332"/>
          </a:xfrm>
          <a:prstGeom prst="rect">
            <a:avLst/>
          </a:prstGeom>
          <a:noFill/>
        </p:spPr>
        <p:txBody>
          <a:bodyPr wrap="none" rtlCol="0">
            <a:spAutoFit/>
          </a:bodyPr>
          <a:lstStyle/>
          <a:p>
            <a:r>
              <a:rPr lang="en-NL" dirty="0"/>
              <a:t>“Piet”</a:t>
            </a:r>
          </a:p>
        </p:txBody>
      </p:sp>
      <p:sp>
        <p:nvSpPr>
          <p:cNvPr id="24" name="TextBox 23">
            <a:extLst>
              <a:ext uri="{FF2B5EF4-FFF2-40B4-BE49-F238E27FC236}">
                <a16:creationId xmlns:a16="http://schemas.microsoft.com/office/drawing/2014/main" id="{2635F83B-B687-1296-B717-4372F1D0A8CA}"/>
              </a:ext>
            </a:extLst>
          </p:cNvPr>
          <p:cNvSpPr txBox="1"/>
          <p:nvPr/>
        </p:nvSpPr>
        <p:spPr>
          <a:xfrm>
            <a:off x="9178507" y="4664724"/>
            <a:ext cx="939424" cy="369332"/>
          </a:xfrm>
          <a:prstGeom prst="rect">
            <a:avLst/>
          </a:prstGeom>
          <a:noFill/>
        </p:spPr>
        <p:txBody>
          <a:bodyPr wrap="none" rtlCol="0">
            <a:spAutoFit/>
          </a:bodyPr>
          <a:lstStyle/>
          <a:p>
            <a:r>
              <a:rPr lang="en-NL" dirty="0"/>
              <a:t>“Klaas”</a:t>
            </a:r>
          </a:p>
        </p:txBody>
      </p:sp>
      <p:sp>
        <p:nvSpPr>
          <p:cNvPr id="25" name="TextBox 24">
            <a:extLst>
              <a:ext uri="{FF2B5EF4-FFF2-40B4-BE49-F238E27FC236}">
                <a16:creationId xmlns:a16="http://schemas.microsoft.com/office/drawing/2014/main" id="{7F4A1ABA-1324-3499-1DB2-F1200FFDFFCE}"/>
              </a:ext>
            </a:extLst>
          </p:cNvPr>
          <p:cNvSpPr txBox="1"/>
          <p:nvPr/>
        </p:nvSpPr>
        <p:spPr>
          <a:xfrm>
            <a:off x="9444630" y="5180383"/>
            <a:ext cx="469103" cy="369332"/>
          </a:xfrm>
          <a:prstGeom prst="rect">
            <a:avLst/>
          </a:prstGeom>
          <a:noFill/>
        </p:spPr>
        <p:txBody>
          <a:bodyPr wrap="none" rtlCol="0">
            <a:spAutoFit/>
          </a:bodyPr>
          <a:lstStyle/>
          <a:p>
            <a:r>
              <a:rPr lang="en-NL" dirty="0"/>
              <a:t>“..”</a:t>
            </a:r>
          </a:p>
        </p:txBody>
      </p:sp>
      <p:sp>
        <p:nvSpPr>
          <p:cNvPr id="26" name="TextBox 25">
            <a:extLst>
              <a:ext uri="{FF2B5EF4-FFF2-40B4-BE49-F238E27FC236}">
                <a16:creationId xmlns:a16="http://schemas.microsoft.com/office/drawing/2014/main" id="{6DA94067-53B0-80EB-4BC7-8C2ECB4F86EA}"/>
              </a:ext>
            </a:extLst>
          </p:cNvPr>
          <p:cNvSpPr txBox="1"/>
          <p:nvPr/>
        </p:nvSpPr>
        <p:spPr>
          <a:xfrm rot="17770696">
            <a:off x="9837017" y="4736265"/>
            <a:ext cx="3109558" cy="923330"/>
          </a:xfrm>
          <a:prstGeom prst="rect">
            <a:avLst/>
          </a:prstGeom>
          <a:noFill/>
        </p:spPr>
        <p:txBody>
          <a:bodyPr wrap="square" rtlCol="0">
            <a:spAutoFit/>
          </a:bodyPr>
          <a:lstStyle/>
          <a:p>
            <a:r>
              <a:rPr lang="en-GB" i="1" dirty="0">
                <a:solidFill>
                  <a:srgbClr val="FF0000"/>
                </a:solidFill>
              </a:rPr>
              <a:t>I</a:t>
            </a:r>
            <a:r>
              <a:rPr lang="en-NL" i="1" dirty="0">
                <a:solidFill>
                  <a:srgbClr val="FF0000"/>
                </a:solidFill>
              </a:rPr>
              <a:t>k bedoel dus </a:t>
            </a:r>
            <a:r>
              <a:rPr lang="en-NL" i="1" u="sng" dirty="0">
                <a:solidFill>
                  <a:srgbClr val="FF0000"/>
                </a:solidFill>
              </a:rPr>
              <a:t>wel</a:t>
            </a:r>
            <a:r>
              <a:rPr lang="en-NL" i="1" dirty="0">
                <a:solidFill>
                  <a:srgbClr val="FF0000"/>
                </a:solidFill>
              </a:rPr>
              <a:t> de verzameling van voornamen!!</a:t>
            </a:r>
          </a:p>
          <a:p>
            <a:r>
              <a:rPr lang="en-NL" i="1" dirty="0">
                <a:solidFill>
                  <a:srgbClr val="FF0000"/>
                </a:solidFill>
              </a:rPr>
              <a:t>(daarom ook quotjes)</a:t>
            </a:r>
          </a:p>
        </p:txBody>
      </p:sp>
      <p:sp>
        <p:nvSpPr>
          <p:cNvPr id="27" name="TextBox 26">
            <a:extLst>
              <a:ext uri="{FF2B5EF4-FFF2-40B4-BE49-F238E27FC236}">
                <a16:creationId xmlns:a16="http://schemas.microsoft.com/office/drawing/2014/main" id="{0158B16A-4D32-7FEA-3D15-3EA87B6755C5}"/>
              </a:ext>
            </a:extLst>
          </p:cNvPr>
          <p:cNvSpPr txBox="1"/>
          <p:nvPr/>
        </p:nvSpPr>
        <p:spPr>
          <a:xfrm>
            <a:off x="9208835" y="3916965"/>
            <a:ext cx="949940" cy="369332"/>
          </a:xfrm>
          <a:prstGeom prst="rect">
            <a:avLst/>
          </a:prstGeom>
          <a:noFill/>
        </p:spPr>
        <p:txBody>
          <a:bodyPr wrap="none" rtlCol="0">
            <a:spAutoFit/>
          </a:bodyPr>
          <a:lstStyle/>
          <a:p>
            <a:r>
              <a:rPr lang="en-NL" dirty="0"/>
              <a:t>“Marie”</a:t>
            </a:r>
          </a:p>
        </p:txBody>
      </p:sp>
    </p:spTree>
    <p:extLst>
      <p:ext uri="{BB962C8B-B14F-4D97-AF65-F5344CB8AC3E}">
        <p14:creationId xmlns:p14="http://schemas.microsoft.com/office/powerpoint/2010/main" val="10082775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E458E-A18A-5A3E-A558-93FDAB0655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D4E364-DC0D-0AE1-EB24-BB224D9F39CE}"/>
              </a:ext>
            </a:extLst>
          </p:cNvPr>
          <p:cNvSpPr>
            <a:spLocks noGrp="1"/>
          </p:cNvSpPr>
          <p:nvPr>
            <p:ph type="title"/>
          </p:nvPr>
        </p:nvSpPr>
        <p:spPr/>
        <p:txBody>
          <a:bodyPr/>
          <a:lstStyle/>
          <a:p>
            <a:r>
              <a:rPr lang="en-NL" dirty="0"/>
              <a:t>Domeinobject predicaten</a:t>
            </a:r>
          </a:p>
        </p:txBody>
      </p:sp>
      <p:sp>
        <p:nvSpPr>
          <p:cNvPr id="3" name="Content Placeholder 2">
            <a:extLst>
              <a:ext uri="{FF2B5EF4-FFF2-40B4-BE49-F238E27FC236}">
                <a16:creationId xmlns:a16="http://schemas.microsoft.com/office/drawing/2014/main" id="{384334C5-8D39-6F5C-4506-7E1720BFF9EC}"/>
              </a:ext>
            </a:extLst>
          </p:cNvPr>
          <p:cNvSpPr>
            <a:spLocks noGrp="1"/>
          </p:cNvSpPr>
          <p:nvPr>
            <p:ph idx="1"/>
          </p:nvPr>
        </p:nvSpPr>
        <p:spPr/>
        <p:txBody>
          <a:bodyPr/>
          <a:lstStyle/>
          <a:p>
            <a:r>
              <a:rPr lang="en-NL" dirty="0"/>
              <a:t>Het predicaat: getrouwd-met(m1,m2)</a:t>
            </a:r>
          </a:p>
          <a:p>
            <a:pPr lvl="1"/>
            <a:r>
              <a:rPr lang="en-NL" dirty="0"/>
              <a:t>Daarbij is m1 een element uit de verzameling van mensen</a:t>
            </a:r>
          </a:p>
          <a:p>
            <a:pPr lvl="1"/>
            <a:r>
              <a:rPr lang="en-NL" dirty="0"/>
              <a:t>..en m2 een element uit diezelfde verzameling</a:t>
            </a:r>
          </a:p>
        </p:txBody>
      </p:sp>
      <p:sp>
        <p:nvSpPr>
          <p:cNvPr id="4" name="Oval 3">
            <a:extLst>
              <a:ext uri="{FF2B5EF4-FFF2-40B4-BE49-F238E27FC236}">
                <a16:creationId xmlns:a16="http://schemas.microsoft.com/office/drawing/2014/main" id="{2AF27401-FC83-7DBA-FFD1-A9024AA98B1A}"/>
              </a:ext>
            </a:extLst>
          </p:cNvPr>
          <p:cNvSpPr/>
          <p:nvPr/>
        </p:nvSpPr>
        <p:spPr>
          <a:xfrm>
            <a:off x="838200" y="3538538"/>
            <a:ext cx="3386137" cy="264318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 name="TextBox 4">
            <a:extLst>
              <a:ext uri="{FF2B5EF4-FFF2-40B4-BE49-F238E27FC236}">
                <a16:creationId xmlns:a16="http://schemas.microsoft.com/office/drawing/2014/main" id="{FBFB062F-FE2C-5BD4-3E3E-66A389E0AC2B}"/>
              </a:ext>
            </a:extLst>
          </p:cNvPr>
          <p:cNvSpPr txBox="1"/>
          <p:nvPr/>
        </p:nvSpPr>
        <p:spPr>
          <a:xfrm>
            <a:off x="1666875" y="3979069"/>
            <a:ext cx="647228" cy="369332"/>
          </a:xfrm>
          <a:prstGeom prst="rect">
            <a:avLst/>
          </a:prstGeom>
          <a:noFill/>
        </p:spPr>
        <p:txBody>
          <a:bodyPr wrap="none" rtlCol="0">
            <a:spAutoFit/>
          </a:bodyPr>
          <a:lstStyle/>
          <a:p>
            <a:r>
              <a:rPr lang="en-NL" dirty="0"/>
              <a:t>[Jan]</a:t>
            </a:r>
          </a:p>
        </p:txBody>
      </p:sp>
      <p:sp>
        <p:nvSpPr>
          <p:cNvPr id="6" name="TextBox 5">
            <a:extLst>
              <a:ext uri="{FF2B5EF4-FFF2-40B4-BE49-F238E27FC236}">
                <a16:creationId xmlns:a16="http://schemas.microsoft.com/office/drawing/2014/main" id="{EB1D51DF-1E34-843E-603B-A3692C53594C}"/>
              </a:ext>
            </a:extLst>
          </p:cNvPr>
          <p:cNvSpPr txBox="1"/>
          <p:nvPr/>
        </p:nvSpPr>
        <p:spPr>
          <a:xfrm>
            <a:off x="1518149" y="5080397"/>
            <a:ext cx="704039" cy="369332"/>
          </a:xfrm>
          <a:prstGeom prst="rect">
            <a:avLst/>
          </a:prstGeom>
          <a:noFill/>
        </p:spPr>
        <p:txBody>
          <a:bodyPr wrap="none" rtlCol="0">
            <a:spAutoFit/>
          </a:bodyPr>
          <a:lstStyle/>
          <a:p>
            <a:r>
              <a:rPr lang="en-NL" dirty="0"/>
              <a:t>[Piet]</a:t>
            </a:r>
          </a:p>
        </p:txBody>
      </p:sp>
      <p:sp>
        <p:nvSpPr>
          <p:cNvPr id="7" name="TextBox 6">
            <a:extLst>
              <a:ext uri="{FF2B5EF4-FFF2-40B4-BE49-F238E27FC236}">
                <a16:creationId xmlns:a16="http://schemas.microsoft.com/office/drawing/2014/main" id="{0F7A107F-34F6-9B8F-B6EE-B96817D60D39}"/>
              </a:ext>
            </a:extLst>
          </p:cNvPr>
          <p:cNvSpPr txBox="1"/>
          <p:nvPr/>
        </p:nvSpPr>
        <p:spPr>
          <a:xfrm>
            <a:off x="2644215" y="4614731"/>
            <a:ext cx="869149" cy="369332"/>
          </a:xfrm>
          <a:prstGeom prst="rect">
            <a:avLst/>
          </a:prstGeom>
          <a:noFill/>
        </p:spPr>
        <p:txBody>
          <a:bodyPr wrap="none" rtlCol="0">
            <a:spAutoFit/>
          </a:bodyPr>
          <a:lstStyle/>
          <a:p>
            <a:r>
              <a:rPr lang="en-NL" dirty="0"/>
              <a:t>[Klaas]</a:t>
            </a:r>
          </a:p>
        </p:txBody>
      </p:sp>
      <p:sp>
        <p:nvSpPr>
          <p:cNvPr id="8" name="TextBox 7">
            <a:extLst>
              <a:ext uri="{FF2B5EF4-FFF2-40B4-BE49-F238E27FC236}">
                <a16:creationId xmlns:a16="http://schemas.microsoft.com/office/drawing/2014/main" id="{AA67691F-6DFD-B57F-EB1A-6827AE514E5D}"/>
              </a:ext>
            </a:extLst>
          </p:cNvPr>
          <p:cNvSpPr txBox="1"/>
          <p:nvPr/>
        </p:nvSpPr>
        <p:spPr>
          <a:xfrm>
            <a:off x="2910338" y="5130390"/>
            <a:ext cx="450764" cy="369332"/>
          </a:xfrm>
          <a:prstGeom prst="rect">
            <a:avLst/>
          </a:prstGeom>
          <a:noFill/>
        </p:spPr>
        <p:txBody>
          <a:bodyPr wrap="none" rtlCol="0">
            <a:spAutoFit/>
          </a:bodyPr>
          <a:lstStyle/>
          <a:p>
            <a:r>
              <a:rPr lang="en-NL" dirty="0"/>
              <a:t>[..]</a:t>
            </a:r>
          </a:p>
        </p:txBody>
      </p:sp>
      <p:sp>
        <p:nvSpPr>
          <p:cNvPr id="21" name="TextBox 20">
            <a:extLst>
              <a:ext uri="{FF2B5EF4-FFF2-40B4-BE49-F238E27FC236}">
                <a16:creationId xmlns:a16="http://schemas.microsoft.com/office/drawing/2014/main" id="{905764FC-0D7A-00AE-C18A-C6F284FD29A5}"/>
              </a:ext>
            </a:extLst>
          </p:cNvPr>
          <p:cNvSpPr txBox="1"/>
          <p:nvPr/>
        </p:nvSpPr>
        <p:spPr>
          <a:xfrm>
            <a:off x="3361102" y="6438900"/>
            <a:ext cx="6400022" cy="369332"/>
          </a:xfrm>
          <a:prstGeom prst="rect">
            <a:avLst/>
          </a:prstGeom>
          <a:noFill/>
        </p:spPr>
        <p:txBody>
          <a:bodyPr wrap="none" rtlCol="0">
            <a:spAutoFit/>
          </a:bodyPr>
          <a:lstStyle/>
          <a:p>
            <a:r>
              <a:rPr lang="en-GB" dirty="0"/>
              <a:t>B</a:t>
            </a:r>
            <a:r>
              <a:rPr lang="en-NL" dirty="0"/>
              <a:t>ijvoorbeeld de propositie: getrouwd-met([Jan],[Marie]) is waar</a:t>
            </a:r>
          </a:p>
        </p:txBody>
      </p:sp>
      <p:sp>
        <p:nvSpPr>
          <p:cNvPr id="22" name="U-turn Arrow 21">
            <a:extLst>
              <a:ext uri="{FF2B5EF4-FFF2-40B4-BE49-F238E27FC236}">
                <a16:creationId xmlns:a16="http://schemas.microsoft.com/office/drawing/2014/main" id="{B226B8B7-5671-B631-7633-C531C782A1B7}"/>
              </a:ext>
            </a:extLst>
          </p:cNvPr>
          <p:cNvSpPr/>
          <p:nvPr/>
        </p:nvSpPr>
        <p:spPr>
          <a:xfrm rot="5400000">
            <a:off x="4773698" y="3483083"/>
            <a:ext cx="1962150" cy="2622765"/>
          </a:xfrm>
          <a:prstGeom prst="uturnArrow">
            <a:avLst>
              <a:gd name="adj1" fmla="val 30032"/>
              <a:gd name="adj2" fmla="val 25000"/>
              <a:gd name="adj3" fmla="val 20974"/>
              <a:gd name="adj4" fmla="val 43750"/>
              <a:gd name="adj5" fmla="val 100000"/>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3" name="TextBox 22">
            <a:extLst>
              <a:ext uri="{FF2B5EF4-FFF2-40B4-BE49-F238E27FC236}">
                <a16:creationId xmlns:a16="http://schemas.microsoft.com/office/drawing/2014/main" id="{324E4D6D-1385-66B6-FFCD-2114A1E0E6FE}"/>
              </a:ext>
            </a:extLst>
          </p:cNvPr>
          <p:cNvSpPr txBox="1"/>
          <p:nvPr/>
        </p:nvSpPr>
        <p:spPr>
          <a:xfrm>
            <a:off x="4387320" y="3922927"/>
            <a:ext cx="2429832" cy="369332"/>
          </a:xfrm>
          <a:prstGeom prst="rect">
            <a:avLst/>
          </a:prstGeom>
          <a:noFill/>
        </p:spPr>
        <p:txBody>
          <a:bodyPr wrap="none" rtlCol="0">
            <a:spAutoFit/>
          </a:bodyPr>
          <a:lstStyle/>
          <a:p>
            <a:r>
              <a:rPr lang="en-NL" dirty="0"/>
              <a:t>getrouwd-met(m1,m2)</a:t>
            </a:r>
          </a:p>
        </p:txBody>
      </p:sp>
      <p:sp>
        <p:nvSpPr>
          <p:cNvPr id="9" name="TextBox 8">
            <a:extLst>
              <a:ext uri="{FF2B5EF4-FFF2-40B4-BE49-F238E27FC236}">
                <a16:creationId xmlns:a16="http://schemas.microsoft.com/office/drawing/2014/main" id="{72D14DFA-68A1-99E5-21BD-5EDE430E4FD4}"/>
              </a:ext>
            </a:extLst>
          </p:cNvPr>
          <p:cNvSpPr txBox="1"/>
          <p:nvPr/>
        </p:nvSpPr>
        <p:spPr>
          <a:xfrm>
            <a:off x="2701145" y="3929765"/>
            <a:ext cx="878767" cy="369332"/>
          </a:xfrm>
          <a:prstGeom prst="rect">
            <a:avLst/>
          </a:prstGeom>
          <a:noFill/>
        </p:spPr>
        <p:txBody>
          <a:bodyPr wrap="none" rtlCol="0">
            <a:spAutoFit/>
          </a:bodyPr>
          <a:lstStyle/>
          <a:p>
            <a:r>
              <a:rPr lang="en-NL" dirty="0"/>
              <a:t>[Marie]</a:t>
            </a:r>
          </a:p>
        </p:txBody>
      </p:sp>
    </p:spTree>
    <p:extLst>
      <p:ext uri="{BB962C8B-B14F-4D97-AF65-F5344CB8AC3E}">
        <p14:creationId xmlns:p14="http://schemas.microsoft.com/office/powerpoint/2010/main" val="4094180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AFE82-3727-59A8-C487-07DC6C67F5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4E52F5-2031-89B8-D1EB-D3EF6BF79089}"/>
              </a:ext>
            </a:extLst>
          </p:cNvPr>
          <p:cNvSpPr>
            <a:spLocks noGrp="1"/>
          </p:cNvSpPr>
          <p:nvPr>
            <p:ph type="title"/>
          </p:nvPr>
        </p:nvSpPr>
        <p:spPr/>
        <p:txBody>
          <a:bodyPr/>
          <a:lstStyle/>
          <a:p>
            <a:r>
              <a:rPr lang="en-NL" dirty="0"/>
              <a:t>Categorie predicaten</a:t>
            </a:r>
          </a:p>
        </p:txBody>
      </p:sp>
      <p:sp>
        <p:nvSpPr>
          <p:cNvPr id="3" name="Content Placeholder 2">
            <a:extLst>
              <a:ext uri="{FF2B5EF4-FFF2-40B4-BE49-F238E27FC236}">
                <a16:creationId xmlns:a16="http://schemas.microsoft.com/office/drawing/2014/main" id="{B3808078-3A9C-2EEB-4DE9-D41F0BA909BC}"/>
              </a:ext>
            </a:extLst>
          </p:cNvPr>
          <p:cNvSpPr>
            <a:spLocks noGrp="1"/>
          </p:cNvSpPr>
          <p:nvPr>
            <p:ph idx="1"/>
          </p:nvPr>
        </p:nvSpPr>
        <p:spPr/>
        <p:txBody>
          <a:bodyPr/>
          <a:lstStyle/>
          <a:p>
            <a:r>
              <a:rPr lang="en-NL" dirty="0"/>
              <a:t>Het predicaat: type(o,t)</a:t>
            </a:r>
          </a:p>
          <a:p>
            <a:pPr lvl="1"/>
            <a:r>
              <a:rPr lang="en-NL" dirty="0"/>
              <a:t>Daarbij is o een element uit de verzameling van openbare ruimten</a:t>
            </a:r>
          </a:p>
          <a:p>
            <a:pPr lvl="1"/>
            <a:r>
              <a:rPr lang="en-NL" dirty="0"/>
              <a:t>..en t is een element uit de verzameling van typen </a:t>
            </a:r>
            <a:r>
              <a:rPr lang="en-NL"/>
              <a:t>openbare ruimten</a:t>
            </a:r>
          </a:p>
          <a:p>
            <a:pPr lvl="1"/>
            <a:endParaRPr lang="en-NL" dirty="0"/>
          </a:p>
        </p:txBody>
      </p:sp>
      <p:sp>
        <p:nvSpPr>
          <p:cNvPr id="4" name="Oval 3">
            <a:extLst>
              <a:ext uri="{FF2B5EF4-FFF2-40B4-BE49-F238E27FC236}">
                <a16:creationId xmlns:a16="http://schemas.microsoft.com/office/drawing/2014/main" id="{1D58ECC0-F7AA-561D-1448-2A2D9E6642D2}"/>
              </a:ext>
            </a:extLst>
          </p:cNvPr>
          <p:cNvSpPr/>
          <p:nvPr/>
        </p:nvSpPr>
        <p:spPr>
          <a:xfrm>
            <a:off x="838200" y="3538538"/>
            <a:ext cx="3386137" cy="264318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 name="TextBox 4">
            <a:extLst>
              <a:ext uri="{FF2B5EF4-FFF2-40B4-BE49-F238E27FC236}">
                <a16:creationId xmlns:a16="http://schemas.microsoft.com/office/drawing/2014/main" id="{0AE069F5-5B78-D5CC-838E-6F46368E3302}"/>
              </a:ext>
            </a:extLst>
          </p:cNvPr>
          <p:cNvSpPr txBox="1"/>
          <p:nvPr/>
        </p:nvSpPr>
        <p:spPr>
          <a:xfrm>
            <a:off x="1666875" y="3979069"/>
            <a:ext cx="647228" cy="369332"/>
          </a:xfrm>
          <a:prstGeom prst="rect">
            <a:avLst/>
          </a:prstGeom>
          <a:noFill/>
        </p:spPr>
        <p:txBody>
          <a:bodyPr wrap="none" rtlCol="0">
            <a:spAutoFit/>
          </a:bodyPr>
          <a:lstStyle/>
          <a:p>
            <a:r>
              <a:rPr lang="en-NL" dirty="0"/>
              <a:t>[Jan]</a:t>
            </a:r>
          </a:p>
        </p:txBody>
      </p:sp>
      <p:sp>
        <p:nvSpPr>
          <p:cNvPr id="6" name="TextBox 5">
            <a:extLst>
              <a:ext uri="{FF2B5EF4-FFF2-40B4-BE49-F238E27FC236}">
                <a16:creationId xmlns:a16="http://schemas.microsoft.com/office/drawing/2014/main" id="{D199F18E-F8AE-0887-01B5-5372823C6978}"/>
              </a:ext>
            </a:extLst>
          </p:cNvPr>
          <p:cNvSpPr txBox="1"/>
          <p:nvPr/>
        </p:nvSpPr>
        <p:spPr>
          <a:xfrm>
            <a:off x="1518149" y="5080397"/>
            <a:ext cx="704039" cy="369332"/>
          </a:xfrm>
          <a:prstGeom prst="rect">
            <a:avLst/>
          </a:prstGeom>
          <a:noFill/>
        </p:spPr>
        <p:txBody>
          <a:bodyPr wrap="none" rtlCol="0">
            <a:spAutoFit/>
          </a:bodyPr>
          <a:lstStyle/>
          <a:p>
            <a:r>
              <a:rPr lang="en-NL" dirty="0"/>
              <a:t>[Piet]</a:t>
            </a:r>
          </a:p>
        </p:txBody>
      </p:sp>
      <p:sp>
        <p:nvSpPr>
          <p:cNvPr id="7" name="TextBox 6">
            <a:extLst>
              <a:ext uri="{FF2B5EF4-FFF2-40B4-BE49-F238E27FC236}">
                <a16:creationId xmlns:a16="http://schemas.microsoft.com/office/drawing/2014/main" id="{36796D5B-7C5C-7E90-5A98-CA143D143480}"/>
              </a:ext>
            </a:extLst>
          </p:cNvPr>
          <p:cNvSpPr txBox="1"/>
          <p:nvPr/>
        </p:nvSpPr>
        <p:spPr>
          <a:xfrm>
            <a:off x="2644215" y="4614731"/>
            <a:ext cx="869149" cy="369332"/>
          </a:xfrm>
          <a:prstGeom prst="rect">
            <a:avLst/>
          </a:prstGeom>
          <a:noFill/>
        </p:spPr>
        <p:txBody>
          <a:bodyPr wrap="none" rtlCol="0">
            <a:spAutoFit/>
          </a:bodyPr>
          <a:lstStyle/>
          <a:p>
            <a:r>
              <a:rPr lang="en-NL" dirty="0"/>
              <a:t>[Klaas]</a:t>
            </a:r>
          </a:p>
        </p:txBody>
      </p:sp>
      <p:sp>
        <p:nvSpPr>
          <p:cNvPr id="8" name="TextBox 7">
            <a:extLst>
              <a:ext uri="{FF2B5EF4-FFF2-40B4-BE49-F238E27FC236}">
                <a16:creationId xmlns:a16="http://schemas.microsoft.com/office/drawing/2014/main" id="{9B5000CE-BDA6-F31C-36CC-B3EF3DE96B45}"/>
              </a:ext>
            </a:extLst>
          </p:cNvPr>
          <p:cNvSpPr txBox="1"/>
          <p:nvPr/>
        </p:nvSpPr>
        <p:spPr>
          <a:xfrm>
            <a:off x="2910338" y="5130390"/>
            <a:ext cx="450764" cy="369332"/>
          </a:xfrm>
          <a:prstGeom prst="rect">
            <a:avLst/>
          </a:prstGeom>
          <a:noFill/>
        </p:spPr>
        <p:txBody>
          <a:bodyPr wrap="none" rtlCol="0">
            <a:spAutoFit/>
          </a:bodyPr>
          <a:lstStyle/>
          <a:p>
            <a:r>
              <a:rPr lang="en-NL" dirty="0"/>
              <a:t>[..]</a:t>
            </a:r>
          </a:p>
        </p:txBody>
      </p:sp>
      <p:sp>
        <p:nvSpPr>
          <p:cNvPr id="9" name="Oval 8">
            <a:extLst>
              <a:ext uri="{FF2B5EF4-FFF2-40B4-BE49-F238E27FC236}">
                <a16:creationId xmlns:a16="http://schemas.microsoft.com/office/drawing/2014/main" id="{E1E726B3-220E-4797-93B5-E5BA7996F851}"/>
              </a:ext>
            </a:extLst>
          </p:cNvPr>
          <p:cNvSpPr/>
          <p:nvPr/>
        </p:nvSpPr>
        <p:spPr>
          <a:xfrm>
            <a:off x="7287714" y="3538538"/>
            <a:ext cx="3386137" cy="264318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9" name="Right Arrow 18">
            <a:extLst>
              <a:ext uri="{FF2B5EF4-FFF2-40B4-BE49-F238E27FC236}">
                <a16:creationId xmlns:a16="http://schemas.microsoft.com/office/drawing/2014/main" id="{ECEE3807-C62F-060B-8A40-E677C02ED65D}"/>
              </a:ext>
            </a:extLst>
          </p:cNvPr>
          <p:cNvSpPr/>
          <p:nvPr/>
        </p:nvSpPr>
        <p:spPr>
          <a:xfrm>
            <a:off x="4629150" y="4348401"/>
            <a:ext cx="2324100" cy="1101328"/>
          </a:xfrm>
          <a:prstGeom prst="rightArrow">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TextBox 19">
            <a:extLst>
              <a:ext uri="{FF2B5EF4-FFF2-40B4-BE49-F238E27FC236}">
                <a16:creationId xmlns:a16="http://schemas.microsoft.com/office/drawing/2014/main" id="{AB6773E5-9E5A-BCA1-DF50-458B3D0EEC20}"/>
              </a:ext>
            </a:extLst>
          </p:cNvPr>
          <p:cNvSpPr txBox="1"/>
          <p:nvPr/>
        </p:nvSpPr>
        <p:spPr>
          <a:xfrm>
            <a:off x="4912589" y="4731180"/>
            <a:ext cx="1143262" cy="369332"/>
          </a:xfrm>
          <a:prstGeom prst="rect">
            <a:avLst/>
          </a:prstGeom>
          <a:noFill/>
        </p:spPr>
        <p:txBody>
          <a:bodyPr wrap="none" rtlCol="0">
            <a:spAutoFit/>
          </a:bodyPr>
          <a:lstStyle/>
          <a:p>
            <a:r>
              <a:rPr lang="en-NL" dirty="0"/>
              <a:t>type(m,b)</a:t>
            </a:r>
          </a:p>
        </p:txBody>
      </p:sp>
      <p:sp>
        <p:nvSpPr>
          <p:cNvPr id="21" name="TextBox 20">
            <a:extLst>
              <a:ext uri="{FF2B5EF4-FFF2-40B4-BE49-F238E27FC236}">
                <a16:creationId xmlns:a16="http://schemas.microsoft.com/office/drawing/2014/main" id="{2AEBB77B-6F7A-E809-7247-92FA2A7643F6}"/>
              </a:ext>
            </a:extLst>
          </p:cNvPr>
          <p:cNvSpPr txBox="1"/>
          <p:nvPr/>
        </p:nvSpPr>
        <p:spPr>
          <a:xfrm>
            <a:off x="3361102" y="6438900"/>
            <a:ext cx="6355907" cy="369332"/>
          </a:xfrm>
          <a:prstGeom prst="rect">
            <a:avLst/>
          </a:prstGeom>
          <a:noFill/>
        </p:spPr>
        <p:txBody>
          <a:bodyPr wrap="none" rtlCol="0">
            <a:spAutoFit/>
          </a:bodyPr>
          <a:lstStyle/>
          <a:p>
            <a:r>
              <a:rPr lang="en-GB" dirty="0"/>
              <a:t>B</a:t>
            </a:r>
            <a:r>
              <a:rPr lang="en-NL" dirty="0"/>
              <a:t>ijvoorbeeld de propositie: beroep([Jan],«timmerman») is waar</a:t>
            </a:r>
          </a:p>
        </p:txBody>
      </p:sp>
      <p:sp>
        <p:nvSpPr>
          <p:cNvPr id="22" name="TextBox 21">
            <a:extLst>
              <a:ext uri="{FF2B5EF4-FFF2-40B4-BE49-F238E27FC236}">
                <a16:creationId xmlns:a16="http://schemas.microsoft.com/office/drawing/2014/main" id="{31CB5936-59C4-8C20-D761-2563B1F0ED8C}"/>
              </a:ext>
            </a:extLst>
          </p:cNvPr>
          <p:cNvSpPr txBox="1"/>
          <p:nvPr/>
        </p:nvSpPr>
        <p:spPr>
          <a:xfrm>
            <a:off x="7683463" y="4141121"/>
            <a:ext cx="1547218" cy="369332"/>
          </a:xfrm>
          <a:prstGeom prst="rect">
            <a:avLst/>
          </a:prstGeom>
          <a:noFill/>
        </p:spPr>
        <p:txBody>
          <a:bodyPr wrap="none" rtlCol="0">
            <a:spAutoFit/>
          </a:bodyPr>
          <a:lstStyle/>
          <a:p>
            <a:r>
              <a:rPr lang="en-NL" dirty="0"/>
              <a:t>«timmerman»</a:t>
            </a:r>
          </a:p>
        </p:txBody>
      </p:sp>
      <p:sp>
        <p:nvSpPr>
          <p:cNvPr id="23" name="TextBox 22">
            <a:extLst>
              <a:ext uri="{FF2B5EF4-FFF2-40B4-BE49-F238E27FC236}">
                <a16:creationId xmlns:a16="http://schemas.microsoft.com/office/drawing/2014/main" id="{E0CF7AEF-C461-223E-BEF8-F84927F19855}"/>
              </a:ext>
            </a:extLst>
          </p:cNvPr>
          <p:cNvSpPr txBox="1"/>
          <p:nvPr/>
        </p:nvSpPr>
        <p:spPr>
          <a:xfrm>
            <a:off x="8052441" y="5130390"/>
            <a:ext cx="1047979" cy="369332"/>
          </a:xfrm>
          <a:prstGeom prst="rect">
            <a:avLst/>
          </a:prstGeom>
          <a:noFill/>
        </p:spPr>
        <p:txBody>
          <a:bodyPr wrap="none" rtlCol="0">
            <a:spAutoFit/>
          </a:bodyPr>
          <a:lstStyle/>
          <a:p>
            <a:r>
              <a:rPr lang="en-NL" dirty="0"/>
              <a:t>«bakker»</a:t>
            </a:r>
          </a:p>
        </p:txBody>
      </p:sp>
      <p:sp>
        <p:nvSpPr>
          <p:cNvPr id="24" name="TextBox 23">
            <a:extLst>
              <a:ext uri="{FF2B5EF4-FFF2-40B4-BE49-F238E27FC236}">
                <a16:creationId xmlns:a16="http://schemas.microsoft.com/office/drawing/2014/main" id="{A209D4C0-391B-48EB-E2F3-5D92921F7CCD}"/>
              </a:ext>
            </a:extLst>
          </p:cNvPr>
          <p:cNvSpPr txBox="1"/>
          <p:nvPr/>
        </p:nvSpPr>
        <p:spPr>
          <a:xfrm>
            <a:off x="9178507" y="4664724"/>
            <a:ext cx="1079142" cy="369332"/>
          </a:xfrm>
          <a:prstGeom prst="rect">
            <a:avLst/>
          </a:prstGeom>
          <a:noFill/>
        </p:spPr>
        <p:txBody>
          <a:bodyPr wrap="none" rtlCol="0">
            <a:spAutoFit/>
          </a:bodyPr>
          <a:lstStyle/>
          <a:p>
            <a:r>
              <a:rPr lang="en-NL" dirty="0"/>
              <a:t>«docent»</a:t>
            </a:r>
          </a:p>
        </p:txBody>
      </p:sp>
      <p:sp>
        <p:nvSpPr>
          <p:cNvPr id="25" name="TextBox 24">
            <a:extLst>
              <a:ext uri="{FF2B5EF4-FFF2-40B4-BE49-F238E27FC236}">
                <a16:creationId xmlns:a16="http://schemas.microsoft.com/office/drawing/2014/main" id="{7F252178-DA3C-73CF-01AE-80834DEA3184}"/>
              </a:ext>
            </a:extLst>
          </p:cNvPr>
          <p:cNvSpPr txBox="1"/>
          <p:nvPr/>
        </p:nvSpPr>
        <p:spPr>
          <a:xfrm>
            <a:off x="9444630" y="5180383"/>
            <a:ext cx="508473" cy="369332"/>
          </a:xfrm>
          <a:prstGeom prst="rect">
            <a:avLst/>
          </a:prstGeom>
          <a:noFill/>
        </p:spPr>
        <p:txBody>
          <a:bodyPr wrap="none" rtlCol="0">
            <a:spAutoFit/>
          </a:bodyPr>
          <a:lstStyle/>
          <a:p>
            <a:r>
              <a:rPr lang="en-NL" dirty="0"/>
              <a:t>«..»</a:t>
            </a:r>
          </a:p>
        </p:txBody>
      </p:sp>
      <p:sp>
        <p:nvSpPr>
          <p:cNvPr id="26" name="TextBox 25">
            <a:extLst>
              <a:ext uri="{FF2B5EF4-FFF2-40B4-BE49-F238E27FC236}">
                <a16:creationId xmlns:a16="http://schemas.microsoft.com/office/drawing/2014/main" id="{7EBECF92-085D-BAB3-8CA4-F6985E15B0B0}"/>
              </a:ext>
            </a:extLst>
          </p:cNvPr>
          <p:cNvSpPr txBox="1"/>
          <p:nvPr/>
        </p:nvSpPr>
        <p:spPr>
          <a:xfrm rot="17770696">
            <a:off x="9700880" y="4517645"/>
            <a:ext cx="3596774" cy="923330"/>
          </a:xfrm>
          <a:prstGeom prst="rect">
            <a:avLst/>
          </a:prstGeom>
          <a:noFill/>
        </p:spPr>
        <p:txBody>
          <a:bodyPr wrap="square" rtlCol="0">
            <a:spAutoFit/>
          </a:bodyPr>
          <a:lstStyle/>
          <a:p>
            <a:r>
              <a:rPr lang="en-GB" i="1" dirty="0">
                <a:solidFill>
                  <a:srgbClr val="FF0000"/>
                </a:solidFill>
              </a:rPr>
              <a:t>I</a:t>
            </a:r>
            <a:r>
              <a:rPr lang="en-NL" i="1" dirty="0">
                <a:solidFill>
                  <a:srgbClr val="FF0000"/>
                </a:solidFill>
              </a:rPr>
              <a:t>k bedoel dus </a:t>
            </a:r>
            <a:r>
              <a:rPr lang="en-NL" i="1" u="sng" dirty="0">
                <a:solidFill>
                  <a:srgbClr val="FF0000"/>
                </a:solidFill>
              </a:rPr>
              <a:t>niet</a:t>
            </a:r>
            <a:r>
              <a:rPr lang="en-NL" i="1" dirty="0">
                <a:solidFill>
                  <a:srgbClr val="FF0000"/>
                </a:solidFill>
              </a:rPr>
              <a:t> de verzameling van beroepsnamen!!</a:t>
            </a:r>
          </a:p>
          <a:p>
            <a:r>
              <a:rPr lang="en-NL" i="1" dirty="0">
                <a:solidFill>
                  <a:srgbClr val="FF0000"/>
                </a:solidFill>
              </a:rPr>
              <a:t>(daarom ook vishaken)</a:t>
            </a:r>
          </a:p>
        </p:txBody>
      </p:sp>
      <p:sp>
        <p:nvSpPr>
          <p:cNvPr id="27" name="TextBox 26">
            <a:extLst>
              <a:ext uri="{FF2B5EF4-FFF2-40B4-BE49-F238E27FC236}">
                <a16:creationId xmlns:a16="http://schemas.microsoft.com/office/drawing/2014/main" id="{548AF5A2-A9A4-C843-CF9C-20E4A05BFBC6}"/>
              </a:ext>
            </a:extLst>
          </p:cNvPr>
          <p:cNvSpPr txBox="1"/>
          <p:nvPr/>
        </p:nvSpPr>
        <p:spPr>
          <a:xfrm>
            <a:off x="9208835" y="3916965"/>
            <a:ext cx="1017202" cy="369332"/>
          </a:xfrm>
          <a:prstGeom prst="rect">
            <a:avLst/>
          </a:prstGeom>
          <a:noFill/>
        </p:spPr>
        <p:txBody>
          <a:bodyPr wrap="none" rtlCol="0">
            <a:spAutoFit/>
          </a:bodyPr>
          <a:lstStyle/>
          <a:p>
            <a:r>
              <a:rPr lang="en-NL" dirty="0"/>
              <a:t>«dokter»</a:t>
            </a:r>
          </a:p>
        </p:txBody>
      </p:sp>
    </p:spTree>
    <p:extLst>
      <p:ext uri="{BB962C8B-B14F-4D97-AF65-F5344CB8AC3E}">
        <p14:creationId xmlns:p14="http://schemas.microsoft.com/office/powerpoint/2010/main" val="2581698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4E8F0-6826-36AD-5271-FDE96673CF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C492FF-F96E-B77A-8787-C7A47A100A22}"/>
              </a:ext>
            </a:extLst>
          </p:cNvPr>
          <p:cNvSpPr>
            <a:spLocks noGrp="1"/>
          </p:cNvSpPr>
          <p:nvPr>
            <p:ph type="title"/>
          </p:nvPr>
        </p:nvSpPr>
        <p:spPr/>
        <p:txBody>
          <a:bodyPr/>
          <a:lstStyle/>
          <a:p>
            <a:r>
              <a:rPr lang="en-NL" dirty="0"/>
              <a:t>Categorie predicaten</a:t>
            </a:r>
          </a:p>
        </p:txBody>
      </p:sp>
      <p:sp>
        <p:nvSpPr>
          <p:cNvPr id="3" name="Content Placeholder 2">
            <a:extLst>
              <a:ext uri="{FF2B5EF4-FFF2-40B4-BE49-F238E27FC236}">
                <a16:creationId xmlns:a16="http://schemas.microsoft.com/office/drawing/2014/main" id="{FFAAE221-CB73-478F-5684-45D34F82980C}"/>
              </a:ext>
            </a:extLst>
          </p:cNvPr>
          <p:cNvSpPr>
            <a:spLocks noGrp="1"/>
          </p:cNvSpPr>
          <p:nvPr>
            <p:ph idx="1"/>
          </p:nvPr>
        </p:nvSpPr>
        <p:spPr/>
        <p:txBody>
          <a:bodyPr/>
          <a:lstStyle/>
          <a:p>
            <a:r>
              <a:rPr lang="en-NL" dirty="0"/>
              <a:t>Het predicaat: beroep(m,b)</a:t>
            </a:r>
          </a:p>
          <a:p>
            <a:pPr lvl="1"/>
            <a:r>
              <a:rPr lang="en-NL" dirty="0"/>
              <a:t>Daarbij is m een element uit de verzameling van mensen</a:t>
            </a:r>
          </a:p>
          <a:p>
            <a:pPr lvl="1"/>
            <a:r>
              <a:rPr lang="en-NL" dirty="0"/>
              <a:t>..en b is een element uit de verzameling van beroepen</a:t>
            </a:r>
          </a:p>
        </p:txBody>
      </p:sp>
      <p:sp>
        <p:nvSpPr>
          <p:cNvPr id="4" name="Oval 3">
            <a:extLst>
              <a:ext uri="{FF2B5EF4-FFF2-40B4-BE49-F238E27FC236}">
                <a16:creationId xmlns:a16="http://schemas.microsoft.com/office/drawing/2014/main" id="{3302BA73-E1AB-DAD9-5E35-2DD8607AD35C}"/>
              </a:ext>
            </a:extLst>
          </p:cNvPr>
          <p:cNvSpPr/>
          <p:nvPr/>
        </p:nvSpPr>
        <p:spPr>
          <a:xfrm>
            <a:off x="838200" y="3538538"/>
            <a:ext cx="3386137" cy="264318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 name="TextBox 4">
            <a:extLst>
              <a:ext uri="{FF2B5EF4-FFF2-40B4-BE49-F238E27FC236}">
                <a16:creationId xmlns:a16="http://schemas.microsoft.com/office/drawing/2014/main" id="{1D3CB191-5BB0-46AC-8618-2B8CFEA4682D}"/>
              </a:ext>
            </a:extLst>
          </p:cNvPr>
          <p:cNvSpPr txBox="1"/>
          <p:nvPr/>
        </p:nvSpPr>
        <p:spPr>
          <a:xfrm>
            <a:off x="1666875" y="3979069"/>
            <a:ext cx="647228" cy="369332"/>
          </a:xfrm>
          <a:prstGeom prst="rect">
            <a:avLst/>
          </a:prstGeom>
          <a:noFill/>
        </p:spPr>
        <p:txBody>
          <a:bodyPr wrap="none" rtlCol="0">
            <a:spAutoFit/>
          </a:bodyPr>
          <a:lstStyle/>
          <a:p>
            <a:r>
              <a:rPr lang="en-NL" dirty="0"/>
              <a:t>[Jan]</a:t>
            </a:r>
          </a:p>
        </p:txBody>
      </p:sp>
      <p:sp>
        <p:nvSpPr>
          <p:cNvPr id="6" name="TextBox 5">
            <a:extLst>
              <a:ext uri="{FF2B5EF4-FFF2-40B4-BE49-F238E27FC236}">
                <a16:creationId xmlns:a16="http://schemas.microsoft.com/office/drawing/2014/main" id="{509D87E9-FFE9-813A-51C8-CE7CE7A983F5}"/>
              </a:ext>
            </a:extLst>
          </p:cNvPr>
          <p:cNvSpPr txBox="1"/>
          <p:nvPr/>
        </p:nvSpPr>
        <p:spPr>
          <a:xfrm>
            <a:off x="1518149" y="5080397"/>
            <a:ext cx="704039" cy="369332"/>
          </a:xfrm>
          <a:prstGeom prst="rect">
            <a:avLst/>
          </a:prstGeom>
          <a:noFill/>
        </p:spPr>
        <p:txBody>
          <a:bodyPr wrap="none" rtlCol="0">
            <a:spAutoFit/>
          </a:bodyPr>
          <a:lstStyle/>
          <a:p>
            <a:r>
              <a:rPr lang="en-NL" dirty="0"/>
              <a:t>[Piet]</a:t>
            </a:r>
          </a:p>
        </p:txBody>
      </p:sp>
      <p:sp>
        <p:nvSpPr>
          <p:cNvPr id="7" name="TextBox 6">
            <a:extLst>
              <a:ext uri="{FF2B5EF4-FFF2-40B4-BE49-F238E27FC236}">
                <a16:creationId xmlns:a16="http://schemas.microsoft.com/office/drawing/2014/main" id="{172221F2-62E0-D91D-B436-D9E8CB51AA02}"/>
              </a:ext>
            </a:extLst>
          </p:cNvPr>
          <p:cNvSpPr txBox="1"/>
          <p:nvPr/>
        </p:nvSpPr>
        <p:spPr>
          <a:xfrm>
            <a:off x="2644215" y="4614731"/>
            <a:ext cx="869149" cy="369332"/>
          </a:xfrm>
          <a:prstGeom prst="rect">
            <a:avLst/>
          </a:prstGeom>
          <a:noFill/>
        </p:spPr>
        <p:txBody>
          <a:bodyPr wrap="none" rtlCol="0">
            <a:spAutoFit/>
          </a:bodyPr>
          <a:lstStyle/>
          <a:p>
            <a:r>
              <a:rPr lang="en-NL" dirty="0"/>
              <a:t>[Klaas]</a:t>
            </a:r>
          </a:p>
        </p:txBody>
      </p:sp>
      <p:sp>
        <p:nvSpPr>
          <p:cNvPr id="8" name="TextBox 7">
            <a:extLst>
              <a:ext uri="{FF2B5EF4-FFF2-40B4-BE49-F238E27FC236}">
                <a16:creationId xmlns:a16="http://schemas.microsoft.com/office/drawing/2014/main" id="{0E7DF306-B5D9-7FD4-08C2-84C9980BC254}"/>
              </a:ext>
            </a:extLst>
          </p:cNvPr>
          <p:cNvSpPr txBox="1"/>
          <p:nvPr/>
        </p:nvSpPr>
        <p:spPr>
          <a:xfrm>
            <a:off x="2910338" y="5130390"/>
            <a:ext cx="450764" cy="369332"/>
          </a:xfrm>
          <a:prstGeom prst="rect">
            <a:avLst/>
          </a:prstGeom>
          <a:noFill/>
        </p:spPr>
        <p:txBody>
          <a:bodyPr wrap="none" rtlCol="0">
            <a:spAutoFit/>
          </a:bodyPr>
          <a:lstStyle/>
          <a:p>
            <a:r>
              <a:rPr lang="en-NL" dirty="0"/>
              <a:t>[..]</a:t>
            </a:r>
          </a:p>
        </p:txBody>
      </p:sp>
      <p:sp>
        <p:nvSpPr>
          <p:cNvPr id="9" name="Oval 8">
            <a:extLst>
              <a:ext uri="{FF2B5EF4-FFF2-40B4-BE49-F238E27FC236}">
                <a16:creationId xmlns:a16="http://schemas.microsoft.com/office/drawing/2014/main" id="{432A6AF8-DE9B-5FD8-C643-441516296FDD}"/>
              </a:ext>
            </a:extLst>
          </p:cNvPr>
          <p:cNvSpPr/>
          <p:nvPr/>
        </p:nvSpPr>
        <p:spPr>
          <a:xfrm>
            <a:off x="7287714" y="3538538"/>
            <a:ext cx="3386137" cy="264318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9" name="Right Arrow 18">
            <a:extLst>
              <a:ext uri="{FF2B5EF4-FFF2-40B4-BE49-F238E27FC236}">
                <a16:creationId xmlns:a16="http://schemas.microsoft.com/office/drawing/2014/main" id="{D3E74517-4D34-6D65-D836-7F958DD63F02}"/>
              </a:ext>
            </a:extLst>
          </p:cNvPr>
          <p:cNvSpPr/>
          <p:nvPr/>
        </p:nvSpPr>
        <p:spPr>
          <a:xfrm>
            <a:off x="4629150" y="4348401"/>
            <a:ext cx="2324100" cy="1101328"/>
          </a:xfrm>
          <a:prstGeom prst="rightArrow">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TextBox 19">
            <a:extLst>
              <a:ext uri="{FF2B5EF4-FFF2-40B4-BE49-F238E27FC236}">
                <a16:creationId xmlns:a16="http://schemas.microsoft.com/office/drawing/2014/main" id="{70D49532-B84C-B24E-86E4-BC91363DA0B0}"/>
              </a:ext>
            </a:extLst>
          </p:cNvPr>
          <p:cNvSpPr txBox="1"/>
          <p:nvPr/>
        </p:nvSpPr>
        <p:spPr>
          <a:xfrm>
            <a:off x="4912589" y="4731180"/>
            <a:ext cx="1415837" cy="369332"/>
          </a:xfrm>
          <a:prstGeom prst="rect">
            <a:avLst/>
          </a:prstGeom>
          <a:noFill/>
        </p:spPr>
        <p:txBody>
          <a:bodyPr wrap="none" rtlCol="0">
            <a:spAutoFit/>
          </a:bodyPr>
          <a:lstStyle/>
          <a:p>
            <a:r>
              <a:rPr lang="en-NL" dirty="0"/>
              <a:t>beroep(m,b)</a:t>
            </a:r>
          </a:p>
        </p:txBody>
      </p:sp>
      <p:sp>
        <p:nvSpPr>
          <p:cNvPr id="21" name="TextBox 20">
            <a:extLst>
              <a:ext uri="{FF2B5EF4-FFF2-40B4-BE49-F238E27FC236}">
                <a16:creationId xmlns:a16="http://schemas.microsoft.com/office/drawing/2014/main" id="{82291FF5-5611-3BAB-B734-E5E52220BE07}"/>
              </a:ext>
            </a:extLst>
          </p:cNvPr>
          <p:cNvSpPr txBox="1"/>
          <p:nvPr/>
        </p:nvSpPr>
        <p:spPr>
          <a:xfrm>
            <a:off x="3361102" y="6438900"/>
            <a:ext cx="6355907" cy="369332"/>
          </a:xfrm>
          <a:prstGeom prst="rect">
            <a:avLst/>
          </a:prstGeom>
          <a:noFill/>
        </p:spPr>
        <p:txBody>
          <a:bodyPr wrap="none" rtlCol="0">
            <a:spAutoFit/>
          </a:bodyPr>
          <a:lstStyle/>
          <a:p>
            <a:r>
              <a:rPr lang="en-GB" dirty="0"/>
              <a:t>B</a:t>
            </a:r>
            <a:r>
              <a:rPr lang="en-NL" dirty="0"/>
              <a:t>ijvoorbeeld de propositie: beroep([Jan],«timmerman») is waar</a:t>
            </a:r>
          </a:p>
        </p:txBody>
      </p:sp>
      <p:sp>
        <p:nvSpPr>
          <p:cNvPr id="22" name="TextBox 21">
            <a:extLst>
              <a:ext uri="{FF2B5EF4-FFF2-40B4-BE49-F238E27FC236}">
                <a16:creationId xmlns:a16="http://schemas.microsoft.com/office/drawing/2014/main" id="{77E6487C-6DA2-D50F-8082-C994DC9F8861}"/>
              </a:ext>
            </a:extLst>
          </p:cNvPr>
          <p:cNvSpPr txBox="1"/>
          <p:nvPr/>
        </p:nvSpPr>
        <p:spPr>
          <a:xfrm>
            <a:off x="7683463" y="4141121"/>
            <a:ext cx="1547218" cy="369332"/>
          </a:xfrm>
          <a:prstGeom prst="rect">
            <a:avLst/>
          </a:prstGeom>
          <a:noFill/>
        </p:spPr>
        <p:txBody>
          <a:bodyPr wrap="none" rtlCol="0">
            <a:spAutoFit/>
          </a:bodyPr>
          <a:lstStyle/>
          <a:p>
            <a:r>
              <a:rPr lang="en-NL" dirty="0"/>
              <a:t>«timmerman»</a:t>
            </a:r>
          </a:p>
        </p:txBody>
      </p:sp>
      <p:sp>
        <p:nvSpPr>
          <p:cNvPr id="23" name="TextBox 22">
            <a:extLst>
              <a:ext uri="{FF2B5EF4-FFF2-40B4-BE49-F238E27FC236}">
                <a16:creationId xmlns:a16="http://schemas.microsoft.com/office/drawing/2014/main" id="{02A778CA-AD31-0E99-D95D-0D82E7FE7073}"/>
              </a:ext>
            </a:extLst>
          </p:cNvPr>
          <p:cNvSpPr txBox="1"/>
          <p:nvPr/>
        </p:nvSpPr>
        <p:spPr>
          <a:xfrm>
            <a:off x="8052441" y="5130390"/>
            <a:ext cx="1047979" cy="369332"/>
          </a:xfrm>
          <a:prstGeom prst="rect">
            <a:avLst/>
          </a:prstGeom>
          <a:noFill/>
        </p:spPr>
        <p:txBody>
          <a:bodyPr wrap="none" rtlCol="0">
            <a:spAutoFit/>
          </a:bodyPr>
          <a:lstStyle/>
          <a:p>
            <a:r>
              <a:rPr lang="en-NL" dirty="0"/>
              <a:t>«bakker»</a:t>
            </a:r>
          </a:p>
        </p:txBody>
      </p:sp>
      <p:sp>
        <p:nvSpPr>
          <p:cNvPr id="24" name="TextBox 23">
            <a:extLst>
              <a:ext uri="{FF2B5EF4-FFF2-40B4-BE49-F238E27FC236}">
                <a16:creationId xmlns:a16="http://schemas.microsoft.com/office/drawing/2014/main" id="{42B0CA0A-A60C-ABB0-E4DD-186EBA1E8EF2}"/>
              </a:ext>
            </a:extLst>
          </p:cNvPr>
          <p:cNvSpPr txBox="1"/>
          <p:nvPr/>
        </p:nvSpPr>
        <p:spPr>
          <a:xfrm>
            <a:off x="9178507" y="4664724"/>
            <a:ext cx="1079142" cy="369332"/>
          </a:xfrm>
          <a:prstGeom prst="rect">
            <a:avLst/>
          </a:prstGeom>
          <a:noFill/>
        </p:spPr>
        <p:txBody>
          <a:bodyPr wrap="none" rtlCol="0">
            <a:spAutoFit/>
          </a:bodyPr>
          <a:lstStyle/>
          <a:p>
            <a:r>
              <a:rPr lang="en-NL" dirty="0"/>
              <a:t>«docent»</a:t>
            </a:r>
          </a:p>
        </p:txBody>
      </p:sp>
      <p:sp>
        <p:nvSpPr>
          <p:cNvPr id="25" name="TextBox 24">
            <a:extLst>
              <a:ext uri="{FF2B5EF4-FFF2-40B4-BE49-F238E27FC236}">
                <a16:creationId xmlns:a16="http://schemas.microsoft.com/office/drawing/2014/main" id="{E967CEC1-5855-1264-3B2F-136597D4F93B}"/>
              </a:ext>
            </a:extLst>
          </p:cNvPr>
          <p:cNvSpPr txBox="1"/>
          <p:nvPr/>
        </p:nvSpPr>
        <p:spPr>
          <a:xfrm>
            <a:off x="9444630" y="5180383"/>
            <a:ext cx="508473" cy="369332"/>
          </a:xfrm>
          <a:prstGeom prst="rect">
            <a:avLst/>
          </a:prstGeom>
          <a:noFill/>
        </p:spPr>
        <p:txBody>
          <a:bodyPr wrap="none" rtlCol="0">
            <a:spAutoFit/>
          </a:bodyPr>
          <a:lstStyle/>
          <a:p>
            <a:r>
              <a:rPr lang="en-NL" dirty="0"/>
              <a:t>«..»</a:t>
            </a:r>
          </a:p>
        </p:txBody>
      </p:sp>
      <p:sp>
        <p:nvSpPr>
          <p:cNvPr id="26" name="TextBox 25">
            <a:extLst>
              <a:ext uri="{FF2B5EF4-FFF2-40B4-BE49-F238E27FC236}">
                <a16:creationId xmlns:a16="http://schemas.microsoft.com/office/drawing/2014/main" id="{760A164A-CADC-FB42-E273-4F9ABF7E3BB5}"/>
              </a:ext>
            </a:extLst>
          </p:cNvPr>
          <p:cNvSpPr txBox="1"/>
          <p:nvPr/>
        </p:nvSpPr>
        <p:spPr>
          <a:xfrm rot="17770696">
            <a:off x="9700880" y="4517645"/>
            <a:ext cx="3596774" cy="923330"/>
          </a:xfrm>
          <a:prstGeom prst="rect">
            <a:avLst/>
          </a:prstGeom>
          <a:noFill/>
        </p:spPr>
        <p:txBody>
          <a:bodyPr wrap="square" rtlCol="0">
            <a:spAutoFit/>
          </a:bodyPr>
          <a:lstStyle/>
          <a:p>
            <a:r>
              <a:rPr lang="en-GB" i="1" dirty="0">
                <a:solidFill>
                  <a:srgbClr val="FF0000"/>
                </a:solidFill>
              </a:rPr>
              <a:t>I</a:t>
            </a:r>
            <a:r>
              <a:rPr lang="en-NL" i="1" dirty="0">
                <a:solidFill>
                  <a:srgbClr val="FF0000"/>
                </a:solidFill>
              </a:rPr>
              <a:t>k bedoel dus </a:t>
            </a:r>
            <a:r>
              <a:rPr lang="en-NL" i="1" u="sng" dirty="0">
                <a:solidFill>
                  <a:srgbClr val="FF0000"/>
                </a:solidFill>
              </a:rPr>
              <a:t>niet</a:t>
            </a:r>
            <a:r>
              <a:rPr lang="en-NL" i="1" dirty="0">
                <a:solidFill>
                  <a:srgbClr val="FF0000"/>
                </a:solidFill>
              </a:rPr>
              <a:t> de verzameling van beroepsnamen!!</a:t>
            </a:r>
          </a:p>
          <a:p>
            <a:r>
              <a:rPr lang="en-NL" i="1" dirty="0">
                <a:solidFill>
                  <a:srgbClr val="FF0000"/>
                </a:solidFill>
              </a:rPr>
              <a:t>(daarom ook vishaken)</a:t>
            </a:r>
          </a:p>
        </p:txBody>
      </p:sp>
      <p:sp>
        <p:nvSpPr>
          <p:cNvPr id="27" name="TextBox 26">
            <a:extLst>
              <a:ext uri="{FF2B5EF4-FFF2-40B4-BE49-F238E27FC236}">
                <a16:creationId xmlns:a16="http://schemas.microsoft.com/office/drawing/2014/main" id="{6242DC90-E6D1-1E09-9251-6CEED07F9042}"/>
              </a:ext>
            </a:extLst>
          </p:cNvPr>
          <p:cNvSpPr txBox="1"/>
          <p:nvPr/>
        </p:nvSpPr>
        <p:spPr>
          <a:xfrm>
            <a:off x="9208835" y="3916965"/>
            <a:ext cx="1017202" cy="369332"/>
          </a:xfrm>
          <a:prstGeom prst="rect">
            <a:avLst/>
          </a:prstGeom>
          <a:noFill/>
        </p:spPr>
        <p:txBody>
          <a:bodyPr wrap="none" rtlCol="0">
            <a:spAutoFit/>
          </a:bodyPr>
          <a:lstStyle/>
          <a:p>
            <a:r>
              <a:rPr lang="en-NL" dirty="0"/>
              <a:t>«dokter»</a:t>
            </a:r>
          </a:p>
        </p:txBody>
      </p:sp>
    </p:spTree>
    <p:extLst>
      <p:ext uri="{BB962C8B-B14F-4D97-AF65-F5344CB8AC3E}">
        <p14:creationId xmlns:p14="http://schemas.microsoft.com/office/powerpoint/2010/main" val="23447436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E5061-6F94-A92B-132A-E1221488774E}"/>
              </a:ext>
            </a:extLst>
          </p:cNvPr>
          <p:cNvSpPr>
            <a:spLocks noGrp="1"/>
          </p:cNvSpPr>
          <p:nvPr>
            <p:ph type="title"/>
          </p:nvPr>
        </p:nvSpPr>
        <p:spPr/>
        <p:txBody>
          <a:bodyPr/>
          <a:lstStyle/>
          <a:p>
            <a:r>
              <a:rPr lang="en-NL" dirty="0"/>
              <a:t>Extra slide</a:t>
            </a:r>
          </a:p>
        </p:txBody>
      </p:sp>
      <p:sp>
        <p:nvSpPr>
          <p:cNvPr id="3" name="Content Placeholder 2">
            <a:extLst>
              <a:ext uri="{FF2B5EF4-FFF2-40B4-BE49-F238E27FC236}">
                <a16:creationId xmlns:a16="http://schemas.microsoft.com/office/drawing/2014/main" id="{FB0C6A53-1B89-EAF4-DB8C-23A7DD4F1BAC}"/>
              </a:ext>
            </a:extLst>
          </p:cNvPr>
          <p:cNvSpPr>
            <a:spLocks noGrp="1"/>
          </p:cNvSpPr>
          <p:nvPr>
            <p:ph idx="1"/>
          </p:nvPr>
        </p:nvSpPr>
        <p:spPr/>
        <p:txBody>
          <a:bodyPr/>
          <a:lstStyle/>
          <a:p>
            <a:r>
              <a:rPr lang="en-NL" dirty="0"/>
              <a:t>Waarom is dit nodig =&gt; Aangeven wanneer wat voldoende is</a:t>
            </a:r>
          </a:p>
          <a:p>
            <a:endParaRPr lang="en-NL" dirty="0"/>
          </a:p>
          <a:p>
            <a:r>
              <a:rPr lang="en-NL" dirty="0"/>
              <a:t>Uitwerking waarin je aangeeft hoe het 1 in het ander kan (bv subtype timmerman, verzameling, categorie, kenmerken…)</a:t>
            </a:r>
          </a:p>
          <a:p>
            <a:endParaRPr lang="en-NL" dirty="0"/>
          </a:p>
          <a:p>
            <a:r>
              <a:rPr lang="en-NL" dirty="0"/>
              <a:t>“type openbare ruimte” in de BAG als voorbeeld…</a:t>
            </a:r>
          </a:p>
          <a:p>
            <a:r>
              <a:rPr lang="en-NL" dirty="0"/>
              <a:t>Wellicht ook aard-gebruik?? (fietspad, autoweg, …)</a:t>
            </a:r>
          </a:p>
        </p:txBody>
      </p:sp>
    </p:spTree>
    <p:extLst>
      <p:ext uri="{BB962C8B-B14F-4D97-AF65-F5344CB8AC3E}">
        <p14:creationId xmlns:p14="http://schemas.microsoft.com/office/powerpoint/2010/main" val="17326839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ECDA3-1DBD-8C6B-A436-76A754D8939E}"/>
              </a:ext>
            </a:extLst>
          </p:cNvPr>
          <p:cNvSpPr>
            <a:spLocks noGrp="1"/>
          </p:cNvSpPr>
          <p:nvPr>
            <p:ph type="title"/>
          </p:nvPr>
        </p:nvSpPr>
        <p:spPr/>
        <p:txBody>
          <a:bodyPr/>
          <a:lstStyle/>
          <a:p>
            <a:r>
              <a:rPr lang="en-NL" dirty="0"/>
              <a:t>Categorie versus Objecttype</a:t>
            </a:r>
          </a:p>
        </p:txBody>
      </p:sp>
      <p:sp>
        <p:nvSpPr>
          <p:cNvPr id="3" name="Content Placeholder 2">
            <a:extLst>
              <a:ext uri="{FF2B5EF4-FFF2-40B4-BE49-F238E27FC236}">
                <a16:creationId xmlns:a16="http://schemas.microsoft.com/office/drawing/2014/main" id="{851F6652-626C-90B0-A203-042DC730C0AD}"/>
              </a:ext>
            </a:extLst>
          </p:cNvPr>
          <p:cNvSpPr>
            <a:spLocks noGrp="1"/>
          </p:cNvSpPr>
          <p:nvPr>
            <p:ph idx="1"/>
          </p:nvPr>
        </p:nvSpPr>
        <p:spPr/>
        <p:txBody>
          <a:bodyPr>
            <a:normAutofit fontScale="92500" lnSpcReduction="10000"/>
          </a:bodyPr>
          <a:lstStyle/>
          <a:p>
            <a:r>
              <a:rPr lang="en-NL" dirty="0"/>
              <a:t>Een </a:t>
            </a:r>
            <a:r>
              <a:rPr lang="en-NL" i="1" dirty="0"/>
              <a:t>categorie</a:t>
            </a:r>
            <a:r>
              <a:rPr lang="en-NL" dirty="0"/>
              <a:t> is (dus) een waarde van een variabele in een predicaat</a:t>
            </a:r>
          </a:p>
          <a:p>
            <a:r>
              <a:rPr lang="en-NL" dirty="0"/>
              <a:t>..net zoals een getal bij een leeftijd</a:t>
            </a:r>
          </a:p>
          <a:p>
            <a:r>
              <a:rPr lang="en-NL" dirty="0"/>
              <a:t>..of een string bij een voornaam</a:t>
            </a:r>
          </a:p>
          <a:p>
            <a:r>
              <a:rPr lang="en-NL" dirty="0"/>
              <a:t>..of een ander domeinobject bij een huwelijk (“getrouwd-met”)</a:t>
            </a:r>
          </a:p>
          <a:p>
            <a:r>
              <a:rPr lang="en-NL" dirty="0"/>
              <a:t>..en dus een categorie bij een beroep</a:t>
            </a:r>
          </a:p>
          <a:p>
            <a:endParaRPr lang="en-NL" dirty="0"/>
          </a:p>
          <a:p>
            <a:r>
              <a:rPr lang="en-NL" dirty="0"/>
              <a:t>Het is </a:t>
            </a:r>
            <a:r>
              <a:rPr lang="en-NL" i="1" dirty="0"/>
              <a:t>geen</a:t>
            </a:r>
            <a:r>
              <a:rPr lang="en-NL" dirty="0"/>
              <a:t> type, omdat een type geen waarde is</a:t>
            </a:r>
          </a:p>
          <a:p>
            <a:pPr lvl="1"/>
            <a:r>
              <a:rPr lang="en-NL" dirty="0">
                <a:solidFill>
                  <a:srgbClr val="FF0000"/>
                </a:solidFill>
              </a:rPr>
              <a:t>(ten minste: niet in MIM. In OWL (full) is dat wel zo, maar kan dat tot problemen leiden)</a:t>
            </a:r>
          </a:p>
          <a:p>
            <a:pPr lvl="1"/>
            <a:r>
              <a:rPr lang="en-NL" dirty="0">
                <a:solidFill>
                  <a:srgbClr val="FF0000"/>
                </a:solidFill>
              </a:rPr>
              <a:t>Een categorie is dus eigenlijk een platgeslagen type…</a:t>
            </a:r>
          </a:p>
          <a:p>
            <a:pPr lvl="2"/>
            <a:r>
              <a:rPr lang="en-NL" dirty="0">
                <a:solidFill>
                  <a:srgbClr val="FF0000"/>
                </a:solidFill>
              </a:rPr>
              <a:t>De aard van de typering kan zowel rol als (inherent) subtype zijn.</a:t>
            </a:r>
          </a:p>
        </p:txBody>
      </p:sp>
    </p:spTree>
    <p:extLst>
      <p:ext uri="{BB962C8B-B14F-4D97-AF65-F5344CB8AC3E}">
        <p14:creationId xmlns:p14="http://schemas.microsoft.com/office/powerpoint/2010/main" val="28575113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1228A-C86F-A7E3-92F6-81DEFA3665EC}"/>
              </a:ext>
            </a:extLst>
          </p:cNvPr>
          <p:cNvSpPr>
            <a:spLocks noGrp="1"/>
          </p:cNvSpPr>
          <p:nvPr>
            <p:ph type="title"/>
          </p:nvPr>
        </p:nvSpPr>
        <p:spPr/>
        <p:txBody>
          <a:bodyPr/>
          <a:lstStyle/>
          <a:p>
            <a:r>
              <a:rPr lang="en-NL" dirty="0"/>
              <a:t>Categorie versus String</a:t>
            </a:r>
          </a:p>
        </p:txBody>
      </p:sp>
      <p:sp>
        <p:nvSpPr>
          <p:cNvPr id="3" name="Content Placeholder 2">
            <a:extLst>
              <a:ext uri="{FF2B5EF4-FFF2-40B4-BE49-F238E27FC236}">
                <a16:creationId xmlns:a16="http://schemas.microsoft.com/office/drawing/2014/main" id="{C6AF4419-9E4D-91F9-E87E-A2397259C648}"/>
              </a:ext>
            </a:extLst>
          </p:cNvPr>
          <p:cNvSpPr>
            <a:spLocks noGrp="1"/>
          </p:cNvSpPr>
          <p:nvPr>
            <p:ph idx="1"/>
          </p:nvPr>
        </p:nvSpPr>
        <p:spPr>
          <a:xfrm>
            <a:off x="838200" y="1825625"/>
            <a:ext cx="10915650" cy="4667250"/>
          </a:xfrm>
        </p:spPr>
        <p:txBody>
          <a:bodyPr>
            <a:normAutofit fontScale="92500" lnSpcReduction="10000"/>
          </a:bodyPr>
          <a:lstStyle/>
          <a:p>
            <a:r>
              <a:rPr lang="en-NL" dirty="0"/>
              <a:t>Maar als het een waarde is, waarom dan niet ”gewoon” een string?</a:t>
            </a:r>
          </a:p>
          <a:p>
            <a:endParaRPr lang="en-NL" dirty="0"/>
          </a:p>
          <a:p>
            <a:r>
              <a:rPr lang="en-NL" dirty="0"/>
              <a:t>Een string is een letterlijke waarde, betekent niets meer dan de string zelf:</a:t>
            </a:r>
          </a:p>
          <a:p>
            <a:pPr lvl="1"/>
            <a:r>
              <a:rPr lang="en-NL" dirty="0"/>
              <a:t>elk mens met de naam “jan” heeft dezelfde naam;</a:t>
            </a:r>
          </a:p>
          <a:p>
            <a:pPr lvl="1"/>
            <a:r>
              <a:rPr lang="en-GB" dirty="0"/>
              <a:t>E</a:t>
            </a:r>
            <a:r>
              <a:rPr lang="en-NL" dirty="0"/>
              <a:t>n een mens met de naam “jan” heeft een </a:t>
            </a:r>
            <a:r>
              <a:rPr lang="en-NL" i="1" dirty="0"/>
              <a:t>andere naam</a:t>
            </a:r>
            <a:r>
              <a:rPr lang="en-NL" dirty="0"/>
              <a:t> dan een mens met de naam “john”: de namen zijn </a:t>
            </a:r>
            <a:r>
              <a:rPr lang="en-NL" i="1" dirty="0"/>
              <a:t>verschillend </a:t>
            </a:r>
            <a:r>
              <a:rPr lang="en-NL" dirty="0"/>
              <a:t>(!)</a:t>
            </a:r>
          </a:p>
          <a:p>
            <a:pPr lvl="1"/>
            <a:r>
              <a:rPr lang="en-GB" dirty="0"/>
              <a:t>D</a:t>
            </a:r>
            <a:r>
              <a:rPr lang="en-NL" dirty="0"/>
              <a:t>e waarde heeft geen semantiek, het is letterlijke wat het is: er is geen begrip nodig</a:t>
            </a:r>
          </a:p>
          <a:p>
            <a:pPr lvl="1"/>
            <a:endParaRPr lang="en-NL" dirty="0"/>
          </a:p>
          <a:p>
            <a:r>
              <a:rPr lang="en-NL" dirty="0"/>
              <a:t>Een categorie verwijst naar een achterliggende betekenis, het gaat om </a:t>
            </a:r>
            <a:r>
              <a:rPr lang="en-NL" i="1" dirty="0"/>
              <a:t>die </a:t>
            </a:r>
            <a:r>
              <a:rPr lang="en-NL" dirty="0"/>
              <a:t>betekenis, niet om de toevallige tekenreeks</a:t>
            </a:r>
          </a:p>
          <a:p>
            <a:pPr lvl="1"/>
            <a:r>
              <a:rPr lang="en-NL" dirty="0"/>
              <a:t>De categorie met de naam “rood” is dezelfde als die met de naam “red”</a:t>
            </a:r>
          </a:p>
          <a:p>
            <a:pPr lvl="1"/>
            <a:r>
              <a:rPr lang="en-NL" dirty="0"/>
              <a:t>De waarde heeft semantiek, je hebt (eigenlijk) een begrip nodig</a:t>
            </a:r>
          </a:p>
        </p:txBody>
      </p:sp>
    </p:spTree>
    <p:extLst>
      <p:ext uri="{BB962C8B-B14F-4D97-AF65-F5344CB8AC3E}">
        <p14:creationId xmlns:p14="http://schemas.microsoft.com/office/powerpoint/2010/main" val="9583727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74831-7143-294B-818C-CEA472D059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E71B50-204F-42BD-A224-67850147FB3A}"/>
              </a:ext>
            </a:extLst>
          </p:cNvPr>
          <p:cNvSpPr>
            <a:spLocks noGrp="1"/>
          </p:cNvSpPr>
          <p:nvPr>
            <p:ph type="title"/>
          </p:nvPr>
        </p:nvSpPr>
        <p:spPr/>
        <p:txBody>
          <a:bodyPr/>
          <a:lstStyle/>
          <a:p>
            <a:r>
              <a:rPr lang="en-NL" dirty="0"/>
              <a:t>Categorie versus Domeinobject</a:t>
            </a:r>
          </a:p>
        </p:txBody>
      </p:sp>
      <p:sp>
        <p:nvSpPr>
          <p:cNvPr id="3" name="Content Placeholder 2">
            <a:extLst>
              <a:ext uri="{FF2B5EF4-FFF2-40B4-BE49-F238E27FC236}">
                <a16:creationId xmlns:a16="http://schemas.microsoft.com/office/drawing/2014/main" id="{ACF686F4-59B9-A671-ED79-B0BBB13D7599}"/>
              </a:ext>
            </a:extLst>
          </p:cNvPr>
          <p:cNvSpPr>
            <a:spLocks noGrp="1"/>
          </p:cNvSpPr>
          <p:nvPr>
            <p:ph idx="1"/>
          </p:nvPr>
        </p:nvSpPr>
        <p:spPr>
          <a:xfrm>
            <a:off x="838200" y="1825625"/>
            <a:ext cx="10515600" cy="4667250"/>
          </a:xfrm>
        </p:spPr>
        <p:txBody>
          <a:bodyPr>
            <a:normAutofit/>
          </a:bodyPr>
          <a:lstStyle/>
          <a:p>
            <a:r>
              <a:rPr lang="en-US" dirty="0"/>
              <a:t>Maar </a:t>
            </a:r>
            <a:r>
              <a:rPr lang="en-US" dirty="0" err="1"/>
              <a:t>als</a:t>
            </a:r>
            <a:r>
              <a:rPr lang="en-US" dirty="0"/>
              <a:t> het </a:t>
            </a:r>
            <a:r>
              <a:rPr lang="en-US" dirty="0" err="1"/>
              <a:t>meer</a:t>
            </a:r>
            <a:r>
              <a:rPr lang="en-US" dirty="0"/>
              <a:t> is dan </a:t>
            </a:r>
            <a:r>
              <a:rPr lang="en-US" dirty="0" err="1"/>
              <a:t>alleen</a:t>
            </a:r>
            <a:r>
              <a:rPr lang="en-US" dirty="0"/>
              <a:t> </a:t>
            </a:r>
            <a:r>
              <a:rPr lang="en-US" dirty="0" err="1"/>
              <a:t>een</a:t>
            </a:r>
            <a:r>
              <a:rPr lang="en-US" dirty="0"/>
              <a:t> </a:t>
            </a:r>
            <a:r>
              <a:rPr lang="en-US" dirty="0" err="1"/>
              <a:t>waarde</a:t>
            </a:r>
            <a:r>
              <a:rPr lang="en-US" dirty="0"/>
              <a:t>, </a:t>
            </a:r>
            <a:r>
              <a:rPr lang="en-US" dirty="0" err="1"/>
              <a:t>en</a:t>
            </a:r>
            <a:r>
              <a:rPr lang="en-US" dirty="0"/>
              <a:t> </a:t>
            </a:r>
            <a:r>
              <a:rPr lang="en-US" dirty="0" err="1"/>
              <a:t>ook</a:t>
            </a:r>
            <a:r>
              <a:rPr lang="en-US" dirty="0"/>
              <a:t> </a:t>
            </a:r>
            <a:r>
              <a:rPr lang="en-US" dirty="0" err="1"/>
              <a:t>een</a:t>
            </a:r>
            <a:r>
              <a:rPr lang="en-US" dirty="0"/>
              <a:t> element in </a:t>
            </a:r>
            <a:r>
              <a:rPr lang="en-US" dirty="0" err="1"/>
              <a:t>een</a:t>
            </a:r>
            <a:r>
              <a:rPr lang="en-US" dirty="0"/>
              <a:t> </a:t>
            </a:r>
            <a:r>
              <a:rPr lang="en-US" dirty="0" err="1"/>
              <a:t>verzameling</a:t>
            </a:r>
            <a:r>
              <a:rPr lang="en-US" dirty="0"/>
              <a:t>, </a:t>
            </a:r>
            <a:r>
              <a:rPr lang="en-US" dirty="0" err="1"/>
              <a:t>waarom</a:t>
            </a:r>
            <a:r>
              <a:rPr lang="en-US" dirty="0"/>
              <a:t> dan </a:t>
            </a:r>
            <a:r>
              <a:rPr lang="en-US" dirty="0" err="1"/>
              <a:t>geen</a:t>
            </a:r>
            <a:r>
              <a:rPr lang="en-US" dirty="0"/>
              <a:t> </a:t>
            </a:r>
            <a:r>
              <a:rPr lang="en-US" dirty="0" err="1"/>
              <a:t>domeinobject</a:t>
            </a:r>
            <a:r>
              <a:rPr lang="en-US" dirty="0"/>
              <a:t>?</a:t>
            </a:r>
          </a:p>
          <a:p>
            <a:endParaRPr lang="en-US" dirty="0"/>
          </a:p>
          <a:p>
            <a:r>
              <a:rPr lang="en-US" dirty="0"/>
              <a:t>Het is </a:t>
            </a:r>
            <a:r>
              <a:rPr lang="en-US" dirty="0" err="1"/>
              <a:t>eigenlijk</a:t>
            </a:r>
            <a:r>
              <a:rPr lang="en-US" dirty="0"/>
              <a:t> </a:t>
            </a:r>
            <a:r>
              <a:rPr lang="en-US" dirty="0" err="1"/>
              <a:t>ook</a:t>
            </a:r>
            <a:r>
              <a:rPr lang="en-US" dirty="0"/>
              <a:t> </a:t>
            </a:r>
            <a:r>
              <a:rPr lang="en-US" dirty="0" err="1"/>
              <a:t>een</a:t>
            </a:r>
            <a:r>
              <a:rPr lang="en-US" dirty="0"/>
              <a:t> </a:t>
            </a:r>
            <a:r>
              <a:rPr lang="en-US" dirty="0" err="1"/>
              <a:t>domeinobject</a:t>
            </a:r>
            <a:r>
              <a:rPr lang="en-US" dirty="0"/>
              <a:t> (</a:t>
            </a:r>
            <a:r>
              <a:rPr lang="en-US" dirty="0" err="1"/>
              <a:t>een</a:t>
            </a:r>
            <a:r>
              <a:rPr lang="en-US" dirty="0"/>
              <a:t> </a:t>
            </a:r>
            <a:r>
              <a:rPr lang="en-US" dirty="0" err="1"/>
              <a:t>abstracte</a:t>
            </a:r>
            <a:r>
              <a:rPr lang="en-US" dirty="0"/>
              <a:t>/</a:t>
            </a:r>
            <a:r>
              <a:rPr lang="en-US" dirty="0" err="1"/>
              <a:t>conceptuele</a:t>
            </a:r>
            <a:r>
              <a:rPr lang="en-US" dirty="0"/>
              <a:t>, </a:t>
            </a:r>
            <a:r>
              <a:rPr lang="en-US" dirty="0" err="1"/>
              <a:t>geen</a:t>
            </a:r>
            <a:r>
              <a:rPr lang="en-US" dirty="0"/>
              <a:t> concrete)</a:t>
            </a:r>
          </a:p>
          <a:p>
            <a:endParaRPr lang="en-US" dirty="0"/>
          </a:p>
          <a:p>
            <a:r>
              <a:rPr lang="en-US" dirty="0"/>
              <a:t>..maar </a:t>
            </a:r>
            <a:r>
              <a:rPr lang="en-US" dirty="0" err="1"/>
              <a:t>omdat</a:t>
            </a:r>
            <a:r>
              <a:rPr lang="en-US" dirty="0"/>
              <a:t> we hem </a:t>
            </a:r>
            <a:r>
              <a:rPr lang="en-US" dirty="0" err="1"/>
              <a:t>vaak</a:t>
            </a:r>
            <a:r>
              <a:rPr lang="en-US" dirty="0"/>
              <a:t> </a:t>
            </a:r>
            <a:r>
              <a:rPr lang="en-US" dirty="0" err="1"/>
              <a:t>niet</a:t>
            </a:r>
            <a:r>
              <a:rPr lang="en-US" dirty="0"/>
              <a:t> </a:t>
            </a:r>
            <a:r>
              <a:rPr lang="en-US" dirty="0" err="1"/>
              <a:t>typeren</a:t>
            </a:r>
            <a:r>
              <a:rPr lang="en-US" dirty="0"/>
              <a:t> </a:t>
            </a:r>
            <a:r>
              <a:rPr lang="en-US" dirty="0" err="1"/>
              <a:t>en</a:t>
            </a:r>
            <a:r>
              <a:rPr lang="en-US" dirty="0"/>
              <a:t> </a:t>
            </a:r>
            <a:r>
              <a:rPr lang="en-US" dirty="0" err="1"/>
              <a:t>alleen</a:t>
            </a:r>
            <a:r>
              <a:rPr lang="en-US" dirty="0"/>
              <a:t> maar </a:t>
            </a:r>
            <a:r>
              <a:rPr lang="en-US" i="1" dirty="0" err="1"/>
              <a:t>gebruiken</a:t>
            </a:r>
            <a:r>
              <a:rPr lang="en-US" dirty="0"/>
              <a:t> in </a:t>
            </a:r>
            <a:r>
              <a:rPr lang="en-US" dirty="0" err="1"/>
              <a:t>een</a:t>
            </a:r>
            <a:r>
              <a:rPr lang="en-US" dirty="0"/>
              <a:t> </a:t>
            </a:r>
            <a:r>
              <a:rPr lang="en-US" dirty="0" err="1"/>
              <a:t>propositie</a:t>
            </a:r>
            <a:r>
              <a:rPr lang="en-US" dirty="0"/>
              <a:t>, </a:t>
            </a:r>
            <a:r>
              <a:rPr lang="en-US" dirty="0" err="1"/>
              <a:t>komt</a:t>
            </a:r>
            <a:r>
              <a:rPr lang="en-US" dirty="0"/>
              <a:t> </a:t>
            </a:r>
            <a:r>
              <a:rPr lang="en-US" dirty="0" err="1"/>
              <a:t>deze</a:t>
            </a:r>
            <a:r>
              <a:rPr lang="en-US" dirty="0"/>
              <a:t> </a:t>
            </a:r>
            <a:r>
              <a:rPr lang="en-US" dirty="0" err="1"/>
              <a:t>niet</a:t>
            </a:r>
            <a:r>
              <a:rPr lang="en-US" dirty="0"/>
              <a:t> </a:t>
            </a:r>
            <a:r>
              <a:rPr lang="en-US" dirty="0" err="1"/>
              <a:t>terug</a:t>
            </a:r>
            <a:r>
              <a:rPr lang="en-US" dirty="0"/>
              <a:t> </a:t>
            </a:r>
            <a:r>
              <a:rPr lang="en-US" dirty="0" err="1"/>
              <a:t>als</a:t>
            </a:r>
            <a:r>
              <a:rPr lang="en-US" dirty="0"/>
              <a:t> </a:t>
            </a:r>
            <a:r>
              <a:rPr lang="en-US" dirty="0" err="1"/>
              <a:t>objecttype</a:t>
            </a:r>
            <a:endParaRPr lang="en-US" dirty="0"/>
          </a:p>
          <a:p>
            <a:pPr lvl="1"/>
            <a:r>
              <a:rPr lang="en-US" dirty="0"/>
              <a:t>We </a:t>
            </a:r>
            <a:r>
              <a:rPr lang="en-US" dirty="0" err="1"/>
              <a:t>zijn</a:t>
            </a:r>
            <a:r>
              <a:rPr lang="en-US" dirty="0"/>
              <a:t> </a:t>
            </a:r>
            <a:r>
              <a:rPr lang="en-US" dirty="0" err="1"/>
              <a:t>bijvoorbeeld</a:t>
            </a:r>
            <a:r>
              <a:rPr lang="en-US" dirty="0"/>
              <a:t> immers </a:t>
            </a:r>
            <a:r>
              <a:rPr lang="en-US" dirty="0" err="1"/>
              <a:t>niet</a:t>
            </a:r>
            <a:r>
              <a:rPr lang="en-US" dirty="0"/>
              <a:t> </a:t>
            </a:r>
            <a:r>
              <a:rPr lang="en-US" dirty="0" err="1"/>
              <a:t>allemaal</a:t>
            </a:r>
            <a:r>
              <a:rPr lang="en-US" dirty="0"/>
              <a:t> </a:t>
            </a:r>
            <a:r>
              <a:rPr lang="en-US" dirty="0" err="1"/>
              <a:t>geinteresseerd</a:t>
            </a:r>
            <a:r>
              <a:rPr lang="en-US" dirty="0"/>
              <a:t> in de </a:t>
            </a:r>
            <a:r>
              <a:rPr lang="en-US" dirty="0" err="1"/>
              <a:t>typering</a:t>
            </a:r>
            <a:r>
              <a:rPr lang="en-US" dirty="0"/>
              <a:t> van alle </a:t>
            </a:r>
            <a:r>
              <a:rPr lang="en-US" dirty="0" err="1"/>
              <a:t>levende</a:t>
            </a:r>
            <a:r>
              <a:rPr lang="en-US" dirty="0"/>
              <a:t> </a:t>
            </a:r>
            <a:r>
              <a:rPr lang="en-US" dirty="0" err="1"/>
              <a:t>wezens</a:t>
            </a:r>
            <a:r>
              <a:rPr lang="en-US" dirty="0"/>
              <a:t>…</a:t>
            </a:r>
          </a:p>
        </p:txBody>
      </p:sp>
    </p:spTree>
    <p:extLst>
      <p:ext uri="{BB962C8B-B14F-4D97-AF65-F5344CB8AC3E}">
        <p14:creationId xmlns:p14="http://schemas.microsoft.com/office/powerpoint/2010/main" val="26133328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428C5-8996-F48E-C6A0-0F3583DA0938}"/>
              </a:ext>
            </a:extLst>
          </p:cNvPr>
          <p:cNvSpPr>
            <a:spLocks noGrp="1"/>
          </p:cNvSpPr>
          <p:nvPr>
            <p:ph type="title"/>
          </p:nvPr>
        </p:nvSpPr>
        <p:spPr/>
        <p:txBody>
          <a:bodyPr/>
          <a:lstStyle/>
          <a:p>
            <a:r>
              <a:rPr lang="en-NL" dirty="0"/>
              <a:t>Categorie en beperking van waarden</a:t>
            </a:r>
          </a:p>
        </p:txBody>
      </p:sp>
      <p:sp>
        <p:nvSpPr>
          <p:cNvPr id="3" name="Content Placeholder 2">
            <a:extLst>
              <a:ext uri="{FF2B5EF4-FFF2-40B4-BE49-F238E27FC236}">
                <a16:creationId xmlns:a16="http://schemas.microsoft.com/office/drawing/2014/main" id="{073C7908-6E2A-2EBA-216D-AC866D9AEF02}"/>
              </a:ext>
            </a:extLst>
          </p:cNvPr>
          <p:cNvSpPr>
            <a:spLocks noGrp="1"/>
          </p:cNvSpPr>
          <p:nvPr>
            <p:ph idx="1"/>
          </p:nvPr>
        </p:nvSpPr>
        <p:spPr>
          <a:xfrm>
            <a:off x="838199" y="1825625"/>
            <a:ext cx="10791825" cy="4351338"/>
          </a:xfrm>
        </p:spPr>
        <p:txBody>
          <a:bodyPr>
            <a:normAutofit/>
          </a:bodyPr>
          <a:lstStyle/>
          <a:p>
            <a:r>
              <a:rPr lang="en-NL" dirty="0"/>
              <a:t>Vraag: mag je ook nieuwe categorieën toevoegen?</a:t>
            </a:r>
          </a:p>
          <a:p>
            <a:r>
              <a:rPr lang="en-NL" dirty="0"/>
              <a:t>Wellicht wel.. </a:t>
            </a:r>
            <a:r>
              <a:rPr lang="en-GB" dirty="0"/>
              <a:t>M</a:t>
            </a:r>
            <a:r>
              <a:rPr lang="en-NL" dirty="0"/>
              <a:t>aar het moet dan wel echt een nieuwe categorie worden, en niet “zomaar” een stringetje</a:t>
            </a:r>
          </a:p>
          <a:p>
            <a:r>
              <a:rPr lang="en-NL" dirty="0"/>
              <a:t>(vb: in github kun je een label hangen aan een issue. Als je een nieuw label introduceert (door een tekst in te voeren) en iemand anders doet dat ook, dan ontstaan er geen 2 labels (wat bij een stringetje zou zijn), maar het blijft 1 label (dwz: het is een categorie)</a:t>
            </a:r>
          </a:p>
          <a:p>
            <a:r>
              <a:rPr lang="en-NL" dirty="0"/>
              <a:t>Wellicht zou je nog wel een attribuuttype dat classificerend bedoeld is kunnen hebben met stringetje als waardetype, maar dan weet je (dus) niet wat dat stringetje daadwerkelijk voorstelt…</a:t>
            </a:r>
          </a:p>
        </p:txBody>
      </p:sp>
    </p:spTree>
    <p:extLst>
      <p:ext uri="{BB962C8B-B14F-4D97-AF65-F5344CB8AC3E}">
        <p14:creationId xmlns:p14="http://schemas.microsoft.com/office/powerpoint/2010/main" val="18701536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67E53-EFEE-A552-2C9E-2DF6D466C816}"/>
              </a:ext>
            </a:extLst>
          </p:cNvPr>
          <p:cNvSpPr>
            <a:spLocks noGrp="1"/>
          </p:cNvSpPr>
          <p:nvPr>
            <p:ph type="title"/>
          </p:nvPr>
        </p:nvSpPr>
        <p:spPr/>
        <p:txBody>
          <a:bodyPr/>
          <a:lstStyle/>
          <a:p>
            <a:r>
              <a:rPr lang="en-NL" dirty="0"/>
              <a:t>Driedeling</a:t>
            </a:r>
          </a:p>
        </p:txBody>
      </p:sp>
      <p:sp>
        <p:nvSpPr>
          <p:cNvPr id="3" name="Content Placeholder 2">
            <a:extLst>
              <a:ext uri="{FF2B5EF4-FFF2-40B4-BE49-F238E27FC236}">
                <a16:creationId xmlns:a16="http://schemas.microsoft.com/office/drawing/2014/main" id="{9EF46158-0A3D-BBCB-B07E-E35258001A54}"/>
              </a:ext>
            </a:extLst>
          </p:cNvPr>
          <p:cNvSpPr>
            <a:spLocks noGrp="1"/>
          </p:cNvSpPr>
          <p:nvPr>
            <p:ph idx="1"/>
          </p:nvPr>
        </p:nvSpPr>
        <p:spPr/>
        <p:txBody>
          <a:bodyPr/>
          <a:lstStyle/>
          <a:p>
            <a:r>
              <a:rPr lang="en-NL" dirty="0"/>
              <a:t>Soms uitwerken als kenmerken van objecttype</a:t>
            </a:r>
          </a:p>
          <a:p>
            <a:r>
              <a:rPr lang="en-NL" dirty="0"/>
              <a:t>Soms voldoende om alleen de categorie te benoemen</a:t>
            </a:r>
          </a:p>
          <a:p>
            <a:r>
              <a:rPr lang="en-NL" dirty="0"/>
              <a:t>Soms wil je het als een echt domeinobject zien</a:t>
            </a:r>
          </a:p>
          <a:p>
            <a:endParaRPr lang="en-NL" dirty="0"/>
          </a:p>
          <a:p>
            <a:r>
              <a:rPr lang="en-NL" dirty="0"/>
              <a:t>Precies dezelfde werkelijkheid kun je </a:t>
            </a:r>
            <a:r>
              <a:rPr lang="en-NL" i="1" dirty="0"/>
              <a:t>anders</a:t>
            </a:r>
            <a:r>
              <a:rPr lang="en-NL" dirty="0"/>
              <a:t> beschouwen</a:t>
            </a:r>
          </a:p>
          <a:p>
            <a:r>
              <a:rPr lang="en-NL" dirty="0"/>
              <a:t>..en dan tot een ander model komen.</a:t>
            </a:r>
          </a:p>
        </p:txBody>
      </p:sp>
    </p:spTree>
    <p:extLst>
      <p:ext uri="{BB962C8B-B14F-4D97-AF65-F5344CB8AC3E}">
        <p14:creationId xmlns:p14="http://schemas.microsoft.com/office/powerpoint/2010/main" val="17656788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E441F-CB8E-66D5-F74B-B3D0FAF6FF76}"/>
              </a:ext>
            </a:extLst>
          </p:cNvPr>
          <p:cNvSpPr>
            <a:spLocks noGrp="1"/>
          </p:cNvSpPr>
          <p:nvPr>
            <p:ph type="title"/>
          </p:nvPr>
        </p:nvSpPr>
        <p:spPr/>
        <p:txBody>
          <a:bodyPr/>
          <a:lstStyle/>
          <a:p>
            <a:r>
              <a:rPr lang="en-NL" dirty="0"/>
              <a:t>Indeling</a:t>
            </a:r>
          </a:p>
        </p:txBody>
      </p:sp>
      <p:sp>
        <p:nvSpPr>
          <p:cNvPr id="4" name="Rectangle 3">
            <a:extLst>
              <a:ext uri="{FF2B5EF4-FFF2-40B4-BE49-F238E27FC236}">
                <a16:creationId xmlns:a16="http://schemas.microsoft.com/office/drawing/2014/main" id="{AF242B88-CC49-B635-C618-F6DF4FD3CBA0}"/>
              </a:ext>
            </a:extLst>
          </p:cNvPr>
          <p:cNvSpPr/>
          <p:nvPr/>
        </p:nvSpPr>
        <p:spPr>
          <a:xfrm>
            <a:off x="3676650" y="1924050"/>
            <a:ext cx="1971675" cy="1790700"/>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ysClr val="windowText" lastClr="000000"/>
                </a:solidFill>
              </a:rPr>
              <a:t>L</a:t>
            </a:r>
            <a:r>
              <a:rPr lang="en-NL" dirty="0">
                <a:solidFill>
                  <a:sysClr val="windowText" lastClr="000000"/>
                </a:solidFill>
              </a:rPr>
              <a:t>eeftijd</a:t>
            </a:r>
          </a:p>
          <a:p>
            <a:pPr algn="ctr"/>
            <a:endParaRPr lang="en-NL" dirty="0">
              <a:solidFill>
                <a:sysClr val="windowText" lastClr="000000"/>
              </a:solidFill>
            </a:endParaRPr>
          </a:p>
          <a:p>
            <a:pPr algn="ctr"/>
            <a:r>
              <a:rPr lang="en-NL" dirty="0">
                <a:solidFill>
                  <a:sysClr val="windowText" lastClr="000000"/>
                </a:solidFill>
              </a:rPr>
              <a:t>(waarden zijn letterlijk)</a:t>
            </a:r>
          </a:p>
        </p:txBody>
      </p:sp>
      <p:sp>
        <p:nvSpPr>
          <p:cNvPr id="5" name="Rectangle 4">
            <a:extLst>
              <a:ext uri="{FF2B5EF4-FFF2-40B4-BE49-F238E27FC236}">
                <a16:creationId xmlns:a16="http://schemas.microsoft.com/office/drawing/2014/main" id="{7FD28A27-2484-4D45-C9A7-ABA10252FE29}"/>
              </a:ext>
            </a:extLst>
          </p:cNvPr>
          <p:cNvSpPr/>
          <p:nvPr/>
        </p:nvSpPr>
        <p:spPr>
          <a:xfrm>
            <a:off x="5648325" y="1924050"/>
            <a:ext cx="1971675" cy="1790700"/>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ysClr val="windowText" lastClr="000000"/>
                </a:solidFill>
              </a:rPr>
              <a:t>w</a:t>
            </a:r>
            <a:r>
              <a:rPr lang="en-NL" dirty="0">
                <a:solidFill>
                  <a:sysClr val="windowText" lastClr="000000"/>
                </a:solidFill>
              </a:rPr>
              <a:t>erkt bij</a:t>
            </a:r>
          </a:p>
          <a:p>
            <a:pPr algn="ctr"/>
            <a:endParaRPr lang="en-NL" dirty="0">
              <a:solidFill>
                <a:sysClr val="windowText" lastClr="000000"/>
              </a:solidFill>
            </a:endParaRPr>
          </a:p>
          <a:p>
            <a:pPr algn="ctr"/>
            <a:r>
              <a:rPr lang="en-NL" dirty="0">
                <a:solidFill>
                  <a:sysClr val="windowText" lastClr="000000"/>
                </a:solidFill>
              </a:rPr>
              <a:t>(waarden verwijzen naar een domeinobject)</a:t>
            </a:r>
          </a:p>
        </p:txBody>
      </p:sp>
      <p:sp>
        <p:nvSpPr>
          <p:cNvPr id="6" name="Rectangle 5">
            <a:extLst>
              <a:ext uri="{FF2B5EF4-FFF2-40B4-BE49-F238E27FC236}">
                <a16:creationId xmlns:a16="http://schemas.microsoft.com/office/drawing/2014/main" id="{8820497A-8D16-0CEF-62CD-A18C96F94D74}"/>
              </a:ext>
            </a:extLst>
          </p:cNvPr>
          <p:cNvSpPr/>
          <p:nvPr/>
        </p:nvSpPr>
        <p:spPr>
          <a:xfrm>
            <a:off x="3676650" y="3714750"/>
            <a:ext cx="1971675" cy="1790700"/>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ysClr val="windowText" lastClr="000000"/>
                </a:solidFill>
              </a:rPr>
              <a:t>T</a:t>
            </a:r>
            <a:r>
              <a:rPr lang="en-NL" dirty="0">
                <a:solidFill>
                  <a:sysClr val="windowText" lastClr="000000"/>
                </a:solidFill>
              </a:rPr>
              <a:t>ype openbare ruimte</a:t>
            </a:r>
          </a:p>
          <a:p>
            <a:pPr algn="ctr"/>
            <a:endParaRPr lang="en-NL" dirty="0">
              <a:solidFill>
                <a:sysClr val="windowText" lastClr="000000"/>
              </a:solidFill>
            </a:endParaRPr>
          </a:p>
          <a:p>
            <a:pPr algn="ctr"/>
            <a:r>
              <a:rPr lang="en-NL" dirty="0">
                <a:solidFill>
                  <a:sysClr val="windowText" lastClr="000000"/>
                </a:solidFill>
              </a:rPr>
              <a:t>(waarden verwijzen naar een categorie)</a:t>
            </a:r>
          </a:p>
        </p:txBody>
      </p:sp>
      <p:sp>
        <p:nvSpPr>
          <p:cNvPr id="7" name="Rectangle 6">
            <a:extLst>
              <a:ext uri="{FF2B5EF4-FFF2-40B4-BE49-F238E27FC236}">
                <a16:creationId xmlns:a16="http://schemas.microsoft.com/office/drawing/2014/main" id="{1EB2184C-6A13-2DAE-51CC-CF94273DECDC}"/>
              </a:ext>
            </a:extLst>
          </p:cNvPr>
          <p:cNvSpPr/>
          <p:nvPr/>
        </p:nvSpPr>
        <p:spPr>
          <a:xfrm>
            <a:off x="5648325" y="3714750"/>
            <a:ext cx="1971675" cy="1790700"/>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dirty="0">
                <a:solidFill>
                  <a:sysClr val="windowText" lastClr="000000"/>
                </a:solidFill>
              </a:rPr>
              <a:t>Beroep</a:t>
            </a:r>
          </a:p>
          <a:p>
            <a:pPr algn="ctr"/>
            <a:endParaRPr lang="en-NL" dirty="0">
              <a:solidFill>
                <a:sysClr val="windowText" lastClr="000000"/>
              </a:solidFill>
            </a:endParaRPr>
          </a:p>
          <a:p>
            <a:pPr algn="ctr"/>
            <a:r>
              <a:rPr lang="en-NL" dirty="0">
                <a:solidFill>
                  <a:sysClr val="windowText" lastClr="000000"/>
                </a:solidFill>
              </a:rPr>
              <a:t>(waarden verwijzen naar een categorie)</a:t>
            </a:r>
          </a:p>
        </p:txBody>
      </p:sp>
      <p:sp>
        <p:nvSpPr>
          <p:cNvPr id="8" name="TextBox 7">
            <a:extLst>
              <a:ext uri="{FF2B5EF4-FFF2-40B4-BE49-F238E27FC236}">
                <a16:creationId xmlns:a16="http://schemas.microsoft.com/office/drawing/2014/main" id="{8C18C617-46A4-B81F-E959-DB277B470879}"/>
              </a:ext>
            </a:extLst>
          </p:cNvPr>
          <p:cNvSpPr txBox="1"/>
          <p:nvPr/>
        </p:nvSpPr>
        <p:spPr>
          <a:xfrm>
            <a:off x="4086225" y="1347788"/>
            <a:ext cx="1016689" cy="369332"/>
          </a:xfrm>
          <a:prstGeom prst="rect">
            <a:avLst/>
          </a:prstGeom>
          <a:noFill/>
        </p:spPr>
        <p:txBody>
          <a:bodyPr wrap="none" rtlCol="0">
            <a:spAutoFit/>
          </a:bodyPr>
          <a:lstStyle/>
          <a:p>
            <a:r>
              <a:rPr lang="en-NL" dirty="0"/>
              <a:t>Inherent</a:t>
            </a:r>
          </a:p>
        </p:txBody>
      </p:sp>
      <p:sp>
        <p:nvSpPr>
          <p:cNvPr id="9" name="TextBox 8">
            <a:extLst>
              <a:ext uri="{FF2B5EF4-FFF2-40B4-BE49-F238E27FC236}">
                <a16:creationId xmlns:a16="http://schemas.microsoft.com/office/drawing/2014/main" id="{D3F6DBB6-A183-500E-33DA-A78067B96A94}"/>
              </a:ext>
            </a:extLst>
          </p:cNvPr>
          <p:cNvSpPr txBox="1"/>
          <p:nvPr/>
        </p:nvSpPr>
        <p:spPr>
          <a:xfrm>
            <a:off x="5953125" y="1347788"/>
            <a:ext cx="1312732" cy="369332"/>
          </a:xfrm>
          <a:prstGeom prst="rect">
            <a:avLst/>
          </a:prstGeom>
          <a:noFill/>
        </p:spPr>
        <p:txBody>
          <a:bodyPr wrap="none" rtlCol="0">
            <a:spAutoFit/>
          </a:bodyPr>
          <a:lstStyle/>
          <a:p>
            <a:r>
              <a:rPr lang="en-NL" dirty="0"/>
              <a:t>Relationeel</a:t>
            </a:r>
          </a:p>
        </p:txBody>
      </p:sp>
      <p:sp>
        <p:nvSpPr>
          <p:cNvPr id="10" name="TextBox 9">
            <a:extLst>
              <a:ext uri="{FF2B5EF4-FFF2-40B4-BE49-F238E27FC236}">
                <a16:creationId xmlns:a16="http://schemas.microsoft.com/office/drawing/2014/main" id="{AD99A0EA-AC47-B47F-DE25-EC7177AEFA76}"/>
              </a:ext>
            </a:extLst>
          </p:cNvPr>
          <p:cNvSpPr txBox="1"/>
          <p:nvPr/>
        </p:nvSpPr>
        <p:spPr>
          <a:xfrm>
            <a:off x="1847850" y="2634734"/>
            <a:ext cx="1112869" cy="369332"/>
          </a:xfrm>
          <a:prstGeom prst="rect">
            <a:avLst/>
          </a:prstGeom>
          <a:noFill/>
        </p:spPr>
        <p:txBody>
          <a:bodyPr wrap="none" rtlCol="0">
            <a:spAutoFit/>
          </a:bodyPr>
          <a:lstStyle/>
          <a:p>
            <a:r>
              <a:rPr lang="en-NL" dirty="0"/>
              <a:t>Concreet</a:t>
            </a:r>
          </a:p>
        </p:txBody>
      </p:sp>
      <p:sp>
        <p:nvSpPr>
          <p:cNvPr id="11" name="TextBox 10">
            <a:extLst>
              <a:ext uri="{FF2B5EF4-FFF2-40B4-BE49-F238E27FC236}">
                <a16:creationId xmlns:a16="http://schemas.microsoft.com/office/drawing/2014/main" id="{AFEDDFC5-3B75-D1CB-68DF-C01677AABEAC}"/>
              </a:ext>
            </a:extLst>
          </p:cNvPr>
          <p:cNvSpPr txBox="1"/>
          <p:nvPr/>
        </p:nvSpPr>
        <p:spPr>
          <a:xfrm>
            <a:off x="1847850" y="4425434"/>
            <a:ext cx="1478290" cy="369332"/>
          </a:xfrm>
          <a:prstGeom prst="rect">
            <a:avLst/>
          </a:prstGeom>
          <a:noFill/>
        </p:spPr>
        <p:txBody>
          <a:bodyPr wrap="none" rtlCol="0">
            <a:spAutoFit/>
          </a:bodyPr>
          <a:lstStyle/>
          <a:p>
            <a:r>
              <a:rPr lang="en-NL" dirty="0"/>
              <a:t>Conceptueel</a:t>
            </a:r>
          </a:p>
        </p:txBody>
      </p:sp>
      <p:sp>
        <p:nvSpPr>
          <p:cNvPr id="12" name="TextBox 11">
            <a:extLst>
              <a:ext uri="{FF2B5EF4-FFF2-40B4-BE49-F238E27FC236}">
                <a16:creationId xmlns:a16="http://schemas.microsoft.com/office/drawing/2014/main" id="{73C67063-AF10-6CB2-1005-1DC9F7767495}"/>
              </a:ext>
            </a:extLst>
          </p:cNvPr>
          <p:cNvSpPr txBox="1"/>
          <p:nvPr/>
        </p:nvSpPr>
        <p:spPr>
          <a:xfrm>
            <a:off x="3123332" y="5493782"/>
            <a:ext cx="1471237" cy="369332"/>
          </a:xfrm>
          <a:prstGeom prst="rect">
            <a:avLst/>
          </a:prstGeom>
          <a:noFill/>
        </p:spPr>
        <p:txBody>
          <a:bodyPr wrap="none" rtlCol="0">
            <a:spAutoFit/>
          </a:bodyPr>
          <a:lstStyle/>
          <a:p>
            <a:r>
              <a:rPr lang="en-GB" dirty="0"/>
              <a:t>H</a:t>
            </a:r>
            <a:r>
              <a:rPr lang="en-NL" dirty="0"/>
              <a:t>ier wel type</a:t>
            </a:r>
          </a:p>
        </p:txBody>
      </p:sp>
      <p:sp>
        <p:nvSpPr>
          <p:cNvPr id="13" name="TextBox 12">
            <a:extLst>
              <a:ext uri="{FF2B5EF4-FFF2-40B4-BE49-F238E27FC236}">
                <a16:creationId xmlns:a16="http://schemas.microsoft.com/office/drawing/2014/main" id="{771318F7-C300-A068-F018-788A41268D8B}"/>
              </a:ext>
            </a:extLst>
          </p:cNvPr>
          <p:cNvSpPr txBox="1"/>
          <p:nvPr/>
        </p:nvSpPr>
        <p:spPr>
          <a:xfrm>
            <a:off x="7029450" y="5505450"/>
            <a:ext cx="2654381" cy="369332"/>
          </a:xfrm>
          <a:prstGeom prst="rect">
            <a:avLst/>
          </a:prstGeom>
          <a:noFill/>
        </p:spPr>
        <p:txBody>
          <a:bodyPr wrap="none" rtlCol="0">
            <a:spAutoFit/>
          </a:bodyPr>
          <a:lstStyle/>
          <a:p>
            <a:r>
              <a:rPr lang="en-GB" dirty="0"/>
              <a:t>H</a:t>
            </a:r>
            <a:r>
              <a:rPr lang="en-NL" dirty="0"/>
              <a:t>ier meer iets als ”soort”</a:t>
            </a:r>
          </a:p>
        </p:txBody>
      </p:sp>
    </p:spTree>
    <p:extLst>
      <p:ext uri="{BB962C8B-B14F-4D97-AF65-F5344CB8AC3E}">
        <p14:creationId xmlns:p14="http://schemas.microsoft.com/office/powerpoint/2010/main" val="1006907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13140-E1CB-B34E-0463-149628E72CF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3AC0D53-ECAD-ACD8-644E-D4F409A3D0F0}"/>
              </a:ext>
            </a:extLst>
          </p:cNvPr>
          <p:cNvSpPr>
            <a:spLocks noGrp="1"/>
          </p:cNvSpPr>
          <p:nvPr>
            <p:ph type="ctrTitle"/>
          </p:nvPr>
        </p:nvSpPr>
        <p:spPr/>
        <p:txBody>
          <a:bodyPr/>
          <a:lstStyle/>
          <a:p>
            <a:r>
              <a:rPr lang="en-NL" dirty="0"/>
              <a:t>Kenmerken en categorieën</a:t>
            </a:r>
          </a:p>
        </p:txBody>
      </p:sp>
      <p:sp>
        <p:nvSpPr>
          <p:cNvPr id="5" name="Subtitle 4">
            <a:extLst>
              <a:ext uri="{FF2B5EF4-FFF2-40B4-BE49-F238E27FC236}">
                <a16:creationId xmlns:a16="http://schemas.microsoft.com/office/drawing/2014/main" id="{B1570D37-CC16-F523-481A-41F1B229FDA0}"/>
              </a:ext>
            </a:extLst>
          </p:cNvPr>
          <p:cNvSpPr>
            <a:spLocks noGrp="1"/>
          </p:cNvSpPr>
          <p:nvPr>
            <p:ph type="subTitle" idx="1"/>
          </p:nvPr>
        </p:nvSpPr>
        <p:spPr/>
        <p:txBody>
          <a:bodyPr/>
          <a:lstStyle/>
          <a:p>
            <a:r>
              <a:rPr lang="en-NL" dirty="0"/>
              <a:t>Vocabulaire</a:t>
            </a:r>
          </a:p>
        </p:txBody>
      </p:sp>
    </p:spTree>
    <p:extLst>
      <p:ext uri="{BB962C8B-B14F-4D97-AF65-F5344CB8AC3E}">
        <p14:creationId xmlns:p14="http://schemas.microsoft.com/office/powerpoint/2010/main" val="37825946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CB3B6-52F3-EB74-DBDF-89CD027AF17F}"/>
              </a:ext>
            </a:extLst>
          </p:cNvPr>
          <p:cNvSpPr>
            <a:spLocks noGrp="1"/>
          </p:cNvSpPr>
          <p:nvPr>
            <p:ph type="title"/>
          </p:nvPr>
        </p:nvSpPr>
        <p:spPr/>
        <p:txBody>
          <a:bodyPr/>
          <a:lstStyle/>
          <a:p>
            <a:r>
              <a:rPr lang="en-NL" dirty="0"/>
              <a:t>Wat zijn nu eigenlijk kenmerken?</a:t>
            </a:r>
          </a:p>
        </p:txBody>
      </p:sp>
      <p:sp>
        <p:nvSpPr>
          <p:cNvPr id="3" name="Content Placeholder 2">
            <a:extLst>
              <a:ext uri="{FF2B5EF4-FFF2-40B4-BE49-F238E27FC236}">
                <a16:creationId xmlns:a16="http://schemas.microsoft.com/office/drawing/2014/main" id="{8A32D26A-4C89-D3A1-7CCB-ED6E58562D17}"/>
              </a:ext>
            </a:extLst>
          </p:cNvPr>
          <p:cNvSpPr>
            <a:spLocks noGrp="1"/>
          </p:cNvSpPr>
          <p:nvPr>
            <p:ph idx="1"/>
          </p:nvPr>
        </p:nvSpPr>
        <p:spPr>
          <a:xfrm>
            <a:off x="381000" y="1825624"/>
            <a:ext cx="11811000" cy="4822825"/>
          </a:xfrm>
        </p:spPr>
        <p:txBody>
          <a:bodyPr>
            <a:normAutofit fontScale="85000" lnSpcReduction="20000"/>
          </a:bodyPr>
          <a:lstStyle/>
          <a:p>
            <a:r>
              <a:rPr lang="en-NL" dirty="0"/>
              <a:t>We hebben onderscheid gemaakt in:</a:t>
            </a:r>
          </a:p>
          <a:p>
            <a:pPr lvl="1"/>
            <a:r>
              <a:rPr lang="en-NL" dirty="0"/>
              <a:t>Eigenschappen (concrete, inherente kenmerken);</a:t>
            </a:r>
          </a:p>
          <a:p>
            <a:pPr lvl="1"/>
            <a:r>
              <a:rPr lang="en-NL" dirty="0"/>
              <a:t>Categorisch kenmerk (conceptuele, inherente kenmerken);</a:t>
            </a:r>
          </a:p>
          <a:p>
            <a:pPr lvl="1"/>
            <a:r>
              <a:rPr lang="en-NL" dirty="0"/>
              <a:t>Rollen (concrete, relationele kenmerken)</a:t>
            </a:r>
          </a:p>
          <a:p>
            <a:r>
              <a:rPr lang="en-NL" dirty="0"/>
              <a:t>En we hebben categorieën onderkend</a:t>
            </a:r>
          </a:p>
          <a:p>
            <a:endParaRPr lang="en-NL" dirty="0"/>
          </a:p>
          <a:p>
            <a:r>
              <a:rPr lang="en-NL" dirty="0"/>
              <a:t>Dit is feitelijk onze </a:t>
            </a:r>
            <a:r>
              <a:rPr lang="en-NL" i="1" dirty="0"/>
              <a:t>vocabulaire</a:t>
            </a:r>
            <a:r>
              <a:rPr lang="en-NL" dirty="0"/>
              <a:t> die we gebruiken om de werkelijkheid te beschrijven.</a:t>
            </a:r>
          </a:p>
          <a:p>
            <a:pPr lvl="1"/>
            <a:r>
              <a:rPr lang="en-NL" dirty="0"/>
              <a:t>Het is </a:t>
            </a:r>
            <a:r>
              <a:rPr lang="en-NL" b="1" dirty="0"/>
              <a:t>geen</a:t>
            </a:r>
            <a:r>
              <a:rPr lang="en-NL" dirty="0"/>
              <a:t> onderdeel van de typering van de werkelijkheid (!)</a:t>
            </a:r>
          </a:p>
          <a:p>
            <a:pPr lvl="1"/>
            <a:r>
              <a:rPr lang="en-NL" dirty="0"/>
              <a:t>.maar deze vocabulaire is wel </a:t>
            </a:r>
            <a:r>
              <a:rPr lang="en-NL" b="1" dirty="0"/>
              <a:t>nodig</a:t>
            </a:r>
            <a:r>
              <a:rPr lang="en-NL" dirty="0"/>
              <a:t> om de typering te kunnen doen</a:t>
            </a:r>
          </a:p>
          <a:p>
            <a:endParaRPr lang="en-NL" dirty="0"/>
          </a:p>
          <a:p>
            <a:r>
              <a:rPr lang="en-NL" dirty="0"/>
              <a:t>In sommige modelleertalen </a:t>
            </a:r>
            <a:r>
              <a:rPr lang="en-GB" dirty="0"/>
              <a:t>is </a:t>
            </a:r>
            <a:r>
              <a:rPr lang="en-GB" dirty="0" err="1"/>
              <a:t>deze</a:t>
            </a:r>
            <a:r>
              <a:rPr lang="en-GB" dirty="0"/>
              <a:t> </a:t>
            </a:r>
            <a:r>
              <a:rPr lang="en-GB" dirty="0" err="1"/>
              <a:t>vocabulaire</a:t>
            </a:r>
            <a:r>
              <a:rPr lang="en-GB" dirty="0"/>
              <a:t> </a:t>
            </a:r>
            <a:r>
              <a:rPr lang="en-GB" dirty="0" err="1"/>
              <a:t>expliciet</a:t>
            </a:r>
            <a:r>
              <a:rPr lang="en-GB" dirty="0"/>
              <a:t> </a:t>
            </a:r>
            <a:r>
              <a:rPr lang="en-GB" dirty="0" err="1"/>
              <a:t>aanwezig</a:t>
            </a:r>
            <a:r>
              <a:rPr lang="en-GB" dirty="0"/>
              <a:t> (RDF)</a:t>
            </a:r>
          </a:p>
          <a:p>
            <a:r>
              <a:rPr lang="en-GB" dirty="0"/>
              <a:t>In de </a:t>
            </a:r>
            <a:r>
              <a:rPr lang="en-GB" dirty="0" err="1"/>
              <a:t>meeste</a:t>
            </a:r>
            <a:r>
              <a:rPr lang="en-GB" dirty="0"/>
              <a:t> </a:t>
            </a:r>
            <a:r>
              <a:rPr lang="en-GB" dirty="0" err="1"/>
              <a:t>andere</a:t>
            </a:r>
            <a:r>
              <a:rPr lang="en-GB" dirty="0"/>
              <a:t> </a:t>
            </a:r>
            <a:r>
              <a:rPr lang="en-GB" dirty="0" err="1"/>
              <a:t>modelleertalen</a:t>
            </a:r>
            <a:r>
              <a:rPr lang="en-GB" dirty="0"/>
              <a:t> </a:t>
            </a:r>
            <a:r>
              <a:rPr lang="en-GB" dirty="0" err="1"/>
              <a:t>zijn</a:t>
            </a:r>
            <a:r>
              <a:rPr lang="en-GB" dirty="0"/>
              <a:t> </a:t>
            </a:r>
            <a:r>
              <a:rPr lang="en-GB" dirty="0" err="1"/>
              <a:t>dit</a:t>
            </a:r>
            <a:r>
              <a:rPr lang="en-GB" dirty="0"/>
              <a:t> </a:t>
            </a:r>
            <a:r>
              <a:rPr lang="en-GB" dirty="0" err="1"/>
              <a:t>slechts</a:t>
            </a:r>
            <a:r>
              <a:rPr lang="en-GB" dirty="0"/>
              <a:t> de </a:t>
            </a:r>
            <a:r>
              <a:rPr lang="en-GB" dirty="0" err="1"/>
              <a:t>namen</a:t>
            </a:r>
            <a:r>
              <a:rPr lang="en-GB" dirty="0"/>
              <a:t> van </a:t>
            </a:r>
            <a:r>
              <a:rPr lang="en-GB" dirty="0" err="1"/>
              <a:t>modelelementen</a:t>
            </a:r>
            <a:endParaRPr lang="en-NL" dirty="0"/>
          </a:p>
          <a:p>
            <a:r>
              <a:rPr lang="en-NL" dirty="0"/>
              <a:t>In MIM kunnen we ze onderscheiden door een unieke identifier mee te geven</a:t>
            </a:r>
            <a:endParaRPr lang="en-GB" dirty="0"/>
          </a:p>
        </p:txBody>
      </p:sp>
      <p:sp>
        <p:nvSpPr>
          <p:cNvPr id="4" name="TextBox 3">
            <a:extLst>
              <a:ext uri="{FF2B5EF4-FFF2-40B4-BE49-F238E27FC236}">
                <a16:creationId xmlns:a16="http://schemas.microsoft.com/office/drawing/2014/main" id="{4D0549D7-D4E8-B849-04F5-3B10E9B9A65C}"/>
              </a:ext>
            </a:extLst>
          </p:cNvPr>
          <p:cNvSpPr txBox="1"/>
          <p:nvPr/>
        </p:nvSpPr>
        <p:spPr>
          <a:xfrm rot="2339969">
            <a:off x="9220200" y="865946"/>
            <a:ext cx="2402132" cy="892552"/>
          </a:xfrm>
          <a:prstGeom prst="rect">
            <a:avLst/>
          </a:prstGeom>
          <a:noFill/>
        </p:spPr>
        <p:txBody>
          <a:bodyPr wrap="none" rtlCol="0">
            <a:spAutoFit/>
          </a:bodyPr>
          <a:lstStyle/>
          <a:p>
            <a:r>
              <a:rPr lang="en-NL" sz="2600" dirty="0">
                <a:solidFill>
                  <a:srgbClr val="FF0000"/>
                </a:solidFill>
              </a:rPr>
              <a:t>Waarschuwing:</a:t>
            </a:r>
          </a:p>
          <a:p>
            <a:r>
              <a:rPr lang="en-US" sz="2600" dirty="0" err="1">
                <a:solidFill>
                  <a:srgbClr val="FF0000"/>
                </a:solidFill>
              </a:rPr>
              <a:t>Taalfilosofie</a:t>
            </a:r>
            <a:endParaRPr lang="en-NL" sz="2600" dirty="0">
              <a:solidFill>
                <a:srgbClr val="FF0000"/>
              </a:solidFill>
            </a:endParaRPr>
          </a:p>
        </p:txBody>
      </p:sp>
    </p:spTree>
    <p:extLst>
      <p:ext uri="{BB962C8B-B14F-4D97-AF65-F5344CB8AC3E}">
        <p14:creationId xmlns:p14="http://schemas.microsoft.com/office/powerpoint/2010/main" val="18500106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c5e6e129-f928-4a05-ae32-d838f6b21bdd}" enabled="1" method="Standard" siteId="{8b87af7d-8647-4dc7-8df4-5f69a2011bb5}" contentBits="3" removed="0"/>
</clbl:labelList>
</file>

<file path=docProps/app.xml><?xml version="1.0" encoding="utf-8"?>
<Properties xmlns="http://schemas.openxmlformats.org/officeDocument/2006/extended-properties" xmlns:vt="http://schemas.openxmlformats.org/officeDocument/2006/docPropsVTypes">
  <TotalTime>177</TotalTime>
  <Words>2343</Words>
  <Application>Microsoft Macintosh PowerPoint</Application>
  <PresentationFormat>Widescreen</PresentationFormat>
  <Paragraphs>301</Paragraphs>
  <Slides>29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Aptos</vt:lpstr>
      <vt:lpstr>Aptos Display</vt:lpstr>
      <vt:lpstr>Arial</vt:lpstr>
      <vt:lpstr>Cambria Math</vt:lpstr>
      <vt:lpstr>Tahoma</vt:lpstr>
      <vt:lpstr>Office Theme</vt:lpstr>
      <vt:lpstr>Typering van relaties</vt:lpstr>
      <vt:lpstr>Basisvoorbeeld</vt:lpstr>
      <vt:lpstr>Relaties en proposities</vt:lpstr>
      <vt:lpstr>Proposities en predicaten</vt:lpstr>
      <vt:lpstr>Wat betekent dit voor ons metamodel?</vt:lpstr>
      <vt:lpstr>Hoe verhoudt zich dit tot MIM 1.2 c.q. UML</vt:lpstr>
      <vt:lpstr>PowerPoint Presentation</vt:lpstr>
      <vt:lpstr>Objecttype &amp; categorie</vt:lpstr>
      <vt:lpstr>Set</vt:lpstr>
      <vt:lpstr>Class</vt:lpstr>
      <vt:lpstr>Class en set</vt:lpstr>
      <vt:lpstr>Type</vt:lpstr>
      <vt:lpstr>Class versus type</vt:lpstr>
      <vt:lpstr>Category</vt:lpstr>
      <vt:lpstr>Objecttypen en predicaten</vt:lpstr>
      <vt:lpstr>Geheel-getal predicaten</vt:lpstr>
      <vt:lpstr>String predicaten</vt:lpstr>
      <vt:lpstr>Domeinobject predicaten</vt:lpstr>
      <vt:lpstr>Categorie predicaten</vt:lpstr>
      <vt:lpstr>Categorie predicaten</vt:lpstr>
      <vt:lpstr>Extra slide</vt:lpstr>
      <vt:lpstr>Categorie versus Objecttype</vt:lpstr>
      <vt:lpstr>Categorie versus String</vt:lpstr>
      <vt:lpstr>Categorie versus Domeinobject</vt:lpstr>
      <vt:lpstr>Categorie en beperking van waarden</vt:lpstr>
      <vt:lpstr>Driedeling</vt:lpstr>
      <vt:lpstr>Indeling</vt:lpstr>
      <vt:lpstr>Kenmerken en categorieën</vt:lpstr>
      <vt:lpstr>Wat zijn nu eigenlijk kenmerken?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BRATTINGA Marco</dc:creator>
  <cp:lastModifiedBy>BRATTINGA Marco</cp:lastModifiedBy>
  <cp:revision>6</cp:revision>
  <dcterms:created xsi:type="dcterms:W3CDTF">2025-12-11T19:37:34Z</dcterms:created>
  <dcterms:modified xsi:type="dcterms:W3CDTF">2025-12-12T10:55:04Z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C2 - Restricted use </vt:lpwstr>
  </property>
</Properties>
</file>